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notesSlides/notesSlide2.xml" ContentType="application/vnd.openxmlformats-officedocument.presentationml.notesSlide+xml"/>
  <Override PartName="/ppt/tags/tag6.xml" ContentType="application/vnd.openxmlformats-officedocument.presentationml.tags+xml"/>
  <Override PartName="/ppt/notesSlides/notesSlide3.xml" ContentType="application/vnd.openxmlformats-officedocument.presentationml.notesSlide+xml"/>
  <Override PartName="/ppt/tags/tag7.xml" ContentType="application/vnd.openxmlformats-officedocument.presentationml.tags+xml"/>
  <Override PartName="/ppt/notesSlides/notesSlide4.xml" ContentType="application/vnd.openxmlformats-officedocument.presentationml.notesSlide+xml"/>
  <Override PartName="/ppt/tags/tag8.xml" ContentType="application/vnd.openxmlformats-officedocument.presentationml.tags+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tags/tag9.xml" ContentType="application/vnd.openxmlformats-officedocument.presentationml.tags+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tags/tag10.xml" ContentType="application/vnd.openxmlformats-officedocument.presentationml.tags+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tags/tag11.xml" ContentType="application/vnd.openxmlformats-officedocument.presentationml.tags+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tags/tag12.xml" ContentType="application/vnd.openxmlformats-officedocument.presentationml.tags+xml"/>
  <Override PartName="/ppt/notesSlides/notesSlide35.xml" ContentType="application/vnd.openxmlformats-officedocument.presentationml.notesSlide+xml"/>
  <Override PartName="/ppt/tags/tag13.xml" ContentType="application/vnd.openxmlformats-officedocument.presentationml.tags+xml"/>
  <Override PartName="/ppt/notesSlides/notesSlide36.xml" ContentType="application/vnd.openxmlformats-officedocument.presentationml.notesSlide+xml"/>
  <Override PartName="/ppt/tags/tag14.xml" ContentType="application/vnd.openxmlformats-officedocument.presentationml.tags+xml"/>
  <Override PartName="/ppt/notesSlides/notesSlide37.xml" ContentType="application/vnd.openxmlformats-officedocument.presentationml.notesSlide+xml"/>
  <Override PartName="/ppt/tags/tag15.xml" ContentType="application/vnd.openxmlformats-officedocument.presentationml.tags+xml"/>
  <Override PartName="/ppt/notesSlides/notesSlide38.xml" ContentType="application/vnd.openxmlformats-officedocument.presentationml.notesSlide+xml"/>
  <Override PartName="/ppt/tags/tag16.xml" ContentType="application/vnd.openxmlformats-officedocument.presentationml.tags+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0" r:id="rId1"/>
  </p:sldMasterIdLst>
  <p:notesMasterIdLst>
    <p:notesMasterId r:id="rId44"/>
  </p:notesMasterIdLst>
  <p:sldIdLst>
    <p:sldId id="513" r:id="rId2"/>
    <p:sldId id="1133" r:id="rId3"/>
    <p:sldId id="1134" r:id="rId4"/>
    <p:sldId id="763" r:id="rId5"/>
    <p:sldId id="876" r:id="rId6"/>
    <p:sldId id="860" r:id="rId7"/>
    <p:sldId id="759" r:id="rId8"/>
    <p:sldId id="1054" r:id="rId9"/>
    <p:sldId id="1107" r:id="rId10"/>
    <p:sldId id="1108" r:id="rId11"/>
    <p:sldId id="1128" r:id="rId12"/>
    <p:sldId id="1109" r:id="rId13"/>
    <p:sldId id="1123" r:id="rId14"/>
    <p:sldId id="1056" r:id="rId15"/>
    <p:sldId id="1097" r:id="rId16"/>
    <p:sldId id="1110" r:id="rId17"/>
    <p:sldId id="1111" r:id="rId18"/>
    <p:sldId id="1112" r:id="rId19"/>
    <p:sldId id="1113" r:id="rId20"/>
    <p:sldId id="1114" r:id="rId21"/>
    <p:sldId id="1124" r:id="rId22"/>
    <p:sldId id="1103" r:id="rId23"/>
    <p:sldId id="1115" r:id="rId24"/>
    <p:sldId id="1116" r:id="rId25"/>
    <p:sldId id="1130" r:id="rId26"/>
    <p:sldId id="1117" r:id="rId27"/>
    <p:sldId id="1126" r:id="rId28"/>
    <p:sldId id="1127" r:id="rId29"/>
    <p:sldId id="1125" r:id="rId30"/>
    <p:sldId id="1104" r:id="rId31"/>
    <p:sldId id="1118" r:id="rId32"/>
    <p:sldId id="1119" r:id="rId33"/>
    <p:sldId id="1120" r:id="rId34"/>
    <p:sldId id="1121" r:id="rId35"/>
    <p:sldId id="1129" r:id="rId36"/>
    <p:sldId id="1122" r:id="rId37"/>
    <p:sldId id="957" r:id="rId38"/>
    <p:sldId id="958" r:id="rId39"/>
    <p:sldId id="1131" r:id="rId40"/>
    <p:sldId id="874" r:id="rId41"/>
    <p:sldId id="1135" r:id="rId42"/>
    <p:sldId id="291" r:id="rId43"/>
  </p:sldIdLst>
  <p:sldSz cx="9144000" cy="5143500" type="screen16x9"/>
  <p:notesSz cx="6858000" cy="9144000"/>
  <p:custDataLst>
    <p:tags r:id="rId45"/>
  </p:custDataLst>
  <p:defaultTextStyle>
    <a:defPPr>
      <a:defRPr lang="en-US"/>
    </a:defPPr>
    <a:lvl1pPr algn="l" defTabSz="457200" rtl="0" fontAlgn="base">
      <a:spcBef>
        <a:spcPct val="0"/>
      </a:spcBef>
      <a:spcAft>
        <a:spcPct val="0"/>
      </a:spcAft>
      <a:defRPr kern="1200">
        <a:solidFill>
          <a:schemeClr val="tx1"/>
        </a:solidFill>
        <a:latin typeface="Arial" charset="0"/>
        <a:ea typeface="ＭＳ Ｐゴシック" pitchFamily="34" charset="-128"/>
        <a:cs typeface="+mn-cs"/>
      </a:defRPr>
    </a:lvl1pPr>
    <a:lvl2pPr marL="457200" algn="l" defTabSz="457200" rtl="0" fontAlgn="base">
      <a:spcBef>
        <a:spcPct val="0"/>
      </a:spcBef>
      <a:spcAft>
        <a:spcPct val="0"/>
      </a:spcAft>
      <a:defRPr kern="1200">
        <a:solidFill>
          <a:schemeClr val="tx1"/>
        </a:solidFill>
        <a:latin typeface="Arial" charset="0"/>
        <a:ea typeface="ＭＳ Ｐゴシック" pitchFamily="34" charset="-128"/>
        <a:cs typeface="+mn-cs"/>
      </a:defRPr>
    </a:lvl2pPr>
    <a:lvl3pPr marL="914400" algn="l" defTabSz="457200" rtl="0" fontAlgn="base">
      <a:spcBef>
        <a:spcPct val="0"/>
      </a:spcBef>
      <a:spcAft>
        <a:spcPct val="0"/>
      </a:spcAft>
      <a:defRPr kern="1200">
        <a:solidFill>
          <a:schemeClr val="tx1"/>
        </a:solidFill>
        <a:latin typeface="Arial" charset="0"/>
        <a:ea typeface="ＭＳ Ｐゴシック" pitchFamily="34" charset="-128"/>
        <a:cs typeface="+mn-cs"/>
      </a:defRPr>
    </a:lvl3pPr>
    <a:lvl4pPr marL="1371600" algn="l" defTabSz="457200" rtl="0" fontAlgn="base">
      <a:spcBef>
        <a:spcPct val="0"/>
      </a:spcBef>
      <a:spcAft>
        <a:spcPct val="0"/>
      </a:spcAft>
      <a:defRPr kern="1200">
        <a:solidFill>
          <a:schemeClr val="tx1"/>
        </a:solidFill>
        <a:latin typeface="Arial" charset="0"/>
        <a:ea typeface="ＭＳ Ｐゴシック" pitchFamily="34" charset="-128"/>
        <a:cs typeface="+mn-cs"/>
      </a:defRPr>
    </a:lvl4pPr>
    <a:lvl5pPr marL="1828800" algn="l" defTabSz="457200" rtl="0" fontAlgn="base">
      <a:spcBef>
        <a:spcPct val="0"/>
      </a:spcBef>
      <a:spcAft>
        <a:spcPct val="0"/>
      </a:spcAft>
      <a:defRPr kern="1200">
        <a:solidFill>
          <a:schemeClr val="tx1"/>
        </a:solidFill>
        <a:latin typeface="Arial" charset="0"/>
        <a:ea typeface="ＭＳ Ｐゴシック" pitchFamily="34" charset="-128"/>
        <a:cs typeface="+mn-cs"/>
      </a:defRPr>
    </a:lvl5pPr>
    <a:lvl6pPr marL="2286000" algn="l" defTabSz="914400" rtl="0" eaLnBrk="1" latinLnBrk="0" hangingPunct="1">
      <a:defRPr kern="1200">
        <a:solidFill>
          <a:schemeClr val="tx1"/>
        </a:solidFill>
        <a:latin typeface="Arial" charset="0"/>
        <a:ea typeface="ＭＳ Ｐゴシック" pitchFamily="34" charset="-128"/>
        <a:cs typeface="+mn-cs"/>
      </a:defRPr>
    </a:lvl6pPr>
    <a:lvl7pPr marL="2743200" algn="l" defTabSz="914400" rtl="0" eaLnBrk="1" latinLnBrk="0" hangingPunct="1">
      <a:defRPr kern="1200">
        <a:solidFill>
          <a:schemeClr val="tx1"/>
        </a:solidFill>
        <a:latin typeface="Arial" charset="0"/>
        <a:ea typeface="ＭＳ Ｐゴシック" pitchFamily="34" charset="-128"/>
        <a:cs typeface="+mn-cs"/>
      </a:defRPr>
    </a:lvl7pPr>
    <a:lvl8pPr marL="3200400" algn="l" defTabSz="914400" rtl="0" eaLnBrk="1" latinLnBrk="0" hangingPunct="1">
      <a:defRPr kern="1200">
        <a:solidFill>
          <a:schemeClr val="tx1"/>
        </a:solidFill>
        <a:latin typeface="Arial" charset="0"/>
        <a:ea typeface="ＭＳ Ｐゴシック" pitchFamily="34" charset="-128"/>
        <a:cs typeface="+mn-cs"/>
      </a:defRPr>
    </a:lvl8pPr>
    <a:lvl9pPr marL="3657600" algn="l" defTabSz="914400" rtl="0" eaLnBrk="1" latinLnBrk="0" hangingPunct="1">
      <a:defRPr kern="1200">
        <a:solidFill>
          <a:schemeClr val="tx1"/>
        </a:solidFill>
        <a:latin typeface="Arial" charset="0"/>
        <a:ea typeface="ＭＳ Ｐゴシック" pitchFamily="34" charset="-128"/>
        <a:cs typeface="+mn-cs"/>
      </a:defRPr>
    </a:lvl9pPr>
  </p:defaultTextStyle>
  <p:extLst>
    <p:ext uri="{EFAFB233-063F-42B5-8137-9DF3F51BA10A}">
      <p15:sldGuideLst xmlns:p15="http://schemas.microsoft.com/office/powerpoint/2012/main">
        <p15:guide id="1" orient="horz" pos="1620">
          <p15:clr>
            <a:srgbClr val="A4A3A4"/>
          </p15:clr>
        </p15:guide>
        <p15:guide id="2" pos="336">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Barbara Reif" initials="BR" lastIdx="3" clrIdx="0"/>
  <p:cmAuthor id="1" name="Jane Gibbons -X (jagibbon - DEL ORO CONSULTING INC at Cisco)" initials="JG-(-DOCIaC" lastIdx="28" clrIdx="1">
    <p:extLst>
      <p:ext uri="{19B8F6BF-5375-455C-9EA6-DF929625EA0E}">
        <p15:presenceInfo xmlns:p15="http://schemas.microsoft.com/office/powerpoint/2012/main" userId="S-1-5-21-1708537768-1303643608-725345543-200204" providerId="AD"/>
      </p:ext>
    </p:extLst>
  </p:cmAuthor>
  <p:cmAuthor id="2" name="Bob Vachon" initials="BV" lastIdx="24" clrIdx="2">
    <p:extLst>
      <p:ext uri="{19B8F6BF-5375-455C-9EA6-DF929625EA0E}">
        <p15:presenceInfo xmlns:p15="http://schemas.microsoft.com/office/powerpoint/2012/main" userId="c7abe87968a0b633" providerId="Windows Live"/>
      </p:ext>
    </p:extLst>
  </p:cmAuthor>
  <p:cmAuthor id="3" name="Sue Livingston -X (suliving - UNICON INC at Cisco)" initials="SL-(-UIaC" lastIdx="15" clrIdx="3">
    <p:extLst>
      <p:ext uri="{19B8F6BF-5375-455C-9EA6-DF929625EA0E}">
        <p15:presenceInfo xmlns:p15="http://schemas.microsoft.com/office/powerpoint/2012/main" userId="S::suliving@cisco.com::dc701d48-dd51-411a-9041-b7f1328f1486" providerId="AD"/>
      </p:ext>
    </p:extLst>
  </p:cmAuthor>
  <p:cmAuthor id="4" name="jagibbon" initials="jmg" lastIdx="8" clrIdx="4">
    <p:extLst>
      <p:ext uri="{19B8F6BF-5375-455C-9EA6-DF929625EA0E}">
        <p15:presenceInfo xmlns:p15="http://schemas.microsoft.com/office/powerpoint/2012/main" userId="jagibbon"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0000CC"/>
    <a:srgbClr val="000099"/>
    <a:srgbClr val="CC99FF"/>
    <a:srgbClr val="CC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368" autoAdjust="0"/>
    <p:restoredTop sz="75109" autoAdjust="0"/>
  </p:normalViewPr>
  <p:slideViewPr>
    <p:cSldViewPr snapToGrid="0" showGuides="1">
      <p:cViewPr varScale="1">
        <p:scale>
          <a:sx n="85" d="100"/>
          <a:sy n="85" d="100"/>
        </p:scale>
        <p:origin x="1435" y="67"/>
      </p:cViewPr>
      <p:guideLst>
        <p:guide orient="horz" pos="1620"/>
        <p:guide pos="336"/>
      </p:guideLst>
    </p:cSldViewPr>
  </p:slideViewPr>
  <p:outlineViewPr>
    <p:cViewPr>
      <p:scale>
        <a:sx n="33" d="100"/>
        <a:sy n="33" d="100"/>
      </p:scale>
      <p:origin x="0" y="-226704"/>
    </p:cViewPr>
  </p:outlineViewPr>
  <p:notesTextViewPr>
    <p:cViewPr>
      <p:scale>
        <a:sx n="1" d="1"/>
        <a:sy n="1" d="1"/>
      </p:scale>
      <p:origin x="0" y="0"/>
    </p:cViewPr>
  </p:notesTextViewPr>
  <p:sorterViewPr>
    <p:cViewPr>
      <p:scale>
        <a:sx n="111" d="100"/>
        <a:sy n="111" d="100"/>
      </p:scale>
      <p:origin x="0" y="-512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gs" Target="tags/tag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commentAuthors" Target="commentAuthor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36337D9-3022-3D41-8D8A-BDF2F3B0DD8E}" type="datetimeFigureOut">
              <a:rPr lang="en-US" smtClean="0"/>
              <a:t>9/8/2026</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641018C-6CAF-B84E-B92C-ECB119457FBA}" type="slidenum">
              <a:rPr lang="en-US" smtClean="0"/>
              <a:t>‹#›</a:t>
            </a:fld>
            <a:endParaRPr lang="en-US" dirty="0"/>
          </a:p>
        </p:txBody>
      </p:sp>
    </p:spTree>
    <p:extLst>
      <p:ext uri="{BB962C8B-B14F-4D97-AF65-F5344CB8AC3E}">
        <p14:creationId xmlns:p14="http://schemas.microsoft.com/office/powerpoint/2010/main" val="1937564879"/>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ru-RU"/>
              <a:t>Программа Сетевой академии Cisco</a:t>
            </a:r>
          </a:p>
          <a:p>
            <a:pPr rtl="0"/>
            <a:r>
              <a:rPr lang="ru-RU"/>
              <a:t>Введение в сетевые технологии v7.0 (ITN)</a:t>
            </a:r>
          </a:p>
          <a:p>
            <a:pPr rtl="0"/>
            <a:r>
              <a:rPr lang="ru-RU"/>
              <a:t>Модуль 2: Базовая конфигурация коммутатора и оконечного устройства</a:t>
            </a:r>
          </a:p>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t>1</a:t>
            </a:fld>
            <a:endParaRPr/>
          </a:p>
        </p:txBody>
      </p:sp>
    </p:spTree>
    <p:extLst>
      <p:ext uri="{BB962C8B-B14F-4D97-AF65-F5344CB8AC3E}">
        <p14:creationId xmlns:p14="http://schemas.microsoft.com/office/powerpoint/2010/main" val="30255421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rtl="0"/>
            <a:fld id="{0A313ED8-785B-4D16-9B17-4143385249B9}" type="slidenum">
              <a:rPr sz="800" b="0"/>
              <a:pPr algn="r" rtl="0"/>
              <a:t>4</a:t>
            </a:fld>
            <a:endParaRPr sz="800" b="0"/>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16874538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ru-RU"/>
              <a:t>Программа Сетевой академии Cisco</a:t>
            </a:r>
          </a:p>
          <a:p>
            <a:pPr rtl="0"/>
            <a:r>
              <a:rPr lang="ru-RU"/>
              <a:t>Введение в сетевые технологии v7.0 (ITN)</a:t>
            </a:r>
          </a:p>
          <a:p>
            <a:pPr rtl="0"/>
            <a:r>
              <a:rPr lang="ru-RU"/>
              <a:t>Модуль 7: Коммутация Ethernet</a:t>
            </a:r>
          </a:p>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t>5</a:t>
            </a:fld>
            <a:endParaRPr/>
          </a:p>
        </p:txBody>
      </p:sp>
    </p:spTree>
    <p:extLst>
      <p:ext uri="{BB962C8B-B14F-4D97-AF65-F5344CB8AC3E}">
        <p14:creationId xmlns:p14="http://schemas.microsoft.com/office/powerpoint/2010/main" val="50811875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rtl="0"/>
            <a:fld id="{7C839C26-801B-42B6-A101-60F37FE2B0A8}" type="slidenum">
              <a:rPr sz="800" b="0">
                <a:solidFill>
                  <a:prstClr val="black"/>
                </a:solidFill>
              </a:rPr>
              <a:pPr algn="r" rtl="0"/>
              <a:t>6</a:t>
            </a:fld>
            <a:endParaRPr sz="800" b="0">
              <a:solidFill>
                <a:prstClr val="black"/>
              </a:solidFill>
            </a:endParaRPr>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buFontTx/>
              <a:buNone/>
            </a:pPr>
            <a:r>
              <a:rPr lang="ru-RU"/>
              <a:t>7- Коммутация Ethernet</a:t>
            </a:r>
          </a:p>
          <a:p>
            <a:pPr rtl="0">
              <a:buFontTx/>
              <a:buNone/>
            </a:pPr>
            <a:r>
              <a:rPr lang="ru-RU"/>
              <a:t>7.0.2 - Что я буду изучать в этом модуле?</a:t>
            </a:r>
          </a:p>
        </p:txBody>
      </p:sp>
    </p:spTree>
    <p:extLst>
      <p:ext uri="{BB962C8B-B14F-4D97-AF65-F5344CB8AC3E}">
        <p14:creationId xmlns:p14="http://schemas.microsoft.com/office/powerpoint/2010/main" val="17344456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ru-RU"/>
              <a:t>7- Коммутация Ethernet</a:t>
            </a:r>
          </a:p>
          <a:p>
            <a:pPr marL="0" marR="0" lvl="0" indent="0" algn="l" defTabSz="457200" rtl="0" eaLnBrk="1" fontAlgn="auto" latinLnBrk="0" hangingPunct="1">
              <a:lnSpc>
                <a:spcPct val="100000"/>
              </a:lnSpc>
              <a:spcBef>
                <a:spcPts val="0"/>
              </a:spcBef>
              <a:spcAft>
                <a:spcPts val="0"/>
              </a:spcAft>
              <a:buClrTx/>
              <a:buSzTx/>
              <a:buFontTx/>
              <a:buNone/>
              <a:tabLst/>
              <a:defRPr/>
            </a:pPr>
            <a:r>
              <a:rPr lang="ru-RU"/>
              <a:t>7.1 Кадры Ethernet</a:t>
            </a:r>
          </a:p>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t>7</a:t>
            </a:fld>
            <a:endParaRPr/>
          </a:p>
        </p:txBody>
      </p:sp>
    </p:spTree>
    <p:extLst>
      <p:ext uri="{BB962C8B-B14F-4D97-AF65-F5344CB8AC3E}">
        <p14:creationId xmlns:p14="http://schemas.microsoft.com/office/powerpoint/2010/main" val="62552962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ru-RU"/>
              <a:t>7 – Коммутация Ethernet</a:t>
            </a:r>
          </a:p>
          <a:p>
            <a:pPr rtl="0"/>
            <a:r>
              <a:rPr lang="ru-RU"/>
              <a:t>7.1 – Кадры Ethernet</a:t>
            </a:r>
          </a:p>
          <a:p>
            <a:pPr rtl="0"/>
            <a:r>
              <a:rPr lang="ru-RU"/>
              <a:t>7.1.1. Инкапсуляция Ethernet</a:t>
            </a:r>
          </a:p>
        </p:txBody>
      </p:sp>
      <p:sp>
        <p:nvSpPr>
          <p:cNvPr id="4" name="Slide Number Placeholder 3"/>
          <p:cNvSpPr>
            <a:spLocks noGrp="1"/>
          </p:cNvSpPr>
          <p:nvPr>
            <p:ph type="sldNum" sz="quarter" idx="5"/>
          </p:nvPr>
        </p:nvSpPr>
        <p:spPr/>
        <p:txBody>
          <a:bodyPr/>
          <a:lstStyle/>
          <a:p>
            <a:pPr rtl="0"/>
            <a:fld id="{5641018C-6CAF-B84E-B92C-ECB119457FBA}" type="slidenum">
              <a:rPr/>
              <a:t>8</a:t>
            </a:fld>
            <a:endParaRPr/>
          </a:p>
        </p:txBody>
      </p:sp>
    </p:spTree>
    <p:extLst>
      <p:ext uri="{BB962C8B-B14F-4D97-AF65-F5344CB8AC3E}">
        <p14:creationId xmlns:p14="http://schemas.microsoft.com/office/powerpoint/2010/main" val="309231227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ru-RU"/>
              <a:t>7 – Коммутация Ethernet</a:t>
            </a:r>
          </a:p>
          <a:p>
            <a:pPr rtl="0"/>
            <a:r>
              <a:rPr lang="ru-RU"/>
              <a:t>7.1 – Кадры Ethernet</a:t>
            </a:r>
          </a:p>
          <a:p>
            <a:pPr rtl="0"/>
            <a:r>
              <a:rPr lang="ru-RU"/>
              <a:t>7.1.2 - Подуровни канала данных</a:t>
            </a:r>
          </a:p>
        </p:txBody>
      </p:sp>
      <p:sp>
        <p:nvSpPr>
          <p:cNvPr id="4" name="Slide Number Placeholder 3"/>
          <p:cNvSpPr>
            <a:spLocks noGrp="1"/>
          </p:cNvSpPr>
          <p:nvPr>
            <p:ph type="sldNum" sz="quarter" idx="5"/>
          </p:nvPr>
        </p:nvSpPr>
        <p:spPr/>
        <p:txBody>
          <a:bodyPr/>
          <a:lstStyle/>
          <a:p>
            <a:pPr rtl="0"/>
            <a:fld id="{5641018C-6CAF-B84E-B92C-ECB119457FBA}" type="slidenum">
              <a:rPr/>
              <a:t>9</a:t>
            </a:fld>
            <a:endParaRPr/>
          </a:p>
        </p:txBody>
      </p:sp>
    </p:spTree>
    <p:extLst>
      <p:ext uri="{BB962C8B-B14F-4D97-AF65-F5344CB8AC3E}">
        <p14:creationId xmlns:p14="http://schemas.microsoft.com/office/powerpoint/2010/main" val="271276867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ru-RU"/>
              <a:t>7 – Коммутация Ethernet</a:t>
            </a:r>
          </a:p>
          <a:p>
            <a:pPr rtl="0"/>
            <a:r>
              <a:rPr lang="ru-RU"/>
              <a:t>7.1 – Кадры Ethernet</a:t>
            </a:r>
          </a:p>
          <a:p>
            <a:pPr rtl="0"/>
            <a:r>
              <a:rPr lang="ru-RU"/>
              <a:t>7.1.3 – Подуровень MAC</a:t>
            </a:r>
          </a:p>
        </p:txBody>
      </p:sp>
      <p:sp>
        <p:nvSpPr>
          <p:cNvPr id="4" name="Slide Number Placeholder 3"/>
          <p:cNvSpPr>
            <a:spLocks noGrp="1"/>
          </p:cNvSpPr>
          <p:nvPr>
            <p:ph type="sldNum" sz="quarter" idx="5"/>
          </p:nvPr>
        </p:nvSpPr>
        <p:spPr/>
        <p:txBody>
          <a:bodyPr/>
          <a:lstStyle/>
          <a:p>
            <a:pPr rtl="0"/>
            <a:fld id="{5641018C-6CAF-B84E-B92C-ECB119457FBA}" type="slidenum">
              <a:rPr/>
              <a:t>10</a:t>
            </a:fld>
            <a:endParaRPr/>
          </a:p>
        </p:txBody>
      </p:sp>
    </p:spTree>
    <p:extLst>
      <p:ext uri="{BB962C8B-B14F-4D97-AF65-F5344CB8AC3E}">
        <p14:creationId xmlns:p14="http://schemas.microsoft.com/office/powerpoint/2010/main" val="7515506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ru-RU"/>
              <a:t>7 – Коммутация Ethernet</a:t>
            </a:r>
          </a:p>
          <a:p>
            <a:pPr rtl="0"/>
            <a:r>
              <a:rPr lang="ru-RU"/>
              <a:t>7.1 – Кадры Ethernet</a:t>
            </a:r>
          </a:p>
          <a:p>
            <a:pPr rtl="0"/>
            <a:r>
              <a:rPr lang="ru-RU"/>
              <a:t>7.1.3 – Подуровень MAC</a:t>
            </a:r>
          </a:p>
        </p:txBody>
      </p:sp>
      <p:sp>
        <p:nvSpPr>
          <p:cNvPr id="4" name="Slide Number Placeholder 3"/>
          <p:cNvSpPr>
            <a:spLocks noGrp="1"/>
          </p:cNvSpPr>
          <p:nvPr>
            <p:ph type="sldNum" sz="quarter" idx="5"/>
          </p:nvPr>
        </p:nvSpPr>
        <p:spPr/>
        <p:txBody>
          <a:bodyPr/>
          <a:lstStyle/>
          <a:p>
            <a:pPr rtl="0"/>
            <a:fld id="{5641018C-6CAF-B84E-B92C-ECB119457FBA}" type="slidenum">
              <a:rPr/>
              <a:t>11</a:t>
            </a:fld>
            <a:endParaRPr/>
          </a:p>
        </p:txBody>
      </p:sp>
    </p:spTree>
    <p:extLst>
      <p:ext uri="{BB962C8B-B14F-4D97-AF65-F5344CB8AC3E}">
        <p14:creationId xmlns:p14="http://schemas.microsoft.com/office/powerpoint/2010/main" val="236995771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ru-RU" dirty="0"/>
              <a:t>7 – Коммутация </a:t>
            </a:r>
            <a:r>
              <a:rPr lang="ru-RU" dirty="0" err="1"/>
              <a:t>Ethernet</a:t>
            </a:r>
            <a:endParaRPr lang="ru-RU" dirty="0"/>
          </a:p>
          <a:p>
            <a:pPr rtl="0"/>
            <a:r>
              <a:rPr lang="ru-RU" dirty="0"/>
              <a:t>7.1 – Кадры </a:t>
            </a:r>
            <a:r>
              <a:rPr lang="ru-RU" dirty="0" err="1"/>
              <a:t>Ethernet</a:t>
            </a:r>
            <a:endParaRPr lang="ru-RU" dirty="0"/>
          </a:p>
          <a:p>
            <a:pPr rtl="0"/>
            <a:r>
              <a:rPr lang="ru-RU" dirty="0"/>
              <a:t>7.1.4. Поля кадра </a:t>
            </a:r>
            <a:r>
              <a:rPr lang="ru-RU" dirty="0" err="1"/>
              <a:t>Ethernet</a:t>
            </a:r>
            <a:endParaRPr lang="ru-RU" dirty="0"/>
          </a:p>
          <a:p>
            <a:pPr rtl="0"/>
            <a:r>
              <a:rPr lang="ru-RU" dirty="0"/>
              <a:t>7.1.5 — Проверьте свое понимание — коммутация </a:t>
            </a:r>
            <a:r>
              <a:rPr lang="ru-RU" dirty="0" err="1"/>
              <a:t>Ethernet</a:t>
            </a:r>
            <a:endParaRPr lang="ru-RU" dirty="0"/>
          </a:p>
        </p:txBody>
      </p:sp>
      <p:sp>
        <p:nvSpPr>
          <p:cNvPr id="4" name="Slide Number Placeholder 3"/>
          <p:cNvSpPr>
            <a:spLocks noGrp="1"/>
          </p:cNvSpPr>
          <p:nvPr>
            <p:ph type="sldNum" sz="quarter" idx="5"/>
          </p:nvPr>
        </p:nvSpPr>
        <p:spPr/>
        <p:txBody>
          <a:bodyPr/>
          <a:lstStyle/>
          <a:p>
            <a:pPr rtl="0"/>
            <a:fld id="{5641018C-6CAF-B84E-B92C-ECB119457FBA}" type="slidenum">
              <a:rPr/>
              <a:t>12</a:t>
            </a:fld>
            <a:endParaRPr/>
          </a:p>
        </p:txBody>
      </p:sp>
    </p:spTree>
    <p:extLst>
      <p:ext uri="{BB962C8B-B14F-4D97-AF65-F5344CB8AC3E}">
        <p14:creationId xmlns:p14="http://schemas.microsoft.com/office/powerpoint/2010/main" val="324407397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ru-RU"/>
              <a:t>7 – Коммутация Ethernet</a:t>
            </a:r>
          </a:p>
          <a:p>
            <a:pPr rtl="0"/>
            <a:r>
              <a:rPr lang="ru-RU"/>
              <a:t>7.1 – Кадры Ethernet</a:t>
            </a:r>
          </a:p>
          <a:p>
            <a:pPr rtl="0"/>
            <a:r>
              <a:rPr lang="ru-RU"/>
              <a:t>7.1.6 – Лабораторная работа. Анализ кадров Ethernet с помощью программы Wireshark</a:t>
            </a:r>
          </a:p>
        </p:txBody>
      </p:sp>
      <p:sp>
        <p:nvSpPr>
          <p:cNvPr id="4" name="Slide Number Placeholder 3"/>
          <p:cNvSpPr>
            <a:spLocks noGrp="1"/>
          </p:cNvSpPr>
          <p:nvPr>
            <p:ph type="sldNum" sz="quarter" idx="5"/>
          </p:nvPr>
        </p:nvSpPr>
        <p:spPr/>
        <p:txBody>
          <a:bodyPr/>
          <a:lstStyle/>
          <a:p>
            <a:pPr rtl="0"/>
            <a:fld id="{5641018C-6CAF-B84E-B92C-ECB119457FBA}" type="slidenum">
              <a:rPr/>
              <a:t>13</a:t>
            </a:fld>
            <a:endParaRPr/>
          </a:p>
        </p:txBody>
      </p:sp>
    </p:spTree>
    <p:extLst>
      <p:ext uri="{BB962C8B-B14F-4D97-AF65-F5344CB8AC3E}">
        <p14:creationId xmlns:p14="http://schemas.microsoft.com/office/powerpoint/2010/main" val="110608067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ru-RU"/>
              <a:t>7- Коммутация Ethernet</a:t>
            </a:r>
          </a:p>
          <a:p>
            <a:pPr marL="0" marR="0" lvl="0" indent="0" algn="l" defTabSz="457200" rtl="0" eaLnBrk="1" fontAlgn="auto" latinLnBrk="0" hangingPunct="1">
              <a:lnSpc>
                <a:spcPct val="100000"/>
              </a:lnSpc>
              <a:spcBef>
                <a:spcPts val="0"/>
              </a:spcBef>
              <a:spcAft>
                <a:spcPts val="0"/>
              </a:spcAft>
              <a:buClrTx/>
              <a:buSzTx/>
              <a:buFontTx/>
              <a:buNone/>
              <a:tabLst/>
              <a:defRPr/>
            </a:pPr>
            <a:r>
              <a:rPr lang="ru-RU"/>
              <a:t>7.2 – MAC-адрес Ethernet</a:t>
            </a:r>
          </a:p>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t>14</a:t>
            </a:fld>
            <a:endParaRPr/>
          </a:p>
        </p:txBody>
      </p:sp>
    </p:spTree>
    <p:extLst>
      <p:ext uri="{BB962C8B-B14F-4D97-AF65-F5344CB8AC3E}">
        <p14:creationId xmlns:p14="http://schemas.microsoft.com/office/powerpoint/2010/main" val="396329107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ru-RU"/>
              <a:t>7 – Коммутация Ethernet</a:t>
            </a:r>
          </a:p>
          <a:p>
            <a:pPr rtl="0"/>
            <a:r>
              <a:rPr lang="ru-RU"/>
              <a:t>7.2 – MAC-адрес Ethernet</a:t>
            </a:r>
          </a:p>
          <a:p>
            <a:pPr rtl="0"/>
            <a:r>
              <a:rPr lang="ru-RU"/>
              <a:t>7.2.1 – MAC-адрес и шестнадцатеричная система счисления</a:t>
            </a:r>
          </a:p>
        </p:txBody>
      </p:sp>
      <p:sp>
        <p:nvSpPr>
          <p:cNvPr id="4" name="Slide Number Placeholder 3"/>
          <p:cNvSpPr>
            <a:spLocks noGrp="1"/>
          </p:cNvSpPr>
          <p:nvPr>
            <p:ph type="sldNum" sz="quarter" idx="5"/>
          </p:nvPr>
        </p:nvSpPr>
        <p:spPr/>
        <p:txBody>
          <a:bodyPr/>
          <a:lstStyle/>
          <a:p>
            <a:pPr rtl="0"/>
            <a:fld id="{5641018C-6CAF-B84E-B92C-ECB119457FBA}" type="slidenum">
              <a:rPr/>
              <a:t>15</a:t>
            </a:fld>
            <a:endParaRPr/>
          </a:p>
        </p:txBody>
      </p:sp>
    </p:spTree>
    <p:extLst>
      <p:ext uri="{BB962C8B-B14F-4D97-AF65-F5344CB8AC3E}">
        <p14:creationId xmlns:p14="http://schemas.microsoft.com/office/powerpoint/2010/main" val="203383634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ru-RU"/>
              <a:t>7 – Коммутация Ethernet</a:t>
            </a:r>
          </a:p>
          <a:p>
            <a:pPr rtl="0"/>
            <a:r>
              <a:rPr lang="ru-RU"/>
              <a:t>7.2 – MAC-адрес Ethernet</a:t>
            </a:r>
          </a:p>
          <a:p>
            <a:pPr rtl="0"/>
            <a:r>
              <a:rPr lang="ru-RU"/>
              <a:t>7.2.2 – MAC-адрес Ethernet</a:t>
            </a:r>
          </a:p>
        </p:txBody>
      </p:sp>
      <p:sp>
        <p:nvSpPr>
          <p:cNvPr id="4" name="Slide Number Placeholder 3"/>
          <p:cNvSpPr>
            <a:spLocks noGrp="1"/>
          </p:cNvSpPr>
          <p:nvPr>
            <p:ph type="sldNum" sz="quarter" idx="5"/>
          </p:nvPr>
        </p:nvSpPr>
        <p:spPr/>
        <p:txBody>
          <a:bodyPr/>
          <a:lstStyle/>
          <a:p>
            <a:pPr rtl="0"/>
            <a:fld id="{5641018C-6CAF-B84E-B92C-ECB119457FBA}" type="slidenum">
              <a:rPr/>
              <a:t>16</a:t>
            </a:fld>
            <a:endParaRPr/>
          </a:p>
        </p:txBody>
      </p:sp>
    </p:spTree>
    <p:extLst>
      <p:ext uri="{BB962C8B-B14F-4D97-AF65-F5344CB8AC3E}">
        <p14:creationId xmlns:p14="http://schemas.microsoft.com/office/powerpoint/2010/main" val="40991525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ru-RU"/>
              <a:t>7 – Коммутация Ethernet</a:t>
            </a:r>
          </a:p>
          <a:p>
            <a:pPr rtl="0"/>
            <a:r>
              <a:rPr lang="ru-RU"/>
              <a:t>7.2 – MAC-адрес Ethernet</a:t>
            </a:r>
          </a:p>
          <a:p>
            <a:pPr rtl="0"/>
            <a:r>
              <a:rPr lang="ru-RU"/>
              <a:t>7.2.3. Обработка кадров</a:t>
            </a:r>
          </a:p>
        </p:txBody>
      </p:sp>
      <p:sp>
        <p:nvSpPr>
          <p:cNvPr id="4" name="Slide Number Placeholder 3"/>
          <p:cNvSpPr>
            <a:spLocks noGrp="1"/>
          </p:cNvSpPr>
          <p:nvPr>
            <p:ph type="sldNum" sz="quarter" idx="5"/>
          </p:nvPr>
        </p:nvSpPr>
        <p:spPr/>
        <p:txBody>
          <a:bodyPr/>
          <a:lstStyle/>
          <a:p>
            <a:pPr rtl="0"/>
            <a:fld id="{5641018C-6CAF-B84E-B92C-ECB119457FBA}" type="slidenum">
              <a:rPr/>
              <a:t>17</a:t>
            </a:fld>
            <a:endParaRPr/>
          </a:p>
        </p:txBody>
      </p:sp>
    </p:spTree>
    <p:extLst>
      <p:ext uri="{BB962C8B-B14F-4D97-AF65-F5344CB8AC3E}">
        <p14:creationId xmlns:p14="http://schemas.microsoft.com/office/powerpoint/2010/main" val="211702029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ru-RU"/>
              <a:t>7 – Коммутация Ethernet</a:t>
            </a:r>
          </a:p>
          <a:p>
            <a:pPr rtl="0"/>
            <a:r>
              <a:rPr lang="ru-RU"/>
              <a:t>7.2 – MAC-адрес Ethernet</a:t>
            </a:r>
          </a:p>
          <a:p>
            <a:pPr rtl="0"/>
            <a:r>
              <a:rPr lang="ru-RU"/>
              <a:t>7.2.4. Индивидуальный MAC-адрес</a:t>
            </a:r>
          </a:p>
        </p:txBody>
      </p:sp>
      <p:sp>
        <p:nvSpPr>
          <p:cNvPr id="4" name="Slide Number Placeholder 3"/>
          <p:cNvSpPr>
            <a:spLocks noGrp="1"/>
          </p:cNvSpPr>
          <p:nvPr>
            <p:ph type="sldNum" sz="quarter" idx="5"/>
          </p:nvPr>
        </p:nvSpPr>
        <p:spPr/>
        <p:txBody>
          <a:bodyPr/>
          <a:lstStyle/>
          <a:p>
            <a:pPr rtl="0"/>
            <a:fld id="{5641018C-6CAF-B84E-B92C-ECB119457FBA}" type="slidenum">
              <a:rPr/>
              <a:t>18</a:t>
            </a:fld>
            <a:endParaRPr/>
          </a:p>
        </p:txBody>
      </p:sp>
    </p:spTree>
    <p:extLst>
      <p:ext uri="{BB962C8B-B14F-4D97-AF65-F5344CB8AC3E}">
        <p14:creationId xmlns:p14="http://schemas.microsoft.com/office/powerpoint/2010/main" val="352740452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ru-RU"/>
              <a:t>7 – Коммутация Ethernet</a:t>
            </a:r>
          </a:p>
          <a:p>
            <a:pPr rtl="0"/>
            <a:r>
              <a:rPr lang="ru-RU"/>
              <a:t>7.2 – MAC-адрес Ethernet</a:t>
            </a:r>
          </a:p>
          <a:p>
            <a:pPr rtl="0"/>
            <a:r>
              <a:rPr lang="ru-RU"/>
              <a:t>7.2.5 - MAC-адрес широковещательной рассылки</a:t>
            </a:r>
          </a:p>
        </p:txBody>
      </p:sp>
      <p:sp>
        <p:nvSpPr>
          <p:cNvPr id="4" name="Slide Number Placeholder 3"/>
          <p:cNvSpPr>
            <a:spLocks noGrp="1"/>
          </p:cNvSpPr>
          <p:nvPr>
            <p:ph type="sldNum" sz="quarter" idx="5"/>
          </p:nvPr>
        </p:nvSpPr>
        <p:spPr/>
        <p:txBody>
          <a:bodyPr/>
          <a:lstStyle/>
          <a:p>
            <a:pPr rtl="0"/>
            <a:fld id="{5641018C-6CAF-B84E-B92C-ECB119457FBA}" type="slidenum">
              <a:rPr/>
              <a:t>19</a:t>
            </a:fld>
            <a:endParaRPr/>
          </a:p>
        </p:txBody>
      </p:sp>
    </p:spTree>
    <p:extLst>
      <p:ext uri="{BB962C8B-B14F-4D97-AF65-F5344CB8AC3E}">
        <p14:creationId xmlns:p14="http://schemas.microsoft.com/office/powerpoint/2010/main" val="357711967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ru-RU"/>
              <a:t>7 – Коммутация Ethernet</a:t>
            </a:r>
          </a:p>
          <a:p>
            <a:pPr rtl="0"/>
            <a:r>
              <a:rPr lang="ru-RU"/>
              <a:t>7.2 – MAC-адрес Ethernet</a:t>
            </a:r>
          </a:p>
          <a:p>
            <a:pPr rtl="0"/>
            <a:r>
              <a:rPr lang="ru-RU"/>
              <a:t>7.2.6 - MAC-адрес многоадресной рассылки</a:t>
            </a:r>
          </a:p>
        </p:txBody>
      </p:sp>
      <p:sp>
        <p:nvSpPr>
          <p:cNvPr id="4" name="Slide Number Placeholder 3"/>
          <p:cNvSpPr>
            <a:spLocks noGrp="1"/>
          </p:cNvSpPr>
          <p:nvPr>
            <p:ph type="sldNum" sz="quarter" idx="5"/>
          </p:nvPr>
        </p:nvSpPr>
        <p:spPr/>
        <p:txBody>
          <a:bodyPr/>
          <a:lstStyle/>
          <a:p>
            <a:pPr rtl="0"/>
            <a:fld id="{5641018C-6CAF-B84E-B92C-ECB119457FBA}" type="slidenum">
              <a:rPr/>
              <a:t>20</a:t>
            </a:fld>
            <a:endParaRPr/>
          </a:p>
        </p:txBody>
      </p:sp>
    </p:spTree>
    <p:extLst>
      <p:ext uri="{BB962C8B-B14F-4D97-AF65-F5344CB8AC3E}">
        <p14:creationId xmlns:p14="http://schemas.microsoft.com/office/powerpoint/2010/main" val="91418653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ru-RU"/>
              <a:t>7 – Коммутация Ethernet</a:t>
            </a:r>
          </a:p>
          <a:p>
            <a:pPr rtl="0"/>
            <a:r>
              <a:rPr lang="ru-RU"/>
              <a:t>7.2 – MAC-адрес Ethernet</a:t>
            </a:r>
          </a:p>
          <a:p>
            <a:pPr rtl="0"/>
            <a:r>
              <a:rPr lang="ru-RU"/>
              <a:t>7.2.7 – Лабораторная работа - Просмотр MAC-адресов сетевых устройств</a:t>
            </a:r>
          </a:p>
        </p:txBody>
      </p:sp>
      <p:sp>
        <p:nvSpPr>
          <p:cNvPr id="4" name="Slide Number Placeholder 3"/>
          <p:cNvSpPr>
            <a:spLocks noGrp="1"/>
          </p:cNvSpPr>
          <p:nvPr>
            <p:ph type="sldNum" sz="quarter" idx="5"/>
          </p:nvPr>
        </p:nvSpPr>
        <p:spPr/>
        <p:txBody>
          <a:bodyPr/>
          <a:lstStyle/>
          <a:p>
            <a:pPr rtl="0"/>
            <a:fld id="{5641018C-6CAF-B84E-B92C-ECB119457FBA}" type="slidenum">
              <a:rPr/>
              <a:t>21</a:t>
            </a:fld>
            <a:endParaRPr/>
          </a:p>
        </p:txBody>
      </p:sp>
    </p:spTree>
    <p:extLst>
      <p:ext uri="{BB962C8B-B14F-4D97-AF65-F5344CB8AC3E}">
        <p14:creationId xmlns:p14="http://schemas.microsoft.com/office/powerpoint/2010/main" val="117858713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ru-RU"/>
              <a:t>7 -Коммутация Ethernet</a:t>
            </a:r>
          </a:p>
          <a:p>
            <a:pPr marL="0" marR="0" lvl="0" indent="0" algn="l" defTabSz="457200" rtl="0" eaLnBrk="1" fontAlgn="auto" latinLnBrk="0" hangingPunct="1">
              <a:lnSpc>
                <a:spcPct val="100000"/>
              </a:lnSpc>
              <a:spcBef>
                <a:spcPts val="0"/>
              </a:spcBef>
              <a:spcAft>
                <a:spcPts val="0"/>
              </a:spcAft>
              <a:buClrTx/>
              <a:buSzTx/>
              <a:buFontTx/>
              <a:buNone/>
              <a:tabLst/>
              <a:defRPr/>
            </a:pPr>
            <a:r>
              <a:rPr lang="ru-RU"/>
              <a:t>7.3 – Таблица MAC-адресов</a:t>
            </a:r>
          </a:p>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t>22</a:t>
            </a:fld>
            <a:endParaRPr/>
          </a:p>
        </p:txBody>
      </p:sp>
    </p:spTree>
    <p:extLst>
      <p:ext uri="{BB962C8B-B14F-4D97-AF65-F5344CB8AC3E}">
        <p14:creationId xmlns:p14="http://schemas.microsoft.com/office/powerpoint/2010/main" val="120043530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ru-RU"/>
              <a:t>7 – Коммутация Ethernet</a:t>
            </a:r>
          </a:p>
          <a:p>
            <a:pPr rtl="0"/>
            <a:r>
              <a:rPr lang="ru-RU"/>
              <a:t>7.3 – Таблица MAC-адресов</a:t>
            </a:r>
          </a:p>
          <a:p>
            <a:pPr rtl="0"/>
            <a:r>
              <a:rPr lang="ru-RU"/>
              <a:t>7.3.1 - Основная информация о коммутаторах</a:t>
            </a:r>
          </a:p>
        </p:txBody>
      </p:sp>
      <p:sp>
        <p:nvSpPr>
          <p:cNvPr id="4" name="Slide Number Placeholder 3"/>
          <p:cNvSpPr>
            <a:spLocks noGrp="1"/>
          </p:cNvSpPr>
          <p:nvPr>
            <p:ph type="sldNum" sz="quarter" idx="5"/>
          </p:nvPr>
        </p:nvSpPr>
        <p:spPr/>
        <p:txBody>
          <a:bodyPr/>
          <a:lstStyle/>
          <a:p>
            <a:pPr rtl="0"/>
            <a:fld id="{5641018C-6CAF-B84E-B92C-ECB119457FBA}" type="slidenum">
              <a:rPr/>
              <a:t>23</a:t>
            </a:fld>
            <a:endParaRPr/>
          </a:p>
        </p:txBody>
      </p:sp>
    </p:spTree>
    <p:extLst>
      <p:ext uri="{BB962C8B-B14F-4D97-AF65-F5344CB8AC3E}">
        <p14:creationId xmlns:p14="http://schemas.microsoft.com/office/powerpoint/2010/main" val="422571610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ru-RU"/>
              <a:t>7 – Коммутация Ethernet</a:t>
            </a:r>
          </a:p>
          <a:p>
            <a:pPr rtl="0"/>
            <a:r>
              <a:rPr lang="ru-RU"/>
              <a:t>7.3 – Таблица MAC-адресов</a:t>
            </a:r>
          </a:p>
          <a:p>
            <a:pPr rtl="0"/>
            <a:r>
              <a:rPr lang="ru-RU"/>
              <a:t>7.3.2 - Переключение обучения и пересылки</a:t>
            </a:r>
          </a:p>
        </p:txBody>
      </p:sp>
      <p:sp>
        <p:nvSpPr>
          <p:cNvPr id="4" name="Slide Number Placeholder 3"/>
          <p:cNvSpPr>
            <a:spLocks noGrp="1"/>
          </p:cNvSpPr>
          <p:nvPr>
            <p:ph type="sldNum" sz="quarter" idx="5"/>
          </p:nvPr>
        </p:nvSpPr>
        <p:spPr/>
        <p:txBody>
          <a:bodyPr/>
          <a:lstStyle/>
          <a:p>
            <a:pPr rtl="0"/>
            <a:fld id="{5641018C-6CAF-B84E-B92C-ECB119457FBA}" type="slidenum">
              <a:rPr/>
              <a:t>24</a:t>
            </a:fld>
            <a:endParaRPr/>
          </a:p>
        </p:txBody>
      </p:sp>
    </p:spTree>
    <p:extLst>
      <p:ext uri="{BB962C8B-B14F-4D97-AF65-F5344CB8AC3E}">
        <p14:creationId xmlns:p14="http://schemas.microsoft.com/office/powerpoint/2010/main" val="158393443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ru-RU"/>
              <a:t>7 – Коммутация Ethernet</a:t>
            </a:r>
          </a:p>
          <a:p>
            <a:pPr rtl="0"/>
            <a:r>
              <a:rPr lang="ru-RU"/>
              <a:t>7.3 – Таблица MAC-адресов</a:t>
            </a:r>
          </a:p>
          <a:p>
            <a:pPr rtl="0"/>
            <a:r>
              <a:rPr lang="ru-RU"/>
              <a:t>7.3.2 - Переключение обучения и пересылки</a:t>
            </a:r>
          </a:p>
        </p:txBody>
      </p:sp>
      <p:sp>
        <p:nvSpPr>
          <p:cNvPr id="4" name="Slide Number Placeholder 3"/>
          <p:cNvSpPr>
            <a:spLocks noGrp="1"/>
          </p:cNvSpPr>
          <p:nvPr>
            <p:ph type="sldNum" sz="quarter" idx="5"/>
          </p:nvPr>
        </p:nvSpPr>
        <p:spPr/>
        <p:txBody>
          <a:bodyPr/>
          <a:lstStyle/>
          <a:p>
            <a:pPr rtl="0"/>
            <a:fld id="{5641018C-6CAF-B84E-B92C-ECB119457FBA}" type="slidenum">
              <a:rPr/>
              <a:t>25</a:t>
            </a:fld>
            <a:endParaRPr/>
          </a:p>
        </p:txBody>
      </p:sp>
    </p:spTree>
    <p:extLst>
      <p:ext uri="{BB962C8B-B14F-4D97-AF65-F5344CB8AC3E}">
        <p14:creationId xmlns:p14="http://schemas.microsoft.com/office/powerpoint/2010/main" val="10058058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ru-RU"/>
              <a:t>7 – Коммутация Ethernet</a:t>
            </a:r>
          </a:p>
          <a:p>
            <a:pPr rtl="0"/>
            <a:r>
              <a:rPr lang="ru-RU"/>
              <a:t>7.3 – Таблица MAC-адресов</a:t>
            </a:r>
          </a:p>
          <a:p>
            <a:pPr rtl="0"/>
            <a:r>
              <a:rPr lang="ru-RU"/>
              <a:t>7.3.3 - Фильтрация кадров</a:t>
            </a:r>
          </a:p>
          <a:p>
            <a:endParaRPr lang="en-US" dirty="0"/>
          </a:p>
        </p:txBody>
      </p:sp>
      <p:sp>
        <p:nvSpPr>
          <p:cNvPr id="4" name="Slide Number Placeholder 3"/>
          <p:cNvSpPr>
            <a:spLocks noGrp="1"/>
          </p:cNvSpPr>
          <p:nvPr>
            <p:ph type="sldNum" sz="quarter" idx="5"/>
          </p:nvPr>
        </p:nvSpPr>
        <p:spPr/>
        <p:txBody>
          <a:bodyPr/>
          <a:lstStyle/>
          <a:p>
            <a:pPr rtl="0"/>
            <a:fld id="{5641018C-6CAF-B84E-B92C-ECB119457FBA}" type="slidenum">
              <a:rPr/>
              <a:t>26</a:t>
            </a:fld>
            <a:endParaRPr/>
          </a:p>
        </p:txBody>
      </p:sp>
    </p:spTree>
    <p:extLst>
      <p:ext uri="{BB962C8B-B14F-4D97-AF65-F5344CB8AC3E}">
        <p14:creationId xmlns:p14="http://schemas.microsoft.com/office/powerpoint/2010/main" val="260511096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ru-RU"/>
              <a:t>7 – Коммутация Ethernet</a:t>
            </a:r>
          </a:p>
          <a:p>
            <a:pPr rtl="0"/>
            <a:r>
              <a:rPr lang="ru-RU"/>
              <a:t>7.3 – Таблица MAC-адресов</a:t>
            </a:r>
          </a:p>
          <a:p>
            <a:pPr rtl="0"/>
            <a:r>
              <a:rPr lang="ru-RU"/>
              <a:t>7.3.4 – Видео - Таблицы MAC-адресов на подключенных друг к другу коммутаторах</a:t>
            </a:r>
          </a:p>
        </p:txBody>
      </p:sp>
      <p:sp>
        <p:nvSpPr>
          <p:cNvPr id="4" name="Slide Number Placeholder 3"/>
          <p:cNvSpPr>
            <a:spLocks noGrp="1"/>
          </p:cNvSpPr>
          <p:nvPr>
            <p:ph type="sldNum" sz="quarter" idx="5"/>
          </p:nvPr>
        </p:nvSpPr>
        <p:spPr/>
        <p:txBody>
          <a:bodyPr/>
          <a:lstStyle/>
          <a:p>
            <a:pPr rtl="0"/>
            <a:fld id="{5641018C-6CAF-B84E-B92C-ECB119457FBA}" type="slidenum">
              <a:rPr/>
              <a:t>27</a:t>
            </a:fld>
            <a:endParaRPr/>
          </a:p>
        </p:txBody>
      </p:sp>
    </p:spTree>
    <p:extLst>
      <p:ext uri="{BB962C8B-B14F-4D97-AF65-F5344CB8AC3E}">
        <p14:creationId xmlns:p14="http://schemas.microsoft.com/office/powerpoint/2010/main" val="307088016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ru-RU"/>
              <a:t>7 – Коммутация Ethernet</a:t>
            </a:r>
          </a:p>
          <a:p>
            <a:pPr rtl="0"/>
            <a:r>
              <a:rPr lang="ru-RU"/>
              <a:t>7.3 – Таблица MAC-адресов</a:t>
            </a:r>
          </a:p>
          <a:p>
            <a:pPr rtl="0"/>
            <a:r>
              <a:rPr lang="ru-RU"/>
              <a:t>7.3.5 – Видео - Отправка кадра на шлюз по умолчанию</a:t>
            </a:r>
          </a:p>
          <a:p>
            <a:pPr rtl="0"/>
            <a:r>
              <a:rPr lang="ru-RU"/>
              <a:t>7.3.6 – Упражнение. Коммутация в действии!</a:t>
            </a:r>
          </a:p>
        </p:txBody>
      </p:sp>
      <p:sp>
        <p:nvSpPr>
          <p:cNvPr id="4" name="Slide Number Placeholder 3"/>
          <p:cNvSpPr>
            <a:spLocks noGrp="1"/>
          </p:cNvSpPr>
          <p:nvPr>
            <p:ph type="sldNum" sz="quarter" idx="5"/>
          </p:nvPr>
        </p:nvSpPr>
        <p:spPr/>
        <p:txBody>
          <a:bodyPr/>
          <a:lstStyle/>
          <a:p>
            <a:pPr rtl="0"/>
            <a:fld id="{5641018C-6CAF-B84E-B92C-ECB119457FBA}" type="slidenum">
              <a:rPr/>
              <a:t>28</a:t>
            </a:fld>
            <a:endParaRPr/>
          </a:p>
        </p:txBody>
      </p:sp>
    </p:spTree>
    <p:extLst>
      <p:ext uri="{BB962C8B-B14F-4D97-AF65-F5344CB8AC3E}">
        <p14:creationId xmlns:p14="http://schemas.microsoft.com/office/powerpoint/2010/main" val="166784781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ru-RU"/>
              <a:t>7 – Коммутация Ethernet</a:t>
            </a:r>
          </a:p>
          <a:p>
            <a:pPr rtl="0"/>
            <a:r>
              <a:rPr lang="ru-RU"/>
              <a:t>7.3 – Таблица MAC-адресов</a:t>
            </a:r>
          </a:p>
          <a:p>
            <a:pPr rtl="0"/>
            <a:r>
              <a:rPr lang="ru-RU"/>
              <a:t>7.3.7 – Лабораторная работа. Просмотр таблицы MAC-адресов коммутатора</a:t>
            </a:r>
          </a:p>
        </p:txBody>
      </p:sp>
      <p:sp>
        <p:nvSpPr>
          <p:cNvPr id="4" name="Slide Number Placeholder 3"/>
          <p:cNvSpPr>
            <a:spLocks noGrp="1"/>
          </p:cNvSpPr>
          <p:nvPr>
            <p:ph type="sldNum" sz="quarter" idx="5"/>
          </p:nvPr>
        </p:nvSpPr>
        <p:spPr/>
        <p:txBody>
          <a:bodyPr/>
          <a:lstStyle/>
          <a:p>
            <a:pPr rtl="0"/>
            <a:fld id="{5641018C-6CAF-B84E-B92C-ECB119457FBA}" type="slidenum">
              <a:rPr/>
              <a:t>29</a:t>
            </a:fld>
            <a:endParaRPr/>
          </a:p>
        </p:txBody>
      </p:sp>
    </p:spTree>
    <p:extLst>
      <p:ext uri="{BB962C8B-B14F-4D97-AF65-F5344CB8AC3E}">
        <p14:creationId xmlns:p14="http://schemas.microsoft.com/office/powerpoint/2010/main" val="145069049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ru-RU"/>
              <a:t>7- Коммутация Ethernet</a:t>
            </a:r>
          </a:p>
          <a:p>
            <a:pPr marL="0" marR="0" lvl="0" indent="0" algn="l" defTabSz="457200" rtl="0" eaLnBrk="1" fontAlgn="auto" latinLnBrk="0" hangingPunct="1">
              <a:lnSpc>
                <a:spcPct val="100000"/>
              </a:lnSpc>
              <a:spcBef>
                <a:spcPts val="0"/>
              </a:spcBef>
              <a:spcAft>
                <a:spcPts val="0"/>
              </a:spcAft>
              <a:buClrTx/>
              <a:buSzTx/>
              <a:buFontTx/>
              <a:buNone/>
              <a:tabLst/>
              <a:defRPr/>
            </a:pPr>
            <a:r>
              <a:rPr lang="ru-RU"/>
              <a:t>7.4 - Скорость и способы пересылки на коммутаторах</a:t>
            </a:r>
          </a:p>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t>30</a:t>
            </a:fld>
            <a:endParaRPr/>
          </a:p>
        </p:txBody>
      </p:sp>
    </p:spTree>
    <p:extLst>
      <p:ext uri="{BB962C8B-B14F-4D97-AF65-F5344CB8AC3E}">
        <p14:creationId xmlns:p14="http://schemas.microsoft.com/office/powerpoint/2010/main" val="266838479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ru-RU"/>
              <a:t>7 – Коммутация Ethernet</a:t>
            </a:r>
          </a:p>
          <a:p>
            <a:pPr rtl="0"/>
            <a:r>
              <a:rPr lang="ru-RU"/>
              <a:t>7.4 – Скорость и способы пересылки на коммутаторах</a:t>
            </a:r>
          </a:p>
          <a:p>
            <a:pPr rtl="0"/>
            <a:r>
              <a:rPr lang="ru-RU"/>
              <a:t>7.4.1. Способы переадресации кадров на коммутаторах Cisco</a:t>
            </a:r>
          </a:p>
        </p:txBody>
      </p:sp>
      <p:sp>
        <p:nvSpPr>
          <p:cNvPr id="4" name="Slide Number Placeholder 3"/>
          <p:cNvSpPr>
            <a:spLocks noGrp="1"/>
          </p:cNvSpPr>
          <p:nvPr>
            <p:ph type="sldNum" sz="quarter" idx="5"/>
          </p:nvPr>
        </p:nvSpPr>
        <p:spPr/>
        <p:txBody>
          <a:bodyPr/>
          <a:lstStyle/>
          <a:p>
            <a:pPr rtl="0"/>
            <a:fld id="{5641018C-6CAF-B84E-B92C-ECB119457FBA}" type="slidenum">
              <a:rPr/>
              <a:t>31</a:t>
            </a:fld>
            <a:endParaRPr/>
          </a:p>
        </p:txBody>
      </p:sp>
    </p:spTree>
    <p:extLst>
      <p:ext uri="{BB962C8B-B14F-4D97-AF65-F5344CB8AC3E}">
        <p14:creationId xmlns:p14="http://schemas.microsoft.com/office/powerpoint/2010/main" val="210157132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ru-RU"/>
              <a:t>7 – Коммутация Ethernet</a:t>
            </a:r>
          </a:p>
          <a:p>
            <a:pPr rtl="0"/>
            <a:r>
              <a:rPr lang="ru-RU"/>
              <a:t>7.4 – Скорость и способы пересылки на коммутаторах</a:t>
            </a:r>
          </a:p>
          <a:p>
            <a:pPr rtl="0"/>
            <a:r>
              <a:rPr lang="ru-RU"/>
              <a:t>7.4.2 – Сквозная коммутация</a:t>
            </a:r>
          </a:p>
        </p:txBody>
      </p:sp>
      <p:sp>
        <p:nvSpPr>
          <p:cNvPr id="4" name="Slide Number Placeholder 3"/>
          <p:cNvSpPr>
            <a:spLocks noGrp="1"/>
          </p:cNvSpPr>
          <p:nvPr>
            <p:ph type="sldNum" sz="quarter" idx="5"/>
          </p:nvPr>
        </p:nvSpPr>
        <p:spPr/>
        <p:txBody>
          <a:bodyPr/>
          <a:lstStyle/>
          <a:p>
            <a:pPr rtl="0"/>
            <a:fld id="{5641018C-6CAF-B84E-B92C-ECB119457FBA}" type="slidenum">
              <a:rPr/>
              <a:t>32</a:t>
            </a:fld>
            <a:endParaRPr/>
          </a:p>
        </p:txBody>
      </p:sp>
    </p:spTree>
    <p:extLst>
      <p:ext uri="{BB962C8B-B14F-4D97-AF65-F5344CB8AC3E}">
        <p14:creationId xmlns:p14="http://schemas.microsoft.com/office/powerpoint/2010/main" val="130110499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ru-RU"/>
              <a:t>7 – Коммутация Ethernet</a:t>
            </a:r>
          </a:p>
          <a:p>
            <a:pPr rtl="0"/>
            <a:r>
              <a:rPr lang="ru-RU"/>
              <a:t>7.4 – Скорость и способы пересылки на коммутаторах</a:t>
            </a:r>
          </a:p>
          <a:p>
            <a:pPr rtl="0"/>
            <a:r>
              <a:rPr lang="ru-RU"/>
              <a:t>7.4.3. Буферизация памяти на коммутаторах</a:t>
            </a:r>
          </a:p>
        </p:txBody>
      </p:sp>
      <p:sp>
        <p:nvSpPr>
          <p:cNvPr id="4" name="Slide Number Placeholder 3"/>
          <p:cNvSpPr>
            <a:spLocks noGrp="1"/>
          </p:cNvSpPr>
          <p:nvPr>
            <p:ph type="sldNum" sz="quarter" idx="5"/>
          </p:nvPr>
        </p:nvSpPr>
        <p:spPr/>
        <p:txBody>
          <a:bodyPr/>
          <a:lstStyle/>
          <a:p>
            <a:pPr rtl="0"/>
            <a:fld id="{5641018C-6CAF-B84E-B92C-ECB119457FBA}" type="slidenum">
              <a:rPr/>
              <a:t>33</a:t>
            </a:fld>
            <a:endParaRPr/>
          </a:p>
        </p:txBody>
      </p:sp>
    </p:spTree>
    <p:extLst>
      <p:ext uri="{BB962C8B-B14F-4D97-AF65-F5344CB8AC3E}">
        <p14:creationId xmlns:p14="http://schemas.microsoft.com/office/powerpoint/2010/main" val="311972835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ru-RU"/>
              <a:t>7 – Коммутация Ethernet</a:t>
            </a:r>
          </a:p>
          <a:p>
            <a:pPr rtl="0"/>
            <a:r>
              <a:rPr lang="ru-RU"/>
              <a:t>7.4 – Скорость и способы пересылки на коммутаторах</a:t>
            </a:r>
          </a:p>
          <a:p>
            <a:pPr rtl="0"/>
            <a:r>
              <a:rPr lang="ru-RU"/>
              <a:t>7.4.4. Настройка дуплексного режима и скорости</a:t>
            </a:r>
          </a:p>
        </p:txBody>
      </p:sp>
      <p:sp>
        <p:nvSpPr>
          <p:cNvPr id="4" name="Slide Number Placeholder 3"/>
          <p:cNvSpPr>
            <a:spLocks noGrp="1"/>
          </p:cNvSpPr>
          <p:nvPr>
            <p:ph type="sldNum" sz="quarter" idx="5"/>
          </p:nvPr>
        </p:nvSpPr>
        <p:spPr/>
        <p:txBody>
          <a:bodyPr/>
          <a:lstStyle/>
          <a:p>
            <a:pPr rtl="0"/>
            <a:fld id="{5641018C-6CAF-B84E-B92C-ECB119457FBA}" type="slidenum">
              <a:rPr/>
              <a:t>34</a:t>
            </a:fld>
            <a:endParaRPr/>
          </a:p>
        </p:txBody>
      </p:sp>
    </p:spTree>
    <p:extLst>
      <p:ext uri="{BB962C8B-B14F-4D97-AF65-F5344CB8AC3E}">
        <p14:creationId xmlns:p14="http://schemas.microsoft.com/office/powerpoint/2010/main" val="130432862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ru-RU"/>
              <a:t>7 – Коммутация Ethernet</a:t>
            </a:r>
          </a:p>
          <a:p>
            <a:pPr rtl="0"/>
            <a:r>
              <a:rPr lang="ru-RU"/>
              <a:t>7.4 – Скорость и способы пересылки на коммутаторах</a:t>
            </a:r>
          </a:p>
          <a:p>
            <a:pPr rtl="0"/>
            <a:r>
              <a:rPr lang="ru-RU"/>
              <a:t>7.4.4. Настройка дуплексного режима и скорости</a:t>
            </a:r>
          </a:p>
        </p:txBody>
      </p:sp>
      <p:sp>
        <p:nvSpPr>
          <p:cNvPr id="4" name="Slide Number Placeholder 3"/>
          <p:cNvSpPr>
            <a:spLocks noGrp="1"/>
          </p:cNvSpPr>
          <p:nvPr>
            <p:ph type="sldNum" sz="quarter" idx="5"/>
          </p:nvPr>
        </p:nvSpPr>
        <p:spPr/>
        <p:txBody>
          <a:bodyPr/>
          <a:lstStyle/>
          <a:p>
            <a:pPr rtl="0"/>
            <a:fld id="{5641018C-6CAF-B84E-B92C-ECB119457FBA}" type="slidenum">
              <a:rPr/>
              <a:t>35</a:t>
            </a:fld>
            <a:endParaRPr/>
          </a:p>
        </p:txBody>
      </p:sp>
    </p:spTree>
    <p:extLst>
      <p:ext uri="{BB962C8B-B14F-4D97-AF65-F5344CB8AC3E}">
        <p14:creationId xmlns:p14="http://schemas.microsoft.com/office/powerpoint/2010/main" val="219526122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ru-RU"/>
              <a:t>7 – Коммутация Ethernet</a:t>
            </a:r>
          </a:p>
          <a:p>
            <a:pPr rtl="0"/>
            <a:r>
              <a:rPr lang="ru-RU"/>
              <a:t>7.4 – Скорость и способы пересылки на коммутаторах</a:t>
            </a:r>
          </a:p>
          <a:p>
            <a:pPr rtl="0"/>
            <a:r>
              <a:rPr lang="ru-RU"/>
              <a:t>7.4.5 — Auto-MDIX</a:t>
            </a:r>
          </a:p>
          <a:p>
            <a:pPr rtl="0"/>
            <a:r>
              <a:rPr lang="ru-RU"/>
              <a:t>Проверьте свое понимание темы - Скорость и способы пересылки на коммутаторах</a:t>
            </a:r>
          </a:p>
        </p:txBody>
      </p:sp>
      <p:sp>
        <p:nvSpPr>
          <p:cNvPr id="4" name="Slide Number Placeholder 3"/>
          <p:cNvSpPr>
            <a:spLocks noGrp="1"/>
          </p:cNvSpPr>
          <p:nvPr>
            <p:ph type="sldNum" sz="quarter" idx="5"/>
          </p:nvPr>
        </p:nvSpPr>
        <p:spPr/>
        <p:txBody>
          <a:bodyPr/>
          <a:lstStyle/>
          <a:p>
            <a:pPr rtl="0"/>
            <a:fld id="{5641018C-6CAF-B84E-B92C-ECB119457FBA}" type="slidenum">
              <a:rPr/>
              <a:t>36</a:t>
            </a:fld>
            <a:endParaRPr/>
          </a:p>
        </p:txBody>
      </p:sp>
    </p:spTree>
    <p:extLst>
      <p:ext uri="{BB962C8B-B14F-4D97-AF65-F5344CB8AC3E}">
        <p14:creationId xmlns:p14="http://schemas.microsoft.com/office/powerpoint/2010/main" val="326874628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ru-RU"/>
              <a:t>7- Коммутация Ethernet</a:t>
            </a:r>
          </a:p>
          <a:p>
            <a:pPr marL="0" marR="0" lvl="0" indent="0" algn="l" defTabSz="457200" rtl="0" eaLnBrk="1" fontAlgn="auto" latinLnBrk="0" hangingPunct="1">
              <a:lnSpc>
                <a:spcPct val="100000"/>
              </a:lnSpc>
              <a:spcBef>
                <a:spcPts val="0"/>
              </a:spcBef>
              <a:spcAft>
                <a:spcPts val="0"/>
              </a:spcAft>
              <a:buClrTx/>
              <a:buSzTx/>
              <a:buFontTx/>
              <a:buNone/>
              <a:tabLst/>
              <a:defRPr/>
            </a:pPr>
            <a:r>
              <a:rPr lang="ru-RU"/>
              <a:t>7.5 Практика и контрольная работа модуля</a:t>
            </a:r>
          </a:p>
          <a:p>
            <a:pPr>
              <a:buFontTx/>
              <a:buNone/>
            </a:pPr>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t>37</a:t>
            </a:fld>
            <a:endParaRPr/>
          </a:p>
        </p:txBody>
      </p:sp>
    </p:spTree>
    <p:extLst>
      <p:ext uri="{BB962C8B-B14F-4D97-AF65-F5344CB8AC3E}">
        <p14:creationId xmlns:p14="http://schemas.microsoft.com/office/powerpoint/2010/main" val="221714368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pPr rtl="0"/>
            <a:fld id="{3997A419-355F-A04A-96E0-21643AF8E9FF}" type="slidenum">
              <a:rPr sz="800">
                <a:solidFill>
                  <a:prstClr val="black"/>
                </a:solidFill>
              </a:rPr>
              <a:pPr rtl="0"/>
              <a:t>38</a:t>
            </a:fld>
            <a:endParaRPr sz="80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r>
              <a:rPr lang="ru-RU" sz="1200"/>
              <a:t>7 – Коммутация Ethernet</a:t>
            </a:r>
          </a:p>
          <a:p>
            <a:pPr rtl="0"/>
            <a:r>
              <a:rPr lang="ru-RU" sz="1200"/>
              <a:t>7.5 – Практика и контрольная работа модуля</a:t>
            </a:r>
          </a:p>
          <a:p>
            <a:pPr rtl="0"/>
            <a:r>
              <a:rPr lang="ru-RU" sz="1200"/>
              <a:t>7.5.1 - Что я изучил в этом модуле?</a:t>
            </a:r>
          </a:p>
          <a:p>
            <a:pPr rtl="0"/>
            <a:r>
              <a:rPr lang="ru-RU" sz="1200"/>
              <a:t>7.5.2 — Контрольная Модуля — коммутатор Ethernet</a:t>
            </a:r>
          </a:p>
        </p:txBody>
      </p:sp>
    </p:spTree>
    <p:extLst>
      <p:ext uri="{BB962C8B-B14F-4D97-AF65-F5344CB8AC3E}">
        <p14:creationId xmlns:p14="http://schemas.microsoft.com/office/powerpoint/2010/main" val="147682419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pPr rtl="0"/>
            <a:fld id="{3997A419-355F-A04A-96E0-21643AF8E9FF}" type="slidenum">
              <a:rPr sz="800">
                <a:solidFill>
                  <a:prstClr val="black"/>
                </a:solidFill>
              </a:rPr>
              <a:pPr rtl="0"/>
              <a:t>39</a:t>
            </a:fld>
            <a:endParaRPr sz="80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r>
              <a:rPr lang="ru-RU" sz="1200"/>
              <a:t>7 – Коммутация Ethernet</a:t>
            </a:r>
          </a:p>
          <a:p>
            <a:pPr rtl="0"/>
            <a:r>
              <a:rPr lang="ru-RU" sz="1200"/>
              <a:t>7.5 – Практика и контрольная работа модуля</a:t>
            </a:r>
          </a:p>
          <a:p>
            <a:pPr rtl="0"/>
            <a:r>
              <a:rPr lang="ru-RU" sz="1200"/>
              <a:t>7.5.1 - Что я изучил в этом модуле?</a:t>
            </a:r>
          </a:p>
          <a:p>
            <a:pPr rtl="0"/>
            <a:r>
              <a:rPr lang="ru-RU" sz="1200"/>
              <a:t>7.5.2 — Контрольная Модуля — коммутатор Ethernet</a:t>
            </a:r>
          </a:p>
        </p:txBody>
      </p:sp>
    </p:spTree>
    <p:extLst>
      <p:ext uri="{BB962C8B-B14F-4D97-AF65-F5344CB8AC3E}">
        <p14:creationId xmlns:p14="http://schemas.microsoft.com/office/powerpoint/2010/main" val="325825752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pPr rtl="0"/>
            <a:fld id="{6C92755B-29FD-8743-9094-C0E3A734D22E}" type="slidenum">
              <a:rPr sz="800">
                <a:solidFill>
                  <a:prstClr val="black"/>
                </a:solidFill>
              </a:rPr>
              <a:pPr rtl="0"/>
              <a:t>40</a:t>
            </a:fld>
            <a:endParaRPr sz="800">
              <a:solidFill>
                <a:prstClr val="black"/>
              </a:solidFill>
            </a:endParaRPr>
          </a:p>
        </p:txBody>
      </p:sp>
      <p:sp>
        <p:nvSpPr>
          <p:cNvPr id="57346" name="Rectangle 2"/>
          <p:cNvSpPr>
            <a:spLocks noGrp="1" noRot="1" noChangeAspect="1" noChangeArrowheads="1" noTextEdit="1"/>
          </p:cNvSpPr>
          <p:nvPr>
            <p:ph type="sldImg"/>
          </p:nvPr>
        </p:nvSpPr>
        <p:spPr>
          <a:ln/>
        </p:spPr>
      </p:sp>
      <p:sp>
        <p:nvSpPr>
          <p:cNvPr id="5734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80000"/>
              </a:lnSpc>
              <a:spcBef>
                <a:spcPts val="0"/>
              </a:spcBef>
              <a:spcAft>
                <a:spcPts val="0"/>
              </a:spcAft>
              <a:buClrTx/>
              <a:buSzTx/>
              <a:buFontTx/>
              <a:buNone/>
              <a:tabLst/>
              <a:defRPr/>
            </a:pPr>
            <a:endParaRPr lang="en-US" dirty="0"/>
          </a:p>
        </p:txBody>
      </p:sp>
    </p:spTree>
    <p:extLst>
      <p:ext uri="{BB962C8B-B14F-4D97-AF65-F5344CB8AC3E}">
        <p14:creationId xmlns:p14="http://schemas.microsoft.com/office/powerpoint/2010/main" val="224674291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rtl="0"/>
            <a:fld id="{5641018C-6CAF-B84E-B92C-ECB119457FBA}" type="slidenum">
              <a:rPr/>
              <a:t>42</a:t>
            </a:fld>
            <a:endParaRPr/>
          </a:p>
        </p:txBody>
      </p:sp>
    </p:spTree>
    <p:extLst>
      <p:ext uri="{BB962C8B-B14F-4D97-AF65-F5344CB8AC3E}">
        <p14:creationId xmlns:p14="http://schemas.microsoft.com/office/powerpoint/2010/main" val="159139428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3_Title Slide-animated gradient">
    <p:bg>
      <p:bgPr>
        <a:solidFill>
          <a:schemeClr val="accent5"/>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2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3086725553"/>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5_Title Slide-animated gradient">
    <p:bg>
      <p:bgPr>
        <a:solidFill>
          <a:schemeClr val="accent5"/>
        </a:solidFill>
        <a:effectLst/>
      </p:bgPr>
    </p:bg>
    <p:spTree>
      <p:nvGrpSpPr>
        <p:cNvPr id="1" name=""/>
        <p:cNvGrpSpPr/>
        <p:nvPr/>
      </p:nvGrpSpPr>
      <p:grpSpPr>
        <a:xfrm>
          <a:off x="0" y="0"/>
          <a:ext cx="0" cy="0"/>
          <a:chOff x="0" y="0"/>
          <a:chExt cx="0" cy="0"/>
        </a:xfrm>
      </p:grpSpPr>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1"/>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rgbClr val="004C69"/>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accent1"/>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chemeClr val="accent1"/>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3653042546"/>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6_Title Slide-animated gradient">
    <p:bg>
      <p:bgPr>
        <a:solidFill>
          <a:schemeClr val="accent5"/>
        </a:solidFill>
        <a:effectLst/>
      </p:bgPr>
    </p:bg>
    <p:spTree>
      <p:nvGrpSpPr>
        <p:cNvPr id="1" name=""/>
        <p:cNvGrpSpPr/>
        <p:nvPr/>
      </p:nvGrpSpPr>
      <p:grpSpPr>
        <a:xfrm>
          <a:off x="0" y="0"/>
          <a:ext cx="0" cy="0"/>
          <a:chOff x="0" y="0"/>
          <a:chExt cx="0" cy="0"/>
        </a:xfrm>
      </p:grpSpPr>
      <p:sp>
        <p:nvSpPr>
          <p:cNvPr id="2" name="Rectangle 1"/>
          <p:cNvSpPr/>
          <p:nvPr userDrawn="1"/>
        </p:nvSpPr>
        <p:spPr>
          <a:xfrm>
            <a:off x="0" y="0"/>
            <a:ext cx="9144000" cy="51435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1974617842"/>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3_Segue">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0" y="0"/>
            <a:ext cx="9144000" cy="5143499"/>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1"/>
          <p:cNvSpPr>
            <a:spLocks noGrp="1"/>
          </p:cNvSpPr>
          <p:nvPr>
            <p:ph type="ctrTitle"/>
          </p:nvPr>
        </p:nvSpPr>
        <p:spPr>
          <a:xfrm>
            <a:off x="416425" y="915409"/>
            <a:ext cx="7598042" cy="2569946"/>
          </a:xfrm>
          <a:prstGeom prst="rect">
            <a:avLst/>
          </a:prstGeom>
        </p:spPr>
        <p:txBody>
          <a:bodyPr anchor="b">
            <a:noAutofit/>
          </a:bodyPr>
          <a:lstStyle>
            <a:lvl1pPr marL="0" indent="0" algn="l">
              <a:lnSpc>
                <a:spcPct val="90000"/>
              </a:lnSpc>
              <a:buFont typeface="Arial" panose="020B0604020202020204" pitchFamily="34" charset="0"/>
              <a:buNone/>
              <a:defRPr sz="4600" b="0" i="0" spc="0" baseline="0">
                <a:solidFill>
                  <a:schemeClr val="accent5"/>
                </a:solidFill>
                <a:latin typeface="+mj-lt"/>
                <a:cs typeface="CiscoSans Thin"/>
              </a:defRPr>
            </a:lvl1pPr>
          </a:lstStyle>
          <a:p>
            <a:r>
              <a:rPr lang="en-US"/>
              <a:t>Click to edit Master title style</a:t>
            </a:r>
            <a:endParaRPr lang="en-US" dirty="0"/>
          </a:p>
        </p:txBody>
      </p:sp>
      <p:sp>
        <p:nvSpPr>
          <p:cNvPr id="8" name="Rectangle 7"/>
          <p:cNvSpPr>
            <a:spLocks noChangeArrowheads="1"/>
          </p:cNvSpPr>
          <p:nvPr userDrawn="1"/>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rtl="0" fontAlgn="auto">
              <a:spcBef>
                <a:spcPts val="0"/>
              </a:spcBef>
              <a:spcAft>
                <a:spcPts val="0"/>
              </a:spcAft>
              <a:defRPr/>
            </a:pPr>
            <a:fld id="{6A1E46DC-7EF6-4EA2-B285-14272867D133}" type="slidenum">
              <a:rPr sz="600">
                <a:solidFill>
                  <a:schemeClr val="accent5">
                    <a:lumMod val="50000"/>
                  </a:schemeClr>
                </a:solidFill>
                <a:latin typeface="+mn-lt"/>
                <a:ea typeface="+mn-ea"/>
                <a:cs typeface="CiscoSans Thin"/>
              </a:rPr>
              <a:pPr algn="r" defTabSz="610744" fontAlgn="auto">
                <a:spcBef>
                  <a:spcPts val="0"/>
                </a:spcBef>
                <a:spcAft>
                  <a:spcPts val="0"/>
                </a:spcAft>
                <a:defRPr/>
              </a:pPr>
              <a:t>‹#›</a:t>
            </a:fld>
            <a:endParaRPr sz="600">
              <a:solidFill>
                <a:schemeClr val="accent5">
                  <a:lumMod val="50000"/>
                </a:schemeClr>
              </a:solidFill>
              <a:latin typeface="+mn-lt"/>
              <a:ea typeface="+mn-ea"/>
              <a:cs typeface="CiscoSans Thin"/>
            </a:endParaRPr>
          </a:p>
        </p:txBody>
      </p:sp>
      <p:sp>
        <p:nvSpPr>
          <p:cNvPr id="9" name="Rectangle 4"/>
          <p:cNvSpPr>
            <a:spLocks noChangeArrowheads="1"/>
          </p:cNvSpPr>
          <p:nvPr userDrawn="1"/>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rtl="0" fontAlgn="auto">
              <a:spcBef>
                <a:spcPts val="0"/>
              </a:spcBef>
              <a:spcAft>
                <a:spcPts val="0"/>
              </a:spcAft>
              <a:defRPr/>
            </a:pPr>
            <a:r>
              <a:rPr lang="ru-RU" sz="600">
                <a:solidFill>
                  <a:schemeClr val="accent5">
                    <a:lumMod val="50000"/>
                  </a:schemeClr>
                </a:solidFill>
                <a:latin typeface="+mn-lt"/>
                <a:ea typeface="+mn-ea"/>
                <a:cs typeface="CiscoSans Thin"/>
              </a:rPr>
              <a:t>© Cisco и/или Партнеры, 2016 г. Все права защищены.   Конфиденциальная информация Cisco</a:t>
            </a:r>
          </a:p>
        </p:txBody>
      </p:sp>
      <p:grpSp>
        <p:nvGrpSpPr>
          <p:cNvPr id="11" name="Group 4"/>
          <p:cNvGrpSpPr>
            <a:grpSpLocks noChangeAspect="1"/>
          </p:cNvGrpSpPr>
          <p:nvPr userDrawn="1"/>
        </p:nvGrpSpPr>
        <p:grpSpPr bwMode="auto">
          <a:xfrm>
            <a:off x="508039" y="4715197"/>
            <a:ext cx="340257" cy="180974"/>
            <a:chOff x="310" y="249"/>
            <a:chExt cx="502" cy="267"/>
          </a:xfrm>
          <a:solidFill>
            <a:srgbClr val="086D8E"/>
          </a:solidFill>
        </p:grpSpPr>
        <p:sp>
          <p:nvSpPr>
            <p:cNvPr id="12"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90854121"/>
      </p:ext>
    </p:extLst>
  </p:cSld>
  <p:clrMapOvr>
    <a:masterClrMapping/>
  </p:clrMapOvr>
  <p:transition spd="slow">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Multi_Slide">
    <p:spTree>
      <p:nvGrpSpPr>
        <p:cNvPr id="1" name=""/>
        <p:cNvGrpSpPr/>
        <p:nvPr/>
      </p:nvGrpSpPr>
      <p:grpSpPr>
        <a:xfrm>
          <a:off x="0" y="0"/>
          <a:ext cx="0" cy="0"/>
          <a:chOff x="0" y="0"/>
          <a:chExt cx="0" cy="0"/>
        </a:xfrm>
      </p:grpSpPr>
      <p:sp>
        <p:nvSpPr>
          <p:cNvPr id="5" name="Content Placeholder 2"/>
          <p:cNvSpPr>
            <a:spLocks noGrp="1"/>
          </p:cNvSpPr>
          <p:nvPr>
            <p:ph idx="1"/>
          </p:nvPr>
        </p:nvSpPr>
        <p:spPr>
          <a:xfrm>
            <a:off x="474662" y="1347788"/>
            <a:ext cx="8280057" cy="3073946"/>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sz="2000" b="0" i="0" baseline="0">
                <a:solidFill>
                  <a:schemeClr val="bg1"/>
                </a:solidFill>
                <a:latin typeface="+mn-lt"/>
                <a:cs typeface="CiscoSans ExtraLight"/>
              </a:defRPr>
            </a:lvl1pPr>
          </a:lstStyle>
          <a:p>
            <a:pPr lvl="0"/>
            <a:r>
              <a:rPr lang="en-US"/>
              <a:t>Click to edit Master text styles</a:t>
            </a:r>
          </a:p>
        </p:txBody>
      </p:sp>
      <p:sp>
        <p:nvSpPr>
          <p:cNvPr id="4" name="Title Placeholder 5"/>
          <p:cNvSpPr>
            <a:spLocks noGrp="1"/>
          </p:cNvSpPr>
          <p:nvPr>
            <p:ph type="title"/>
          </p:nvPr>
        </p:nvSpPr>
        <p:spPr bwMode="auto">
          <a:xfrm>
            <a:off x="437766"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4C69"/>
                </a:solidFill>
              </a:defRPr>
            </a:lvl1pPr>
          </a:lstStyle>
          <a:p>
            <a:pPr lvl="0"/>
            <a:r>
              <a:rPr lang="en-US"/>
              <a:t>Click to edit Master title style</a:t>
            </a:r>
            <a:endParaRPr lang="en-GB" dirty="0"/>
          </a:p>
        </p:txBody>
      </p:sp>
    </p:spTree>
    <p:extLst>
      <p:ext uri="{BB962C8B-B14F-4D97-AF65-F5344CB8AC3E}">
        <p14:creationId xmlns:p14="http://schemas.microsoft.com/office/powerpoint/2010/main" val="542967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4222912136"/>
      </p:ext>
    </p:extLst>
  </p:cSld>
  <p:clrMapOvr>
    <a:overrideClrMapping bg1="lt1" tx1="dk1" bg2="lt2" tx2="dk2" accent1="accent1" accent2="accent2" accent3="accent3" accent4="accent4" accent5="accent5" accent6="accent6" hlink="hlink" folHlink="folHlink"/>
  </p:clrMapOvr>
  <p:transition spd="med">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2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0" y="2552550"/>
            <a:ext cx="698624" cy="698624"/>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FFFFFF"/>
              </a:solidFill>
              <a:cs typeface="Arial"/>
            </a:endParaRPr>
          </a:p>
        </p:txBody>
      </p:sp>
      <p:sp>
        <p:nvSpPr>
          <p:cNvPr id="15" name="Oval 14"/>
          <p:cNvSpPr/>
          <p:nvPr/>
        </p:nvSpPr>
        <p:spPr>
          <a:xfrm>
            <a:off x="575610" y="1426607"/>
            <a:ext cx="698624" cy="698624"/>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bg1"/>
              </a:solidFill>
              <a:cs typeface="Arial"/>
            </a:endParaRPr>
          </a:p>
        </p:txBody>
      </p:sp>
      <p:sp>
        <p:nvSpPr>
          <p:cNvPr id="22" name="Oval 21"/>
          <p:cNvSpPr/>
          <p:nvPr/>
        </p:nvSpPr>
        <p:spPr>
          <a:xfrm>
            <a:off x="575610" y="3653093"/>
            <a:ext cx="698624" cy="698624"/>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049FD9"/>
              </a:solidFill>
              <a:cs typeface="Arial"/>
            </a:endParaRPr>
          </a:p>
        </p:txBody>
      </p:sp>
      <p:sp>
        <p:nvSpPr>
          <p:cNvPr id="24" name="Text Placeholder 17"/>
          <p:cNvSpPr>
            <a:spLocks noGrp="1"/>
          </p:cNvSpPr>
          <p:nvPr>
            <p:ph type="body" sz="quarter" idx="13"/>
          </p:nvPr>
        </p:nvSpPr>
        <p:spPr>
          <a:xfrm>
            <a:off x="1365250" y="1432522"/>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365250" y="25577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365250" y="36530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8" name="Text Placeholder 17"/>
          <p:cNvSpPr>
            <a:spLocks noGrp="1"/>
          </p:cNvSpPr>
          <p:nvPr>
            <p:ph type="body" sz="quarter" idx="17" hasCustomPrompt="1"/>
          </p:nvPr>
        </p:nvSpPr>
        <p:spPr>
          <a:xfrm>
            <a:off x="575610" y="2552550"/>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1" y="3651140"/>
            <a:ext cx="698624" cy="693381"/>
          </a:xfrm>
          <a:prstGeom prst="rect">
            <a:avLst/>
          </a:prstGeom>
          <a:ln>
            <a:noFill/>
          </a:ln>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Text Placeholder 17"/>
          <p:cNvSpPr>
            <a:spLocks noGrp="1"/>
          </p:cNvSpPr>
          <p:nvPr>
            <p:ph type="body" sz="quarter" idx="19" hasCustomPrompt="1"/>
          </p:nvPr>
        </p:nvSpPr>
        <p:spPr>
          <a:xfrm>
            <a:off x="575610" y="1427248"/>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Tree>
    <p:extLst>
      <p:ext uri="{BB962C8B-B14F-4D97-AF65-F5344CB8AC3E}">
        <p14:creationId xmlns:p14="http://schemas.microsoft.com/office/powerpoint/2010/main" val="3053872667"/>
      </p:ext>
    </p:extLst>
  </p:cSld>
  <p:clrMapOvr>
    <a:masterClrMapping/>
  </p:clrMapOvr>
  <p:transition spd="slow">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5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5" name="Oval 14"/>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2" name="Oval 21"/>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4" name="Text Placeholder 17"/>
          <p:cNvSpPr>
            <a:spLocks noGrp="1"/>
          </p:cNvSpPr>
          <p:nvPr>
            <p:ph type="body" sz="quarter" idx="13"/>
          </p:nvPr>
        </p:nvSpPr>
        <p:spPr>
          <a:xfrm>
            <a:off x="1172384" y="1334842"/>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172385" y="198456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172385" y="262744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7"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28"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Oval 12"/>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4" name="Text Placeholder 17"/>
          <p:cNvSpPr>
            <a:spLocks noGrp="1"/>
          </p:cNvSpPr>
          <p:nvPr>
            <p:ph type="body" sz="quarter" idx="19"/>
          </p:nvPr>
        </p:nvSpPr>
        <p:spPr>
          <a:xfrm>
            <a:off x="1172386" y="327458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6"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17" name="Oval 16"/>
          <p:cNvSpPr/>
          <p:nvPr/>
        </p:nvSpPr>
        <p:spPr>
          <a:xfrm>
            <a:off x="575613" y="3921716"/>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8" name="Text Placeholder 17"/>
          <p:cNvSpPr>
            <a:spLocks noGrp="1"/>
          </p:cNvSpPr>
          <p:nvPr>
            <p:ph type="body" sz="quarter" idx="21"/>
          </p:nvPr>
        </p:nvSpPr>
        <p:spPr>
          <a:xfrm>
            <a:off x="1172387" y="392171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9" name="Text Placeholder 17"/>
          <p:cNvSpPr>
            <a:spLocks noGrp="1"/>
          </p:cNvSpPr>
          <p:nvPr>
            <p:ph type="body" sz="quarter" idx="22" hasCustomPrompt="1"/>
          </p:nvPr>
        </p:nvSpPr>
        <p:spPr>
          <a:xfrm>
            <a:off x="575614" y="3919763"/>
            <a:ext cx="464815" cy="461327"/>
          </a:xfrm>
          <a:prstGeom prst="rect">
            <a:avLst/>
          </a:prstGeom>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Tree>
    <p:extLst>
      <p:ext uri="{BB962C8B-B14F-4D97-AF65-F5344CB8AC3E}">
        <p14:creationId xmlns:p14="http://schemas.microsoft.com/office/powerpoint/2010/main" val="2962125011"/>
      </p:ext>
    </p:extLst>
  </p:cSld>
  <p:clrMapOvr>
    <a:masterClrMapping/>
  </p:clrMapOvr>
  <p:transition spd="slow">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6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4C69"/>
                </a:solidFill>
              </a:defRPr>
            </a:lvl1pPr>
          </a:lstStyle>
          <a:p>
            <a:r>
              <a:rPr lang="en-US"/>
              <a:t>Click to edit Master title style</a:t>
            </a:r>
            <a:endParaRPr lang="en-US" dirty="0"/>
          </a:p>
        </p:txBody>
      </p:sp>
      <p:sp>
        <p:nvSpPr>
          <p:cNvPr id="42" name="Oval 4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3" name="Oval 42"/>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rgbClr val="FFFFFF"/>
              </a:solidFill>
              <a:cs typeface="Arial"/>
            </a:endParaRPr>
          </a:p>
        </p:txBody>
      </p:sp>
      <p:sp>
        <p:nvSpPr>
          <p:cNvPr id="44" name="Oval 43"/>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5" name="Text Placeholder 17"/>
          <p:cNvSpPr>
            <a:spLocks noGrp="1"/>
          </p:cNvSpPr>
          <p:nvPr>
            <p:ph type="body" sz="quarter" idx="13"/>
          </p:nvPr>
        </p:nvSpPr>
        <p:spPr>
          <a:xfrm>
            <a:off x="1172384" y="133484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6" name="Text Placeholder 17"/>
          <p:cNvSpPr>
            <a:spLocks noGrp="1"/>
          </p:cNvSpPr>
          <p:nvPr>
            <p:ph type="body" sz="quarter" idx="14"/>
          </p:nvPr>
        </p:nvSpPr>
        <p:spPr>
          <a:xfrm>
            <a:off x="1172385" y="198456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7" name="Text Placeholder 17"/>
          <p:cNvSpPr>
            <a:spLocks noGrp="1"/>
          </p:cNvSpPr>
          <p:nvPr>
            <p:ph type="body" sz="quarter" idx="15"/>
          </p:nvPr>
        </p:nvSpPr>
        <p:spPr>
          <a:xfrm>
            <a:off x="1172385" y="262744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8"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49"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50"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51" name="Oval 50"/>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2" name="Text Placeholder 17"/>
          <p:cNvSpPr>
            <a:spLocks noGrp="1"/>
          </p:cNvSpPr>
          <p:nvPr>
            <p:ph type="body" sz="quarter" idx="19"/>
          </p:nvPr>
        </p:nvSpPr>
        <p:spPr>
          <a:xfrm>
            <a:off x="1172386" y="327458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3"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54" name="Oval 53"/>
          <p:cNvSpPr/>
          <p:nvPr/>
        </p:nvSpPr>
        <p:spPr>
          <a:xfrm>
            <a:off x="575613" y="3921716"/>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5" name="Text Placeholder 17"/>
          <p:cNvSpPr>
            <a:spLocks noGrp="1"/>
          </p:cNvSpPr>
          <p:nvPr>
            <p:ph type="body" sz="quarter" idx="21"/>
          </p:nvPr>
        </p:nvSpPr>
        <p:spPr>
          <a:xfrm>
            <a:off x="1172387" y="392171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6" name="Text Placeholder 17"/>
          <p:cNvSpPr>
            <a:spLocks noGrp="1"/>
          </p:cNvSpPr>
          <p:nvPr>
            <p:ph type="body" sz="quarter" idx="22" hasCustomPrompt="1"/>
          </p:nvPr>
        </p:nvSpPr>
        <p:spPr>
          <a:xfrm>
            <a:off x="575614" y="391976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
        <p:nvSpPr>
          <p:cNvPr id="57" name="Oval 56"/>
          <p:cNvSpPr/>
          <p:nvPr/>
        </p:nvSpPr>
        <p:spPr>
          <a:xfrm>
            <a:off x="4414576" y="1983084"/>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8" name="Oval 57"/>
          <p:cNvSpPr/>
          <p:nvPr/>
        </p:nvSpPr>
        <p:spPr>
          <a:xfrm>
            <a:off x="4414575" y="1332693"/>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9" name="Oval 58"/>
          <p:cNvSpPr/>
          <p:nvPr/>
        </p:nvSpPr>
        <p:spPr>
          <a:xfrm>
            <a:off x="4414576" y="2631212"/>
            <a:ext cx="464815" cy="464815"/>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0" name="Text Placeholder 17"/>
          <p:cNvSpPr>
            <a:spLocks noGrp="1"/>
          </p:cNvSpPr>
          <p:nvPr>
            <p:ph type="body" sz="quarter" idx="23"/>
          </p:nvPr>
        </p:nvSpPr>
        <p:spPr>
          <a:xfrm>
            <a:off x="5011349" y="1338608"/>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1" name="Text Placeholder 17"/>
          <p:cNvSpPr>
            <a:spLocks noGrp="1"/>
          </p:cNvSpPr>
          <p:nvPr>
            <p:ph type="body" sz="quarter" idx="24"/>
          </p:nvPr>
        </p:nvSpPr>
        <p:spPr>
          <a:xfrm>
            <a:off x="5011350" y="198832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2" name="Text Placeholder 17"/>
          <p:cNvSpPr>
            <a:spLocks noGrp="1"/>
          </p:cNvSpPr>
          <p:nvPr>
            <p:ph type="body" sz="quarter" idx="25"/>
          </p:nvPr>
        </p:nvSpPr>
        <p:spPr>
          <a:xfrm>
            <a:off x="5011350" y="263121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3" name="Text Placeholder 17"/>
          <p:cNvSpPr>
            <a:spLocks noGrp="1"/>
          </p:cNvSpPr>
          <p:nvPr>
            <p:ph type="body" sz="quarter" idx="26" hasCustomPrompt="1"/>
          </p:nvPr>
        </p:nvSpPr>
        <p:spPr>
          <a:xfrm>
            <a:off x="4414576" y="1331287"/>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6</a:t>
            </a:r>
          </a:p>
        </p:txBody>
      </p:sp>
      <p:sp>
        <p:nvSpPr>
          <p:cNvPr id="64" name="Text Placeholder 17"/>
          <p:cNvSpPr>
            <a:spLocks noGrp="1"/>
          </p:cNvSpPr>
          <p:nvPr>
            <p:ph type="body" sz="quarter" idx="27" hasCustomPrompt="1"/>
          </p:nvPr>
        </p:nvSpPr>
        <p:spPr>
          <a:xfrm>
            <a:off x="4414576" y="198308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7</a:t>
            </a:r>
          </a:p>
        </p:txBody>
      </p:sp>
      <p:sp>
        <p:nvSpPr>
          <p:cNvPr id="65" name="Text Placeholder 17"/>
          <p:cNvSpPr>
            <a:spLocks noGrp="1"/>
          </p:cNvSpPr>
          <p:nvPr>
            <p:ph type="body" sz="quarter" idx="28" hasCustomPrompt="1"/>
          </p:nvPr>
        </p:nvSpPr>
        <p:spPr>
          <a:xfrm>
            <a:off x="4414577" y="262925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8</a:t>
            </a:r>
          </a:p>
        </p:txBody>
      </p:sp>
      <p:sp>
        <p:nvSpPr>
          <p:cNvPr id="66" name="Oval 65"/>
          <p:cNvSpPr/>
          <p:nvPr/>
        </p:nvSpPr>
        <p:spPr>
          <a:xfrm>
            <a:off x="4414577" y="3278347"/>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7" name="Text Placeholder 17"/>
          <p:cNvSpPr>
            <a:spLocks noGrp="1"/>
          </p:cNvSpPr>
          <p:nvPr>
            <p:ph type="body" sz="quarter" idx="29"/>
          </p:nvPr>
        </p:nvSpPr>
        <p:spPr>
          <a:xfrm>
            <a:off x="5011351" y="327834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8" name="Text Placeholder 17"/>
          <p:cNvSpPr>
            <a:spLocks noGrp="1"/>
          </p:cNvSpPr>
          <p:nvPr>
            <p:ph type="body" sz="quarter" idx="30" hasCustomPrompt="1"/>
          </p:nvPr>
        </p:nvSpPr>
        <p:spPr>
          <a:xfrm>
            <a:off x="4414578" y="327639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9</a:t>
            </a:r>
          </a:p>
        </p:txBody>
      </p:sp>
      <p:sp>
        <p:nvSpPr>
          <p:cNvPr id="69" name="Oval 68"/>
          <p:cNvSpPr/>
          <p:nvPr/>
        </p:nvSpPr>
        <p:spPr>
          <a:xfrm>
            <a:off x="4414578" y="3925482"/>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70" name="Text Placeholder 17"/>
          <p:cNvSpPr>
            <a:spLocks noGrp="1"/>
          </p:cNvSpPr>
          <p:nvPr>
            <p:ph type="body" sz="quarter" idx="31"/>
          </p:nvPr>
        </p:nvSpPr>
        <p:spPr>
          <a:xfrm>
            <a:off x="5011352" y="392548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71" name="Text Placeholder 17"/>
          <p:cNvSpPr>
            <a:spLocks noGrp="1"/>
          </p:cNvSpPr>
          <p:nvPr>
            <p:ph type="body" sz="quarter" idx="32" hasCustomPrompt="1"/>
          </p:nvPr>
        </p:nvSpPr>
        <p:spPr>
          <a:xfrm>
            <a:off x="4414579" y="392352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10</a:t>
            </a:r>
          </a:p>
        </p:txBody>
      </p:sp>
    </p:spTree>
    <p:extLst>
      <p:ext uri="{BB962C8B-B14F-4D97-AF65-F5344CB8AC3E}">
        <p14:creationId xmlns:p14="http://schemas.microsoft.com/office/powerpoint/2010/main" val="3643099958"/>
      </p:ext>
    </p:extLst>
  </p:cSld>
  <p:clrMapOvr>
    <a:masterClrMapping/>
  </p:clrMapOvr>
  <p:transition spd="slow">
    <p:wip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1_Closing Slide">
    <p:bg>
      <p:bgPr>
        <a:solidFill>
          <a:schemeClr val="accent5"/>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1"/>
            <a:ext cx="9143999" cy="5165874"/>
          </a:xfrm>
          <a:prstGeom prst="rect">
            <a:avLst/>
          </a:prstGeom>
        </p:spPr>
      </p:pic>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198843304"/>
      </p:ext>
    </p:extLst>
  </p:cSld>
  <p:clrMapOvr>
    <a:masterClrMapping/>
  </p:clrMapOvr>
  <p:transition spd="slow">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Closing Slide">
    <p:bg>
      <p:bgPr>
        <a:solidFill>
          <a:schemeClr val="accent5"/>
        </a:solidFill>
        <a:effectLst/>
      </p:bgPr>
    </p:bg>
    <p:spTree>
      <p:nvGrpSpPr>
        <p:cNvPr id="1" name=""/>
        <p:cNvGrpSpPr/>
        <p:nvPr/>
      </p:nvGrpSpPr>
      <p:grpSpPr>
        <a:xfrm>
          <a:off x="0" y="0"/>
          <a:ext cx="0" cy="0"/>
          <a:chOff x="0" y="0"/>
          <a:chExt cx="0" cy="0"/>
        </a:xfrm>
      </p:grpSpPr>
      <p:sp>
        <p:nvSpPr>
          <p:cNvPr id="3" name="Rectangle 2"/>
          <p:cNvSpPr/>
          <p:nvPr userDrawn="1"/>
        </p:nvSpPr>
        <p:spPr>
          <a:xfrm>
            <a:off x="0" y="0"/>
            <a:ext cx="9144000" cy="5143500"/>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47974899"/>
      </p:ext>
    </p:extLst>
  </p:cSld>
  <p:clrMapOvr>
    <a:masterClrMapping/>
  </p:clrMapOvr>
  <p:transition spd="slow">
    <p:wip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3_Closing Slide">
    <p:bg>
      <p:bgPr>
        <a:solidFill>
          <a:schemeClr val="accent5"/>
        </a:solidFill>
        <a:effectLst/>
      </p:bgPr>
    </p:bg>
    <p:spTree>
      <p:nvGrpSpPr>
        <p:cNvPr id="1" name=""/>
        <p:cNvGrpSpPr/>
        <p:nvPr/>
      </p:nvGrpSpPr>
      <p:grpSpPr>
        <a:xfrm>
          <a:off x="0" y="0"/>
          <a:ext cx="0" cy="0"/>
          <a:chOff x="0" y="0"/>
          <a:chExt cx="0" cy="0"/>
        </a:xfrm>
      </p:grpSpPr>
      <p:grpSp>
        <p:nvGrpSpPr>
          <p:cNvPr id="4" name="Group 4"/>
          <p:cNvGrpSpPr>
            <a:grpSpLocks noChangeAspect="1"/>
          </p:cNvGrpSpPr>
          <p:nvPr userDrawn="1"/>
        </p:nvGrpSpPr>
        <p:grpSpPr bwMode="auto">
          <a:xfrm>
            <a:off x="3746294" y="2129856"/>
            <a:ext cx="1617944" cy="860542"/>
            <a:chOff x="310" y="249"/>
            <a:chExt cx="502" cy="267"/>
          </a:xfrm>
          <a:solidFill>
            <a:schemeClr val="accent1">
              <a:lumMod val="75000"/>
            </a:schemeClr>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51544963"/>
      </p:ext>
    </p:extLst>
  </p:cSld>
  <p:clrMapOvr>
    <a:masterClrMapping/>
  </p:clrMapOvr>
  <p:transition spd="slow">
    <p:wip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4" name="Slide Number Placeholder 6"/>
          <p:cNvSpPr>
            <a:spLocks noGrp="1"/>
          </p:cNvSpPr>
          <p:nvPr>
            <p:ph type="sldNum" sz="quarter" idx="4"/>
          </p:nvPr>
        </p:nvSpPr>
        <p:spPr>
          <a:xfrm>
            <a:off x="8473441" y="4954263"/>
            <a:ext cx="676910" cy="189238"/>
          </a:xfrm>
          <a:prstGeom prst="rect">
            <a:avLst/>
          </a:prstGeom>
        </p:spPr>
        <p:txBody>
          <a:bodyPr vert="horz" lIns="91440" tIns="45720" rIns="91440" bIns="45720" rtlCol="0" anchor="ctr"/>
          <a:lstStyle>
            <a:lvl1pPr algn="r">
              <a:defRPr sz="525">
                <a:solidFill>
                  <a:schemeClr val="tx2"/>
                </a:solidFill>
              </a:defRPr>
            </a:lvl1pPr>
          </a:lstStyle>
          <a:p>
            <a:pPr defTabSz="385763">
              <a:defRPr/>
            </a:pPr>
            <a:fld id="{2F5CCB13-0A32-4557-88E9-079F0C330695}" type="slidenum">
              <a:rPr lang="en-US" kern="0" smtClean="0">
                <a:solidFill>
                  <a:srgbClr val="595959"/>
                </a:solidFill>
              </a:rPr>
              <a:pPr defTabSz="385763">
                <a:defRPr/>
              </a:pPr>
              <a:t>‹#›</a:t>
            </a:fld>
            <a:endParaRPr lang="en-US" kern="0" dirty="0">
              <a:solidFill>
                <a:srgbClr val="595959"/>
              </a:solidFill>
            </a:endParaRPr>
          </a:p>
        </p:txBody>
      </p:sp>
      <p:sp>
        <p:nvSpPr>
          <p:cNvPr id="5" name="Rectangle 3"/>
          <p:cNvSpPr>
            <a:spLocks noGrp="1" noChangeArrowheads="1"/>
          </p:cNvSpPr>
          <p:nvPr>
            <p:ph idx="1"/>
          </p:nvPr>
        </p:nvSpPr>
        <p:spPr bwMode="auto">
          <a:xfrm>
            <a:off x="144065" y="798944"/>
            <a:ext cx="8853286" cy="4155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nSpc>
                <a:spcPct val="100000"/>
              </a:lnSpc>
              <a:spcBef>
                <a:spcPts val="600"/>
              </a:spcBef>
              <a:spcAft>
                <a:spcPts val="600"/>
              </a:spcAft>
              <a:buFont typeface="Wingdings" panose="05000000000000000000" pitchFamily="2" charset="2"/>
              <a:buChar char="§"/>
              <a:defRPr>
                <a:solidFill>
                  <a:srgbClr val="000000"/>
                </a:solidFill>
              </a:defRPr>
            </a:lvl1pPr>
            <a:lvl2pPr>
              <a:lnSpc>
                <a:spcPct val="100000"/>
              </a:lnSpc>
              <a:spcBef>
                <a:spcPts val="300"/>
              </a:spcBef>
              <a:spcAft>
                <a:spcPts val="300"/>
              </a:spcAft>
              <a:defRPr>
                <a:solidFill>
                  <a:srgbClr val="000000"/>
                </a:solidFill>
              </a:defRPr>
            </a:lvl2pPr>
            <a:lvl3pPr>
              <a:lnSpc>
                <a:spcPct val="100000"/>
              </a:lnSpc>
              <a:spcBef>
                <a:spcPts val="300"/>
              </a:spcBef>
              <a:spcAft>
                <a:spcPts val="300"/>
              </a:spcAft>
              <a:defRPr>
                <a:solidFill>
                  <a:srgbClr val="000000"/>
                </a:solidFill>
              </a:defRPr>
            </a:lvl3pPr>
            <a:lvl4pPr>
              <a:lnSpc>
                <a:spcPct val="100000"/>
              </a:lnSpc>
              <a:spcBef>
                <a:spcPts val="300"/>
              </a:spcBef>
              <a:spcAft>
                <a:spcPts val="300"/>
              </a:spcAft>
              <a:defRPr>
                <a:solidFill>
                  <a:srgbClr val="000000"/>
                </a:solidFill>
              </a:defRPr>
            </a:lvl4pPr>
          </a:lstStyle>
          <a:p>
            <a:pPr lvl="0"/>
            <a:r>
              <a:rPr lang="en-US">
                <a:sym typeface="Arial" pitchFamily="34" charset="0"/>
              </a:rPr>
              <a:t>Click to edit Master text styles</a:t>
            </a:r>
          </a:p>
          <a:p>
            <a:pPr lvl="1"/>
            <a:r>
              <a:rPr lang="en-US">
                <a:sym typeface="Arial" pitchFamily="34" charset="0"/>
              </a:rPr>
              <a:t>Second level</a:t>
            </a:r>
          </a:p>
          <a:p>
            <a:pPr lvl="2"/>
            <a:r>
              <a:rPr lang="en-US">
                <a:sym typeface="Arial" pitchFamily="34" charset="0"/>
              </a:rPr>
              <a:t>Third level</a:t>
            </a:r>
          </a:p>
          <a:p>
            <a:pPr lvl="3"/>
            <a:r>
              <a:rPr lang="en-US">
                <a:sym typeface="Arial" pitchFamily="34" charset="0"/>
              </a:rPr>
              <a:t>Fourth level</a:t>
            </a:r>
          </a:p>
        </p:txBody>
      </p:sp>
      <p:sp>
        <p:nvSpPr>
          <p:cNvPr id="6" name="Rectangle 2"/>
          <p:cNvSpPr>
            <a:spLocks noGrp="1" noChangeArrowheads="1"/>
          </p:cNvSpPr>
          <p:nvPr>
            <p:ph type="title"/>
          </p:nvPr>
        </p:nvSpPr>
        <p:spPr bwMode="auto">
          <a:xfrm>
            <a:off x="1" y="41393"/>
            <a:ext cx="9144000"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nSpc>
                <a:spcPct val="100000"/>
              </a:lnSpc>
              <a:defRPr sz="2400"/>
            </a:lvl1pPr>
          </a:lstStyle>
          <a:p>
            <a:pPr lvl="0"/>
            <a:r>
              <a:rPr lang="en-US">
                <a:sym typeface="Arial" pitchFamily="34" charset="0"/>
              </a:rPr>
              <a:t>Click to edit Master title style</a:t>
            </a:r>
            <a:endParaRPr lang="en-US" dirty="0">
              <a:sym typeface="Arial" pitchFamily="34" charset="0"/>
            </a:endParaRPr>
          </a:p>
        </p:txBody>
      </p:sp>
    </p:spTree>
    <p:extLst>
      <p:ext uri="{BB962C8B-B14F-4D97-AF65-F5344CB8AC3E}">
        <p14:creationId xmlns:p14="http://schemas.microsoft.com/office/powerpoint/2010/main" val="2257996623"/>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992501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5"/>
          <p:cNvSpPr>
            <a:spLocks noGrp="1"/>
          </p:cNvSpPr>
          <p:nvPr>
            <p:ph type="title"/>
          </p:nvPr>
        </p:nvSpPr>
        <p:spPr bwMode="auto">
          <a:xfrm>
            <a:off x="438150"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4" tIns="45712" rIns="91424" bIns="45712" numCol="1" anchor="ctr" anchorCtr="0" compatLnSpc="1">
            <a:prstTxWarp prst="textNoShape">
              <a:avLst/>
            </a:prstTxWarp>
          </a:bodyPr>
          <a:lstStyle/>
          <a:p>
            <a:pPr lvl="0"/>
            <a:r>
              <a:rPr lang="en-GB" altLang="en-US" dirty="0"/>
              <a:t>Title Goes Here</a:t>
            </a:r>
          </a:p>
        </p:txBody>
      </p:sp>
      <p:sp>
        <p:nvSpPr>
          <p:cNvPr id="12" name="Rectangle 7"/>
          <p:cNvSpPr>
            <a:spLocks noChangeArrowheads="1"/>
          </p:cNvSpPr>
          <p:nvPr/>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rtl="0" fontAlgn="auto">
              <a:spcBef>
                <a:spcPts val="0"/>
              </a:spcBef>
              <a:spcAft>
                <a:spcPts val="0"/>
              </a:spcAft>
              <a:defRPr/>
            </a:pPr>
            <a:fld id="{6A1E46DC-7EF6-4EA2-B285-14272867D133}" type="slidenum">
              <a:rPr sz="600">
                <a:solidFill>
                  <a:schemeClr val="accent3">
                    <a:lumMod val="85000"/>
                  </a:schemeClr>
                </a:solidFill>
                <a:latin typeface="+mn-lt"/>
                <a:ea typeface="+mn-ea"/>
                <a:cs typeface="CiscoSans Thin"/>
              </a:rPr>
              <a:pPr algn="r" defTabSz="610744" fontAlgn="auto">
                <a:spcBef>
                  <a:spcPts val="0"/>
                </a:spcBef>
                <a:spcAft>
                  <a:spcPts val="0"/>
                </a:spcAft>
                <a:defRPr/>
              </a:pPr>
              <a:t>‹#›</a:t>
            </a:fld>
            <a:endParaRPr sz="600">
              <a:solidFill>
                <a:schemeClr val="accent3">
                  <a:lumMod val="85000"/>
                </a:schemeClr>
              </a:solidFill>
              <a:latin typeface="+mn-lt"/>
              <a:ea typeface="+mn-ea"/>
              <a:cs typeface="CiscoSans Thin"/>
            </a:endParaRPr>
          </a:p>
        </p:txBody>
      </p:sp>
      <p:sp>
        <p:nvSpPr>
          <p:cNvPr id="13" name="Rectangle 4"/>
          <p:cNvSpPr>
            <a:spLocks noChangeArrowheads="1"/>
          </p:cNvSpPr>
          <p:nvPr/>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rtl="0" fontAlgn="auto">
              <a:spcBef>
                <a:spcPts val="0"/>
              </a:spcBef>
              <a:spcAft>
                <a:spcPts val="0"/>
              </a:spcAft>
              <a:defRPr/>
            </a:pPr>
            <a:r>
              <a:rPr lang="ru-RU" sz="600">
                <a:solidFill>
                  <a:schemeClr val="accent3">
                    <a:lumMod val="85000"/>
                  </a:schemeClr>
                </a:solidFill>
                <a:latin typeface="+mn-lt"/>
                <a:ea typeface="+mn-ea"/>
                <a:cs typeface="CiscoSans Thin"/>
              </a:rPr>
              <a:t>© Cisco и/или Партнеры, 2016 г. Все права защищены.   Конфиденциальная информация Cisco</a:t>
            </a:r>
          </a:p>
        </p:txBody>
      </p:sp>
      <p:grpSp>
        <p:nvGrpSpPr>
          <p:cNvPr id="6" name="Group 4"/>
          <p:cNvGrpSpPr>
            <a:grpSpLocks noChangeAspect="1"/>
          </p:cNvGrpSpPr>
          <p:nvPr userDrawn="1"/>
        </p:nvGrpSpPr>
        <p:grpSpPr bwMode="auto">
          <a:xfrm>
            <a:off x="508039" y="4715197"/>
            <a:ext cx="340257" cy="180974"/>
            <a:chOff x="310" y="249"/>
            <a:chExt cx="502" cy="267"/>
          </a:xfrm>
          <a:solidFill>
            <a:schemeClr val="accent5"/>
          </a:solidFill>
        </p:grpSpPr>
        <p:sp>
          <p:nvSpPr>
            <p:cNvPr id="7"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cSld>
  <p:clrMap bg1="lt1" tx1="dk1" bg2="lt2" tx2="dk2" accent1="accent1" accent2="accent2" accent3="accent3" accent4="accent4" accent5="accent5" accent6="accent6" hlink="hlink" folHlink="folHlink"/>
  <p:sldLayoutIdLst>
    <p:sldLayoutId id="2147483962" r:id="rId1"/>
    <p:sldLayoutId id="2147484013" r:id="rId2"/>
    <p:sldLayoutId id="2147484014" r:id="rId3"/>
    <p:sldLayoutId id="2147483965" r:id="rId4"/>
    <p:sldLayoutId id="2147483967" r:id="rId5"/>
    <p:sldLayoutId id="2147483995" r:id="rId6"/>
    <p:sldLayoutId id="2147484007" r:id="rId7"/>
    <p:sldLayoutId id="2147484010" r:id="rId8"/>
    <p:sldLayoutId id="2147484011" r:id="rId9"/>
    <p:sldLayoutId id="2147484015" r:id="rId10"/>
    <p:sldLayoutId id="2147483998" r:id="rId11"/>
    <p:sldLayoutId id="2147484027" r:id="rId12"/>
    <p:sldLayoutId id="2147484029" r:id="rId13"/>
    <p:sldLayoutId id="2147484031" r:id="rId14"/>
  </p:sldLayoutIdLst>
  <p:transition spd="slow">
    <p:wipe/>
  </p:transition>
  <p:txStyles>
    <p:titleStyle>
      <a:lvl1pPr algn="l" defTabSz="684213" rtl="0" eaLnBrk="1" fontAlgn="base" hangingPunct="1">
        <a:lnSpc>
          <a:spcPct val="80000"/>
        </a:lnSpc>
        <a:spcBef>
          <a:spcPct val="0"/>
        </a:spcBef>
        <a:spcAft>
          <a:spcPct val="0"/>
        </a:spcAft>
        <a:defRPr lang="en-US" sz="3200" kern="1200" dirty="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p:titleStyle>
    <p:bodyStyle>
      <a:lvl1pPr marL="169863" indent="-169863" algn="l" defTabSz="684213" rtl="0" eaLnBrk="1" fontAlgn="base" hangingPunct="1">
        <a:lnSpc>
          <a:spcPct val="95000"/>
        </a:lnSpc>
        <a:spcBef>
          <a:spcPts val="1075"/>
        </a:spcBef>
        <a:spcAft>
          <a:spcPct val="0"/>
        </a:spcAft>
        <a:buClr>
          <a:schemeClr val="tx2"/>
        </a:buClr>
        <a:buSzPct val="90000"/>
        <a:buFont typeface="Arial" charset="0"/>
        <a:buChar char="•"/>
        <a:defRPr lang="en-US" sz="1500" kern="1200" dirty="0">
          <a:solidFill>
            <a:schemeClr val="tx1"/>
          </a:solidFill>
          <a:latin typeface="+mn-lt"/>
          <a:ea typeface="ＭＳ Ｐゴシック" charset="0"/>
          <a:cs typeface="CiscoSans"/>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777" rtl="0" eaLnBrk="1" latinLnBrk="0" hangingPunct="1">
        <a:defRPr sz="1400" kern="1200">
          <a:solidFill>
            <a:schemeClr val="tx1"/>
          </a:solidFill>
          <a:latin typeface="+mn-lt"/>
          <a:ea typeface="+mn-ea"/>
          <a:cs typeface="+mn-cs"/>
        </a:defRPr>
      </a:lvl1pPr>
      <a:lvl2pPr marL="342886" algn="l" defTabSz="685777" rtl="0" eaLnBrk="1" latinLnBrk="0" hangingPunct="1">
        <a:defRPr sz="1400" kern="1200">
          <a:solidFill>
            <a:schemeClr val="tx1"/>
          </a:solidFill>
          <a:latin typeface="+mn-lt"/>
          <a:ea typeface="+mn-ea"/>
          <a:cs typeface="+mn-cs"/>
        </a:defRPr>
      </a:lvl2pPr>
      <a:lvl3pPr marL="685777" algn="l" defTabSz="685777" rtl="0" eaLnBrk="1" latinLnBrk="0" hangingPunct="1">
        <a:defRPr sz="1400" kern="1200">
          <a:solidFill>
            <a:schemeClr val="tx1"/>
          </a:solidFill>
          <a:latin typeface="+mn-lt"/>
          <a:ea typeface="+mn-ea"/>
          <a:cs typeface="+mn-cs"/>
        </a:defRPr>
      </a:lvl3pPr>
      <a:lvl4pPr marL="1028665" algn="l" defTabSz="685777" rtl="0" eaLnBrk="1" latinLnBrk="0" hangingPunct="1">
        <a:defRPr sz="1400" kern="1200">
          <a:solidFill>
            <a:schemeClr val="tx1"/>
          </a:solidFill>
          <a:latin typeface="+mn-lt"/>
          <a:ea typeface="+mn-ea"/>
          <a:cs typeface="+mn-cs"/>
        </a:defRPr>
      </a:lvl4pPr>
      <a:lvl5pPr marL="1371555" algn="l" defTabSz="685777" rtl="0" eaLnBrk="1" latinLnBrk="0" hangingPunct="1">
        <a:defRPr sz="1400" kern="1200">
          <a:solidFill>
            <a:schemeClr val="tx1"/>
          </a:solidFill>
          <a:latin typeface="+mn-lt"/>
          <a:ea typeface="+mn-ea"/>
          <a:cs typeface="+mn-cs"/>
        </a:defRPr>
      </a:lvl5pPr>
      <a:lvl6pPr marL="1714441" algn="l" defTabSz="685777" rtl="0" eaLnBrk="1" latinLnBrk="0" hangingPunct="1">
        <a:defRPr sz="1400" kern="1200">
          <a:solidFill>
            <a:schemeClr val="tx1"/>
          </a:solidFill>
          <a:latin typeface="+mn-lt"/>
          <a:ea typeface="+mn-ea"/>
          <a:cs typeface="+mn-cs"/>
        </a:defRPr>
      </a:lvl6pPr>
      <a:lvl7pPr marL="2057332" algn="l" defTabSz="685777" rtl="0" eaLnBrk="1" latinLnBrk="0" hangingPunct="1">
        <a:defRPr sz="1400" kern="1200">
          <a:solidFill>
            <a:schemeClr val="tx1"/>
          </a:solidFill>
          <a:latin typeface="+mn-lt"/>
          <a:ea typeface="+mn-ea"/>
          <a:cs typeface="+mn-cs"/>
        </a:defRPr>
      </a:lvl7pPr>
      <a:lvl8pPr marL="2400220" algn="l" defTabSz="685777" rtl="0" eaLnBrk="1" latinLnBrk="0" hangingPunct="1">
        <a:defRPr sz="1400" kern="1200">
          <a:solidFill>
            <a:schemeClr val="tx1"/>
          </a:solidFill>
          <a:latin typeface="+mn-lt"/>
          <a:ea typeface="+mn-ea"/>
          <a:cs typeface="+mn-cs"/>
        </a:defRPr>
      </a:lvl8pPr>
      <a:lvl9pPr marL="2743110" algn="l" defTabSz="685777"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336"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4.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3.xml"/><Relationship Id="rId1" Type="http://schemas.openxmlformats.org/officeDocument/2006/relationships/tags" Target="../tags/tag5.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tags" Target="../tags/tag6.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3.xml"/><Relationship Id="rId1" Type="http://schemas.openxmlformats.org/officeDocument/2006/relationships/tags" Target="../tags/tag7.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4.xml"/><Relationship Id="rId1" Type="http://schemas.openxmlformats.org/officeDocument/2006/relationships/tags" Target="../tags/tag8.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4.xml"/><Relationship Id="rId1" Type="http://schemas.openxmlformats.org/officeDocument/2006/relationships/tags" Target="../tags/tag9.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4.xml"/><Relationship Id="rId1" Type="http://schemas.openxmlformats.org/officeDocument/2006/relationships/tags" Target="../tags/tag10.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4.xml"/><Relationship Id="rId1" Type="http://schemas.openxmlformats.org/officeDocument/2006/relationships/tags" Target="../tags/tag1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3.xml"/><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4.xml"/><Relationship Id="rId1" Type="http://schemas.openxmlformats.org/officeDocument/2006/relationships/tags" Target="../tags/tag12.xml"/></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13.xml"/><Relationship Id="rId1" Type="http://schemas.openxmlformats.org/officeDocument/2006/relationships/tags" Target="../tags/tag13.xml"/></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13.xml"/><Relationship Id="rId1" Type="http://schemas.openxmlformats.org/officeDocument/2006/relationships/tags" Target="../tags/tag14.xml"/></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13.xml"/><Relationship Id="rId1" Type="http://schemas.openxmlformats.org/officeDocument/2006/relationships/tags" Target="../tags/tag15.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10.xml"/><Relationship Id="rId1" Type="http://schemas.openxmlformats.org/officeDocument/2006/relationships/tags" Target="../tags/tag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469497" y="1219200"/>
            <a:ext cx="6557379" cy="1666626"/>
          </a:xfrm>
        </p:spPr>
        <p:txBody>
          <a:bodyPr/>
          <a:lstStyle/>
          <a:p>
            <a:pPr rtl="0"/>
            <a:r>
              <a:rPr lang="ru-RU" dirty="0">
                <a:solidFill>
                  <a:schemeClr val="accent5">
                    <a:lumMod val="40000"/>
                    <a:lumOff val="60000"/>
                  </a:schemeClr>
                </a:solidFill>
              </a:rPr>
              <a:t>Модуль 7: Коммутация </a:t>
            </a:r>
            <a:r>
              <a:rPr lang="ru-RU" dirty="0" err="1">
                <a:solidFill>
                  <a:schemeClr val="accent5">
                    <a:lumMod val="40000"/>
                    <a:lumOff val="60000"/>
                  </a:schemeClr>
                </a:solidFill>
              </a:rPr>
              <a:t>Ethernet</a:t>
            </a:r>
            <a:endParaRPr lang="ru-RU" dirty="0">
              <a:solidFill>
                <a:schemeClr val="accent5">
                  <a:lumMod val="40000"/>
                  <a:lumOff val="60000"/>
                </a:schemeClr>
              </a:solidFill>
            </a:endParaRPr>
          </a:p>
        </p:txBody>
      </p:sp>
      <p:sp>
        <p:nvSpPr>
          <p:cNvPr id="7" name="Subtitle 6"/>
          <p:cNvSpPr>
            <a:spLocks noGrp="1"/>
          </p:cNvSpPr>
          <p:nvPr>
            <p:ph type="subTitle" idx="1"/>
          </p:nvPr>
        </p:nvSpPr>
        <p:spPr>
          <a:xfrm>
            <a:off x="469497" y="3809526"/>
            <a:ext cx="2368954" cy="902174"/>
          </a:xfrm>
        </p:spPr>
        <p:txBody>
          <a:bodyPr/>
          <a:lstStyle/>
          <a:p>
            <a:pPr rtl="0"/>
            <a:r>
              <a:rPr lang="ru-RU">
                <a:solidFill>
                  <a:schemeClr val="accent5">
                    <a:lumMod val="40000"/>
                    <a:lumOff val="60000"/>
                  </a:schemeClr>
                </a:solidFill>
              </a:rPr>
              <a:t>Введение в сетевые технологии v7.0 (ITN)</a:t>
            </a:r>
          </a:p>
          <a:p>
            <a:endParaRPr lang="en-US" dirty="0"/>
          </a:p>
        </p:txBody>
      </p:sp>
    </p:spTree>
    <p:custDataLst>
      <p:tags r:id="rId1"/>
    </p:custDataLst>
    <p:extLst>
      <p:ext uri="{BB962C8B-B14F-4D97-AF65-F5344CB8AC3E}">
        <p14:creationId xmlns:p14="http://schemas.microsoft.com/office/powerpoint/2010/main" val="343650477"/>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0DBD329-AB20-664C-9697-486FE5CED9B9}"/>
              </a:ext>
            </a:extLst>
          </p:cNvPr>
          <p:cNvSpPr>
            <a:spLocks noGrp="1"/>
          </p:cNvSpPr>
          <p:nvPr>
            <p:ph type="title"/>
          </p:nvPr>
        </p:nvSpPr>
        <p:spPr>
          <a:xfrm>
            <a:off x="0" y="189238"/>
            <a:ext cx="9144000" cy="609708"/>
          </a:xfrm>
        </p:spPr>
        <p:txBody>
          <a:bodyPr/>
          <a:lstStyle/>
          <a:p>
            <a:r>
              <a:rPr lang="ru-RU" dirty="0"/>
              <a:t>В этом модуле</a:t>
            </a:r>
          </a:p>
        </p:txBody>
      </p:sp>
      <p:sp>
        <p:nvSpPr>
          <p:cNvPr id="2" name="Content Placeholder 1">
            <a:extLst>
              <a:ext uri="{FF2B5EF4-FFF2-40B4-BE49-F238E27FC236}">
                <a16:creationId xmlns:a16="http://schemas.microsoft.com/office/drawing/2014/main" id="{C2EDE137-350D-6D47-BD51-750CD198389A}"/>
              </a:ext>
            </a:extLst>
          </p:cNvPr>
          <p:cNvSpPr>
            <a:spLocks noGrp="1"/>
          </p:cNvSpPr>
          <p:nvPr>
            <p:ph idx="1"/>
          </p:nvPr>
        </p:nvSpPr>
        <p:spPr>
          <a:xfrm>
            <a:off x="144065" y="798945"/>
            <a:ext cx="8853286" cy="346366"/>
          </a:xfrm>
        </p:spPr>
        <p:txBody>
          <a:bodyPr/>
          <a:lstStyle/>
          <a:p>
            <a:pPr marL="0" indent="0">
              <a:buNone/>
            </a:pPr>
            <a:r>
              <a:rPr lang="ru-RU" dirty="0"/>
              <a:t>Для облегчения обучения в этот модуль могут быть включены следующие функции в GUI:</a:t>
            </a:r>
            <a:endParaRPr lang="en-US" dirty="0"/>
          </a:p>
          <a:p>
            <a:endParaRPr lang="en-US" dirty="0"/>
          </a:p>
          <a:p>
            <a:endParaRPr lang="en-US" dirty="0"/>
          </a:p>
          <a:p>
            <a:pPr marL="0" indent="0">
              <a:buNone/>
            </a:pPr>
            <a:endParaRPr lang="en-US" dirty="0"/>
          </a:p>
        </p:txBody>
      </p:sp>
      <p:graphicFrame>
        <p:nvGraphicFramePr>
          <p:cNvPr id="4" name="Table 3">
            <a:extLst>
              <a:ext uri="{FF2B5EF4-FFF2-40B4-BE49-F238E27FC236}">
                <a16:creationId xmlns:a16="http://schemas.microsoft.com/office/drawing/2014/main" id="{24EE699F-A87C-2246-9235-C1DFDF6B2651}"/>
              </a:ext>
            </a:extLst>
          </p:cNvPr>
          <p:cNvGraphicFramePr>
            <a:graphicFrameLocks noGrp="1"/>
          </p:cNvGraphicFramePr>
          <p:nvPr/>
        </p:nvGraphicFramePr>
        <p:xfrm>
          <a:off x="291944" y="1278314"/>
          <a:ext cx="8557528" cy="3088407"/>
        </p:xfrm>
        <a:graphic>
          <a:graphicData uri="http://schemas.openxmlformats.org/drawingml/2006/table">
            <a:tbl>
              <a:tblPr firstRow="1" bandRow="1">
                <a:tableStyleId>{5C22544A-7EE6-4342-B048-85BDC9FD1C3A}</a:tableStyleId>
              </a:tblPr>
              <a:tblGrid>
                <a:gridCol w="2140558">
                  <a:extLst>
                    <a:ext uri="{9D8B030D-6E8A-4147-A177-3AD203B41FA5}">
                      <a16:colId xmlns:a16="http://schemas.microsoft.com/office/drawing/2014/main" val="200107645"/>
                    </a:ext>
                  </a:extLst>
                </a:gridCol>
                <a:gridCol w="6416970">
                  <a:extLst>
                    <a:ext uri="{9D8B030D-6E8A-4147-A177-3AD203B41FA5}">
                      <a16:colId xmlns:a16="http://schemas.microsoft.com/office/drawing/2014/main" val="2648404099"/>
                    </a:ext>
                  </a:extLst>
                </a:gridCol>
              </a:tblGrid>
              <a:tr h="265091">
                <a:tc>
                  <a:txBody>
                    <a:bodyPr/>
                    <a:lstStyle/>
                    <a:p>
                      <a:pPr rtl="0"/>
                      <a:r>
                        <a:rPr lang="ru-RU" dirty="0"/>
                        <a:t>Функции</a:t>
                      </a:r>
                    </a:p>
                  </a:txBody>
                  <a:tcPr/>
                </a:tc>
                <a:tc>
                  <a:txBody>
                    <a:bodyPr/>
                    <a:lstStyle/>
                    <a:p>
                      <a:pPr rtl="0"/>
                      <a:r>
                        <a:rPr lang="ru-RU" dirty="0"/>
                        <a:t>Описание</a:t>
                      </a:r>
                    </a:p>
                  </a:txBody>
                  <a:tcPr/>
                </a:tc>
                <a:extLst>
                  <a:ext uri="{0D108BD9-81ED-4DB2-BD59-A6C34878D82A}">
                    <a16:rowId xmlns:a16="http://schemas.microsoft.com/office/drawing/2014/main" val="367710602"/>
                  </a:ext>
                </a:extLst>
              </a:tr>
              <a:tr h="331556">
                <a:tc>
                  <a:txBody>
                    <a:bodyPr/>
                    <a:lstStyle/>
                    <a:p>
                      <a:pPr algn="l" rtl="0" fontAlgn="b"/>
                      <a:r>
                        <a:rPr lang="ru-RU" sz="1400" b="0" i="0" u="none" strike="noStrike" dirty="0">
                          <a:solidFill>
                            <a:srgbClr val="000000"/>
                          </a:solidFill>
                          <a:effectLst/>
                          <a:latin typeface="+mn-lt"/>
                        </a:rPr>
                        <a:t>Анимация</a:t>
                      </a:r>
                    </a:p>
                  </a:txBody>
                  <a:tcPr marL="9525" marR="9525" marT="9525" marB="0" anchor="b"/>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ru-RU" dirty="0"/>
                        <a:t>Познакомит учащихся с новыми навыками и понятиями.</a:t>
                      </a:r>
                    </a:p>
                  </a:txBody>
                  <a:tcPr/>
                </a:tc>
                <a:extLst>
                  <a:ext uri="{0D108BD9-81ED-4DB2-BD59-A6C34878D82A}">
                    <a16:rowId xmlns:a16="http://schemas.microsoft.com/office/drawing/2014/main" val="698835149"/>
                  </a:ext>
                </a:extLst>
              </a:tr>
              <a:tr h="379411">
                <a:tc>
                  <a:txBody>
                    <a:bodyPr/>
                    <a:lstStyle/>
                    <a:p>
                      <a:pPr marL="0" marR="0" lvl="0" indent="0" algn="l" defTabSz="685777" rtl="0" eaLnBrk="1" fontAlgn="b" latinLnBrk="0" hangingPunct="1">
                        <a:lnSpc>
                          <a:spcPct val="100000"/>
                        </a:lnSpc>
                        <a:spcBef>
                          <a:spcPts val="0"/>
                        </a:spcBef>
                        <a:spcAft>
                          <a:spcPts val="0"/>
                        </a:spcAft>
                        <a:buClrTx/>
                        <a:buSzTx/>
                        <a:buFontTx/>
                        <a:buNone/>
                        <a:tabLst/>
                        <a:defRPr/>
                      </a:pPr>
                      <a:r>
                        <a:rPr lang="ru-RU" sz="1400" b="0" i="0" u="none" strike="noStrike" dirty="0">
                          <a:solidFill>
                            <a:srgbClr val="000000"/>
                          </a:solidFill>
                          <a:effectLst/>
                          <a:latin typeface="+mn-lt"/>
                        </a:rPr>
                        <a:t>Видео</a:t>
                      </a:r>
                    </a:p>
                  </a:txBody>
                  <a:tcPr marL="9525" marR="9525" marT="9525" marB="0" anchor="b"/>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ru-RU" dirty="0"/>
                        <a:t>Познакомит учащихся с новыми навыками и понятиями.</a:t>
                      </a:r>
                    </a:p>
                  </a:txBody>
                  <a:tcPr/>
                </a:tc>
                <a:extLst>
                  <a:ext uri="{0D108BD9-81ED-4DB2-BD59-A6C34878D82A}">
                    <a16:rowId xmlns:a16="http://schemas.microsoft.com/office/drawing/2014/main" val="904576505"/>
                  </a:ext>
                </a:extLst>
              </a:tr>
              <a:tr h="265091">
                <a:tc>
                  <a:txBody>
                    <a:bodyPr/>
                    <a:lstStyle/>
                    <a:p>
                      <a:pPr marL="0" marR="0" lvl="0" indent="0" algn="l" defTabSz="685777" rtl="0" eaLnBrk="1" fontAlgn="b" latinLnBrk="0" hangingPunct="1">
                        <a:lnSpc>
                          <a:spcPct val="100000"/>
                        </a:lnSpc>
                        <a:spcBef>
                          <a:spcPts val="0"/>
                        </a:spcBef>
                        <a:spcAft>
                          <a:spcPts val="0"/>
                        </a:spcAft>
                        <a:buClrTx/>
                        <a:buSzTx/>
                        <a:buFontTx/>
                        <a:buNone/>
                        <a:tabLst/>
                        <a:defRPr/>
                      </a:pPr>
                      <a:r>
                        <a:rPr lang="ru-RU" sz="1400" b="0" i="0" u="none" strike="noStrike" dirty="0">
                          <a:solidFill>
                            <a:srgbClr val="000000"/>
                          </a:solidFill>
                          <a:effectLst/>
                          <a:latin typeface="+mn-lt"/>
                        </a:rPr>
                        <a:t>«Проверьте</a:t>
                      </a:r>
                      <a:r>
                        <a:rPr lang="ru-RU" sz="1400" b="0" i="0" u="none" strike="noStrike" baseline="0" dirty="0">
                          <a:solidFill>
                            <a:srgbClr val="000000"/>
                          </a:solidFill>
                          <a:effectLst/>
                          <a:latin typeface="+mn-lt"/>
                        </a:rPr>
                        <a:t> свое</a:t>
                      </a:r>
                      <a:r>
                        <a:rPr lang="ru-RU" sz="1400" b="0" i="0" u="none" strike="noStrike" dirty="0">
                          <a:solidFill>
                            <a:srgbClr val="000000"/>
                          </a:solidFill>
                          <a:effectLst/>
                          <a:latin typeface="+mn-lt"/>
                        </a:rPr>
                        <a:t> понимание</a:t>
                      </a:r>
                      <a:r>
                        <a:rPr lang="ru-RU" sz="1400" b="0" i="0" u="none" strike="noStrike" baseline="0" dirty="0">
                          <a:solidFill>
                            <a:srgbClr val="000000"/>
                          </a:solidFill>
                          <a:effectLst/>
                          <a:latin typeface="+mn-lt"/>
                        </a:rPr>
                        <a:t> </a:t>
                      </a:r>
                      <a:r>
                        <a:rPr lang="ru-RU" sz="1400" b="0" i="0" u="none" strike="noStrike" dirty="0">
                          <a:solidFill>
                            <a:srgbClr val="000000"/>
                          </a:solidFill>
                          <a:effectLst/>
                          <a:latin typeface="+mn-lt"/>
                        </a:rPr>
                        <a:t>темы»</a:t>
                      </a:r>
                    </a:p>
                  </a:txBody>
                  <a:tcPr marL="9525" marR="9525" marT="9525" marB="0" anchor="b"/>
                </a:tc>
                <a:tc>
                  <a:txBody>
                    <a:bodyPr/>
                    <a:lstStyle/>
                    <a:p>
                      <a:pPr rtl="0"/>
                      <a:r>
                        <a:rPr lang="ru-RU" dirty="0"/>
                        <a:t>Онлайн</a:t>
                      </a:r>
                      <a:r>
                        <a:rPr lang="ru-RU" baseline="0" dirty="0"/>
                        <a:t>-к</a:t>
                      </a:r>
                      <a:r>
                        <a:rPr lang="ru-RU" dirty="0"/>
                        <a:t>онтрольная по теме,</a:t>
                      </a:r>
                      <a:r>
                        <a:rPr lang="ru-RU" baseline="0" dirty="0"/>
                        <a:t> чтобы помочь ученикам самостоятельно оценить понимание материала.</a:t>
                      </a:r>
                      <a:endParaRPr lang="ru-RU" dirty="0"/>
                    </a:p>
                  </a:txBody>
                  <a:tcPr/>
                </a:tc>
                <a:extLst>
                  <a:ext uri="{0D108BD9-81ED-4DB2-BD59-A6C34878D82A}">
                    <a16:rowId xmlns:a16="http://schemas.microsoft.com/office/drawing/2014/main" val="2876586054"/>
                  </a:ext>
                </a:extLst>
              </a:tr>
              <a:tr h="178145">
                <a:tc>
                  <a:txBody>
                    <a:bodyPr/>
                    <a:lstStyle/>
                    <a:p>
                      <a:pPr marL="0" marR="0" lvl="0" indent="0" algn="l" defTabSz="685777" rtl="0" eaLnBrk="1" fontAlgn="b" latinLnBrk="0" hangingPunct="1">
                        <a:lnSpc>
                          <a:spcPct val="100000"/>
                        </a:lnSpc>
                        <a:spcBef>
                          <a:spcPts val="0"/>
                        </a:spcBef>
                        <a:spcAft>
                          <a:spcPts val="0"/>
                        </a:spcAft>
                        <a:buClrTx/>
                        <a:buSzTx/>
                        <a:buFontTx/>
                        <a:buNone/>
                        <a:tabLst/>
                        <a:defRPr/>
                      </a:pPr>
                      <a:r>
                        <a:rPr lang="ru-RU" sz="1400" b="0" i="0" u="none" strike="noStrike" dirty="0">
                          <a:solidFill>
                            <a:srgbClr val="000000"/>
                          </a:solidFill>
                          <a:effectLst/>
                          <a:latin typeface="+mn-lt"/>
                        </a:rPr>
                        <a:t>Интерактивные</a:t>
                      </a:r>
                      <a:r>
                        <a:rPr lang="ru-RU" sz="1400" b="0" i="0" u="none" strike="noStrike" baseline="0" dirty="0">
                          <a:solidFill>
                            <a:srgbClr val="000000"/>
                          </a:solidFill>
                          <a:effectLst/>
                          <a:latin typeface="+mn-lt"/>
                        </a:rPr>
                        <a:t> задания</a:t>
                      </a:r>
                      <a:endParaRPr lang="ru-RU" sz="1400" b="0" i="0" u="none" strike="noStrike" dirty="0">
                        <a:solidFill>
                          <a:srgbClr val="000000"/>
                        </a:solidFill>
                        <a:effectLst/>
                        <a:latin typeface="+mn-lt"/>
                      </a:endParaRPr>
                    </a:p>
                  </a:txBody>
                  <a:tcPr marL="9525" marR="9525" marT="9525" marB="0" anchor="b"/>
                </a:tc>
                <a:tc>
                  <a:txBody>
                    <a:bodyPr/>
                    <a:lstStyle/>
                    <a:p>
                      <a:pPr rtl="0"/>
                      <a:r>
                        <a:rPr lang="ru-RU" dirty="0"/>
                        <a:t>Задания</a:t>
                      </a:r>
                      <a:r>
                        <a:rPr lang="ru-RU" baseline="0" dirty="0"/>
                        <a:t> р</a:t>
                      </a:r>
                      <a:r>
                        <a:rPr lang="ru-RU" dirty="0"/>
                        <a:t>азных форматов, чтобы помочь ученикам оценить понимание материала.</a:t>
                      </a:r>
                    </a:p>
                  </a:txBody>
                  <a:tcPr/>
                </a:tc>
                <a:extLst>
                  <a:ext uri="{0D108BD9-81ED-4DB2-BD59-A6C34878D82A}">
                    <a16:rowId xmlns:a16="http://schemas.microsoft.com/office/drawing/2014/main" val="3454703549"/>
                  </a:ext>
                </a:extLst>
              </a:tr>
              <a:tr h="215293">
                <a:tc>
                  <a:txBody>
                    <a:bodyPr/>
                    <a:lstStyle/>
                    <a:p>
                      <a:pPr algn="l" rtl="0" fontAlgn="b"/>
                      <a:r>
                        <a:rPr lang="ru-RU" sz="1400" b="0" i="0" u="none" strike="noStrike" dirty="0">
                          <a:solidFill>
                            <a:srgbClr val="000000"/>
                          </a:solidFill>
                          <a:effectLst/>
                          <a:latin typeface="+mn-lt"/>
                        </a:rPr>
                        <a:t>Проверка синтаксиса</a:t>
                      </a:r>
                    </a:p>
                  </a:txBody>
                  <a:tcPr marL="9525" marR="9525" marT="9525" marB="0" anchor="b"/>
                </a:tc>
                <a:tc>
                  <a:txBody>
                    <a:bodyPr/>
                    <a:lstStyle/>
                    <a:p>
                      <a:pPr rtl="0"/>
                      <a:r>
                        <a:rPr lang="ru-RU" dirty="0"/>
                        <a:t>Небольшие симуляции</a:t>
                      </a:r>
                      <a:r>
                        <a:rPr lang="ru-RU" baseline="0" dirty="0"/>
                        <a:t> </a:t>
                      </a:r>
                      <a:r>
                        <a:rPr lang="ru-RU" dirty="0"/>
                        <a:t>для отработки навыков настройки</a:t>
                      </a:r>
                      <a:r>
                        <a:rPr lang="en-US" dirty="0"/>
                        <a:t> </a:t>
                      </a:r>
                      <a:r>
                        <a:rPr lang="ru-RU" dirty="0"/>
                        <a:t>в</a:t>
                      </a:r>
                      <a:r>
                        <a:rPr lang="ru-RU" baseline="0" dirty="0"/>
                        <a:t> </a:t>
                      </a:r>
                      <a:r>
                        <a:rPr lang="ru-RU" dirty="0"/>
                        <a:t>командной строке </a:t>
                      </a:r>
                      <a:r>
                        <a:rPr lang="ru-RU" dirty="0" err="1"/>
                        <a:t>Cisco</a:t>
                      </a:r>
                      <a:r>
                        <a:rPr lang="ru-RU" dirty="0"/>
                        <a:t>.</a:t>
                      </a:r>
                    </a:p>
                  </a:txBody>
                  <a:tcPr/>
                </a:tc>
                <a:extLst>
                  <a:ext uri="{0D108BD9-81ED-4DB2-BD59-A6C34878D82A}">
                    <a16:rowId xmlns:a16="http://schemas.microsoft.com/office/drawing/2014/main" val="2195331658"/>
                  </a:ext>
                </a:extLst>
              </a:tr>
              <a:tr h="265091">
                <a:tc>
                  <a:txBody>
                    <a:bodyPr/>
                    <a:lstStyle/>
                    <a:p>
                      <a:pPr algn="l" rtl="0" fontAlgn="b"/>
                      <a:r>
                        <a:rPr lang="ru-RU" sz="1400" b="0" i="0" u="none" strike="noStrike" dirty="0">
                          <a:solidFill>
                            <a:srgbClr val="000000"/>
                          </a:solidFill>
                          <a:effectLst/>
                          <a:latin typeface="+mn-lt"/>
                        </a:rPr>
                        <a:t>Задания в PT</a:t>
                      </a:r>
                    </a:p>
                  </a:txBody>
                  <a:tcPr marL="9525" marR="9525" marT="9525" marB="0" anchor="b"/>
                </a:tc>
                <a:tc>
                  <a:txBody>
                    <a:bodyPr/>
                    <a:lstStyle/>
                    <a:p>
                      <a:pPr rtl="0"/>
                      <a:r>
                        <a:rPr lang="ru-RU" dirty="0"/>
                        <a:t>Моделирование сетей, предназначенных для изучения, приобретения, укрепления и расширения навыков.</a:t>
                      </a:r>
                    </a:p>
                  </a:txBody>
                  <a:tcPr/>
                </a:tc>
                <a:extLst>
                  <a:ext uri="{0D108BD9-81ED-4DB2-BD59-A6C34878D82A}">
                    <a16:rowId xmlns:a16="http://schemas.microsoft.com/office/drawing/2014/main" val="3727131555"/>
                  </a:ext>
                </a:extLst>
              </a:tr>
            </a:tbl>
          </a:graphicData>
        </a:graphic>
      </p:graphicFrame>
    </p:spTree>
    <p:custDataLst>
      <p:tags r:id="rId1"/>
    </p:custDataLst>
    <p:extLst>
      <p:ext uri="{BB962C8B-B14F-4D97-AF65-F5344CB8AC3E}">
        <p14:creationId xmlns:p14="http://schemas.microsoft.com/office/powerpoint/2010/main" val="2011684054"/>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itle 2">
            <a:extLst>
              <a:ext uri="{FF2B5EF4-FFF2-40B4-BE49-F238E27FC236}">
                <a16:creationId xmlns:a16="http://schemas.microsoft.com/office/drawing/2014/main" id="{2D10C50B-ED86-4E5D-BD0F-658911DFEF9B}"/>
              </a:ext>
            </a:extLst>
          </p:cNvPr>
          <p:cNvSpPr>
            <a:spLocks noGrp="1"/>
          </p:cNvSpPr>
          <p:nvPr>
            <p:ph type="title"/>
          </p:nvPr>
        </p:nvSpPr>
        <p:spPr>
          <a:xfrm>
            <a:off x="0" y="-15285"/>
            <a:ext cx="9144000" cy="757238"/>
          </a:xfrm>
        </p:spPr>
        <p:txBody>
          <a:bodyPr/>
          <a:lstStyle/>
          <a:p>
            <a:r>
              <a:rPr lang="ru-RU" dirty="0"/>
              <a:t>В этом модуле (продолжение)</a:t>
            </a:r>
          </a:p>
        </p:txBody>
      </p:sp>
      <p:sp>
        <p:nvSpPr>
          <p:cNvPr id="6" name="Content Placeholder 1">
            <a:extLst>
              <a:ext uri="{FF2B5EF4-FFF2-40B4-BE49-F238E27FC236}">
                <a16:creationId xmlns:a16="http://schemas.microsoft.com/office/drawing/2014/main" id="{031D3D35-BC84-421A-A5F0-48081A310F8E}"/>
              </a:ext>
            </a:extLst>
          </p:cNvPr>
          <p:cNvSpPr txBox="1">
            <a:spLocks/>
          </p:cNvSpPr>
          <p:nvPr/>
        </p:nvSpPr>
        <p:spPr bwMode="auto">
          <a:xfrm>
            <a:off x="0" y="664250"/>
            <a:ext cx="8853286" cy="3463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gn="l" defTabSz="684213" rtl="0" eaLnBrk="1" fontAlgn="base" hangingPunct="1">
              <a:lnSpc>
                <a:spcPct val="100000"/>
              </a:lnSpc>
              <a:spcBef>
                <a:spcPts val="600"/>
              </a:spcBef>
              <a:spcAft>
                <a:spcPts val="600"/>
              </a:spcAft>
              <a:buClr>
                <a:schemeClr val="tx2"/>
              </a:buClr>
              <a:buSzPct val="90000"/>
              <a:buFont typeface="Wingdings" panose="05000000000000000000" pitchFamily="2" charset="2"/>
              <a:buChar char="§"/>
              <a:defRPr lang="en-US" sz="1500" kern="1200">
                <a:solidFill>
                  <a:srgbClr val="000000"/>
                </a:solidFill>
                <a:latin typeface="+mn-lt"/>
                <a:ea typeface="ＭＳ Ｐゴシック" charset="0"/>
                <a:cs typeface="CiscoSans"/>
              </a:defRPr>
            </a:lvl1pPr>
            <a:lvl2pPr marL="358775" indent="-215900" algn="l" defTabSz="684213" rtl="0" eaLnBrk="1" fontAlgn="base" hangingPunct="1">
              <a:lnSpc>
                <a:spcPct val="100000"/>
              </a:lnSpc>
              <a:spcBef>
                <a:spcPts val="300"/>
              </a:spcBef>
              <a:spcAft>
                <a:spcPts val="300"/>
              </a:spcAft>
              <a:buClr>
                <a:schemeClr val="tx2"/>
              </a:buClr>
              <a:buFont typeface="Arial" charset="0"/>
              <a:buChar char="•"/>
              <a:defRPr lang="en-US" sz="1400" kern="1200">
                <a:solidFill>
                  <a:srgbClr val="000000"/>
                </a:solidFill>
                <a:latin typeface="+mn-lt"/>
                <a:ea typeface="ＭＳ Ｐゴシック" charset="0"/>
                <a:cs typeface="CiscoSans"/>
              </a:defRPr>
            </a:lvl2pPr>
            <a:lvl3pPr marL="431800" indent="-169863" algn="l" defTabSz="684213" rtl="0" eaLnBrk="1" fontAlgn="base" hangingPunct="1">
              <a:lnSpc>
                <a:spcPct val="100000"/>
              </a:lnSpc>
              <a:spcBef>
                <a:spcPts val="300"/>
              </a:spcBef>
              <a:spcAft>
                <a:spcPts val="300"/>
              </a:spcAft>
              <a:buFont typeface="Arial" charset="0"/>
              <a:buChar char="•"/>
              <a:defRPr lang="en-US" sz="1200" kern="1200">
                <a:solidFill>
                  <a:srgbClr val="000000"/>
                </a:solidFill>
                <a:latin typeface="+mn-lt"/>
                <a:ea typeface="ＭＳ Ｐゴシック" charset="0"/>
                <a:cs typeface="CiscoSans"/>
              </a:defRPr>
            </a:lvl3pPr>
            <a:lvl4pPr marL="503238" indent="-169863" algn="l" defTabSz="684213" rtl="0" eaLnBrk="1" fontAlgn="base" hangingPunct="1">
              <a:lnSpc>
                <a:spcPct val="100000"/>
              </a:lnSpc>
              <a:spcBef>
                <a:spcPts val="300"/>
              </a:spcBef>
              <a:spcAft>
                <a:spcPts val="300"/>
              </a:spcAft>
              <a:buFont typeface="Arial" charset="0"/>
              <a:buChar char="•"/>
              <a:defRPr lang="en-US" sz="1100" kern="1200">
                <a:solidFill>
                  <a:srgbClr val="000000"/>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0" indent="0">
              <a:buNone/>
            </a:pPr>
            <a:r>
              <a:rPr lang="ru-RU" dirty="0"/>
              <a:t>Для облегчения обучения в этот модуль могут быть включены следующие функции:</a:t>
            </a:r>
            <a:endParaRPr lang="en-US" dirty="0"/>
          </a:p>
          <a:p>
            <a:pPr marL="0" indent="0">
              <a:buFont typeface="Wingdings" panose="05000000000000000000" pitchFamily="2" charset="2"/>
              <a:buNone/>
            </a:pPr>
            <a:endParaRPr lang="en-US" dirty="0"/>
          </a:p>
        </p:txBody>
      </p:sp>
      <p:graphicFrame>
        <p:nvGraphicFramePr>
          <p:cNvPr id="4" name="Content Placeholder 3">
            <a:extLst>
              <a:ext uri="{FF2B5EF4-FFF2-40B4-BE49-F238E27FC236}">
                <a16:creationId xmlns:a16="http://schemas.microsoft.com/office/drawing/2014/main" id="{DDD52CCD-9D1E-4CC4-815A-A5967A0831D9}"/>
              </a:ext>
            </a:extLst>
          </p:cNvPr>
          <p:cNvGraphicFramePr>
            <a:graphicFrameLocks noGrp="1"/>
          </p:cNvGraphicFramePr>
          <p:nvPr>
            <p:ph idx="1"/>
          </p:nvPr>
        </p:nvGraphicFramePr>
        <p:xfrm>
          <a:off x="106756" y="1279280"/>
          <a:ext cx="8595235" cy="2508885"/>
        </p:xfrm>
        <a:graphic>
          <a:graphicData uri="http://schemas.openxmlformats.org/drawingml/2006/table">
            <a:tbl>
              <a:tblPr firstRow="1" bandRow="1">
                <a:tableStyleId>{5C22544A-7EE6-4342-B048-85BDC9FD1C3A}</a:tableStyleId>
              </a:tblPr>
              <a:tblGrid>
                <a:gridCol w="2178265">
                  <a:extLst>
                    <a:ext uri="{9D8B030D-6E8A-4147-A177-3AD203B41FA5}">
                      <a16:colId xmlns:a16="http://schemas.microsoft.com/office/drawing/2014/main" val="3215831619"/>
                    </a:ext>
                  </a:extLst>
                </a:gridCol>
                <a:gridCol w="6416970">
                  <a:extLst>
                    <a:ext uri="{9D8B030D-6E8A-4147-A177-3AD203B41FA5}">
                      <a16:colId xmlns:a16="http://schemas.microsoft.com/office/drawing/2014/main" val="276475465"/>
                    </a:ext>
                  </a:extLst>
                </a:gridCol>
              </a:tblGrid>
              <a:tr h="265091">
                <a:tc>
                  <a:txBody>
                    <a:bodyPr/>
                    <a:lstStyle/>
                    <a:p>
                      <a:pPr algn="l" rtl="0" fontAlgn="b"/>
                      <a:r>
                        <a:rPr lang="ru-RU" sz="1400" b="1" i="0" u="none" strike="noStrike" dirty="0">
                          <a:solidFill>
                            <a:schemeClr val="bg1"/>
                          </a:solidFill>
                          <a:effectLst/>
                          <a:latin typeface="+mn-lt"/>
                        </a:rPr>
                        <a:t>Функции</a:t>
                      </a:r>
                    </a:p>
                  </a:txBody>
                  <a:tcPr marL="9525" marR="9525" marT="9525" marB="0" anchor="b"/>
                </a:tc>
                <a:tc>
                  <a:txBody>
                    <a:bodyPr/>
                    <a:lstStyle/>
                    <a:p>
                      <a:pPr rtl="0"/>
                      <a:r>
                        <a:rPr lang="ru-RU" dirty="0"/>
                        <a:t>Описание</a:t>
                      </a:r>
                    </a:p>
                  </a:txBody>
                  <a:tcPr/>
                </a:tc>
                <a:extLst>
                  <a:ext uri="{0D108BD9-81ED-4DB2-BD59-A6C34878D82A}">
                    <a16:rowId xmlns:a16="http://schemas.microsoft.com/office/drawing/2014/main" val="3768427975"/>
                  </a:ext>
                </a:extLst>
              </a:tr>
              <a:tr h="265091">
                <a:tc>
                  <a:txBody>
                    <a:bodyPr/>
                    <a:lstStyle/>
                    <a:p>
                      <a:pPr algn="l" rtl="0" fontAlgn="b"/>
                      <a:r>
                        <a:rPr lang="ru-RU" sz="1400" b="0" i="0" u="none" strike="noStrike" dirty="0">
                          <a:solidFill>
                            <a:srgbClr val="000000"/>
                          </a:solidFill>
                          <a:effectLst/>
                          <a:latin typeface="+mn-lt"/>
                        </a:rPr>
                        <a:t>Практические лабораторные работы</a:t>
                      </a:r>
                    </a:p>
                  </a:txBody>
                  <a:tcPr marL="9525" marR="9525" marT="9525" marB="0" anchor="b"/>
                </a:tc>
                <a:tc>
                  <a:txBody>
                    <a:bodyPr/>
                    <a:lstStyle/>
                    <a:p>
                      <a:pPr rtl="0"/>
                      <a:r>
                        <a:rPr lang="ru-RU" dirty="0"/>
                        <a:t>Лабораторные</a:t>
                      </a:r>
                      <a:r>
                        <a:rPr lang="ru-RU" baseline="0" dirty="0"/>
                        <a:t> работы</a:t>
                      </a:r>
                      <a:r>
                        <a:rPr lang="ru-RU" dirty="0"/>
                        <a:t>, предназначенные для работы с физическим оборудованием.</a:t>
                      </a:r>
                    </a:p>
                  </a:txBody>
                  <a:tcPr/>
                </a:tc>
                <a:extLst>
                  <a:ext uri="{0D108BD9-81ED-4DB2-BD59-A6C34878D82A}">
                    <a16:rowId xmlns:a16="http://schemas.microsoft.com/office/drawing/2014/main" val="2258594367"/>
                  </a:ext>
                </a:extLst>
              </a:tr>
              <a:tr h="265091">
                <a:tc>
                  <a:txBody>
                    <a:bodyPr/>
                    <a:lstStyle/>
                    <a:p>
                      <a:pPr marL="0" marR="0" lvl="0" indent="0" algn="l" defTabSz="685777" rtl="0" eaLnBrk="1" fontAlgn="b" latinLnBrk="0" hangingPunct="1">
                        <a:lnSpc>
                          <a:spcPct val="100000"/>
                        </a:lnSpc>
                        <a:spcBef>
                          <a:spcPts val="0"/>
                        </a:spcBef>
                        <a:spcAft>
                          <a:spcPts val="0"/>
                        </a:spcAft>
                        <a:buClrTx/>
                        <a:buSzTx/>
                        <a:buFontTx/>
                        <a:buNone/>
                        <a:tabLst/>
                        <a:defRPr/>
                      </a:pPr>
                      <a:r>
                        <a:rPr lang="ru-RU" sz="1400" b="0" i="0" u="none" strike="noStrike" dirty="0">
                          <a:solidFill>
                            <a:srgbClr val="000000"/>
                          </a:solidFill>
                          <a:effectLst/>
                          <a:latin typeface="+mn-lt"/>
                        </a:rPr>
                        <a:t>Работа в классе</a:t>
                      </a:r>
                    </a:p>
                  </a:txBody>
                  <a:tcPr marL="9525" marR="9525" marT="9525" marB="0" anchor="b"/>
                </a:tc>
                <a:tc>
                  <a:txBody>
                    <a:bodyPr/>
                    <a:lstStyle/>
                    <a:p>
                      <a:pPr rtl="0"/>
                      <a:r>
                        <a:rPr lang="ru-RU" dirty="0"/>
                        <a:t>Они находятся на странице ресурсов для инструкторов. Занятия в классе предназначены для облегчения обучения, обсуждения в классе и совместной</a:t>
                      </a:r>
                      <a:r>
                        <a:rPr lang="ru-RU" baseline="0" dirty="0"/>
                        <a:t> работы учащихся</a:t>
                      </a:r>
                      <a:r>
                        <a:rPr lang="ru-RU" dirty="0"/>
                        <a:t>.</a:t>
                      </a:r>
                    </a:p>
                  </a:txBody>
                  <a:tcPr/>
                </a:tc>
                <a:extLst>
                  <a:ext uri="{0D108BD9-81ED-4DB2-BD59-A6C34878D82A}">
                    <a16:rowId xmlns:a16="http://schemas.microsoft.com/office/drawing/2014/main" val="1125566603"/>
                  </a:ext>
                </a:extLst>
              </a:tr>
              <a:tr h="265091">
                <a:tc>
                  <a:txBody>
                    <a:bodyPr/>
                    <a:lstStyle/>
                    <a:p>
                      <a:pPr algn="l" rtl="0" fontAlgn="b"/>
                      <a:r>
                        <a:rPr lang="ru-RU" sz="1400" b="0" i="0" u="none" strike="noStrike" dirty="0">
                          <a:solidFill>
                            <a:srgbClr val="000000"/>
                          </a:solidFill>
                          <a:effectLst/>
                          <a:latin typeface="+mn-lt"/>
                        </a:rPr>
                        <a:t>Контрольная</a:t>
                      </a:r>
                      <a:r>
                        <a:rPr lang="ru-RU" sz="1400" b="0" i="0" u="none" strike="noStrike" baseline="0" dirty="0">
                          <a:solidFill>
                            <a:srgbClr val="000000"/>
                          </a:solidFill>
                          <a:effectLst/>
                          <a:latin typeface="+mn-lt"/>
                        </a:rPr>
                        <a:t> работа по модулю</a:t>
                      </a:r>
                      <a:endParaRPr lang="ru-RU" sz="1400" b="0" i="0" u="none" strike="noStrike" dirty="0">
                        <a:solidFill>
                          <a:srgbClr val="000000"/>
                        </a:solidFill>
                        <a:effectLst/>
                        <a:latin typeface="+mn-lt"/>
                      </a:endParaRPr>
                    </a:p>
                  </a:txBody>
                  <a:tcPr marL="9525" marR="9525" marT="9525" marB="0" anchor="b"/>
                </a:tc>
                <a:tc>
                  <a:txBody>
                    <a:bodyPr/>
                    <a:lstStyle/>
                    <a:p>
                      <a:pPr rtl="0"/>
                      <a:r>
                        <a:rPr lang="ru-RU" dirty="0"/>
                        <a:t>Работы</a:t>
                      </a:r>
                      <a:r>
                        <a:rPr lang="ru-RU" baseline="0" dirty="0"/>
                        <a:t> для с</a:t>
                      </a:r>
                      <a:r>
                        <a:rPr lang="ru-RU" dirty="0"/>
                        <a:t>амооценки</a:t>
                      </a:r>
                      <a:r>
                        <a:rPr lang="ru-RU" baseline="0" dirty="0"/>
                        <a:t> </a:t>
                      </a:r>
                      <a:r>
                        <a:rPr lang="ru-RU" dirty="0"/>
                        <a:t>концепций и навыков, полученных в рамках серии тем, представленных в модуле.</a:t>
                      </a:r>
                    </a:p>
                  </a:txBody>
                  <a:tcPr/>
                </a:tc>
                <a:extLst>
                  <a:ext uri="{0D108BD9-81ED-4DB2-BD59-A6C34878D82A}">
                    <a16:rowId xmlns:a16="http://schemas.microsoft.com/office/drawing/2014/main" val="831502776"/>
                  </a:ext>
                </a:extLst>
              </a:tr>
              <a:tr h="265091">
                <a:tc>
                  <a:txBody>
                    <a:bodyPr/>
                    <a:lstStyle/>
                    <a:p>
                      <a:pPr algn="l" rtl="0" fontAlgn="b"/>
                      <a:r>
                        <a:rPr lang="ru-RU" sz="1400" b="0" i="0" u="none" strike="noStrike" dirty="0">
                          <a:solidFill>
                            <a:srgbClr val="000000"/>
                          </a:solidFill>
                          <a:effectLst/>
                          <a:latin typeface="+mn-lt"/>
                        </a:rPr>
                        <a:t>Краткое содержание модуля</a:t>
                      </a:r>
                    </a:p>
                  </a:txBody>
                  <a:tcPr marL="9525" marR="9525" marT="9525" marB="0" anchor="b"/>
                </a:tc>
                <a:tc>
                  <a:txBody>
                    <a:bodyPr/>
                    <a:lstStyle/>
                    <a:p>
                      <a:pPr rtl="0"/>
                      <a:r>
                        <a:rPr lang="ru-RU" dirty="0"/>
                        <a:t>Конспект материалов модуля.</a:t>
                      </a:r>
                    </a:p>
                  </a:txBody>
                  <a:tcPr/>
                </a:tc>
                <a:extLst>
                  <a:ext uri="{0D108BD9-81ED-4DB2-BD59-A6C34878D82A}">
                    <a16:rowId xmlns:a16="http://schemas.microsoft.com/office/drawing/2014/main" val="2267046280"/>
                  </a:ext>
                </a:extLst>
              </a:tr>
            </a:tbl>
          </a:graphicData>
        </a:graphic>
      </p:graphicFrame>
    </p:spTree>
    <p:custDataLst>
      <p:tags r:id="rId1"/>
    </p:custDataLst>
    <p:extLst>
      <p:ext uri="{BB962C8B-B14F-4D97-AF65-F5344CB8AC3E}">
        <p14:creationId xmlns:p14="http://schemas.microsoft.com/office/powerpoint/2010/main" val="2893832541"/>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146" name="Rectangle 33"/>
          <p:cNvSpPr>
            <a:spLocks noGrp="1" noChangeArrowheads="1"/>
          </p:cNvSpPr>
          <p:nvPr>
            <p:ph type="title"/>
          </p:nvPr>
        </p:nvSpPr>
        <p:spPr/>
        <p:txBody>
          <a:bodyPr/>
          <a:lstStyle/>
          <a:p>
            <a:r>
              <a:rPr lang="ru-RU" dirty="0"/>
              <a:t>Модуль 7: Задания</a:t>
            </a:r>
          </a:p>
        </p:txBody>
      </p:sp>
      <p:sp>
        <p:nvSpPr>
          <p:cNvPr id="6147" name="Rectangle 34"/>
          <p:cNvSpPr>
            <a:spLocks noGrp="1" noChangeArrowheads="1"/>
          </p:cNvSpPr>
          <p:nvPr>
            <p:ph idx="1"/>
          </p:nvPr>
        </p:nvSpPr>
        <p:spPr>
          <a:xfrm>
            <a:off x="144065" y="733629"/>
            <a:ext cx="8695135" cy="348414"/>
          </a:xfrm>
        </p:spPr>
        <p:txBody>
          <a:bodyPr/>
          <a:lstStyle/>
          <a:p>
            <a:pPr marL="0" indent="0">
              <a:spcBef>
                <a:spcPct val="30000"/>
              </a:spcBef>
              <a:buNone/>
            </a:pPr>
            <a:r>
              <a:rPr lang="ru-RU" dirty="0"/>
              <a:t>Какие задания представлены в этом модуле?</a:t>
            </a:r>
            <a:endParaRPr lang="en-US" dirty="0"/>
          </a:p>
          <a:p>
            <a:pPr marL="0" indent="0">
              <a:spcBef>
                <a:spcPct val="30000"/>
              </a:spcBef>
              <a:buNone/>
            </a:pPr>
            <a:endParaRPr lang="en-US" dirty="0"/>
          </a:p>
          <a:p>
            <a:pPr marL="89297" indent="0">
              <a:spcBef>
                <a:spcPct val="30000"/>
              </a:spcBef>
              <a:buNone/>
            </a:pPr>
            <a:endParaRPr lang="en-US" dirty="0"/>
          </a:p>
          <a:p>
            <a:pPr marL="89297" indent="0">
              <a:spcBef>
                <a:spcPct val="30000"/>
              </a:spcBef>
              <a:buNone/>
            </a:pPr>
            <a:endParaRPr lang="en-US" dirty="0"/>
          </a:p>
        </p:txBody>
      </p:sp>
      <p:graphicFrame>
        <p:nvGraphicFramePr>
          <p:cNvPr id="7" name="Content Placeholder 3"/>
          <p:cNvGraphicFramePr>
            <a:graphicFrameLocks/>
          </p:cNvGraphicFramePr>
          <p:nvPr>
            <p:extLst>
              <p:ext uri="{D42A27DB-BD31-4B8C-83A1-F6EECF244321}">
                <p14:modId xmlns:p14="http://schemas.microsoft.com/office/powerpoint/2010/main" val="3795185431"/>
              </p:ext>
            </p:extLst>
          </p:nvPr>
        </p:nvGraphicFramePr>
        <p:xfrm>
          <a:off x="455998" y="1082042"/>
          <a:ext cx="8527265" cy="3266934"/>
        </p:xfrm>
        <a:graphic>
          <a:graphicData uri="http://schemas.openxmlformats.org/drawingml/2006/table">
            <a:tbl>
              <a:tblPr firstRow="1" bandRow="1">
                <a:tableStyleId>{5C22544A-7EE6-4342-B048-85BDC9FD1C3A}</a:tableStyleId>
              </a:tblPr>
              <a:tblGrid>
                <a:gridCol w="1170621">
                  <a:extLst>
                    <a:ext uri="{9D8B030D-6E8A-4147-A177-3AD203B41FA5}">
                      <a16:colId xmlns:a16="http://schemas.microsoft.com/office/drawing/2014/main" val="20001"/>
                    </a:ext>
                  </a:extLst>
                </a:gridCol>
                <a:gridCol w="1924973">
                  <a:extLst>
                    <a:ext uri="{9D8B030D-6E8A-4147-A177-3AD203B41FA5}">
                      <a16:colId xmlns:a16="http://schemas.microsoft.com/office/drawing/2014/main" val="3156509146"/>
                    </a:ext>
                  </a:extLst>
                </a:gridCol>
                <a:gridCol w="4227746">
                  <a:extLst>
                    <a:ext uri="{9D8B030D-6E8A-4147-A177-3AD203B41FA5}">
                      <a16:colId xmlns:a16="http://schemas.microsoft.com/office/drawing/2014/main" val="20002"/>
                    </a:ext>
                  </a:extLst>
                </a:gridCol>
                <a:gridCol w="1203925">
                  <a:extLst>
                    <a:ext uri="{9D8B030D-6E8A-4147-A177-3AD203B41FA5}">
                      <a16:colId xmlns:a16="http://schemas.microsoft.com/office/drawing/2014/main" val="20003"/>
                    </a:ext>
                  </a:extLst>
                </a:gridCol>
              </a:tblGrid>
              <a:tr h="301434">
                <a:tc>
                  <a:txBody>
                    <a:bodyPr/>
                    <a:lstStyle/>
                    <a:p>
                      <a:pPr marL="0" marR="0" lvl="0" indent="0" algn="ctr" defTabSz="685777" rtl="0" eaLnBrk="1" fontAlgn="auto" latinLnBrk="0" hangingPunct="1">
                        <a:lnSpc>
                          <a:spcPct val="100000"/>
                        </a:lnSpc>
                        <a:spcBef>
                          <a:spcPts val="0"/>
                        </a:spcBef>
                        <a:spcAft>
                          <a:spcPts val="0"/>
                        </a:spcAft>
                        <a:buClrTx/>
                        <a:buSzTx/>
                        <a:buFontTx/>
                        <a:buNone/>
                        <a:tabLst/>
                        <a:defRPr/>
                      </a:pPr>
                      <a:r>
                        <a:rPr lang="ru-RU" sz="1200" dirty="0"/>
                        <a:t>Страница #</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ru-RU" sz="1200" dirty="0"/>
                        <a:t>Тип</a:t>
                      </a:r>
                      <a:r>
                        <a:rPr lang="ru-RU" sz="1200" baseline="0" dirty="0"/>
                        <a:t> </a:t>
                      </a:r>
                      <a:r>
                        <a:rPr lang="ru-RU" sz="1200" baseline="0" dirty="0" err="1"/>
                        <a:t>тзадания</a:t>
                      </a:r>
                      <a:endParaRPr lang="ru-RU" sz="1200" dirty="0"/>
                    </a:p>
                  </a:txBody>
                  <a:tcPr marL="68580" marR="68580" marT="34290" marB="34290" anchor="ctr"/>
                </a:tc>
                <a:tc>
                  <a:txBody>
                    <a:bodyPr/>
                    <a:lstStyle/>
                    <a:p>
                      <a:pPr rtl="0"/>
                      <a:r>
                        <a:rPr lang="ru-RU" sz="1200" dirty="0"/>
                        <a:t>Название</a:t>
                      </a:r>
                    </a:p>
                  </a:txBody>
                  <a:tcPr marL="68580" marR="68580" marT="34290" marB="34290" anchor="ctr"/>
                </a:tc>
                <a:tc>
                  <a:txBody>
                    <a:bodyPr/>
                    <a:lstStyle/>
                    <a:p>
                      <a:pPr rtl="0"/>
                      <a:r>
                        <a:rPr lang="ru-RU" sz="1200" dirty="0"/>
                        <a:t>Функционал</a:t>
                      </a:r>
                    </a:p>
                  </a:txBody>
                  <a:tcPr marL="68580" marR="68580" marT="34290" marB="34290" anchor="ctr"/>
                </a:tc>
                <a:extLst>
                  <a:ext uri="{0D108BD9-81ED-4DB2-BD59-A6C34878D82A}">
                    <a16:rowId xmlns:a16="http://schemas.microsoft.com/office/drawing/2014/main" val="10000"/>
                  </a:ext>
                </a:extLst>
              </a:tr>
              <a:tr h="350784">
                <a:tc>
                  <a:txBody>
                    <a:bodyPr/>
                    <a:lstStyle/>
                    <a:p>
                      <a:pPr algn="ctr" rtl="0"/>
                      <a:r>
                        <a:rPr lang="ru-RU" sz="1100">
                          <a:solidFill>
                            <a:srgbClr val="000000"/>
                          </a:solidFill>
                        </a:rPr>
                        <a:t>7.1.5</a:t>
                      </a:r>
                    </a:p>
                  </a:txBody>
                  <a:tcPr marL="68580" marR="68580" marT="34290" marB="3429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sz="1100" kern="1200" dirty="0">
                          <a:solidFill>
                            <a:srgbClr val="000000"/>
                          </a:solidFill>
                          <a:latin typeface="+mn-lt"/>
                          <a:ea typeface="+mn-ea"/>
                          <a:cs typeface="+mn-cs"/>
                        </a:rPr>
                        <a:t>Проверьте свое понимание темы</a:t>
                      </a:r>
                    </a:p>
                  </a:txBody>
                  <a:tcPr marL="68580" marR="68580" marT="34290" marB="34290" anchor="ctr"/>
                </a:tc>
                <a:tc>
                  <a:txBody>
                    <a:bodyPr/>
                    <a:lstStyle/>
                    <a:p>
                      <a:pPr rtl="0"/>
                      <a:r>
                        <a:rPr lang="ru-RU" sz="1100" dirty="0">
                          <a:solidFill>
                            <a:srgbClr val="000000"/>
                          </a:solidFill>
                        </a:rPr>
                        <a:t>Коммутация </a:t>
                      </a:r>
                      <a:r>
                        <a:rPr lang="en-US" sz="1100" dirty="0">
                          <a:solidFill>
                            <a:srgbClr val="000000"/>
                          </a:solidFill>
                        </a:rPr>
                        <a:t>Ethernet</a:t>
                      </a:r>
                      <a:endParaRPr lang="ru-RU" sz="1100" dirty="0">
                        <a:solidFill>
                          <a:srgbClr val="000000"/>
                        </a:solidFill>
                      </a:endParaRP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ru-RU" sz="1100" kern="1200" dirty="0">
                          <a:solidFill>
                            <a:schemeClr val="dk1"/>
                          </a:solidFill>
                          <a:latin typeface="+mn-lt"/>
                          <a:ea typeface="+mn-ea"/>
                          <a:cs typeface="+mn-cs"/>
                        </a:rPr>
                        <a:t>Рекомендовано</a:t>
                      </a:r>
                    </a:p>
                  </a:txBody>
                  <a:tcPr marL="68580" marR="68580" marT="34290" marB="34290" anchor="ctr"/>
                </a:tc>
                <a:extLst>
                  <a:ext uri="{0D108BD9-81ED-4DB2-BD59-A6C34878D82A}">
                    <a16:rowId xmlns:a16="http://schemas.microsoft.com/office/drawing/2014/main" val="10001"/>
                  </a:ext>
                </a:extLst>
              </a:tr>
              <a:tr h="350784">
                <a:tc>
                  <a:txBody>
                    <a:bodyPr/>
                    <a:lstStyle/>
                    <a:p>
                      <a:pPr algn="ctr" rtl="0"/>
                      <a:r>
                        <a:rPr lang="ru-RU" sz="1100">
                          <a:solidFill>
                            <a:srgbClr val="000000"/>
                          </a:solidFill>
                        </a:rPr>
                        <a:t>7.1.6</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ru-RU" sz="1100" kern="1200" dirty="0">
                          <a:solidFill>
                            <a:srgbClr val="000000"/>
                          </a:solidFill>
                          <a:latin typeface="+mn-lt"/>
                          <a:ea typeface="+mn-ea"/>
                          <a:cs typeface="+mn-cs"/>
                        </a:rPr>
                        <a:t>Лабораторная работа</a:t>
                      </a:r>
                    </a:p>
                  </a:txBody>
                  <a:tcPr marL="68580" marR="68580" marT="34290" marB="34290" anchor="ctr"/>
                </a:tc>
                <a:tc>
                  <a:txBody>
                    <a:bodyPr/>
                    <a:lstStyle/>
                    <a:p>
                      <a:pPr rtl="0"/>
                      <a:r>
                        <a:rPr lang="ru-RU" sz="1100" dirty="0">
                          <a:solidFill>
                            <a:srgbClr val="000000"/>
                          </a:solidFill>
                        </a:rPr>
                        <a:t>Анализ кадров </a:t>
                      </a:r>
                      <a:r>
                        <a:rPr lang="ru-RU" sz="1100" dirty="0" err="1">
                          <a:solidFill>
                            <a:srgbClr val="000000"/>
                          </a:solidFill>
                        </a:rPr>
                        <a:t>Ethernet</a:t>
                      </a:r>
                      <a:r>
                        <a:rPr lang="ru-RU" sz="1100" dirty="0">
                          <a:solidFill>
                            <a:srgbClr val="000000"/>
                          </a:solidFill>
                        </a:rPr>
                        <a:t> с помощью программы </a:t>
                      </a:r>
                      <a:r>
                        <a:rPr lang="ru-RU" sz="1100" dirty="0" err="1">
                          <a:solidFill>
                            <a:srgbClr val="000000"/>
                          </a:solidFill>
                        </a:rPr>
                        <a:t>Wireshark</a:t>
                      </a:r>
                      <a:endParaRPr lang="ru-RU" sz="1100" dirty="0">
                        <a:solidFill>
                          <a:srgbClr val="000000"/>
                        </a:solidFill>
                      </a:endParaRP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ru-RU" sz="1100" kern="1200" dirty="0">
                          <a:solidFill>
                            <a:schemeClr val="dk1"/>
                          </a:solidFill>
                          <a:latin typeface="+mn-lt"/>
                          <a:ea typeface="+mn-ea"/>
                          <a:cs typeface="+mn-cs"/>
                        </a:rPr>
                        <a:t>Рекомендовано</a:t>
                      </a:r>
                    </a:p>
                  </a:txBody>
                  <a:tcPr marL="68580" marR="68580" marT="34290" marB="34290" anchor="ctr"/>
                </a:tc>
                <a:extLst>
                  <a:ext uri="{0D108BD9-81ED-4DB2-BD59-A6C34878D82A}">
                    <a16:rowId xmlns:a16="http://schemas.microsoft.com/office/drawing/2014/main" val="10006"/>
                  </a:ext>
                </a:extLst>
              </a:tr>
              <a:tr h="350784">
                <a:tc>
                  <a:txBody>
                    <a:bodyPr/>
                    <a:lstStyle/>
                    <a:p>
                      <a:pPr algn="ctr" rtl="0"/>
                      <a:r>
                        <a:rPr lang="ru-RU" sz="1100">
                          <a:solidFill>
                            <a:srgbClr val="000000"/>
                          </a:solidFill>
                        </a:rPr>
                        <a:t>7.2.7</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ru-RU" sz="1100" kern="1200" dirty="0">
                          <a:solidFill>
                            <a:srgbClr val="000000"/>
                          </a:solidFill>
                          <a:latin typeface="+mn-lt"/>
                          <a:ea typeface="+mn-ea"/>
                          <a:cs typeface="+mn-cs"/>
                        </a:rPr>
                        <a:t>Лабораторная работа</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ru-RU" sz="1100" dirty="0">
                          <a:solidFill>
                            <a:srgbClr val="000000"/>
                          </a:solidFill>
                        </a:rPr>
                        <a:t>Просмотр </a:t>
                      </a:r>
                      <a:r>
                        <a:rPr lang="en-US" sz="1100" dirty="0">
                          <a:solidFill>
                            <a:srgbClr val="000000"/>
                          </a:solidFill>
                        </a:rPr>
                        <a:t>MAC-</a:t>
                      </a:r>
                      <a:r>
                        <a:rPr lang="ru-RU" sz="1100" dirty="0">
                          <a:solidFill>
                            <a:srgbClr val="000000"/>
                          </a:solidFill>
                        </a:rPr>
                        <a:t>адресов сетевых устройств</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ru-RU" sz="1100" kern="1200" dirty="0">
                          <a:solidFill>
                            <a:schemeClr val="dk1"/>
                          </a:solidFill>
                          <a:latin typeface="+mn-lt"/>
                          <a:ea typeface="+mn-ea"/>
                          <a:cs typeface="+mn-cs"/>
                        </a:rPr>
                        <a:t>Рекомендовано</a:t>
                      </a:r>
                    </a:p>
                  </a:txBody>
                  <a:tcPr marL="68580" marR="68580" marT="34290" marB="34290" anchor="ctr"/>
                </a:tc>
                <a:extLst>
                  <a:ext uri="{0D108BD9-81ED-4DB2-BD59-A6C34878D82A}">
                    <a16:rowId xmlns:a16="http://schemas.microsoft.com/office/drawing/2014/main" val="10008"/>
                  </a:ext>
                </a:extLst>
              </a:tr>
              <a:tr h="350784">
                <a:tc>
                  <a:txBody>
                    <a:bodyPr/>
                    <a:lstStyle/>
                    <a:p>
                      <a:pPr algn="ctr" rtl="0"/>
                      <a:r>
                        <a:rPr lang="ru-RU" sz="1100">
                          <a:solidFill>
                            <a:srgbClr val="000000"/>
                          </a:solidFill>
                        </a:rPr>
                        <a:t>7.3.4</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ru-RU" sz="1100" kern="1200" dirty="0">
                          <a:solidFill>
                            <a:srgbClr val="000000"/>
                          </a:solidFill>
                          <a:latin typeface="+mn-lt"/>
                          <a:ea typeface="+mn-ea"/>
                          <a:cs typeface="+mn-cs"/>
                        </a:rPr>
                        <a:t>Видео</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ru-RU" sz="1100" dirty="0">
                          <a:solidFill>
                            <a:srgbClr val="000000"/>
                          </a:solidFill>
                        </a:rPr>
                        <a:t>Таблицы MAC-адресов на подключенных друг к другу коммутаторах</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ru-RU" sz="1100" kern="1200" dirty="0">
                          <a:solidFill>
                            <a:schemeClr val="dk1"/>
                          </a:solidFill>
                          <a:latin typeface="+mn-lt"/>
                          <a:ea typeface="+mn-ea"/>
                          <a:cs typeface="+mn-cs"/>
                        </a:rPr>
                        <a:t>Рекомендовано</a:t>
                      </a:r>
                    </a:p>
                  </a:txBody>
                  <a:tcPr marL="68580" marR="68580" marT="34290" marB="34290" anchor="ctr"/>
                </a:tc>
                <a:extLst>
                  <a:ext uri="{0D108BD9-81ED-4DB2-BD59-A6C34878D82A}">
                    <a16:rowId xmlns:a16="http://schemas.microsoft.com/office/drawing/2014/main" val="2582900979"/>
                  </a:ext>
                </a:extLst>
              </a:tr>
              <a:tr h="350784">
                <a:tc>
                  <a:txBody>
                    <a:bodyPr/>
                    <a:lstStyle/>
                    <a:p>
                      <a:pPr algn="ctr" rtl="0"/>
                      <a:r>
                        <a:rPr lang="ru-RU" sz="1100">
                          <a:solidFill>
                            <a:srgbClr val="000000"/>
                          </a:solidFill>
                        </a:rPr>
                        <a:t>7.3.5</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ru-RU" sz="1100" kern="1200" dirty="0">
                          <a:solidFill>
                            <a:srgbClr val="000000"/>
                          </a:solidFill>
                          <a:latin typeface="+mn-lt"/>
                          <a:ea typeface="+mn-ea"/>
                          <a:cs typeface="+mn-cs"/>
                        </a:rPr>
                        <a:t>Видео</a:t>
                      </a:r>
                    </a:p>
                  </a:txBody>
                  <a:tcPr marL="68580" marR="68580" marT="34290" marB="34290" anchor="ctr"/>
                </a:tc>
                <a:tc>
                  <a:txBody>
                    <a:bodyPr/>
                    <a:lstStyle/>
                    <a:p>
                      <a:r>
                        <a:rPr lang="ru-RU" sz="1100" kern="1200" dirty="0">
                          <a:solidFill>
                            <a:srgbClr val="000000"/>
                          </a:solidFill>
                          <a:latin typeface="+mn-lt"/>
                          <a:ea typeface="+mn-ea"/>
                          <a:cs typeface="+mn-cs"/>
                        </a:rPr>
                        <a:t>Отправка кадра на шлюз по умолчанию</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ru-RU" sz="1100" kern="1200" dirty="0">
                          <a:solidFill>
                            <a:schemeClr val="dk1"/>
                          </a:solidFill>
                          <a:latin typeface="+mn-lt"/>
                          <a:ea typeface="+mn-ea"/>
                          <a:cs typeface="+mn-cs"/>
                        </a:rPr>
                        <a:t>Рекомендовано</a:t>
                      </a:r>
                    </a:p>
                  </a:txBody>
                  <a:tcPr marL="68580" marR="68580" marT="34290" marB="34290" anchor="ctr"/>
                </a:tc>
                <a:extLst>
                  <a:ext uri="{0D108BD9-81ED-4DB2-BD59-A6C34878D82A}">
                    <a16:rowId xmlns:a16="http://schemas.microsoft.com/office/drawing/2014/main" val="3522544737"/>
                  </a:ext>
                </a:extLst>
              </a:tr>
              <a:tr h="350784">
                <a:tc>
                  <a:txBody>
                    <a:bodyPr/>
                    <a:lstStyle/>
                    <a:p>
                      <a:pPr algn="ctr" rtl="0"/>
                      <a:r>
                        <a:rPr lang="ru-RU" sz="1100">
                          <a:solidFill>
                            <a:srgbClr val="000000"/>
                          </a:solidFill>
                        </a:rPr>
                        <a:t>7.3.6</a:t>
                      </a:r>
                    </a:p>
                  </a:txBody>
                  <a:tcPr marL="68580" marR="68580" marT="34290" marB="34290"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ru-RU" sz="1100" kern="1200" dirty="0">
                          <a:solidFill>
                            <a:srgbClr val="000000"/>
                          </a:solidFill>
                          <a:latin typeface="+mn-lt"/>
                          <a:ea typeface="+mn-ea"/>
                          <a:cs typeface="+mn-cs"/>
                        </a:rPr>
                        <a:t>Упражнение</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ru-RU" sz="1100" dirty="0">
                          <a:solidFill>
                            <a:srgbClr val="000000"/>
                          </a:solidFill>
                        </a:rPr>
                        <a:t>Коммутация в действии!</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ru-RU" sz="1100" kern="1200" dirty="0">
                          <a:solidFill>
                            <a:schemeClr val="dk1"/>
                          </a:solidFill>
                          <a:latin typeface="+mn-lt"/>
                          <a:ea typeface="+mn-ea"/>
                          <a:cs typeface="+mn-cs"/>
                        </a:rPr>
                        <a:t>Рекомендовано</a:t>
                      </a:r>
                    </a:p>
                  </a:txBody>
                  <a:tcPr marL="68580" marR="68580" marT="34290" marB="34290" anchor="ctr"/>
                </a:tc>
                <a:extLst>
                  <a:ext uri="{0D108BD9-81ED-4DB2-BD59-A6C34878D82A}">
                    <a16:rowId xmlns:a16="http://schemas.microsoft.com/office/drawing/2014/main" val="3001172460"/>
                  </a:ext>
                </a:extLst>
              </a:tr>
              <a:tr h="350784">
                <a:tc>
                  <a:txBody>
                    <a:bodyPr/>
                    <a:lstStyle/>
                    <a:p>
                      <a:pPr algn="ctr" rtl="0"/>
                      <a:r>
                        <a:rPr lang="ru-RU" sz="1100">
                          <a:solidFill>
                            <a:srgbClr val="000000"/>
                          </a:solidFill>
                        </a:rPr>
                        <a:t>7.3.7</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ru-RU" sz="1100" kern="1200" dirty="0">
                          <a:solidFill>
                            <a:srgbClr val="000000"/>
                          </a:solidFill>
                          <a:latin typeface="+mn-lt"/>
                          <a:ea typeface="+mn-ea"/>
                          <a:cs typeface="+mn-cs"/>
                        </a:rPr>
                        <a:t>Лабораторная работа</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ru-RU" sz="1100" dirty="0">
                          <a:solidFill>
                            <a:srgbClr val="000000"/>
                          </a:solidFill>
                        </a:rPr>
                        <a:t>Просмотр таблицы </a:t>
                      </a:r>
                      <a:r>
                        <a:rPr lang="en-US" sz="1100" dirty="0">
                          <a:solidFill>
                            <a:srgbClr val="000000"/>
                          </a:solidFill>
                        </a:rPr>
                        <a:t>MAC-</a:t>
                      </a:r>
                      <a:r>
                        <a:rPr lang="ru-RU" sz="1100" dirty="0">
                          <a:solidFill>
                            <a:srgbClr val="000000"/>
                          </a:solidFill>
                        </a:rPr>
                        <a:t>адресов коммутатора</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ru-RU" sz="1100" kern="1200" dirty="0">
                          <a:solidFill>
                            <a:schemeClr val="dk1"/>
                          </a:solidFill>
                          <a:latin typeface="+mn-lt"/>
                          <a:ea typeface="+mn-ea"/>
                          <a:cs typeface="+mn-cs"/>
                        </a:rPr>
                        <a:t>Рекомендовано</a:t>
                      </a:r>
                    </a:p>
                  </a:txBody>
                  <a:tcPr marL="68580" marR="68580" marT="34290" marB="34290" anchor="ctr"/>
                </a:tc>
                <a:extLst>
                  <a:ext uri="{0D108BD9-81ED-4DB2-BD59-A6C34878D82A}">
                    <a16:rowId xmlns:a16="http://schemas.microsoft.com/office/drawing/2014/main" val="322206681"/>
                  </a:ext>
                </a:extLst>
              </a:tr>
              <a:tr h="350784">
                <a:tc>
                  <a:txBody>
                    <a:bodyPr/>
                    <a:lstStyle/>
                    <a:p>
                      <a:pPr algn="ctr" rtl="0"/>
                      <a:r>
                        <a:rPr lang="ru-RU" sz="1100">
                          <a:solidFill>
                            <a:srgbClr val="000000"/>
                          </a:solidFill>
                        </a:rPr>
                        <a:t>7.4.6</a:t>
                      </a:r>
                    </a:p>
                  </a:txBody>
                  <a:tcPr marL="68580" marR="68580" marT="34290" marB="3429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sz="1100" kern="1200" dirty="0">
                          <a:solidFill>
                            <a:srgbClr val="000000"/>
                          </a:solidFill>
                          <a:latin typeface="+mn-lt"/>
                          <a:ea typeface="+mn-ea"/>
                          <a:cs typeface="+mn-cs"/>
                        </a:rPr>
                        <a:t>Проверьте свое понимание темы</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ru-RU" sz="1100" dirty="0">
                          <a:solidFill>
                            <a:srgbClr val="000000"/>
                          </a:solidFill>
                        </a:rPr>
                        <a:t>Скорость и способы пересылки на коммутаторах</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ru-RU" sz="1100" kern="1200" dirty="0">
                          <a:solidFill>
                            <a:schemeClr val="dk1"/>
                          </a:solidFill>
                          <a:latin typeface="+mn-lt"/>
                          <a:ea typeface="+mn-ea"/>
                          <a:cs typeface="+mn-cs"/>
                        </a:rPr>
                        <a:t>Рекомендовано</a:t>
                      </a:r>
                    </a:p>
                  </a:txBody>
                  <a:tcPr marL="68580" marR="68580" marT="34290" marB="34290" anchor="ctr"/>
                </a:tc>
                <a:extLst>
                  <a:ext uri="{0D108BD9-81ED-4DB2-BD59-A6C34878D82A}">
                    <a16:rowId xmlns:a16="http://schemas.microsoft.com/office/drawing/2014/main" val="3406068602"/>
                  </a:ext>
                </a:extLst>
              </a:tr>
            </a:tbl>
          </a:graphicData>
        </a:graphic>
      </p:graphicFrame>
    </p:spTree>
    <p:custDataLst>
      <p:tags r:id="rId1"/>
    </p:custDataLst>
    <p:extLst>
      <p:ext uri="{BB962C8B-B14F-4D97-AF65-F5344CB8AC3E}">
        <p14:creationId xmlns:p14="http://schemas.microsoft.com/office/powerpoint/2010/main" val="2145273728"/>
      </p:ext>
    </p:extLst>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ubtitle 6"/>
          <p:cNvSpPr>
            <a:spLocks noGrp="1"/>
          </p:cNvSpPr>
          <p:nvPr>
            <p:ph type="subTitle" idx="1"/>
          </p:nvPr>
        </p:nvSpPr>
        <p:spPr>
          <a:xfrm>
            <a:off x="469497" y="3809526"/>
            <a:ext cx="2368954" cy="902174"/>
          </a:xfrm>
        </p:spPr>
        <p:txBody>
          <a:bodyPr/>
          <a:lstStyle/>
          <a:p>
            <a:pPr rtl="0"/>
            <a:r>
              <a:rPr lang="ru-RU">
                <a:solidFill>
                  <a:schemeClr val="accent5">
                    <a:lumMod val="40000"/>
                    <a:lumOff val="60000"/>
                  </a:schemeClr>
                </a:solidFill>
              </a:rPr>
              <a:t>Введение в сетевые технологии v7.0 (ITN)</a:t>
            </a:r>
          </a:p>
          <a:p>
            <a:endParaRPr lang="en-US" dirty="0"/>
          </a:p>
        </p:txBody>
      </p:sp>
      <p:sp>
        <p:nvSpPr>
          <p:cNvPr id="6" name="Title 5"/>
          <p:cNvSpPr>
            <a:spLocks noGrp="1"/>
          </p:cNvSpPr>
          <p:nvPr>
            <p:ph type="ctrTitle"/>
          </p:nvPr>
        </p:nvSpPr>
        <p:spPr>
          <a:xfrm>
            <a:off x="469497" y="2316480"/>
            <a:ext cx="6672708" cy="1080143"/>
          </a:xfrm>
        </p:spPr>
        <p:txBody>
          <a:bodyPr/>
          <a:lstStyle/>
          <a:p>
            <a:pPr rtl="0"/>
            <a:r>
              <a:rPr lang="ru-RU">
                <a:solidFill>
                  <a:schemeClr val="accent5">
                    <a:lumMod val="40000"/>
                    <a:lumOff val="60000"/>
                  </a:schemeClr>
                </a:solidFill>
              </a:rPr>
              <a:t>Модуль 7: Коммутация Ethernet</a:t>
            </a:r>
          </a:p>
        </p:txBody>
      </p:sp>
    </p:spTree>
    <p:custDataLst>
      <p:tags r:id="rId1"/>
    </p:custDataLst>
    <p:extLst>
      <p:ext uri="{BB962C8B-B14F-4D97-AF65-F5344CB8AC3E}">
        <p14:creationId xmlns:p14="http://schemas.microsoft.com/office/powerpoint/2010/main" val="1989389863"/>
      </p:ext>
    </p:extLst>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33"/>
          <p:cNvSpPr>
            <a:spLocks noGrp="1" noChangeArrowheads="1"/>
          </p:cNvSpPr>
          <p:nvPr>
            <p:ph type="title"/>
          </p:nvPr>
        </p:nvSpPr>
        <p:spPr/>
        <p:txBody>
          <a:bodyPr/>
          <a:lstStyle/>
          <a:p>
            <a:pPr rtl="0" eaLnBrk="1" hangingPunct="1"/>
            <a:r>
              <a:rPr lang="ru-RU"/>
              <a:t>Задачи модуля</a:t>
            </a:r>
          </a:p>
        </p:txBody>
      </p:sp>
      <p:sp>
        <p:nvSpPr>
          <p:cNvPr id="2" name="Content Placeholder 1">
            <a:extLst>
              <a:ext uri="{FF2B5EF4-FFF2-40B4-BE49-F238E27FC236}">
                <a16:creationId xmlns:a16="http://schemas.microsoft.com/office/drawing/2014/main" id="{578E99C3-C6EF-8348-99C6-8024418DDEF2}"/>
              </a:ext>
            </a:extLst>
          </p:cNvPr>
          <p:cNvSpPr>
            <a:spLocks noGrp="1"/>
          </p:cNvSpPr>
          <p:nvPr>
            <p:ph idx="1"/>
          </p:nvPr>
        </p:nvSpPr>
        <p:spPr>
          <a:xfrm>
            <a:off x="144065" y="798944"/>
            <a:ext cx="8853286" cy="757551"/>
          </a:xfrm>
        </p:spPr>
        <p:txBody>
          <a:bodyPr/>
          <a:lstStyle/>
          <a:p>
            <a:pPr marL="0" lvl="0" indent="0" defTabSz="914400" rtl="0" eaLnBrk="0" hangingPunct="0">
              <a:spcBef>
                <a:spcPct val="0"/>
              </a:spcBef>
              <a:spcAft>
                <a:spcPct val="0"/>
              </a:spcAft>
              <a:buClrTx/>
              <a:buSzTx/>
              <a:buNone/>
            </a:pPr>
            <a:r>
              <a:rPr lang="ru-RU" sz="1600" b="1">
                <a:solidFill>
                  <a:schemeClr val="tx1"/>
                </a:solidFill>
                <a:ea typeface="Calibri" panose="020F0502020204030204" pitchFamily="34" charset="0"/>
                <a:cs typeface="Calibri" panose="020F0502020204030204" pitchFamily="34" charset="0"/>
              </a:rPr>
              <a:t>Название модуля: </a:t>
            </a:r>
            <a:r>
              <a:rPr lang="ru-RU" sz="1600">
                <a:solidFill>
                  <a:schemeClr val="tx1"/>
                </a:solidFill>
                <a:ea typeface="Calibri" panose="020F0502020204030204" pitchFamily="34" charset="0"/>
                <a:cs typeface="Calibri" panose="020F0502020204030204" pitchFamily="34" charset="0"/>
              </a:rPr>
              <a:t>Коммутация Ethernet</a:t>
            </a:r>
          </a:p>
          <a:p>
            <a:pPr marL="0" lvl="0" indent="0" defTabSz="914400" eaLnBrk="0" hangingPunct="0">
              <a:spcBef>
                <a:spcPct val="0"/>
              </a:spcBef>
              <a:spcAft>
                <a:spcPct val="0"/>
              </a:spcAft>
              <a:buClrTx/>
              <a:buSzTx/>
              <a:buNone/>
            </a:pPr>
            <a:endParaRPr lang="en-US" altLang="en-US" sz="1600" dirty="0">
              <a:solidFill>
                <a:schemeClr val="tx1"/>
              </a:solidFill>
            </a:endParaRPr>
          </a:p>
          <a:p>
            <a:pPr marL="0" lvl="0" indent="0" defTabSz="914400" rtl="0" eaLnBrk="0" hangingPunct="0">
              <a:spcBef>
                <a:spcPct val="0"/>
              </a:spcBef>
              <a:spcAft>
                <a:spcPct val="0"/>
              </a:spcAft>
              <a:buClrTx/>
              <a:buSzTx/>
              <a:buNone/>
            </a:pPr>
            <a:r>
              <a:rPr lang="ru-RU" sz="1600" b="1">
                <a:solidFill>
                  <a:schemeClr val="tx1"/>
                </a:solidFill>
                <a:ea typeface="Calibri" panose="020F0502020204030204" pitchFamily="34" charset="0"/>
                <a:cs typeface="Calibri" panose="020F0502020204030204" pitchFamily="34" charset="0"/>
              </a:rPr>
              <a:t>Цель модуля</a:t>
            </a:r>
            <a:r>
              <a:rPr lang="ru-RU" sz="1600">
                <a:solidFill>
                  <a:schemeClr val="tx1"/>
                </a:solidFill>
                <a:ea typeface="Calibri" panose="020F0502020204030204" pitchFamily="34" charset="0"/>
                <a:cs typeface="Calibri" panose="020F0502020204030204" pitchFamily="34" charset="0"/>
              </a:rPr>
              <a:t>: Объяснить, как работает Ethernet в коммутируемой сети</a:t>
            </a:r>
            <a:r>
              <a:rPr lang="ru-RU" sz="1600">
                <a:solidFill>
                  <a:schemeClr val="tx1"/>
                </a:solidFill>
                <a:latin typeface="Calibri" panose="020F0502020204030204" pitchFamily="34" charset="0"/>
                <a:ea typeface="Calibri" panose="020F0502020204030204" pitchFamily="34" charset="0"/>
                <a:cs typeface="Calibri" panose="020F0502020204030204" pitchFamily="34" charset="0"/>
              </a:rPr>
              <a:t>. </a:t>
            </a:r>
          </a:p>
          <a:p>
            <a:endParaRPr lang="en-US" dirty="0"/>
          </a:p>
        </p:txBody>
      </p:sp>
      <p:graphicFrame>
        <p:nvGraphicFramePr>
          <p:cNvPr id="3" name="Table 2">
            <a:extLst>
              <a:ext uri="{FF2B5EF4-FFF2-40B4-BE49-F238E27FC236}">
                <a16:creationId xmlns:a16="http://schemas.microsoft.com/office/drawing/2014/main" id="{2203BE17-8BB3-DF41-A2CF-06DE014D1956}"/>
              </a:ext>
            </a:extLst>
          </p:cNvPr>
          <p:cNvGraphicFramePr>
            <a:graphicFrameLocks noGrp="1"/>
          </p:cNvGraphicFramePr>
          <p:nvPr>
            <p:extLst>
              <p:ext uri="{D42A27DB-BD31-4B8C-83A1-F6EECF244321}">
                <p14:modId xmlns:p14="http://schemas.microsoft.com/office/powerpoint/2010/main" val="4102572468"/>
              </p:ext>
            </p:extLst>
          </p:nvPr>
        </p:nvGraphicFramePr>
        <p:xfrm>
          <a:off x="336884" y="1716477"/>
          <a:ext cx="8580873" cy="2780108"/>
        </p:xfrm>
        <a:graphic>
          <a:graphicData uri="http://schemas.openxmlformats.org/drawingml/2006/table">
            <a:tbl>
              <a:tblPr firstRow="1" bandRow="1">
                <a:tableStyleId>{5C22544A-7EE6-4342-B048-85BDC9FD1C3A}</a:tableStyleId>
              </a:tblPr>
              <a:tblGrid>
                <a:gridCol w="3676579">
                  <a:extLst>
                    <a:ext uri="{9D8B030D-6E8A-4147-A177-3AD203B41FA5}">
                      <a16:colId xmlns:a16="http://schemas.microsoft.com/office/drawing/2014/main" val="2579019526"/>
                    </a:ext>
                  </a:extLst>
                </a:gridCol>
                <a:gridCol w="4904294">
                  <a:extLst>
                    <a:ext uri="{9D8B030D-6E8A-4147-A177-3AD203B41FA5}">
                      <a16:colId xmlns:a16="http://schemas.microsoft.com/office/drawing/2014/main" val="1764220437"/>
                    </a:ext>
                  </a:extLst>
                </a:gridCol>
              </a:tblGrid>
              <a:tr h="446776">
                <a:tc>
                  <a:txBody>
                    <a:bodyPr/>
                    <a:lstStyle/>
                    <a:p>
                      <a:pPr algn="l" rtl="0" fontAlgn="ctr"/>
                      <a:r>
                        <a:rPr lang="ru-RU" b="1">
                          <a:effectLst/>
                        </a:rPr>
                        <a:t>Заголовок темы</a:t>
                      </a:r>
                    </a:p>
                  </a:txBody>
                  <a:tcPr marL="47625" marR="47625" marT="47625" marB="47625" anchor="ctr"/>
                </a:tc>
                <a:tc>
                  <a:txBody>
                    <a:bodyPr/>
                    <a:lstStyle/>
                    <a:p>
                      <a:pPr algn="l" rtl="0" fontAlgn="ctr"/>
                      <a:r>
                        <a:rPr lang="ru-RU" b="1">
                          <a:effectLst/>
                        </a:rPr>
                        <a:t>Цель темы</a:t>
                      </a:r>
                    </a:p>
                  </a:txBody>
                  <a:tcPr marL="47625" marR="47625" marT="47625" marB="47625" anchor="ctr"/>
                </a:tc>
                <a:extLst>
                  <a:ext uri="{0D108BD9-81ED-4DB2-BD59-A6C34878D82A}">
                    <a16:rowId xmlns:a16="http://schemas.microsoft.com/office/drawing/2014/main" val="742401779"/>
                  </a:ext>
                </a:extLst>
              </a:tr>
              <a:tr h="628852">
                <a:tc>
                  <a:txBody>
                    <a:bodyPr/>
                    <a:lstStyle/>
                    <a:p>
                      <a:pPr rtl="0" fontAlgn="ctr"/>
                      <a:r>
                        <a:rPr lang="ru-RU" b="1">
                          <a:solidFill>
                            <a:schemeClr val="bg1"/>
                          </a:solidFill>
                          <a:effectLst/>
                        </a:rPr>
                        <a:t>Кадр Ethernet</a:t>
                      </a:r>
                    </a:p>
                  </a:txBody>
                  <a:tcPr marL="47625" marR="47625" marT="47625" marB="47625" anchor="ctr">
                    <a:solidFill>
                      <a:schemeClr val="accent1"/>
                    </a:solidFill>
                  </a:tcPr>
                </a:tc>
                <a:tc>
                  <a:txBody>
                    <a:bodyPr/>
                    <a:lstStyle/>
                    <a:p>
                      <a:pPr rtl="0" fontAlgn="ctr"/>
                      <a:r>
                        <a:rPr lang="ru-RU" b="0">
                          <a:effectLst/>
                        </a:rPr>
                        <a:t>Объяснить, как связаны подуровни Ethernet и поля кадра.</a:t>
                      </a:r>
                    </a:p>
                  </a:txBody>
                  <a:tcPr marL="47625" marR="47625" marT="47625" marB="47625" anchor="ctr"/>
                </a:tc>
                <a:extLst>
                  <a:ext uri="{0D108BD9-81ED-4DB2-BD59-A6C34878D82A}">
                    <a16:rowId xmlns:a16="http://schemas.microsoft.com/office/drawing/2014/main" val="3228802595"/>
                  </a:ext>
                </a:extLst>
              </a:tr>
              <a:tr h="446776">
                <a:tc>
                  <a:txBody>
                    <a:bodyPr/>
                    <a:lstStyle/>
                    <a:p>
                      <a:pPr rtl="0" fontAlgn="ctr"/>
                      <a:r>
                        <a:rPr lang="ru-RU" b="1" dirty="0">
                          <a:solidFill>
                            <a:schemeClr val="bg1"/>
                          </a:solidFill>
                          <a:effectLst/>
                        </a:rPr>
                        <a:t>MAC-адрес </a:t>
                      </a:r>
                      <a:r>
                        <a:rPr lang="ru-RU" b="1" dirty="0" err="1">
                          <a:solidFill>
                            <a:schemeClr val="bg1"/>
                          </a:solidFill>
                          <a:effectLst/>
                        </a:rPr>
                        <a:t>Ethernet</a:t>
                      </a:r>
                      <a:endParaRPr lang="ru-RU" b="1" dirty="0">
                        <a:solidFill>
                          <a:schemeClr val="bg1"/>
                        </a:solidFill>
                        <a:effectLst/>
                      </a:endParaRPr>
                    </a:p>
                  </a:txBody>
                  <a:tcPr marL="47625" marR="47625" marT="47625" marB="47625" anchor="ctr">
                    <a:solidFill>
                      <a:schemeClr val="accent1"/>
                    </a:solidFill>
                  </a:tcPr>
                </a:tc>
                <a:tc>
                  <a:txBody>
                    <a:bodyPr/>
                    <a:lstStyle/>
                    <a:p>
                      <a:pPr rtl="0" fontAlgn="ctr"/>
                      <a:r>
                        <a:rPr lang="ru-RU" b="0">
                          <a:effectLst/>
                        </a:rPr>
                        <a:t>Описать MAC-адрес Ethernet.</a:t>
                      </a:r>
                    </a:p>
                  </a:txBody>
                  <a:tcPr marL="47625" marR="47625" marT="47625" marB="47625" anchor="ctr"/>
                </a:tc>
                <a:extLst>
                  <a:ext uri="{0D108BD9-81ED-4DB2-BD59-A6C34878D82A}">
                    <a16:rowId xmlns:a16="http://schemas.microsoft.com/office/drawing/2014/main" val="3134809945"/>
                  </a:ext>
                </a:extLst>
              </a:tr>
              <a:tr h="628852">
                <a:tc>
                  <a:txBody>
                    <a:bodyPr/>
                    <a:lstStyle/>
                    <a:p>
                      <a:pPr rtl="0" fontAlgn="ctr"/>
                      <a:r>
                        <a:rPr lang="ru-RU" b="1">
                          <a:solidFill>
                            <a:schemeClr val="bg1"/>
                          </a:solidFill>
                          <a:effectLst/>
                        </a:rPr>
                        <a:t>Таблица MAC-адресов</a:t>
                      </a:r>
                    </a:p>
                  </a:txBody>
                  <a:tcPr marL="47625" marR="47625" marT="47625" marB="47625" anchor="ctr">
                    <a:solidFill>
                      <a:schemeClr val="accent1"/>
                    </a:solidFill>
                  </a:tcPr>
                </a:tc>
                <a:tc>
                  <a:txBody>
                    <a:bodyPr/>
                    <a:lstStyle/>
                    <a:p>
                      <a:pPr rtl="0" fontAlgn="ctr"/>
                      <a:r>
                        <a:rPr lang="ru-RU" b="0">
                          <a:effectLst/>
                        </a:rPr>
                        <a:t>Объяснить, как коммутатор создает таблицу MAC-адресов и пересылает кадры.</a:t>
                      </a:r>
                    </a:p>
                  </a:txBody>
                  <a:tcPr marL="47625" marR="47625" marT="47625" marB="47625" anchor="ctr"/>
                </a:tc>
                <a:extLst>
                  <a:ext uri="{0D108BD9-81ED-4DB2-BD59-A6C34878D82A}">
                    <a16:rowId xmlns:a16="http://schemas.microsoft.com/office/drawing/2014/main" val="1935925893"/>
                  </a:ext>
                </a:extLst>
              </a:tr>
              <a:tr h="628852">
                <a:tc>
                  <a:txBody>
                    <a:bodyPr/>
                    <a:lstStyle/>
                    <a:p>
                      <a:pPr rtl="0" fontAlgn="ctr"/>
                      <a:r>
                        <a:rPr lang="ru-RU" b="1">
                          <a:solidFill>
                            <a:schemeClr val="bg1"/>
                          </a:solidFill>
                          <a:effectLst/>
                        </a:rPr>
                        <a:t>Скорость и способы пересылки на коммутаторах</a:t>
                      </a:r>
                    </a:p>
                  </a:txBody>
                  <a:tcPr marL="47625" marR="47625" marT="47625" marB="47625" anchor="ctr">
                    <a:solidFill>
                      <a:schemeClr val="accent1"/>
                    </a:solidFill>
                  </a:tcPr>
                </a:tc>
                <a:tc>
                  <a:txBody>
                    <a:bodyPr/>
                    <a:lstStyle/>
                    <a:p>
                      <a:pPr rtl="0" fontAlgn="ctr"/>
                      <a:r>
                        <a:rPr lang="ru-RU" b="0" dirty="0">
                          <a:effectLst/>
                        </a:rPr>
                        <a:t>Описать способы пересылки кадров коммутатором и доступные настройки портов на коммутаторах уровня 2.</a:t>
                      </a:r>
                    </a:p>
                  </a:txBody>
                  <a:tcPr marL="47625" marR="47625" marT="47625" marB="47625" anchor="ctr"/>
                </a:tc>
                <a:extLst>
                  <a:ext uri="{0D108BD9-81ED-4DB2-BD59-A6C34878D82A}">
                    <a16:rowId xmlns:a16="http://schemas.microsoft.com/office/drawing/2014/main" val="207557669"/>
                  </a:ext>
                </a:extLst>
              </a:tr>
            </a:tbl>
          </a:graphicData>
        </a:graphic>
      </p:graphicFrame>
    </p:spTree>
    <p:custDataLst>
      <p:tags r:id="rId1"/>
    </p:custDataLst>
    <p:extLst>
      <p:ext uri="{BB962C8B-B14F-4D97-AF65-F5344CB8AC3E}">
        <p14:creationId xmlns:p14="http://schemas.microsoft.com/office/powerpoint/2010/main" val="111192384"/>
      </p:ext>
    </p:extLst>
  </p:cSld>
  <p:clrMapOvr>
    <a:masterClrMapping/>
  </p:clrMapOvr>
  <p:transition spd="slow">
    <p:wip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598042" cy="929640"/>
          </a:xfrm>
        </p:spPr>
        <p:txBody>
          <a:bodyPr/>
          <a:lstStyle/>
          <a:p>
            <a:pPr rtl="0"/>
            <a:r>
              <a:rPr lang="ru-RU">
                <a:solidFill>
                  <a:schemeClr val="accent5">
                    <a:lumMod val="40000"/>
                    <a:lumOff val="60000"/>
                  </a:schemeClr>
                </a:solidFill>
              </a:rPr>
              <a:t>7.1 Кадры Ethernet</a:t>
            </a:r>
          </a:p>
        </p:txBody>
      </p:sp>
    </p:spTree>
    <p:custDataLst>
      <p:tags r:id="rId1"/>
    </p:custDataLst>
    <p:extLst>
      <p:ext uri="{BB962C8B-B14F-4D97-AF65-F5344CB8AC3E}">
        <p14:creationId xmlns:p14="http://schemas.microsoft.com/office/powerpoint/2010/main" val="673099643"/>
      </p:ext>
    </p:extLst>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ru-RU" sz="1600"/>
              <a:t>Кадры Ethernet </a:t>
            </a:r>
            <a:br>
              <a:rPr lang="en-US" dirty="0"/>
            </a:br>
            <a:r>
              <a:rPr lang="ru-RU" sz="2400"/>
              <a:t>Инкапсуляция Ethernet</a:t>
            </a:r>
          </a:p>
        </p:txBody>
      </p:sp>
      <p:sp>
        <p:nvSpPr>
          <p:cNvPr id="8" name="Content Placeholder 7">
            <a:extLst>
              <a:ext uri="{FF2B5EF4-FFF2-40B4-BE49-F238E27FC236}">
                <a16:creationId xmlns:a16="http://schemas.microsoft.com/office/drawing/2014/main" id="{0739FE46-949D-5848-A3FF-68AA0B91430B}"/>
              </a:ext>
            </a:extLst>
          </p:cNvPr>
          <p:cNvSpPr>
            <a:spLocks noGrp="1"/>
          </p:cNvSpPr>
          <p:nvPr>
            <p:ph idx="1"/>
          </p:nvPr>
        </p:nvSpPr>
        <p:spPr>
          <a:xfrm>
            <a:off x="480767" y="1018095"/>
            <a:ext cx="3358344" cy="3789575"/>
          </a:xfrm>
        </p:spPr>
        <p:txBody>
          <a:bodyPr/>
          <a:lstStyle/>
          <a:p>
            <a:pPr marL="342900" indent="-342900" algn="l" rtl="0">
              <a:buFont typeface="Arial" panose="020B0604020202020204" pitchFamily="34" charset="0"/>
              <a:buChar char="•"/>
            </a:pPr>
            <a:r>
              <a:rPr lang="ru-RU" dirty="0" err="1">
                <a:solidFill>
                  <a:srgbClr val="000000"/>
                </a:solidFill>
              </a:rPr>
              <a:t>Ethernet</a:t>
            </a:r>
            <a:r>
              <a:rPr lang="ru-RU" dirty="0">
                <a:solidFill>
                  <a:srgbClr val="000000"/>
                </a:solidFill>
              </a:rPr>
              <a:t> функционирует на канальном и физическом уровнях.</a:t>
            </a:r>
          </a:p>
          <a:p>
            <a:pPr marL="342900" indent="-342900" algn="l" rtl="0">
              <a:buFont typeface="Arial" panose="020B0604020202020204" pitchFamily="34" charset="0"/>
              <a:buChar char="•"/>
            </a:pPr>
            <a:r>
              <a:rPr lang="ru-RU" dirty="0">
                <a:solidFill>
                  <a:srgbClr val="000000"/>
                </a:solidFill>
              </a:rPr>
              <a:t>Это семейство сетевых технологий, которые регламентируются стандартами IEEE 802.2 и 802.3.</a:t>
            </a:r>
          </a:p>
        </p:txBody>
      </p:sp>
      <p:pic>
        <p:nvPicPr>
          <p:cNvPr id="4" name="Picture 3">
            <a:extLst>
              <a:ext uri="{FF2B5EF4-FFF2-40B4-BE49-F238E27FC236}">
                <a16:creationId xmlns:a16="http://schemas.microsoft.com/office/drawing/2014/main" id="{0D9ED349-78FE-6946-8E1B-0C6059771B2C}"/>
              </a:ext>
            </a:extLst>
          </p:cNvPr>
          <p:cNvPicPr>
            <a:picLocks noChangeAspect="1"/>
          </p:cNvPicPr>
          <p:nvPr/>
        </p:nvPicPr>
        <p:blipFill>
          <a:blip r:embed="rId3"/>
          <a:stretch>
            <a:fillRect/>
          </a:stretch>
        </p:blipFill>
        <p:spPr>
          <a:xfrm>
            <a:off x="3944473" y="731837"/>
            <a:ext cx="4734478" cy="3463645"/>
          </a:xfrm>
          <a:prstGeom prst="rect">
            <a:avLst/>
          </a:prstGeom>
        </p:spPr>
      </p:pic>
    </p:spTree>
    <p:extLst>
      <p:ext uri="{BB962C8B-B14F-4D97-AF65-F5344CB8AC3E}">
        <p14:creationId xmlns:p14="http://schemas.microsoft.com/office/powerpoint/2010/main" val="16710648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ru-RU" sz="1600"/>
              <a:t>Кадры Ethernet</a:t>
            </a:r>
            <a:br>
              <a:rPr lang="en-US" dirty="0"/>
            </a:br>
            <a:r>
              <a:rPr lang="ru-RU" sz="2400"/>
              <a:t>Подуровни канала передачи данных</a:t>
            </a:r>
          </a:p>
        </p:txBody>
      </p:sp>
      <p:sp>
        <p:nvSpPr>
          <p:cNvPr id="5" name="TextBox 4">
            <a:extLst>
              <a:ext uri="{FF2B5EF4-FFF2-40B4-BE49-F238E27FC236}">
                <a16:creationId xmlns:a16="http://schemas.microsoft.com/office/drawing/2014/main" id="{7D6FED96-F5B8-9740-B01D-C6CD3F14A641}"/>
              </a:ext>
            </a:extLst>
          </p:cNvPr>
          <p:cNvSpPr txBox="1"/>
          <p:nvPr/>
        </p:nvSpPr>
        <p:spPr>
          <a:xfrm>
            <a:off x="255817" y="1061103"/>
            <a:ext cx="4973079" cy="2646878"/>
          </a:xfrm>
          <a:prstGeom prst="rect">
            <a:avLst/>
          </a:prstGeom>
          <a:noFill/>
        </p:spPr>
        <p:txBody>
          <a:bodyPr wrap="square" rtlCol="0">
            <a:spAutoFit/>
          </a:bodyPr>
          <a:lstStyle/>
          <a:p>
            <a:pPr rtl="0"/>
            <a:r>
              <a:rPr lang="ru-RU" dirty="0">
                <a:solidFill>
                  <a:srgbClr val="000000"/>
                </a:solidFill>
              </a:rPr>
              <a:t>Стандарты 802 LAN/MAN, включая </a:t>
            </a:r>
            <a:r>
              <a:rPr lang="ru-RU" dirty="0" err="1">
                <a:solidFill>
                  <a:srgbClr val="000000"/>
                </a:solidFill>
              </a:rPr>
              <a:t>Ethernet</a:t>
            </a:r>
            <a:r>
              <a:rPr lang="ru-RU" dirty="0">
                <a:solidFill>
                  <a:srgbClr val="000000"/>
                </a:solidFill>
              </a:rPr>
              <a:t>, используют два отдельных подуровня канала передачи данных:</a:t>
            </a:r>
          </a:p>
          <a:p>
            <a:pPr marL="285750" indent="-285750" rtl="0">
              <a:buFont typeface="Arial" panose="020B0604020202020204" pitchFamily="34" charset="0"/>
              <a:buChar char="•"/>
            </a:pPr>
            <a:r>
              <a:rPr lang="ru-RU" sz="1600" b="1" dirty="0">
                <a:solidFill>
                  <a:srgbClr val="000000"/>
                </a:solidFill>
              </a:rPr>
              <a:t>LLC</a:t>
            </a:r>
            <a:r>
              <a:rPr lang="ru-RU" sz="1600" dirty="0">
                <a:solidFill>
                  <a:srgbClr val="000000"/>
                </a:solidFill>
              </a:rPr>
              <a:t>: (IEEE 802.2) Он помещает в кадр информацию, указывающую, какой протокол сетевого уровня используется для данного кадра.</a:t>
            </a:r>
          </a:p>
          <a:p>
            <a:pPr marL="285750" indent="-285750" rtl="0">
              <a:buFont typeface="Arial" panose="020B0604020202020204" pitchFamily="34" charset="0"/>
              <a:buChar char="•"/>
            </a:pPr>
            <a:r>
              <a:rPr lang="ru-RU" sz="1600" b="1" dirty="0">
                <a:solidFill>
                  <a:srgbClr val="000000"/>
                </a:solidFill>
              </a:rPr>
              <a:t>MAC</a:t>
            </a:r>
            <a:r>
              <a:rPr lang="ru-RU" sz="1600" dirty="0">
                <a:solidFill>
                  <a:srgbClr val="000000"/>
                </a:solidFill>
              </a:rPr>
              <a:t>: (IEEE 802.3, 802.11 или 802.15) Отвечает за инкапсуляцию данных и контроль доступа к среде и обеспечивает адресацию на уровне каналов передачи данных. </a:t>
            </a:r>
          </a:p>
        </p:txBody>
      </p:sp>
      <p:pic>
        <p:nvPicPr>
          <p:cNvPr id="4" name="Content Placeholder 3">
            <a:extLst>
              <a:ext uri="{FF2B5EF4-FFF2-40B4-BE49-F238E27FC236}">
                <a16:creationId xmlns:a16="http://schemas.microsoft.com/office/drawing/2014/main" id="{6676CA92-276E-A349-B5F5-87C0459C4C86}"/>
              </a:ext>
            </a:extLst>
          </p:cNvPr>
          <p:cNvPicPr>
            <a:picLocks noGrp="1" noChangeAspect="1"/>
          </p:cNvPicPr>
          <p:nvPr>
            <p:ph idx="1"/>
          </p:nvPr>
        </p:nvPicPr>
        <p:blipFill>
          <a:blip r:embed="rId3"/>
          <a:stretch>
            <a:fillRect/>
          </a:stretch>
        </p:blipFill>
        <p:spPr>
          <a:xfrm>
            <a:off x="5313737" y="1061103"/>
            <a:ext cx="3248735" cy="2628247"/>
          </a:xfrm>
        </p:spPr>
      </p:pic>
    </p:spTree>
    <p:extLst>
      <p:ext uri="{BB962C8B-B14F-4D97-AF65-F5344CB8AC3E}">
        <p14:creationId xmlns:p14="http://schemas.microsoft.com/office/powerpoint/2010/main" val="14936602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ru-RU" sz="1600"/>
              <a:t>Кадры Ethernet </a:t>
            </a:r>
            <a:br>
              <a:rPr lang="en-US" dirty="0"/>
            </a:br>
            <a:r>
              <a:rPr lang="ru-RU" sz="2400"/>
              <a:t>Подуровень MAC</a:t>
            </a:r>
          </a:p>
        </p:txBody>
      </p:sp>
      <p:sp>
        <p:nvSpPr>
          <p:cNvPr id="8" name="Content Placeholder 7">
            <a:extLst>
              <a:ext uri="{FF2B5EF4-FFF2-40B4-BE49-F238E27FC236}">
                <a16:creationId xmlns:a16="http://schemas.microsoft.com/office/drawing/2014/main" id="{0739FE46-949D-5848-A3FF-68AA0B91430B}"/>
              </a:ext>
            </a:extLst>
          </p:cNvPr>
          <p:cNvSpPr>
            <a:spLocks noGrp="1"/>
          </p:cNvSpPr>
          <p:nvPr>
            <p:ph idx="1"/>
          </p:nvPr>
        </p:nvSpPr>
        <p:spPr>
          <a:xfrm>
            <a:off x="224405" y="731837"/>
            <a:ext cx="8646218" cy="3689897"/>
          </a:xfrm>
        </p:spPr>
        <p:txBody>
          <a:bodyPr/>
          <a:lstStyle/>
          <a:p>
            <a:pPr algn="l" rtl="0"/>
            <a:r>
              <a:rPr lang="ru-RU" sz="1800" dirty="0">
                <a:solidFill>
                  <a:srgbClr val="000000"/>
                </a:solidFill>
              </a:rPr>
              <a:t>Подуровень MAC отвечает за инкапсуляцию данных и доступ к среде передачи данных.</a:t>
            </a:r>
          </a:p>
          <a:p>
            <a:pPr algn="l"/>
            <a:endParaRPr lang="en-US" sz="1800" b="1" dirty="0">
              <a:solidFill>
                <a:srgbClr val="000000"/>
              </a:solidFill>
            </a:endParaRPr>
          </a:p>
          <a:p>
            <a:pPr algn="l" rtl="0"/>
            <a:r>
              <a:rPr lang="ru-RU" sz="1800" b="1" dirty="0">
                <a:solidFill>
                  <a:srgbClr val="000000"/>
                </a:solidFill>
              </a:rPr>
              <a:t>Инкапсуляция данных</a:t>
            </a:r>
          </a:p>
          <a:p>
            <a:pPr algn="l" rtl="0"/>
            <a:r>
              <a:rPr lang="ru-RU" sz="1800" dirty="0">
                <a:solidFill>
                  <a:srgbClr val="000000"/>
                </a:solidFill>
              </a:rPr>
              <a:t>Инкапсуляция данных IEEE 802.3 включает следующее:</a:t>
            </a:r>
          </a:p>
          <a:p>
            <a:pPr marL="457200" indent="-457200" algn="l" rtl="0">
              <a:buFont typeface="+mj-lt"/>
              <a:buAutoNum type="arabicPeriod"/>
            </a:pPr>
            <a:r>
              <a:rPr lang="ru-RU" sz="1600" b="1" dirty="0">
                <a:solidFill>
                  <a:srgbClr val="000000"/>
                </a:solidFill>
              </a:rPr>
              <a:t>Кадр </a:t>
            </a:r>
            <a:r>
              <a:rPr lang="ru-RU" sz="1600" b="1" dirty="0" err="1">
                <a:solidFill>
                  <a:srgbClr val="000000"/>
                </a:solidFill>
              </a:rPr>
              <a:t>Ethernet</a:t>
            </a:r>
            <a:r>
              <a:rPr lang="ru-RU" sz="1600" dirty="0">
                <a:solidFill>
                  <a:srgbClr val="000000"/>
                </a:solidFill>
              </a:rPr>
              <a:t> - это внутренняя структура кадра </a:t>
            </a:r>
            <a:r>
              <a:rPr lang="ru-RU" sz="1600" dirty="0" err="1">
                <a:solidFill>
                  <a:srgbClr val="000000"/>
                </a:solidFill>
              </a:rPr>
              <a:t>Ethernet</a:t>
            </a:r>
            <a:r>
              <a:rPr lang="ru-RU" sz="1600" dirty="0">
                <a:solidFill>
                  <a:srgbClr val="000000"/>
                </a:solidFill>
              </a:rPr>
              <a:t>. </a:t>
            </a:r>
          </a:p>
          <a:p>
            <a:pPr marL="457200" indent="-457200" algn="l" rtl="0">
              <a:buFont typeface="+mj-lt"/>
              <a:buAutoNum type="arabicPeriod"/>
            </a:pPr>
            <a:r>
              <a:rPr lang="ru-RU" sz="1600" b="1" dirty="0">
                <a:solidFill>
                  <a:srgbClr val="000000"/>
                </a:solidFill>
              </a:rPr>
              <a:t>Адресация </a:t>
            </a:r>
            <a:r>
              <a:rPr lang="ru-RU" sz="1600" b="1" dirty="0" err="1">
                <a:solidFill>
                  <a:srgbClr val="000000"/>
                </a:solidFill>
              </a:rPr>
              <a:t>Ethernet</a:t>
            </a:r>
            <a:r>
              <a:rPr lang="ru-RU" sz="1600" b="1" dirty="0">
                <a:solidFill>
                  <a:srgbClr val="000000"/>
                </a:solidFill>
              </a:rPr>
              <a:t> -</a:t>
            </a:r>
            <a:r>
              <a:rPr lang="ru-RU" sz="1600" dirty="0">
                <a:solidFill>
                  <a:srgbClr val="000000"/>
                </a:solidFill>
              </a:rPr>
              <a:t>  Кадр </a:t>
            </a:r>
            <a:r>
              <a:rPr lang="ru-RU" sz="1600" dirty="0" err="1">
                <a:solidFill>
                  <a:srgbClr val="000000"/>
                </a:solidFill>
              </a:rPr>
              <a:t>Ethernet</a:t>
            </a:r>
            <a:r>
              <a:rPr lang="ru-RU" sz="1600" dirty="0">
                <a:solidFill>
                  <a:srgbClr val="000000"/>
                </a:solidFill>
              </a:rPr>
              <a:t> включает MAC-адрес источника и назначения для доставки кадра </a:t>
            </a:r>
            <a:r>
              <a:rPr lang="ru-RU" sz="1600" dirty="0" err="1">
                <a:solidFill>
                  <a:srgbClr val="000000"/>
                </a:solidFill>
              </a:rPr>
              <a:t>Ethernet</a:t>
            </a:r>
            <a:r>
              <a:rPr lang="ru-RU" sz="1600" dirty="0">
                <a:solidFill>
                  <a:srgbClr val="000000"/>
                </a:solidFill>
              </a:rPr>
              <a:t> из </a:t>
            </a:r>
            <a:r>
              <a:rPr lang="ru-RU" sz="1600" dirty="0" err="1">
                <a:solidFill>
                  <a:srgbClr val="000000"/>
                </a:solidFill>
              </a:rPr>
              <a:t>Ethernet</a:t>
            </a:r>
            <a:r>
              <a:rPr lang="ru-RU" sz="1600" dirty="0">
                <a:solidFill>
                  <a:srgbClr val="000000"/>
                </a:solidFill>
              </a:rPr>
              <a:t> NIC в </a:t>
            </a:r>
            <a:r>
              <a:rPr lang="ru-RU" sz="1600" dirty="0" err="1">
                <a:solidFill>
                  <a:srgbClr val="000000"/>
                </a:solidFill>
              </a:rPr>
              <a:t>Ethernet</a:t>
            </a:r>
            <a:r>
              <a:rPr lang="ru-RU" sz="1600" dirty="0">
                <a:solidFill>
                  <a:srgbClr val="000000"/>
                </a:solidFill>
              </a:rPr>
              <a:t> в одной локальной сети.</a:t>
            </a:r>
          </a:p>
          <a:p>
            <a:pPr marL="457200" indent="-457200" algn="l" rtl="0">
              <a:buFont typeface="+mj-lt"/>
              <a:buAutoNum type="arabicPeriod"/>
            </a:pPr>
            <a:r>
              <a:rPr lang="ru-RU" sz="1600" b="1" dirty="0">
                <a:solidFill>
                  <a:srgbClr val="000000"/>
                </a:solidFill>
              </a:rPr>
              <a:t>Обнаружение </a:t>
            </a:r>
            <a:r>
              <a:rPr lang="ru-RU" sz="1600" b="1" dirty="0" err="1">
                <a:solidFill>
                  <a:srgbClr val="000000"/>
                </a:solidFill>
              </a:rPr>
              <a:t>ошибокEthernet</a:t>
            </a:r>
            <a:r>
              <a:rPr lang="ru-RU" sz="1600" b="1" dirty="0">
                <a:solidFill>
                  <a:srgbClr val="000000"/>
                </a:solidFill>
              </a:rPr>
              <a:t>.</a:t>
            </a:r>
            <a:r>
              <a:rPr lang="ru-RU" sz="1600" dirty="0">
                <a:solidFill>
                  <a:srgbClr val="000000"/>
                </a:solidFill>
              </a:rPr>
              <a:t>  Кадр </a:t>
            </a:r>
            <a:r>
              <a:rPr lang="ru-RU" sz="1600" dirty="0" err="1">
                <a:solidFill>
                  <a:srgbClr val="000000"/>
                </a:solidFill>
              </a:rPr>
              <a:t>Ethernet</a:t>
            </a:r>
            <a:r>
              <a:rPr lang="ru-RU" sz="1600" dirty="0">
                <a:solidFill>
                  <a:srgbClr val="000000"/>
                </a:solidFill>
              </a:rPr>
              <a:t> включает трейлер последовательности проверок кадров (FCS), используемый для обнаружения ошибок.</a:t>
            </a:r>
          </a:p>
        </p:txBody>
      </p:sp>
    </p:spTree>
    <p:extLst>
      <p:ext uri="{BB962C8B-B14F-4D97-AF65-F5344CB8AC3E}">
        <p14:creationId xmlns:p14="http://schemas.microsoft.com/office/powerpoint/2010/main" val="3943937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ru-RU" sz="1600"/>
              <a:t>Кадры Ethernet </a:t>
            </a:r>
            <a:br>
              <a:rPr lang="en-US" dirty="0"/>
            </a:br>
            <a:r>
              <a:rPr lang="ru-RU" sz="2400"/>
              <a:t>Подуровень MAC</a:t>
            </a:r>
          </a:p>
        </p:txBody>
      </p:sp>
      <p:sp>
        <p:nvSpPr>
          <p:cNvPr id="8" name="Content Placeholder 7">
            <a:extLst>
              <a:ext uri="{FF2B5EF4-FFF2-40B4-BE49-F238E27FC236}">
                <a16:creationId xmlns:a16="http://schemas.microsoft.com/office/drawing/2014/main" id="{0739FE46-949D-5848-A3FF-68AA0B91430B}"/>
              </a:ext>
            </a:extLst>
          </p:cNvPr>
          <p:cNvSpPr>
            <a:spLocks noGrp="1"/>
          </p:cNvSpPr>
          <p:nvPr>
            <p:ph idx="1"/>
          </p:nvPr>
        </p:nvSpPr>
        <p:spPr>
          <a:xfrm>
            <a:off x="-2" y="731837"/>
            <a:ext cx="5476975" cy="3689897"/>
          </a:xfrm>
        </p:spPr>
        <p:txBody>
          <a:bodyPr/>
          <a:lstStyle/>
          <a:p>
            <a:pPr marL="0" indent="0" algn="l" rtl="0"/>
            <a:r>
              <a:rPr lang="ru-RU" sz="1400" b="1" dirty="0">
                <a:solidFill>
                  <a:srgbClr val="000000"/>
                </a:solidFill>
              </a:rPr>
              <a:t>Доступ к среде передачи данных</a:t>
            </a:r>
          </a:p>
          <a:p>
            <a:pPr marL="285750" indent="-285750" algn="l" rtl="0">
              <a:buFont typeface="Arial" panose="020B0604020202020204" pitchFamily="34" charset="0"/>
              <a:buChar char="•"/>
            </a:pPr>
            <a:r>
              <a:rPr lang="ru-RU" sz="1600" dirty="0">
                <a:solidFill>
                  <a:srgbClr val="000000"/>
                </a:solidFill>
              </a:rPr>
              <a:t>Подуровень MAC IEEE 802.3 включает спецификации для различных стандартов связи </a:t>
            </a:r>
            <a:r>
              <a:rPr lang="ru-RU" sz="1600" dirty="0" err="1">
                <a:solidFill>
                  <a:srgbClr val="000000"/>
                </a:solidFill>
              </a:rPr>
              <a:t>Ethernet</a:t>
            </a:r>
            <a:r>
              <a:rPr lang="ru-RU" sz="1600" dirty="0">
                <a:solidFill>
                  <a:srgbClr val="000000"/>
                </a:solidFill>
              </a:rPr>
              <a:t> для различных типов носителей, включая медь и волокно.</a:t>
            </a:r>
          </a:p>
          <a:p>
            <a:pPr marL="285750" indent="-285750" algn="l" rtl="0">
              <a:buFont typeface="Arial" panose="020B0604020202020204" pitchFamily="34" charset="0"/>
              <a:buChar char="•"/>
            </a:pPr>
            <a:r>
              <a:rPr lang="ru-RU" sz="1600" dirty="0">
                <a:solidFill>
                  <a:srgbClr val="000000"/>
                </a:solidFill>
              </a:rPr>
              <a:t>Устаревшие </a:t>
            </a:r>
            <a:r>
              <a:rPr lang="ru-RU" sz="1600" dirty="0" err="1">
                <a:solidFill>
                  <a:srgbClr val="000000"/>
                </a:solidFill>
              </a:rPr>
              <a:t>Ethernet</a:t>
            </a:r>
            <a:r>
              <a:rPr lang="ru-RU" sz="1600" dirty="0">
                <a:solidFill>
                  <a:srgbClr val="000000"/>
                </a:solidFill>
              </a:rPr>
              <a:t>, использующие топологию шины или концентраторы, являются общей полудуплексной средой передачи данных. </a:t>
            </a:r>
            <a:r>
              <a:rPr lang="ru-RU" sz="1600" dirty="0" err="1">
                <a:solidFill>
                  <a:srgbClr val="000000"/>
                </a:solidFill>
              </a:rPr>
              <a:t>Ethernet</a:t>
            </a:r>
            <a:r>
              <a:rPr lang="ru-RU" sz="1600" dirty="0">
                <a:solidFill>
                  <a:srgbClr val="000000"/>
                </a:solidFill>
              </a:rPr>
              <a:t> в полудуплексной среде использует метод доступа на основе конкуренции, обнаружение множественного доступа / обнаружение конфликтов (CSMA/CD) с поддержкой несущей.  </a:t>
            </a:r>
          </a:p>
          <a:p>
            <a:pPr marL="285750" indent="-285750" algn="l" rtl="0">
              <a:buFont typeface="Arial" panose="020B0604020202020204" pitchFamily="34" charset="0"/>
              <a:buChar char="•"/>
            </a:pPr>
            <a:r>
              <a:rPr lang="ru-RU" sz="1600" dirty="0">
                <a:solidFill>
                  <a:srgbClr val="000000"/>
                </a:solidFill>
              </a:rPr>
              <a:t>В современных локальных сетях </a:t>
            </a:r>
            <a:r>
              <a:rPr lang="ru-RU" sz="1600" dirty="0" err="1">
                <a:solidFill>
                  <a:srgbClr val="000000"/>
                </a:solidFill>
              </a:rPr>
              <a:t>Ethernet</a:t>
            </a:r>
            <a:r>
              <a:rPr lang="ru-RU" sz="1600" dirty="0">
                <a:solidFill>
                  <a:srgbClr val="000000"/>
                </a:solidFill>
              </a:rPr>
              <a:t> используются коммутаторы, работающие в полнодуплексном режиме. Полнодуплексная связь с коммутаторами </a:t>
            </a:r>
            <a:r>
              <a:rPr lang="ru-RU" sz="1600" dirty="0" err="1">
                <a:solidFill>
                  <a:srgbClr val="000000"/>
                </a:solidFill>
              </a:rPr>
              <a:t>Ethernet</a:t>
            </a:r>
            <a:r>
              <a:rPr lang="ru-RU" sz="1600" dirty="0">
                <a:solidFill>
                  <a:srgbClr val="000000"/>
                </a:solidFill>
              </a:rPr>
              <a:t> не требует контроля доступа через CSMA/CD.</a:t>
            </a:r>
          </a:p>
        </p:txBody>
      </p:sp>
      <p:pic>
        <p:nvPicPr>
          <p:cNvPr id="4" name="Picture 3">
            <a:extLst>
              <a:ext uri="{FF2B5EF4-FFF2-40B4-BE49-F238E27FC236}">
                <a16:creationId xmlns:a16="http://schemas.microsoft.com/office/drawing/2014/main" id="{6A9979E0-78FF-C747-A412-797510E5D7C2}"/>
              </a:ext>
            </a:extLst>
          </p:cNvPr>
          <p:cNvPicPr>
            <a:picLocks noChangeAspect="1"/>
          </p:cNvPicPr>
          <p:nvPr/>
        </p:nvPicPr>
        <p:blipFill>
          <a:blip r:embed="rId3"/>
          <a:stretch>
            <a:fillRect/>
          </a:stretch>
        </p:blipFill>
        <p:spPr>
          <a:xfrm>
            <a:off x="5373551" y="935773"/>
            <a:ext cx="3635151" cy="2209490"/>
          </a:xfrm>
          <a:prstGeom prst="rect">
            <a:avLst/>
          </a:prstGeom>
        </p:spPr>
      </p:pic>
    </p:spTree>
    <p:extLst>
      <p:ext uri="{BB962C8B-B14F-4D97-AF65-F5344CB8AC3E}">
        <p14:creationId xmlns:p14="http://schemas.microsoft.com/office/powerpoint/2010/main" val="24534872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ru-RU" sz="1600"/>
              <a:t>Кадр Ethernet </a:t>
            </a:r>
            <a:br>
              <a:rPr lang="en-US" dirty="0"/>
            </a:br>
            <a:r>
              <a:rPr lang="ru-RU" sz="2400"/>
              <a:t>Поля кадра Ethernet</a:t>
            </a:r>
          </a:p>
        </p:txBody>
      </p:sp>
      <p:sp>
        <p:nvSpPr>
          <p:cNvPr id="8" name="Content Placeholder 7">
            <a:extLst>
              <a:ext uri="{FF2B5EF4-FFF2-40B4-BE49-F238E27FC236}">
                <a16:creationId xmlns:a16="http://schemas.microsoft.com/office/drawing/2014/main" id="{0739FE46-949D-5848-A3FF-68AA0B91430B}"/>
              </a:ext>
            </a:extLst>
          </p:cNvPr>
          <p:cNvSpPr>
            <a:spLocks noGrp="1"/>
          </p:cNvSpPr>
          <p:nvPr>
            <p:ph idx="1"/>
          </p:nvPr>
        </p:nvSpPr>
        <p:spPr>
          <a:xfrm>
            <a:off x="0" y="731837"/>
            <a:ext cx="9021452" cy="2411413"/>
          </a:xfrm>
        </p:spPr>
        <p:txBody>
          <a:bodyPr/>
          <a:lstStyle/>
          <a:p>
            <a:pPr marL="342900" indent="-342900" algn="l" rtl="0">
              <a:buFont typeface="Arial" panose="020B0604020202020204" pitchFamily="34" charset="0"/>
              <a:buChar char="•"/>
            </a:pPr>
            <a:r>
              <a:rPr lang="ru-RU" sz="1400" dirty="0">
                <a:solidFill>
                  <a:srgbClr val="000000"/>
                </a:solidFill>
              </a:rPr>
              <a:t>Минимальный размер кадра </a:t>
            </a:r>
            <a:r>
              <a:rPr lang="ru-RU" sz="1400" dirty="0" err="1">
                <a:solidFill>
                  <a:srgbClr val="000000"/>
                </a:solidFill>
              </a:rPr>
              <a:t>Ethernet</a:t>
            </a:r>
            <a:r>
              <a:rPr lang="ru-RU" sz="1400" dirty="0">
                <a:solidFill>
                  <a:srgbClr val="000000"/>
                </a:solidFill>
              </a:rPr>
              <a:t> — 64 байта, максимальный — 1518 байт. Поле «Преамбула» при описании размера кадра не включено.</a:t>
            </a:r>
          </a:p>
          <a:p>
            <a:pPr marL="342900" indent="-342900" algn="l" rtl="0">
              <a:buFont typeface="Arial" panose="020B0604020202020204" pitchFamily="34" charset="0"/>
              <a:buChar char="•"/>
            </a:pPr>
            <a:r>
              <a:rPr lang="ru-RU" sz="1400" dirty="0">
                <a:solidFill>
                  <a:srgbClr val="000000"/>
                </a:solidFill>
              </a:rPr>
              <a:t>Любой кадр с длиной менее 64 байтов считается «фрагментом коллизии» или «карликовым кадром» и автоматически отклоняется принимающими станциями. Кадры с длиной более 1500 байт называются </a:t>
            </a:r>
            <a:r>
              <a:rPr lang="ru-RU" sz="1400" dirty="0" err="1">
                <a:solidFill>
                  <a:srgbClr val="000000"/>
                </a:solidFill>
              </a:rPr>
              <a:t>Jumbo</a:t>
            </a:r>
            <a:r>
              <a:rPr lang="ru-RU" sz="1400" dirty="0">
                <a:solidFill>
                  <a:srgbClr val="000000"/>
                </a:solidFill>
              </a:rPr>
              <a:t>-кадрами (значительно превышающие допустимый размер) или </a:t>
            </a:r>
            <a:r>
              <a:rPr lang="ru-RU" sz="1400" dirty="0" err="1">
                <a:solidFill>
                  <a:srgbClr val="000000"/>
                </a:solidFill>
              </a:rPr>
              <a:t>Baby</a:t>
            </a:r>
            <a:r>
              <a:rPr lang="ru-RU" sz="1400" dirty="0">
                <a:solidFill>
                  <a:srgbClr val="000000"/>
                </a:solidFill>
              </a:rPr>
              <a:t> </a:t>
            </a:r>
            <a:r>
              <a:rPr lang="ru-RU" sz="1400" dirty="0" err="1">
                <a:solidFill>
                  <a:srgbClr val="000000"/>
                </a:solidFill>
              </a:rPr>
              <a:t>Giant</a:t>
            </a:r>
            <a:r>
              <a:rPr lang="ru-RU" sz="1400" dirty="0">
                <a:solidFill>
                  <a:srgbClr val="000000"/>
                </a:solidFill>
              </a:rPr>
              <a:t> (слегка превышающие допустимый размер).</a:t>
            </a:r>
          </a:p>
          <a:p>
            <a:pPr marL="342900" indent="-342900" algn="l" rtl="0">
              <a:buFont typeface="Arial" panose="020B0604020202020204" pitchFamily="34" charset="0"/>
              <a:buChar char="•"/>
            </a:pPr>
            <a:r>
              <a:rPr lang="ru-RU" sz="1400" dirty="0">
                <a:solidFill>
                  <a:srgbClr val="000000"/>
                </a:solidFill>
              </a:rPr>
              <a:t>Если размер передаваемого кадра меньше минимального значения или больше максимального значения, получающее устройство сбрасывает такой кадр. Отброшенные кадры, скорее всего, являются результатом коллизий или других нежелательных сигналов. Они считаются недействительными. Кадры </a:t>
            </a:r>
            <a:r>
              <a:rPr lang="ru-RU" sz="1400" dirty="0" err="1">
                <a:solidFill>
                  <a:srgbClr val="000000"/>
                </a:solidFill>
              </a:rPr>
              <a:t>Jumbo</a:t>
            </a:r>
            <a:r>
              <a:rPr lang="ru-RU" sz="1400" dirty="0">
                <a:solidFill>
                  <a:srgbClr val="000000"/>
                </a:solidFill>
              </a:rPr>
              <a:t> обычно поддерживаются большинством коммутаторов </a:t>
            </a:r>
            <a:r>
              <a:rPr lang="ru-RU" sz="1400" dirty="0" err="1">
                <a:solidFill>
                  <a:srgbClr val="000000"/>
                </a:solidFill>
              </a:rPr>
              <a:t>Fast</a:t>
            </a:r>
            <a:r>
              <a:rPr lang="ru-RU" sz="1400" dirty="0">
                <a:solidFill>
                  <a:srgbClr val="000000"/>
                </a:solidFill>
              </a:rPr>
              <a:t> </a:t>
            </a:r>
            <a:r>
              <a:rPr lang="ru-RU" sz="1400" dirty="0" err="1">
                <a:solidFill>
                  <a:srgbClr val="000000"/>
                </a:solidFill>
              </a:rPr>
              <a:t>Ethernet</a:t>
            </a:r>
            <a:r>
              <a:rPr lang="ru-RU" sz="1400" dirty="0">
                <a:solidFill>
                  <a:srgbClr val="000000"/>
                </a:solidFill>
              </a:rPr>
              <a:t> и </a:t>
            </a:r>
            <a:r>
              <a:rPr lang="ru-RU" sz="1400" dirty="0" err="1">
                <a:solidFill>
                  <a:srgbClr val="000000"/>
                </a:solidFill>
              </a:rPr>
              <a:t>Gigabit</a:t>
            </a:r>
            <a:r>
              <a:rPr lang="ru-RU" sz="1400" dirty="0">
                <a:solidFill>
                  <a:srgbClr val="000000"/>
                </a:solidFill>
              </a:rPr>
              <a:t> </a:t>
            </a:r>
            <a:r>
              <a:rPr lang="ru-RU" sz="1400" dirty="0" err="1">
                <a:solidFill>
                  <a:srgbClr val="000000"/>
                </a:solidFill>
              </a:rPr>
              <a:t>Ethernet</a:t>
            </a:r>
            <a:r>
              <a:rPr lang="ru-RU" sz="1400" dirty="0">
                <a:solidFill>
                  <a:srgbClr val="000000"/>
                </a:solidFill>
              </a:rPr>
              <a:t> и сетевых адаптеров.</a:t>
            </a:r>
          </a:p>
          <a:p>
            <a:pPr marL="342900" indent="-342900" algn="l">
              <a:buFont typeface="Arial" panose="020B0604020202020204" pitchFamily="34" charset="0"/>
              <a:buChar char="•"/>
            </a:pPr>
            <a:endParaRPr lang="en-US" sz="1400" dirty="0">
              <a:solidFill>
                <a:srgbClr val="000000"/>
              </a:solidFill>
            </a:endParaRPr>
          </a:p>
        </p:txBody>
      </p:sp>
      <p:pic>
        <p:nvPicPr>
          <p:cNvPr id="4" name="Picture 3">
            <a:extLst>
              <a:ext uri="{FF2B5EF4-FFF2-40B4-BE49-F238E27FC236}">
                <a16:creationId xmlns:a16="http://schemas.microsoft.com/office/drawing/2014/main" id="{48E17D93-6D91-9A41-B7B0-366DE18C84BA}"/>
              </a:ext>
            </a:extLst>
          </p:cNvPr>
          <p:cNvPicPr>
            <a:picLocks noChangeAspect="1"/>
          </p:cNvPicPr>
          <p:nvPr/>
        </p:nvPicPr>
        <p:blipFill>
          <a:blip r:embed="rId3"/>
          <a:stretch>
            <a:fillRect/>
          </a:stretch>
        </p:blipFill>
        <p:spPr>
          <a:xfrm>
            <a:off x="1758769" y="3247141"/>
            <a:ext cx="5720730" cy="1713542"/>
          </a:xfrm>
          <a:prstGeom prst="rect">
            <a:avLst/>
          </a:prstGeom>
        </p:spPr>
      </p:pic>
    </p:spTree>
    <p:extLst>
      <p:ext uri="{BB962C8B-B14F-4D97-AF65-F5344CB8AC3E}">
        <p14:creationId xmlns:p14="http://schemas.microsoft.com/office/powerpoint/2010/main" val="31139252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989814"/>
          </a:xfrm>
        </p:spPr>
        <p:txBody>
          <a:bodyPr/>
          <a:lstStyle/>
          <a:p>
            <a:pPr rtl="0"/>
            <a:r>
              <a:rPr lang="ru-RU" sz="1600" dirty="0"/>
              <a:t>Кадр </a:t>
            </a:r>
            <a:r>
              <a:rPr lang="ru-RU" sz="1600" dirty="0" err="1"/>
              <a:t>Ethernet</a:t>
            </a:r>
            <a:r>
              <a:rPr lang="ru-RU" sz="1600" dirty="0"/>
              <a:t> </a:t>
            </a:r>
            <a:br>
              <a:rPr lang="ru-RU" sz="2400" dirty="0"/>
            </a:br>
            <a:r>
              <a:rPr lang="ru-RU" sz="2400" dirty="0"/>
              <a:t>Лабораторная работа. Анализ кадров </a:t>
            </a:r>
            <a:r>
              <a:rPr lang="ru-RU" sz="2400" dirty="0" err="1"/>
              <a:t>Ethernet</a:t>
            </a:r>
            <a:r>
              <a:rPr lang="ru-RU" sz="2400" dirty="0"/>
              <a:t> с помощью программы </a:t>
            </a:r>
            <a:r>
              <a:rPr lang="ru-RU" sz="2400" dirty="0" err="1"/>
              <a:t>Wireshark</a:t>
            </a:r>
            <a:endParaRPr lang="ru-RU" sz="2400" dirty="0"/>
          </a:p>
        </p:txBody>
      </p:sp>
      <p:sp>
        <p:nvSpPr>
          <p:cNvPr id="8" name="Content Placeholder 7">
            <a:extLst>
              <a:ext uri="{FF2B5EF4-FFF2-40B4-BE49-F238E27FC236}">
                <a16:creationId xmlns:a16="http://schemas.microsoft.com/office/drawing/2014/main" id="{0739FE46-949D-5848-A3FF-68AA0B91430B}"/>
              </a:ext>
            </a:extLst>
          </p:cNvPr>
          <p:cNvSpPr>
            <a:spLocks noGrp="1"/>
          </p:cNvSpPr>
          <p:nvPr>
            <p:ph idx="1"/>
          </p:nvPr>
        </p:nvSpPr>
        <p:spPr>
          <a:xfrm>
            <a:off x="474662" y="1432874"/>
            <a:ext cx="8280057" cy="2988860"/>
          </a:xfrm>
        </p:spPr>
        <p:txBody>
          <a:bodyPr/>
          <a:lstStyle/>
          <a:p>
            <a:pPr algn="l" rtl="0"/>
            <a:r>
              <a:rPr lang="ru-RU" dirty="0">
                <a:solidFill>
                  <a:srgbClr val="000000"/>
                </a:solidFill>
              </a:rPr>
              <a:t>В этой лабораторной работе вы выполните следующие задачи.</a:t>
            </a:r>
          </a:p>
          <a:p>
            <a:pPr marL="342900" indent="-342900" algn="l" rtl="0">
              <a:buFont typeface="Arial" panose="020B0604020202020204" pitchFamily="34" charset="0"/>
              <a:buChar char="•"/>
            </a:pPr>
            <a:r>
              <a:rPr lang="ru-RU" dirty="0">
                <a:solidFill>
                  <a:srgbClr val="000000"/>
                </a:solidFill>
              </a:rPr>
              <a:t>Часть 1. Изучение полей заголовков в кадре </a:t>
            </a:r>
            <a:r>
              <a:rPr lang="ru-RU" dirty="0" err="1">
                <a:solidFill>
                  <a:srgbClr val="000000"/>
                </a:solidFill>
              </a:rPr>
              <a:t>Ethernet</a:t>
            </a:r>
            <a:r>
              <a:rPr lang="ru-RU" dirty="0">
                <a:solidFill>
                  <a:srgbClr val="000000"/>
                </a:solidFill>
              </a:rPr>
              <a:t> II</a:t>
            </a:r>
          </a:p>
          <a:p>
            <a:pPr marL="342900" indent="-342900" algn="l" rtl="0">
              <a:buFont typeface="Arial" panose="020B0604020202020204" pitchFamily="34" charset="0"/>
              <a:buChar char="•"/>
            </a:pPr>
            <a:r>
              <a:rPr lang="ru-RU" dirty="0">
                <a:solidFill>
                  <a:srgbClr val="000000"/>
                </a:solidFill>
              </a:rPr>
              <a:t>Часть 2. Захват и анализ кадров </a:t>
            </a:r>
            <a:r>
              <a:rPr lang="ru-RU" dirty="0" err="1">
                <a:solidFill>
                  <a:srgbClr val="000000"/>
                </a:solidFill>
              </a:rPr>
              <a:t>Ethernet</a:t>
            </a:r>
            <a:r>
              <a:rPr lang="ru-RU" dirty="0">
                <a:solidFill>
                  <a:srgbClr val="000000"/>
                </a:solidFill>
              </a:rPr>
              <a:t> с помощью программы </a:t>
            </a:r>
            <a:r>
              <a:rPr lang="ru-RU" dirty="0" err="1">
                <a:solidFill>
                  <a:srgbClr val="000000"/>
                </a:solidFill>
              </a:rPr>
              <a:t>Wireshark</a:t>
            </a:r>
            <a:endParaRPr lang="ru-RU" dirty="0">
              <a:solidFill>
                <a:srgbClr val="000000"/>
              </a:solidFill>
            </a:endParaRPr>
          </a:p>
          <a:p>
            <a:pPr algn="l"/>
            <a:endParaRPr lang="en-US" dirty="0">
              <a:solidFill>
                <a:srgbClr val="000000"/>
              </a:solidFill>
            </a:endParaRPr>
          </a:p>
        </p:txBody>
      </p:sp>
    </p:spTree>
    <p:extLst>
      <p:ext uri="{BB962C8B-B14F-4D97-AF65-F5344CB8AC3E}">
        <p14:creationId xmlns:p14="http://schemas.microsoft.com/office/powerpoint/2010/main" val="41404319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pPr rtl="0"/>
            <a:r>
              <a:rPr lang="ru-RU">
                <a:solidFill>
                  <a:schemeClr val="accent5">
                    <a:lumMod val="40000"/>
                    <a:lumOff val="60000"/>
                  </a:schemeClr>
                </a:solidFill>
              </a:rPr>
              <a:t>7.2 MAC-адрес Ethernet</a:t>
            </a:r>
          </a:p>
        </p:txBody>
      </p:sp>
    </p:spTree>
    <p:custDataLst>
      <p:tags r:id="rId1"/>
    </p:custDataLst>
    <p:extLst>
      <p:ext uri="{BB962C8B-B14F-4D97-AF65-F5344CB8AC3E}">
        <p14:creationId xmlns:p14="http://schemas.microsoft.com/office/powerpoint/2010/main" val="1619359580"/>
      </p:ext>
    </p:extLst>
  </p:cSld>
  <p:clrMapOvr>
    <a:masterClrMapping/>
  </p:clrMapOvr>
  <p:transition spd="slow">
    <p:wip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pPr rtl="0"/>
            <a:r>
              <a:rPr lang="ru-RU" sz="1600"/>
              <a:t>MAC-адреса Ethernet </a:t>
            </a:r>
            <a:br>
              <a:rPr lang="en-US" dirty="0"/>
            </a:br>
            <a:r>
              <a:rPr lang="ru-RU" sz="2400"/>
              <a:t>MAC-адреса и шестнадцатеричные значения</a:t>
            </a:r>
          </a:p>
        </p:txBody>
      </p:sp>
      <p:sp>
        <p:nvSpPr>
          <p:cNvPr id="4" name="Content Placeholder 3">
            <a:extLst>
              <a:ext uri="{FF2B5EF4-FFF2-40B4-BE49-F238E27FC236}">
                <a16:creationId xmlns:a16="http://schemas.microsoft.com/office/drawing/2014/main" id="{1F3CA7BB-7E7C-7149-9859-4AA0DDEC8CC4}"/>
              </a:ext>
            </a:extLst>
          </p:cNvPr>
          <p:cNvSpPr>
            <a:spLocks noGrp="1"/>
          </p:cNvSpPr>
          <p:nvPr>
            <p:ph idx="1"/>
          </p:nvPr>
        </p:nvSpPr>
        <p:spPr>
          <a:xfrm>
            <a:off x="431971" y="947738"/>
            <a:ext cx="8280057" cy="3073946"/>
          </a:xfrm>
        </p:spPr>
        <p:txBody>
          <a:bodyPr/>
          <a:lstStyle/>
          <a:p>
            <a:pPr marL="285750" indent="-285750" algn="l" rtl="0">
              <a:buFont typeface="Arial" panose="020B0604020202020204" pitchFamily="34" charset="0"/>
              <a:buChar char="•"/>
            </a:pPr>
            <a:r>
              <a:rPr lang="ru-RU" sz="1600">
                <a:solidFill>
                  <a:srgbClr val="000000"/>
                </a:solidFill>
              </a:rPr>
              <a:t>Таким образом 48-разрядный MAC-адрес Ethernet может быть выражен только с помощью 12 шестнадцатеричных значений.</a:t>
            </a:r>
          </a:p>
          <a:p>
            <a:pPr marL="285750" indent="-285750" algn="l" rtl="0">
              <a:buFont typeface="Arial" panose="020B0604020202020204" pitchFamily="34" charset="0"/>
              <a:buChar char="•"/>
            </a:pPr>
            <a:r>
              <a:rPr lang="ru-RU" sz="1600">
                <a:solidFill>
                  <a:srgbClr val="000000"/>
                </a:solidFill>
              </a:rPr>
              <a:t>Если 8 бит (1 байт) — это общепринятая бинарная группа, то двоичный код 00000000–11111111 может быть представлен в шестнадцатеричной системе счисления как диапазон 00–FF.</a:t>
            </a:r>
          </a:p>
          <a:p>
            <a:pPr marL="285750" indent="-285750" algn="l" rtl="0">
              <a:buFont typeface="Arial" panose="020B0604020202020204" pitchFamily="34" charset="0"/>
              <a:buChar char="•"/>
            </a:pPr>
            <a:r>
              <a:rPr lang="ru-RU" sz="1600">
                <a:solidFill>
                  <a:srgbClr val="000000"/>
                </a:solidFill>
              </a:rPr>
              <a:t>Чтобы заполнить 8-битное представление, всегда отображаются ведущие нули. Например, двоичное значение 0000 1010 показано в шестнадцатеричной системе как 0A.</a:t>
            </a:r>
          </a:p>
          <a:p>
            <a:pPr marL="285750" indent="-285750" algn="l" rtl="0">
              <a:buFont typeface="Arial" panose="020B0604020202020204" pitchFamily="34" charset="0"/>
              <a:buChar char="•"/>
            </a:pPr>
            <a:r>
              <a:rPr lang="ru-RU" sz="1600">
                <a:solidFill>
                  <a:srgbClr val="000000"/>
                </a:solidFill>
              </a:rPr>
              <a:t>Шестнадцатеричные числа часто представлены значением, предшествующим </a:t>
            </a:r>
            <a:r>
              <a:rPr lang="ru-RU" sz="1600" b="1">
                <a:solidFill>
                  <a:srgbClr val="000000"/>
                </a:solidFill>
              </a:rPr>
              <a:t>0x</a:t>
            </a:r>
            <a:r>
              <a:rPr lang="ru-RU" sz="1600">
                <a:solidFill>
                  <a:srgbClr val="000000"/>
                </a:solidFill>
              </a:rPr>
              <a:t> (например, 0x73), чтобы различать десятичные и шестнадцатеричные значения в документации.</a:t>
            </a:r>
          </a:p>
          <a:p>
            <a:pPr marL="285750" indent="-285750" algn="l" rtl="0">
              <a:buFont typeface="Arial" panose="020B0604020202020204" pitchFamily="34" charset="0"/>
              <a:buChar char="•"/>
            </a:pPr>
            <a:r>
              <a:rPr lang="ru-RU" sz="1600">
                <a:solidFill>
                  <a:srgbClr val="000000"/>
                </a:solidFill>
              </a:rPr>
              <a:t>Шестнадцатеричное число также может быть представлено индексом 16 или шестнадцатеричным числом, за которым следует H (например, 73H).</a:t>
            </a:r>
          </a:p>
          <a:p>
            <a:pPr marL="285750" indent="-285750" algn="l">
              <a:buFont typeface="Arial" panose="020B0604020202020204" pitchFamily="34" charset="0"/>
              <a:buChar char="•"/>
            </a:pPr>
            <a:endParaRPr lang="en-US" sz="1400" dirty="0">
              <a:solidFill>
                <a:srgbClr val="000000"/>
              </a:solidFill>
            </a:endParaRPr>
          </a:p>
        </p:txBody>
      </p:sp>
    </p:spTree>
    <p:extLst>
      <p:ext uri="{BB962C8B-B14F-4D97-AF65-F5344CB8AC3E}">
        <p14:creationId xmlns:p14="http://schemas.microsoft.com/office/powerpoint/2010/main" val="36363154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pPr rtl="0"/>
            <a:r>
              <a:rPr lang="ru-RU" sz="1600" dirty="0"/>
              <a:t>MAC-адрес </a:t>
            </a:r>
            <a:r>
              <a:rPr lang="ru-RU" sz="1600" dirty="0" err="1"/>
              <a:t>Ethernet</a:t>
            </a:r>
            <a:br>
              <a:rPr lang="en-US" dirty="0"/>
            </a:br>
            <a:r>
              <a:rPr lang="ru-RU" sz="2400" dirty="0"/>
              <a:t>MAC-адрес </a:t>
            </a:r>
            <a:r>
              <a:rPr lang="ru-RU" sz="2400" dirty="0" err="1"/>
              <a:t>Ethernet</a:t>
            </a:r>
            <a:endParaRPr lang="ru-RU" sz="2400" dirty="0"/>
          </a:p>
        </p:txBody>
      </p:sp>
      <p:sp>
        <p:nvSpPr>
          <p:cNvPr id="4" name="Content Placeholder 3">
            <a:extLst>
              <a:ext uri="{FF2B5EF4-FFF2-40B4-BE49-F238E27FC236}">
                <a16:creationId xmlns:a16="http://schemas.microsoft.com/office/drawing/2014/main" id="{1F3CA7BB-7E7C-7149-9859-4AA0DDEC8CC4}"/>
              </a:ext>
            </a:extLst>
          </p:cNvPr>
          <p:cNvSpPr>
            <a:spLocks noGrp="1"/>
          </p:cNvSpPr>
          <p:nvPr>
            <p:ph idx="1"/>
          </p:nvPr>
        </p:nvSpPr>
        <p:spPr>
          <a:xfrm>
            <a:off x="0" y="679622"/>
            <a:ext cx="9144000" cy="2458214"/>
          </a:xfrm>
        </p:spPr>
        <p:txBody>
          <a:bodyPr/>
          <a:lstStyle/>
          <a:p>
            <a:pPr marL="285750" indent="-285750" algn="l" rtl="0">
              <a:buFont typeface="Arial" panose="020B0604020202020204" pitchFamily="34" charset="0"/>
              <a:buChar char="•"/>
            </a:pPr>
            <a:r>
              <a:rPr lang="ru-RU" sz="1500" dirty="0">
                <a:solidFill>
                  <a:srgbClr val="000000"/>
                </a:solidFill>
              </a:rPr>
              <a:t>Каждое устройство в сети </a:t>
            </a:r>
            <a:r>
              <a:rPr lang="ru-RU" sz="1500" dirty="0" err="1">
                <a:solidFill>
                  <a:srgbClr val="000000"/>
                </a:solidFill>
              </a:rPr>
              <a:t>Ethernet</a:t>
            </a:r>
            <a:r>
              <a:rPr lang="ru-RU" sz="1500" dirty="0">
                <a:solidFill>
                  <a:srgbClr val="000000"/>
                </a:solidFill>
              </a:rPr>
              <a:t> подключено к одной и той же общей среде передачи данных. MAC-адресация предоставляет метод идентификации устройств на более низком уровне OSI.</a:t>
            </a:r>
          </a:p>
          <a:p>
            <a:pPr marL="285750" indent="-285750" algn="l" rtl="0">
              <a:buFont typeface="Arial" panose="020B0604020202020204" pitchFamily="34" charset="0"/>
              <a:buChar char="•"/>
            </a:pPr>
            <a:r>
              <a:rPr lang="ru-RU" sz="1500" dirty="0">
                <a:solidFill>
                  <a:srgbClr val="000000"/>
                </a:solidFill>
              </a:rPr>
              <a:t>MAC-адрес </a:t>
            </a:r>
            <a:r>
              <a:rPr lang="ru-RU" sz="1500" dirty="0" err="1">
                <a:solidFill>
                  <a:srgbClr val="000000"/>
                </a:solidFill>
              </a:rPr>
              <a:t>Ethernet</a:t>
            </a:r>
            <a:r>
              <a:rPr lang="ru-RU" sz="1500" dirty="0">
                <a:solidFill>
                  <a:srgbClr val="000000"/>
                </a:solidFill>
              </a:rPr>
              <a:t> — это 48-битный адрес, выраженный с использованием 12 шестнадцатеричных цифр. Поскольку байт равен 8 битам, мы также можем сказать, что MAC-адрес имеет длину 6 байтов.</a:t>
            </a:r>
          </a:p>
          <a:p>
            <a:pPr marL="285750" indent="-285750" algn="l" rtl="0">
              <a:buFont typeface="Arial" panose="020B0604020202020204" pitchFamily="34" charset="0"/>
              <a:buChar char="•"/>
            </a:pPr>
            <a:r>
              <a:rPr lang="ru-RU" sz="1500" dirty="0">
                <a:solidFill>
                  <a:srgbClr val="000000"/>
                </a:solidFill>
              </a:rPr>
              <a:t>Все MAC-адреса должны быть уникальными для устройства </a:t>
            </a:r>
            <a:r>
              <a:rPr lang="ru-RU" sz="1500" dirty="0" err="1">
                <a:solidFill>
                  <a:srgbClr val="000000"/>
                </a:solidFill>
              </a:rPr>
              <a:t>Ethernet</a:t>
            </a:r>
            <a:r>
              <a:rPr lang="ru-RU" sz="1500" dirty="0">
                <a:solidFill>
                  <a:srgbClr val="000000"/>
                </a:solidFill>
              </a:rPr>
              <a:t> или интерфейса </a:t>
            </a:r>
            <a:r>
              <a:rPr lang="ru-RU" sz="1500" dirty="0" err="1">
                <a:solidFill>
                  <a:srgbClr val="000000"/>
                </a:solidFill>
              </a:rPr>
              <a:t>Ethernet</a:t>
            </a:r>
            <a:r>
              <a:rPr lang="ru-RU" sz="1500" dirty="0">
                <a:solidFill>
                  <a:srgbClr val="000000"/>
                </a:solidFill>
              </a:rPr>
              <a:t>. Для этого все поставщики, продающие устройства </a:t>
            </a:r>
            <a:r>
              <a:rPr lang="ru-RU" sz="1500" dirty="0" err="1">
                <a:solidFill>
                  <a:srgbClr val="000000"/>
                </a:solidFill>
              </a:rPr>
              <a:t>Ethernet</a:t>
            </a:r>
            <a:r>
              <a:rPr lang="ru-RU" sz="1500" dirty="0">
                <a:solidFill>
                  <a:srgbClr val="000000"/>
                </a:solidFill>
              </a:rPr>
              <a:t>, должны зарегистрироваться в IEEE, чтобы получить уникальный 6-й шестнадцатеричный (т.е. 24-битный или 3-байтовый) код, называемый организационно уникальным идентификатором (OUI).</a:t>
            </a:r>
          </a:p>
          <a:p>
            <a:pPr marL="285750" indent="-285750" algn="l" rtl="0">
              <a:buFont typeface="Arial" panose="020B0604020202020204" pitchFamily="34" charset="0"/>
              <a:buChar char="•"/>
            </a:pPr>
            <a:r>
              <a:rPr lang="ru-RU" sz="1500" dirty="0">
                <a:solidFill>
                  <a:srgbClr val="000000"/>
                </a:solidFill>
              </a:rPr>
              <a:t>MAC-адрес </a:t>
            </a:r>
            <a:r>
              <a:rPr lang="ru-RU" sz="1500" dirty="0" err="1">
                <a:solidFill>
                  <a:srgbClr val="000000"/>
                </a:solidFill>
              </a:rPr>
              <a:t>Ethernet</a:t>
            </a:r>
            <a:r>
              <a:rPr lang="ru-RU" sz="1500" dirty="0">
                <a:solidFill>
                  <a:srgbClr val="000000"/>
                </a:solidFill>
              </a:rPr>
              <a:t> состоит из 6 шестнадцатеричного кода OUI поставщика, за которым следует 6 шестнадцатеричных значений поставщика.</a:t>
            </a:r>
          </a:p>
          <a:p>
            <a:pPr marL="342900" indent="-342900" algn="l">
              <a:buFont typeface="Arial" panose="020B0604020202020204" pitchFamily="34" charset="0"/>
              <a:buChar char="•"/>
            </a:pPr>
            <a:endParaRPr lang="en-US" sz="1400" dirty="0">
              <a:solidFill>
                <a:srgbClr val="000000"/>
              </a:solidFill>
            </a:endParaRPr>
          </a:p>
        </p:txBody>
      </p:sp>
      <p:pic>
        <p:nvPicPr>
          <p:cNvPr id="5" name="Picture 4">
            <a:extLst>
              <a:ext uri="{FF2B5EF4-FFF2-40B4-BE49-F238E27FC236}">
                <a16:creationId xmlns:a16="http://schemas.microsoft.com/office/drawing/2014/main" id="{E3B936E3-E1CB-5C42-9445-442FA726A951}"/>
              </a:ext>
            </a:extLst>
          </p:cNvPr>
          <p:cNvPicPr>
            <a:picLocks noChangeAspect="1"/>
          </p:cNvPicPr>
          <p:nvPr/>
        </p:nvPicPr>
        <p:blipFill>
          <a:blip r:embed="rId3"/>
          <a:stretch>
            <a:fillRect/>
          </a:stretch>
        </p:blipFill>
        <p:spPr>
          <a:xfrm>
            <a:off x="1320586" y="3384037"/>
            <a:ext cx="6762015" cy="1638277"/>
          </a:xfrm>
          <a:prstGeom prst="rect">
            <a:avLst/>
          </a:prstGeom>
        </p:spPr>
      </p:pic>
    </p:spTree>
    <p:extLst>
      <p:ext uri="{BB962C8B-B14F-4D97-AF65-F5344CB8AC3E}">
        <p14:creationId xmlns:p14="http://schemas.microsoft.com/office/powerpoint/2010/main" val="23076088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pPr rtl="0"/>
            <a:r>
              <a:rPr lang="ru-RU" sz="1600"/>
              <a:t>MAC-адреса Ethernet </a:t>
            </a:r>
            <a:br>
              <a:rPr lang="en-US" dirty="0"/>
            </a:br>
            <a:r>
              <a:rPr lang="ru-RU" sz="2400"/>
              <a:t>Обработка кадров</a:t>
            </a:r>
          </a:p>
        </p:txBody>
      </p:sp>
      <p:sp>
        <p:nvSpPr>
          <p:cNvPr id="4" name="Content Placeholder 3">
            <a:extLst>
              <a:ext uri="{FF2B5EF4-FFF2-40B4-BE49-F238E27FC236}">
                <a16:creationId xmlns:a16="http://schemas.microsoft.com/office/drawing/2014/main" id="{1F3CA7BB-7E7C-7149-9859-4AA0DDEC8CC4}"/>
              </a:ext>
            </a:extLst>
          </p:cNvPr>
          <p:cNvSpPr>
            <a:spLocks noGrp="1"/>
          </p:cNvSpPr>
          <p:nvPr>
            <p:ph idx="1"/>
          </p:nvPr>
        </p:nvSpPr>
        <p:spPr>
          <a:xfrm>
            <a:off x="84841" y="763736"/>
            <a:ext cx="5410986" cy="3657998"/>
          </a:xfrm>
        </p:spPr>
        <p:txBody>
          <a:bodyPr/>
          <a:lstStyle/>
          <a:p>
            <a:pPr marL="285750" indent="-285750" algn="l" rtl="0">
              <a:buFont typeface="Arial" panose="020B0604020202020204" pitchFamily="34" charset="0"/>
              <a:buChar char="•"/>
            </a:pPr>
            <a:r>
              <a:rPr lang="ru-RU" sz="1400" dirty="0">
                <a:solidFill>
                  <a:srgbClr val="000000"/>
                </a:solidFill>
              </a:rPr>
              <a:t>Когда устройство пересылает сообщение в сеть </a:t>
            </a:r>
            <a:r>
              <a:rPr lang="ru-RU" sz="1400" dirty="0" err="1">
                <a:solidFill>
                  <a:srgbClr val="000000"/>
                </a:solidFill>
              </a:rPr>
              <a:t>Ethernet</a:t>
            </a:r>
            <a:r>
              <a:rPr lang="ru-RU" sz="1400" dirty="0">
                <a:solidFill>
                  <a:srgbClr val="000000"/>
                </a:solidFill>
              </a:rPr>
              <a:t>, заголовок </a:t>
            </a:r>
            <a:r>
              <a:rPr lang="ru-RU" sz="1400" dirty="0" err="1">
                <a:solidFill>
                  <a:srgbClr val="000000"/>
                </a:solidFill>
              </a:rPr>
              <a:t>Ethernet</a:t>
            </a:r>
            <a:r>
              <a:rPr lang="ru-RU" sz="1400" dirty="0">
                <a:solidFill>
                  <a:srgbClr val="000000"/>
                </a:solidFill>
              </a:rPr>
              <a:t> включает MAC-адреса источника и назначения.</a:t>
            </a:r>
          </a:p>
          <a:p>
            <a:pPr marL="285750" indent="-285750" algn="l" rtl="0">
              <a:buFont typeface="Arial" panose="020B0604020202020204" pitchFamily="34" charset="0"/>
              <a:buChar char="•"/>
            </a:pPr>
            <a:r>
              <a:rPr lang="ru-RU" sz="1400" dirty="0">
                <a:solidFill>
                  <a:srgbClr val="000000"/>
                </a:solidFill>
              </a:rPr>
              <a:t>При поступлении кадра </a:t>
            </a:r>
            <a:r>
              <a:rPr lang="ru-RU" sz="1400" dirty="0" err="1">
                <a:solidFill>
                  <a:srgbClr val="000000"/>
                </a:solidFill>
              </a:rPr>
              <a:t>Ethernet</a:t>
            </a:r>
            <a:r>
              <a:rPr lang="ru-RU" sz="1400" dirty="0">
                <a:solidFill>
                  <a:srgbClr val="000000"/>
                </a:solidFill>
              </a:rPr>
              <a:t> на сетевую плату она проверяет MAC-адрес назначения, чтобы определить, совпадает ли он с физическим MAC-адресом устройства, сохраненным в ОЗУ. Если не удается обнаружить совпадения, устройство отклоняет кадр. При наличии совпадения сетевая плата передает кадр вверх по уровням модели OSI, где происходит процесс </a:t>
            </a:r>
            <a:r>
              <a:rPr lang="ru-RU" sz="1400" dirty="0" err="1">
                <a:solidFill>
                  <a:srgbClr val="000000"/>
                </a:solidFill>
              </a:rPr>
              <a:t>деинкапсуляции</a:t>
            </a:r>
            <a:r>
              <a:rPr lang="ru-RU" sz="1400" dirty="0">
                <a:solidFill>
                  <a:srgbClr val="000000"/>
                </a:solidFill>
              </a:rPr>
              <a:t>.</a:t>
            </a:r>
          </a:p>
          <a:p>
            <a:pPr marL="73085" lvl="1" indent="0" rtl="0">
              <a:buNone/>
            </a:pPr>
            <a:r>
              <a:rPr lang="ru-RU" sz="1200" b="1" dirty="0">
                <a:solidFill>
                  <a:srgbClr val="000000"/>
                </a:solidFill>
              </a:rPr>
              <a:t>Примечание.</a:t>
            </a:r>
            <a:r>
              <a:rPr lang="ru-RU" sz="1200" dirty="0">
                <a:solidFill>
                  <a:srgbClr val="000000"/>
                </a:solidFill>
              </a:rPr>
              <a:t>  Сетевые платы устройств </a:t>
            </a:r>
            <a:r>
              <a:rPr lang="ru-RU" sz="1200" dirty="0" err="1">
                <a:solidFill>
                  <a:srgbClr val="000000"/>
                </a:solidFill>
              </a:rPr>
              <a:t>Ethernet</a:t>
            </a:r>
            <a:r>
              <a:rPr lang="ru-RU" sz="1200" dirty="0">
                <a:solidFill>
                  <a:srgbClr val="000000"/>
                </a:solidFill>
              </a:rPr>
              <a:t> принимают кадры также в том случае, если MAC-адрес назначения является широковещательной рассылкой или группой многоадресной рассылки, в которую включен узел.</a:t>
            </a:r>
          </a:p>
          <a:p>
            <a:pPr marL="285750" indent="-285750" algn="l" rtl="0">
              <a:buFont typeface="Arial" panose="020B0604020202020204" pitchFamily="34" charset="0"/>
              <a:buChar char="•"/>
            </a:pPr>
            <a:r>
              <a:rPr lang="ru-RU" sz="1400" dirty="0">
                <a:solidFill>
                  <a:srgbClr val="000000"/>
                </a:solidFill>
              </a:rPr>
              <a:t>Любое устройство, которое является источником или адресатом кадра </a:t>
            </a:r>
            <a:r>
              <a:rPr lang="ru-RU" sz="1400" dirty="0" err="1">
                <a:solidFill>
                  <a:srgbClr val="000000"/>
                </a:solidFill>
              </a:rPr>
              <a:t>Ethernet</a:t>
            </a:r>
            <a:r>
              <a:rPr lang="ru-RU" sz="1400" dirty="0">
                <a:solidFill>
                  <a:srgbClr val="000000"/>
                </a:solidFill>
              </a:rPr>
              <a:t>, будет иметь сетевой адаптер </a:t>
            </a:r>
            <a:r>
              <a:rPr lang="ru-RU" sz="1400" dirty="0" err="1">
                <a:solidFill>
                  <a:srgbClr val="000000"/>
                </a:solidFill>
              </a:rPr>
              <a:t>Ethernet</a:t>
            </a:r>
            <a:r>
              <a:rPr lang="ru-RU" sz="1400" dirty="0">
                <a:solidFill>
                  <a:srgbClr val="000000"/>
                </a:solidFill>
              </a:rPr>
              <a:t> и, следовательно, MAC-адрес. К ним относятся рабочие станции, серверы, принтеры, мобильные устройства и маршрутизаторы.</a:t>
            </a:r>
          </a:p>
          <a:p>
            <a:pPr marL="285750" indent="-285750" algn="l">
              <a:buFont typeface="Arial" panose="020B0604020202020204" pitchFamily="34" charset="0"/>
              <a:buChar char="•"/>
            </a:pPr>
            <a:endParaRPr lang="en-US" sz="1400" dirty="0">
              <a:solidFill>
                <a:srgbClr val="000000"/>
              </a:solidFill>
            </a:endParaRPr>
          </a:p>
        </p:txBody>
      </p:sp>
      <p:pic>
        <p:nvPicPr>
          <p:cNvPr id="5" name="Picture 4">
            <a:extLst>
              <a:ext uri="{FF2B5EF4-FFF2-40B4-BE49-F238E27FC236}">
                <a16:creationId xmlns:a16="http://schemas.microsoft.com/office/drawing/2014/main" id="{96B69223-7D35-3345-89F2-D23C56D422F0}"/>
              </a:ext>
            </a:extLst>
          </p:cNvPr>
          <p:cNvPicPr>
            <a:picLocks noChangeAspect="1"/>
          </p:cNvPicPr>
          <p:nvPr/>
        </p:nvPicPr>
        <p:blipFill>
          <a:blip r:embed="rId3"/>
          <a:stretch>
            <a:fillRect/>
          </a:stretch>
        </p:blipFill>
        <p:spPr>
          <a:xfrm>
            <a:off x="5341684" y="1144544"/>
            <a:ext cx="3677394" cy="2409568"/>
          </a:xfrm>
          <a:prstGeom prst="rect">
            <a:avLst/>
          </a:prstGeom>
        </p:spPr>
      </p:pic>
    </p:spTree>
    <p:extLst>
      <p:ext uri="{BB962C8B-B14F-4D97-AF65-F5344CB8AC3E}">
        <p14:creationId xmlns:p14="http://schemas.microsoft.com/office/powerpoint/2010/main" val="36499280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pPr rtl="0"/>
            <a:r>
              <a:rPr lang="ru-RU" sz="1600"/>
              <a:t>MAC-адреса Ethernet</a:t>
            </a:r>
            <a:br>
              <a:rPr lang="en-US" dirty="0"/>
            </a:br>
            <a:r>
              <a:rPr lang="ru-RU" sz="2400"/>
              <a:t> Индивидуальный MAC-адрес</a:t>
            </a:r>
          </a:p>
        </p:txBody>
      </p:sp>
      <p:sp>
        <p:nvSpPr>
          <p:cNvPr id="4" name="Content Placeholder 3">
            <a:extLst>
              <a:ext uri="{FF2B5EF4-FFF2-40B4-BE49-F238E27FC236}">
                <a16:creationId xmlns:a16="http://schemas.microsoft.com/office/drawing/2014/main" id="{1F3CA7BB-7E7C-7149-9859-4AA0DDEC8CC4}"/>
              </a:ext>
            </a:extLst>
          </p:cNvPr>
          <p:cNvSpPr>
            <a:spLocks noGrp="1"/>
          </p:cNvSpPr>
          <p:nvPr>
            <p:ph idx="1"/>
          </p:nvPr>
        </p:nvSpPr>
        <p:spPr>
          <a:xfrm>
            <a:off x="0" y="763736"/>
            <a:ext cx="4506012" cy="3618545"/>
          </a:xfrm>
        </p:spPr>
        <p:txBody>
          <a:bodyPr/>
          <a:lstStyle/>
          <a:p>
            <a:pPr marL="0" indent="0" algn="l" rtl="0"/>
            <a:r>
              <a:rPr lang="ru-RU" sz="1600" dirty="0">
                <a:solidFill>
                  <a:srgbClr val="000000"/>
                </a:solidFill>
              </a:rPr>
              <a:t>В сети </a:t>
            </a:r>
            <a:r>
              <a:rPr lang="ru-RU" sz="1600" dirty="0" err="1">
                <a:solidFill>
                  <a:srgbClr val="000000"/>
                </a:solidFill>
              </a:rPr>
              <a:t>Ethernet</a:t>
            </a:r>
            <a:r>
              <a:rPr lang="ru-RU" sz="1600" dirty="0">
                <a:solidFill>
                  <a:srgbClr val="000000"/>
                </a:solidFill>
              </a:rPr>
              <a:t> для одноадресной, многоадресной и широковещательной рассылки уровня 2 используются разные MAC-адреса.</a:t>
            </a:r>
          </a:p>
          <a:p>
            <a:pPr marL="342900" indent="-342900" algn="l" rtl="0">
              <a:buFont typeface="Arial" panose="020B0604020202020204" pitchFamily="34" charset="0"/>
              <a:buChar char="•"/>
            </a:pPr>
            <a:r>
              <a:rPr lang="ru-RU" sz="1400" dirty="0">
                <a:solidFill>
                  <a:srgbClr val="000000"/>
                </a:solidFill>
              </a:rPr>
              <a:t>Индивидуальный MAC-адрес (</a:t>
            </a:r>
            <a:r>
              <a:rPr lang="ru-RU" sz="1400" dirty="0" err="1">
                <a:solidFill>
                  <a:srgbClr val="000000"/>
                </a:solidFill>
              </a:rPr>
              <a:t>unicast</a:t>
            </a:r>
            <a:r>
              <a:rPr lang="ru-RU" sz="1400" dirty="0">
                <a:solidFill>
                  <a:srgbClr val="000000"/>
                </a:solidFill>
              </a:rPr>
              <a:t>) — это уникальный адрес, который используется при отправке кадра от одного передающего устройства к одному устройству назначения.</a:t>
            </a:r>
          </a:p>
          <a:p>
            <a:pPr marL="342900" indent="-342900" algn="l" rtl="0">
              <a:buFont typeface="Arial" panose="020B0604020202020204" pitchFamily="34" charset="0"/>
              <a:buChar char="•"/>
            </a:pPr>
            <a:r>
              <a:rPr lang="ru-RU" sz="1400" dirty="0">
                <a:solidFill>
                  <a:srgbClr val="000000"/>
                </a:solidFill>
              </a:rPr>
              <a:t>Для определения MAC-адреса назначения на узле источника используется протокол разрешения адресов (ARP). Процесс, который использует хост-источник для определения MAC-адреса назначения, связанного с адресом IPv6, называется </a:t>
            </a:r>
            <a:r>
              <a:rPr lang="ru-RU" sz="1400" dirty="0" err="1">
                <a:solidFill>
                  <a:srgbClr val="000000"/>
                </a:solidFill>
              </a:rPr>
              <a:t>Neighbor</a:t>
            </a:r>
            <a:r>
              <a:rPr lang="ru-RU" sz="1400" dirty="0">
                <a:solidFill>
                  <a:srgbClr val="000000"/>
                </a:solidFill>
              </a:rPr>
              <a:t> </a:t>
            </a:r>
            <a:r>
              <a:rPr lang="ru-RU" sz="1400" dirty="0" err="1">
                <a:solidFill>
                  <a:srgbClr val="000000"/>
                </a:solidFill>
              </a:rPr>
              <a:t>Discovery</a:t>
            </a:r>
            <a:r>
              <a:rPr lang="ru-RU" sz="1400" dirty="0">
                <a:solidFill>
                  <a:srgbClr val="000000"/>
                </a:solidFill>
              </a:rPr>
              <a:t> (ND).</a:t>
            </a:r>
          </a:p>
          <a:p>
            <a:pPr marL="0" indent="0" algn="l" rtl="0"/>
            <a:r>
              <a:rPr lang="ru-RU" sz="1400" b="1" dirty="0">
                <a:solidFill>
                  <a:srgbClr val="000000"/>
                </a:solidFill>
              </a:rPr>
              <a:t>Примечание:</a:t>
            </a:r>
            <a:r>
              <a:rPr lang="ru-RU" sz="1400" dirty="0">
                <a:solidFill>
                  <a:srgbClr val="000000"/>
                </a:solidFill>
              </a:rPr>
              <a:t>  MAC-адрес источника всегда должен быть адресом одноадресной рассылки (индивидуальным).</a:t>
            </a:r>
          </a:p>
          <a:p>
            <a:pPr marL="0" indent="0" algn="l"/>
            <a:endParaRPr lang="en-US" sz="1400" dirty="0">
              <a:solidFill>
                <a:srgbClr val="000000"/>
              </a:solidFill>
            </a:endParaRPr>
          </a:p>
        </p:txBody>
      </p:sp>
      <p:pic>
        <p:nvPicPr>
          <p:cNvPr id="5" name="Picture 4">
            <a:extLst>
              <a:ext uri="{FF2B5EF4-FFF2-40B4-BE49-F238E27FC236}">
                <a16:creationId xmlns:a16="http://schemas.microsoft.com/office/drawing/2014/main" id="{5AC423A4-E5CC-3D4C-8FD2-2A3C0F10D304}"/>
              </a:ext>
            </a:extLst>
          </p:cNvPr>
          <p:cNvPicPr>
            <a:picLocks noChangeAspect="1"/>
          </p:cNvPicPr>
          <p:nvPr/>
        </p:nvPicPr>
        <p:blipFill>
          <a:blip r:embed="rId3"/>
          <a:stretch>
            <a:fillRect/>
          </a:stretch>
        </p:blipFill>
        <p:spPr>
          <a:xfrm>
            <a:off x="4506012" y="1104865"/>
            <a:ext cx="4418615" cy="2936287"/>
          </a:xfrm>
          <a:prstGeom prst="rect">
            <a:avLst/>
          </a:prstGeom>
        </p:spPr>
      </p:pic>
    </p:spTree>
    <p:extLst>
      <p:ext uri="{BB962C8B-B14F-4D97-AF65-F5344CB8AC3E}">
        <p14:creationId xmlns:p14="http://schemas.microsoft.com/office/powerpoint/2010/main" val="39310595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pPr rtl="0"/>
            <a:r>
              <a:rPr lang="ru-RU" sz="1600"/>
              <a:t>MAC-адреса Ethernet</a:t>
            </a:r>
            <a:br>
              <a:rPr lang="en-US" dirty="0"/>
            </a:br>
            <a:r>
              <a:rPr lang="ru-RU" sz="2400"/>
              <a:t> Широковещательный MAC-адрес</a:t>
            </a:r>
          </a:p>
        </p:txBody>
      </p:sp>
      <p:sp>
        <p:nvSpPr>
          <p:cNvPr id="4" name="Content Placeholder 3">
            <a:extLst>
              <a:ext uri="{FF2B5EF4-FFF2-40B4-BE49-F238E27FC236}">
                <a16:creationId xmlns:a16="http://schemas.microsoft.com/office/drawing/2014/main" id="{1F3CA7BB-7E7C-7149-9859-4AA0DDEC8CC4}"/>
              </a:ext>
            </a:extLst>
          </p:cNvPr>
          <p:cNvSpPr>
            <a:spLocks noGrp="1"/>
          </p:cNvSpPr>
          <p:nvPr>
            <p:ph idx="1"/>
          </p:nvPr>
        </p:nvSpPr>
        <p:spPr>
          <a:xfrm>
            <a:off x="84841" y="763736"/>
            <a:ext cx="5269584" cy="3657998"/>
          </a:xfrm>
        </p:spPr>
        <p:txBody>
          <a:bodyPr/>
          <a:lstStyle/>
          <a:p>
            <a:pPr marL="0" indent="0" algn="l" rtl="0"/>
            <a:r>
              <a:rPr lang="ru-RU" sz="1500">
                <a:solidFill>
                  <a:srgbClr val="000000"/>
                </a:solidFill>
              </a:rPr>
              <a:t>Кадр широковещательной передачи </a:t>
            </a:r>
            <a:r>
              <a:rPr lang="ru-RU" sz="1500" dirty="0" err="1">
                <a:solidFill>
                  <a:srgbClr val="000000"/>
                </a:solidFill>
              </a:rPr>
              <a:t>Ethernet</a:t>
            </a:r>
            <a:r>
              <a:rPr lang="ru-RU" sz="1500" dirty="0">
                <a:solidFill>
                  <a:srgbClr val="000000"/>
                </a:solidFill>
              </a:rPr>
              <a:t> принимается и обрабатывается каждым устройством в локальной сети </a:t>
            </a:r>
            <a:r>
              <a:rPr lang="ru-RU" sz="1500" dirty="0" err="1">
                <a:solidFill>
                  <a:srgbClr val="000000"/>
                </a:solidFill>
              </a:rPr>
              <a:t>Ethernet</a:t>
            </a:r>
            <a:r>
              <a:rPr lang="ru-RU" sz="1500" dirty="0">
                <a:solidFill>
                  <a:srgbClr val="000000"/>
                </a:solidFill>
              </a:rPr>
              <a:t>. Функции широковещательной сети </a:t>
            </a:r>
            <a:r>
              <a:rPr lang="ru-RU" sz="1500" dirty="0" err="1">
                <a:solidFill>
                  <a:srgbClr val="000000"/>
                </a:solidFill>
              </a:rPr>
              <a:t>Ethernet</a:t>
            </a:r>
            <a:r>
              <a:rPr lang="ru-RU" sz="1500" dirty="0">
                <a:solidFill>
                  <a:srgbClr val="000000"/>
                </a:solidFill>
              </a:rPr>
              <a:t> заключаются в следующем:</a:t>
            </a:r>
          </a:p>
          <a:p>
            <a:pPr marL="285750" indent="-285750" algn="l" rtl="0">
              <a:buFont typeface="Arial" panose="020B0604020202020204" pitchFamily="34" charset="0"/>
              <a:buChar char="•"/>
            </a:pPr>
            <a:r>
              <a:rPr lang="ru-RU" sz="1500" dirty="0">
                <a:solidFill>
                  <a:srgbClr val="000000"/>
                </a:solidFill>
              </a:rPr>
              <a:t>MAC-адрес назначения — это адрес FF-FF-FF-FF-FF-FF в шестнадцатеричном формате (48 разрядов в двоичном формате).</a:t>
            </a:r>
          </a:p>
          <a:p>
            <a:pPr marL="285750" indent="-285750" algn="l" rtl="0">
              <a:buFont typeface="Arial" panose="020B0604020202020204" pitchFamily="34" charset="0"/>
              <a:buChar char="•"/>
            </a:pPr>
            <a:r>
              <a:rPr lang="ru-RU" sz="1500" dirty="0">
                <a:solidFill>
                  <a:srgbClr val="000000"/>
                </a:solidFill>
              </a:rPr>
              <a:t>Он пересылается через все порты коммутатора </a:t>
            </a:r>
            <a:r>
              <a:rPr lang="ru-RU" sz="1500" dirty="0" err="1">
                <a:solidFill>
                  <a:srgbClr val="000000"/>
                </a:solidFill>
              </a:rPr>
              <a:t>Ethernet</a:t>
            </a:r>
            <a:r>
              <a:rPr lang="ru-RU" sz="1500" dirty="0">
                <a:solidFill>
                  <a:srgbClr val="000000"/>
                </a:solidFill>
              </a:rPr>
              <a:t>, кроме входящего порта. Он не пересылается маршрутизатором.</a:t>
            </a:r>
          </a:p>
          <a:p>
            <a:pPr marL="285750" indent="-285750" algn="l" rtl="0">
              <a:buFont typeface="Arial" panose="020B0604020202020204" pitchFamily="34" charset="0"/>
              <a:buChar char="•"/>
            </a:pPr>
            <a:r>
              <a:rPr lang="ru-RU" sz="1500" dirty="0">
                <a:solidFill>
                  <a:srgbClr val="000000"/>
                </a:solidFill>
              </a:rPr>
              <a:t>Если инкапсулированные данные являются широковещательным пакетом IPv4, это означает, что пакет содержит целевой IPv4-адрес, который имеет все единицы (1) в хост-части. Эта нумерация в адресе означает, что все узлы в локальной сети (домене широковещательной рассылки) получат и обработают пакет.</a:t>
            </a:r>
          </a:p>
          <a:p>
            <a:pPr marL="0" indent="0" algn="l"/>
            <a:endParaRPr lang="en-US" sz="1400" dirty="0">
              <a:solidFill>
                <a:srgbClr val="000000"/>
              </a:solidFill>
            </a:endParaRPr>
          </a:p>
        </p:txBody>
      </p:sp>
      <p:pic>
        <p:nvPicPr>
          <p:cNvPr id="5" name="Picture 4">
            <a:extLst>
              <a:ext uri="{FF2B5EF4-FFF2-40B4-BE49-F238E27FC236}">
                <a16:creationId xmlns:a16="http://schemas.microsoft.com/office/drawing/2014/main" id="{9BB74621-5EE7-1449-9518-A33F812065C0}"/>
              </a:ext>
            </a:extLst>
          </p:cNvPr>
          <p:cNvPicPr>
            <a:picLocks noChangeAspect="1"/>
          </p:cNvPicPr>
          <p:nvPr/>
        </p:nvPicPr>
        <p:blipFill>
          <a:blip r:embed="rId3"/>
          <a:stretch>
            <a:fillRect/>
          </a:stretch>
        </p:blipFill>
        <p:spPr>
          <a:xfrm>
            <a:off x="5047955" y="1112109"/>
            <a:ext cx="4012722" cy="2609226"/>
          </a:xfrm>
          <a:prstGeom prst="rect">
            <a:avLst/>
          </a:prstGeom>
        </p:spPr>
      </p:pic>
    </p:spTree>
    <p:extLst>
      <p:ext uri="{BB962C8B-B14F-4D97-AF65-F5344CB8AC3E}">
        <p14:creationId xmlns:p14="http://schemas.microsoft.com/office/powerpoint/2010/main" val="16113634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pPr rtl="0"/>
            <a:r>
              <a:rPr lang="ru-RU" sz="1600"/>
              <a:t>MAC-адреса Ethernet</a:t>
            </a:r>
            <a:br>
              <a:rPr lang="en-US" dirty="0"/>
            </a:br>
            <a:r>
              <a:rPr lang="ru-RU" sz="2400"/>
              <a:t> Групповой MAC-адрес</a:t>
            </a:r>
          </a:p>
        </p:txBody>
      </p:sp>
      <p:sp>
        <p:nvSpPr>
          <p:cNvPr id="4" name="Content Placeholder 3">
            <a:extLst>
              <a:ext uri="{FF2B5EF4-FFF2-40B4-BE49-F238E27FC236}">
                <a16:creationId xmlns:a16="http://schemas.microsoft.com/office/drawing/2014/main" id="{1F3CA7BB-7E7C-7149-9859-4AA0DDEC8CC4}"/>
              </a:ext>
            </a:extLst>
          </p:cNvPr>
          <p:cNvSpPr>
            <a:spLocks noGrp="1"/>
          </p:cNvSpPr>
          <p:nvPr>
            <p:ph idx="1"/>
          </p:nvPr>
        </p:nvSpPr>
        <p:spPr>
          <a:xfrm>
            <a:off x="0" y="763735"/>
            <a:ext cx="5684363" cy="3836839"/>
          </a:xfrm>
        </p:spPr>
        <p:txBody>
          <a:bodyPr/>
          <a:lstStyle/>
          <a:p>
            <a:pPr marL="0" indent="0" algn="l" rtl="0"/>
            <a:r>
              <a:rPr lang="ru-RU" sz="1200" dirty="0">
                <a:solidFill>
                  <a:srgbClr val="000000"/>
                </a:solidFill>
              </a:rPr>
              <a:t>Кадр многоадресной передачи </a:t>
            </a:r>
            <a:r>
              <a:rPr lang="ru-RU" sz="1200" dirty="0" err="1">
                <a:solidFill>
                  <a:srgbClr val="000000"/>
                </a:solidFill>
              </a:rPr>
              <a:t>Ethernet</a:t>
            </a:r>
            <a:r>
              <a:rPr lang="ru-RU" sz="1200" dirty="0">
                <a:solidFill>
                  <a:srgbClr val="000000"/>
                </a:solidFill>
              </a:rPr>
              <a:t> принимается и обрабатывается группой устройств, принадлежащих к той же группе многоадресной рассылки. </a:t>
            </a:r>
          </a:p>
          <a:p>
            <a:pPr marL="285750" indent="-285750" algn="l" rtl="0">
              <a:buFont typeface="Arial" panose="020B0604020202020204" pitchFamily="34" charset="0"/>
              <a:buChar char="•"/>
            </a:pPr>
            <a:r>
              <a:rPr lang="ru-RU" sz="1300" dirty="0">
                <a:solidFill>
                  <a:srgbClr val="000000"/>
                </a:solidFill>
              </a:rPr>
              <a:t>Существует MAC-адрес назначения 01-00-5E, когда инкапсулированные данные являются многоадресным пакетом IPv4, и MAC-адрес назначения 33-33, когда инкапсулированные данные являются многоадресным пакетом IPv6.</a:t>
            </a:r>
          </a:p>
          <a:p>
            <a:pPr marL="285750" indent="-285750" algn="l" rtl="0">
              <a:buFont typeface="Arial" panose="020B0604020202020204" pitchFamily="34" charset="0"/>
              <a:buChar char="•"/>
            </a:pPr>
            <a:r>
              <a:rPr lang="ru-RU" sz="1300" dirty="0">
                <a:solidFill>
                  <a:srgbClr val="000000"/>
                </a:solidFill>
              </a:rPr>
              <a:t>Существуют другие зарезервированные MAC-адреса назначения многоадресной рассылки для случаев, когда инкапсулированные данные не являются IP-адресами, например протокол STP.</a:t>
            </a:r>
          </a:p>
          <a:p>
            <a:pPr marL="285750" indent="-285750" algn="l" rtl="0">
              <a:buFont typeface="Arial" panose="020B0604020202020204" pitchFamily="34" charset="0"/>
              <a:buChar char="•"/>
            </a:pPr>
            <a:r>
              <a:rPr lang="ru-RU" sz="1300" dirty="0">
                <a:solidFill>
                  <a:srgbClr val="000000"/>
                </a:solidFill>
              </a:rPr>
              <a:t>Он рассылается на  все порты коммутатора </a:t>
            </a:r>
            <a:r>
              <a:rPr lang="ru-RU" sz="1300" dirty="0" err="1">
                <a:solidFill>
                  <a:srgbClr val="000000"/>
                </a:solidFill>
              </a:rPr>
              <a:t>Ethernet</a:t>
            </a:r>
            <a:r>
              <a:rPr lang="ru-RU" sz="1300" dirty="0">
                <a:solidFill>
                  <a:srgbClr val="000000"/>
                </a:solidFill>
              </a:rPr>
              <a:t>, за исключением входящего порта, если коммутатор не настроен для многоадресного отслеживания. Он не пересылается маршрутизатором, если маршрутизатор не настроен на маршрутизацию многоадресных пакетов.</a:t>
            </a:r>
          </a:p>
          <a:p>
            <a:pPr marL="285750" indent="-285750" algn="l" rtl="0">
              <a:buFont typeface="Arial" panose="020B0604020202020204" pitchFamily="34" charset="0"/>
              <a:buChar char="•"/>
            </a:pPr>
            <a:r>
              <a:rPr lang="ru-RU" sz="1300" dirty="0">
                <a:solidFill>
                  <a:srgbClr val="000000"/>
                </a:solidFill>
              </a:rPr>
              <a:t>Поскольку адреса многоадресной рассылки представляют собой группу адресов, они используются только как адреса назначения пакета. Источник всегда имеет адрес одноадресной рассылки.</a:t>
            </a:r>
          </a:p>
          <a:p>
            <a:pPr marL="285750" indent="-285750" algn="l" rtl="0">
              <a:buFont typeface="Arial" panose="020B0604020202020204" pitchFamily="34" charset="0"/>
              <a:buChar char="•"/>
            </a:pPr>
            <a:r>
              <a:rPr lang="ru-RU" sz="1300" dirty="0">
                <a:solidFill>
                  <a:srgbClr val="000000"/>
                </a:solidFill>
              </a:rPr>
              <a:t>IP-адресу для многоадресной рассылки требуется соответствующий MAC-адрес.</a:t>
            </a:r>
          </a:p>
        </p:txBody>
      </p:sp>
      <p:pic>
        <p:nvPicPr>
          <p:cNvPr id="5" name="Picture 4">
            <a:extLst>
              <a:ext uri="{FF2B5EF4-FFF2-40B4-BE49-F238E27FC236}">
                <a16:creationId xmlns:a16="http://schemas.microsoft.com/office/drawing/2014/main" id="{C2CEE847-F74D-1643-8791-340AD51F8CE0}"/>
              </a:ext>
            </a:extLst>
          </p:cNvPr>
          <p:cNvPicPr>
            <a:picLocks noChangeAspect="1"/>
          </p:cNvPicPr>
          <p:nvPr/>
        </p:nvPicPr>
        <p:blipFill>
          <a:blip r:embed="rId3"/>
          <a:stretch>
            <a:fillRect/>
          </a:stretch>
        </p:blipFill>
        <p:spPr>
          <a:xfrm>
            <a:off x="5536456" y="1032258"/>
            <a:ext cx="3607544" cy="2481290"/>
          </a:xfrm>
          <a:prstGeom prst="rect">
            <a:avLst/>
          </a:prstGeom>
        </p:spPr>
      </p:pic>
    </p:spTree>
    <p:extLst>
      <p:ext uri="{BB962C8B-B14F-4D97-AF65-F5344CB8AC3E}">
        <p14:creationId xmlns:p14="http://schemas.microsoft.com/office/powerpoint/2010/main" val="16915934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9144000" cy="957915"/>
          </a:xfrm>
        </p:spPr>
        <p:txBody>
          <a:bodyPr/>
          <a:lstStyle/>
          <a:p>
            <a:pPr rtl="0"/>
            <a:r>
              <a:rPr lang="ru-RU" sz="1600" dirty="0"/>
              <a:t>MAC-адреса </a:t>
            </a:r>
            <a:r>
              <a:rPr lang="ru-RU" sz="1600" dirty="0" err="1"/>
              <a:t>Ethernet</a:t>
            </a:r>
            <a:r>
              <a:rPr lang="ru-RU" sz="1600" dirty="0"/>
              <a:t> </a:t>
            </a:r>
            <a:br>
              <a:rPr lang="en-US" dirty="0"/>
            </a:br>
            <a:r>
              <a:rPr lang="ru-RU" sz="2400" dirty="0"/>
              <a:t>Лабораторная работа. Просмотр MAC-адресов сетевых устройств</a:t>
            </a:r>
          </a:p>
        </p:txBody>
      </p:sp>
      <p:sp>
        <p:nvSpPr>
          <p:cNvPr id="4" name="Content Placeholder 3">
            <a:extLst>
              <a:ext uri="{FF2B5EF4-FFF2-40B4-BE49-F238E27FC236}">
                <a16:creationId xmlns:a16="http://schemas.microsoft.com/office/drawing/2014/main" id="{1F3CA7BB-7E7C-7149-9859-4AA0DDEC8CC4}"/>
              </a:ext>
            </a:extLst>
          </p:cNvPr>
          <p:cNvSpPr>
            <a:spLocks noGrp="1"/>
          </p:cNvSpPr>
          <p:nvPr>
            <p:ph idx="1"/>
          </p:nvPr>
        </p:nvSpPr>
        <p:spPr>
          <a:xfrm>
            <a:off x="224406" y="1423447"/>
            <a:ext cx="8280057" cy="2488148"/>
          </a:xfrm>
        </p:spPr>
        <p:txBody>
          <a:bodyPr/>
          <a:lstStyle/>
          <a:p>
            <a:pPr algn="l" rtl="0"/>
            <a:r>
              <a:rPr lang="ru-RU" dirty="0">
                <a:solidFill>
                  <a:srgbClr val="000000"/>
                </a:solidFill>
              </a:rPr>
              <a:t>В этой лабораторной работе вы выполните следующие задачи.</a:t>
            </a:r>
          </a:p>
          <a:p>
            <a:pPr marL="342900" indent="-342900" algn="l" rtl="0">
              <a:buFont typeface="Arial" panose="020B0604020202020204" pitchFamily="34" charset="0"/>
              <a:buChar char="•"/>
            </a:pPr>
            <a:r>
              <a:rPr lang="ru-RU" dirty="0">
                <a:solidFill>
                  <a:srgbClr val="000000"/>
                </a:solidFill>
              </a:rPr>
              <a:t>Часть 1. Настройка топологии и инициализация устройств</a:t>
            </a:r>
          </a:p>
          <a:p>
            <a:pPr marL="342900" indent="-342900" algn="l" rtl="0">
              <a:buFont typeface="Arial" panose="020B0604020202020204" pitchFamily="34" charset="0"/>
              <a:buChar char="•"/>
            </a:pPr>
            <a:r>
              <a:rPr lang="ru-RU" dirty="0">
                <a:solidFill>
                  <a:srgbClr val="000000"/>
                </a:solidFill>
              </a:rPr>
              <a:t>Часть 2. Настройка устройств и проверка подключения</a:t>
            </a:r>
          </a:p>
          <a:p>
            <a:pPr marL="342900" indent="-342900" algn="l" rtl="0">
              <a:buFont typeface="Arial" panose="020B0604020202020204" pitchFamily="34" charset="0"/>
              <a:buChar char="•"/>
            </a:pPr>
            <a:r>
              <a:rPr lang="ru-RU" dirty="0">
                <a:solidFill>
                  <a:srgbClr val="000000"/>
                </a:solidFill>
              </a:rPr>
              <a:t>Часть 3. Отображение, описание и анализ МАС-адресов </a:t>
            </a:r>
            <a:r>
              <a:rPr lang="ru-RU" dirty="0" err="1">
                <a:solidFill>
                  <a:srgbClr val="000000"/>
                </a:solidFill>
              </a:rPr>
              <a:t>Ethernet</a:t>
            </a:r>
            <a:endParaRPr lang="ru-RU" dirty="0">
              <a:solidFill>
                <a:srgbClr val="000000"/>
              </a:solidFill>
            </a:endParaRPr>
          </a:p>
          <a:p>
            <a:pPr algn="l"/>
            <a:endParaRPr lang="en-US" dirty="0">
              <a:solidFill>
                <a:srgbClr val="000000"/>
              </a:solidFill>
            </a:endParaRPr>
          </a:p>
        </p:txBody>
      </p:sp>
    </p:spTree>
    <p:extLst>
      <p:ext uri="{BB962C8B-B14F-4D97-AF65-F5344CB8AC3E}">
        <p14:creationId xmlns:p14="http://schemas.microsoft.com/office/powerpoint/2010/main" val="38588726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pPr rtl="0"/>
            <a:r>
              <a:rPr lang="ru-RU">
                <a:solidFill>
                  <a:schemeClr val="accent5">
                    <a:lumMod val="40000"/>
                    <a:lumOff val="60000"/>
                  </a:schemeClr>
                </a:solidFill>
              </a:rPr>
              <a:t>7.3 Таблица MAC-адресов</a:t>
            </a:r>
          </a:p>
        </p:txBody>
      </p:sp>
    </p:spTree>
    <p:custDataLst>
      <p:tags r:id="rId1"/>
    </p:custDataLst>
    <p:extLst>
      <p:ext uri="{BB962C8B-B14F-4D97-AF65-F5344CB8AC3E}">
        <p14:creationId xmlns:p14="http://schemas.microsoft.com/office/powerpoint/2010/main" val="1016896985"/>
      </p:ext>
    </p:extLst>
  </p:cSld>
  <p:clrMapOvr>
    <a:masterClrMapping/>
  </p:clrMapOvr>
  <p:transition spd="slow">
    <p:wip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pPr rtl="0"/>
            <a:r>
              <a:rPr lang="ru-RU" sz="1600"/>
              <a:t>Таблица MAC-адресов</a:t>
            </a:r>
            <a:br>
              <a:rPr lang="en-US" dirty="0"/>
            </a:br>
            <a:r>
              <a:rPr lang="ru-RU" sz="2400"/>
              <a:t> Основная информация о коммутаторах</a:t>
            </a:r>
          </a:p>
        </p:txBody>
      </p:sp>
      <p:sp>
        <p:nvSpPr>
          <p:cNvPr id="4" name="Content Placeholder 3">
            <a:extLst>
              <a:ext uri="{FF2B5EF4-FFF2-40B4-BE49-F238E27FC236}">
                <a16:creationId xmlns:a16="http://schemas.microsoft.com/office/drawing/2014/main" id="{1F3CA7BB-7E7C-7149-9859-4AA0DDEC8CC4}"/>
              </a:ext>
            </a:extLst>
          </p:cNvPr>
          <p:cNvSpPr>
            <a:spLocks noGrp="1"/>
          </p:cNvSpPr>
          <p:nvPr>
            <p:ph idx="1"/>
          </p:nvPr>
        </p:nvSpPr>
        <p:spPr>
          <a:xfrm>
            <a:off x="474662" y="763736"/>
            <a:ext cx="8280057" cy="3657998"/>
          </a:xfrm>
        </p:spPr>
        <p:txBody>
          <a:bodyPr/>
          <a:lstStyle/>
          <a:p>
            <a:pPr marL="342900" indent="-342900" algn="l" rtl="0">
              <a:buFont typeface="Arial" panose="020B0604020202020204" pitchFamily="34" charset="0"/>
              <a:buChar char="•"/>
            </a:pPr>
            <a:r>
              <a:rPr lang="ru-RU" sz="1600">
                <a:solidFill>
                  <a:srgbClr val="000000"/>
                </a:solidFill>
              </a:rPr>
              <a:t>Коммутатор Ethernet уровня 2 использует MAC-адреса для принятия решения о пересылке. Устройство не имеет информации о протоколе, передаваемом в части кадра, выделенной для данных, например, в IPv4-пакете или ND-пакет IPv6. Коммутатор пересылает пакеты только на основе MAC-адресов Ethernet уровня 2.</a:t>
            </a:r>
          </a:p>
          <a:p>
            <a:pPr marL="342900" indent="-342900" algn="l" rtl="0">
              <a:buFont typeface="Arial" panose="020B0604020202020204" pitchFamily="34" charset="0"/>
              <a:buChar char="•"/>
            </a:pPr>
            <a:r>
              <a:rPr lang="ru-RU" sz="1600">
                <a:solidFill>
                  <a:srgbClr val="000000"/>
                </a:solidFill>
              </a:rPr>
              <a:t>В отличие от устаревших концентраторов Ethernet, которые повторяют биты на всех портах, кроме входящего, коммутатор Ethernet обращается к таблице MAC-адресов для пересылки каждого конкретного кадра. </a:t>
            </a:r>
          </a:p>
          <a:p>
            <a:pPr marL="342900" indent="-342900" algn="l" rtl="0">
              <a:buFont typeface="Arial" panose="020B0604020202020204" pitchFamily="34" charset="0"/>
              <a:buChar char="•"/>
            </a:pPr>
            <a:r>
              <a:rPr lang="ru-RU" sz="1600">
                <a:solidFill>
                  <a:srgbClr val="000000"/>
                </a:solidFill>
              </a:rPr>
              <a:t>Когда переключатель включен, таблица MAC-адресов пуста</a:t>
            </a:r>
          </a:p>
          <a:p>
            <a:pPr marL="0" indent="0" algn="l"/>
            <a:endParaRPr lang="en-US" sz="1600" b="1" dirty="0">
              <a:solidFill>
                <a:srgbClr val="000000"/>
              </a:solidFill>
            </a:endParaRPr>
          </a:p>
          <a:p>
            <a:pPr marL="0" indent="0" algn="l" rtl="0"/>
            <a:r>
              <a:rPr lang="ru-RU" sz="1600" b="1">
                <a:solidFill>
                  <a:srgbClr val="000000"/>
                </a:solidFill>
              </a:rPr>
              <a:t>Примечание.</a:t>
            </a:r>
            <a:r>
              <a:rPr lang="ru-RU" sz="1600">
                <a:solidFill>
                  <a:srgbClr val="000000"/>
                </a:solidFill>
              </a:rPr>
              <a:t> Таблицу MAC-адресов иногда называют таблицей ассоциативной памяти (CAM).</a:t>
            </a:r>
          </a:p>
          <a:p>
            <a:pPr marL="342900" indent="-34290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24844210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pPr rtl="0"/>
            <a:r>
              <a:rPr lang="ru-RU" sz="1600"/>
              <a:t>Таблица MAC-адресов</a:t>
            </a:r>
            <a:br>
              <a:rPr lang="en-US" dirty="0"/>
            </a:br>
            <a:r>
              <a:rPr lang="ru-RU" sz="2400"/>
              <a:t>Переключение получения информации и пересылки</a:t>
            </a:r>
          </a:p>
        </p:txBody>
      </p:sp>
      <p:sp>
        <p:nvSpPr>
          <p:cNvPr id="4" name="Content Placeholder 3">
            <a:extLst>
              <a:ext uri="{FF2B5EF4-FFF2-40B4-BE49-F238E27FC236}">
                <a16:creationId xmlns:a16="http://schemas.microsoft.com/office/drawing/2014/main" id="{1F3CA7BB-7E7C-7149-9859-4AA0DDEC8CC4}"/>
              </a:ext>
            </a:extLst>
          </p:cNvPr>
          <p:cNvSpPr>
            <a:spLocks noGrp="1"/>
          </p:cNvSpPr>
          <p:nvPr>
            <p:ph idx="1"/>
          </p:nvPr>
        </p:nvSpPr>
        <p:spPr>
          <a:xfrm>
            <a:off x="474662" y="763736"/>
            <a:ext cx="8280057" cy="3657998"/>
          </a:xfrm>
        </p:spPr>
        <p:txBody>
          <a:bodyPr/>
          <a:lstStyle/>
          <a:p>
            <a:pPr marL="0" indent="0" algn="l" rtl="0"/>
            <a:r>
              <a:rPr lang="ru-RU" sz="1600" b="1">
                <a:solidFill>
                  <a:srgbClr val="000000"/>
                </a:solidFill>
              </a:rPr>
              <a:t>Получение информации: проверка MAC-адреса источника</a:t>
            </a:r>
          </a:p>
          <a:p>
            <a:pPr marL="0" indent="0" algn="l" rtl="0"/>
            <a:r>
              <a:rPr lang="ru-RU" sz="1600">
                <a:solidFill>
                  <a:srgbClr val="000000"/>
                </a:solidFill>
              </a:rPr>
              <a:t>При каждом поступлении кадра в коммутатор выполняется проверка на наличие новой информации. Проверяются MAC-адрес источника, указанный в кадре, и номер порта, по которому кадр поступает в коммутатор. Если MAC-адрес источника отсутствует, он добавляется в таблицу вместе с номером входящего порта. Если MAC-адрес источника уже существует, коммутатор обновляет таймер обновления для этой записи. По умолчанию в большинстве коммутаторов Ethernet данные в таблице хранятся в течение 5 минут.</a:t>
            </a:r>
          </a:p>
          <a:p>
            <a:pPr marL="0" indent="0" algn="l"/>
            <a:endParaRPr lang="en-US" sz="1600" b="1" dirty="0">
              <a:solidFill>
                <a:srgbClr val="000000"/>
              </a:solidFill>
            </a:endParaRPr>
          </a:p>
          <a:p>
            <a:pPr marL="0" indent="0" algn="l" rtl="0"/>
            <a:r>
              <a:rPr lang="ru-RU" sz="1600" b="1">
                <a:solidFill>
                  <a:srgbClr val="000000"/>
                </a:solidFill>
              </a:rPr>
              <a:t>Примечание.</a:t>
            </a:r>
            <a:r>
              <a:rPr lang="ru-RU" sz="1600">
                <a:solidFill>
                  <a:srgbClr val="000000"/>
                </a:solidFill>
              </a:rPr>
              <a:t> Если MAC-адрес источника указан в таблице, но с другим портом, коммутатор считает эту запись новой. Запись заменяется на тот же MAC-адрес, но с более актуальным номером порта.</a:t>
            </a:r>
          </a:p>
        </p:txBody>
      </p:sp>
    </p:spTree>
    <p:extLst>
      <p:ext uri="{BB962C8B-B14F-4D97-AF65-F5344CB8AC3E}">
        <p14:creationId xmlns:p14="http://schemas.microsoft.com/office/powerpoint/2010/main" val="19104002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pPr rtl="0"/>
            <a:r>
              <a:rPr lang="ru-RU" sz="1600"/>
              <a:t>Таблица MAC-адресов </a:t>
            </a:r>
            <a:br>
              <a:rPr lang="en-US" dirty="0"/>
            </a:br>
            <a:r>
              <a:rPr lang="ru-RU" sz="2400"/>
              <a:t>Переключение получения информации и пересылки (Продолжение)</a:t>
            </a:r>
          </a:p>
        </p:txBody>
      </p:sp>
      <p:sp>
        <p:nvSpPr>
          <p:cNvPr id="4" name="Content Placeholder 3">
            <a:extLst>
              <a:ext uri="{FF2B5EF4-FFF2-40B4-BE49-F238E27FC236}">
                <a16:creationId xmlns:a16="http://schemas.microsoft.com/office/drawing/2014/main" id="{1F3CA7BB-7E7C-7149-9859-4AA0DDEC8CC4}"/>
              </a:ext>
            </a:extLst>
          </p:cNvPr>
          <p:cNvSpPr>
            <a:spLocks noGrp="1"/>
          </p:cNvSpPr>
          <p:nvPr>
            <p:ph idx="1"/>
          </p:nvPr>
        </p:nvSpPr>
        <p:spPr>
          <a:xfrm>
            <a:off x="474662" y="1102936"/>
            <a:ext cx="8280057" cy="3318798"/>
          </a:xfrm>
        </p:spPr>
        <p:txBody>
          <a:bodyPr/>
          <a:lstStyle/>
          <a:p>
            <a:pPr marL="0" indent="0" algn="l" rtl="0"/>
            <a:r>
              <a:rPr lang="ru-RU" sz="1600" b="1" dirty="0">
                <a:solidFill>
                  <a:srgbClr val="000000"/>
                </a:solidFill>
              </a:rPr>
              <a:t>Пересылка: поиск MAC-адреса назначения</a:t>
            </a:r>
          </a:p>
          <a:p>
            <a:pPr marL="0" indent="0" algn="l" rtl="0"/>
            <a:r>
              <a:rPr lang="ru-RU" sz="1600" dirty="0">
                <a:solidFill>
                  <a:srgbClr val="000000"/>
                </a:solidFill>
              </a:rPr>
              <a:t>Если MAC-адрес назначения является адресом одноадресной рассылки, коммутатор ищет совпадения между MAC-адресом назначения кадра и записью в таблице MAC-адресов. Если MAC-адрес назначения есть в таблице, коммутатор пересылает кадр через указанный порт. Если MAC-адреса назначения нет в таблице, коммутатор пересылает кадр через все порты, кроме входящего порта. Это называется одноадресной рассылкой неизвестному получателю.</a:t>
            </a:r>
          </a:p>
          <a:p>
            <a:pPr marL="0" indent="0" algn="l"/>
            <a:endParaRPr lang="en-US" sz="1600" b="1" dirty="0">
              <a:solidFill>
                <a:srgbClr val="000000"/>
              </a:solidFill>
            </a:endParaRPr>
          </a:p>
          <a:p>
            <a:pPr marL="0" indent="0" algn="l" rtl="0"/>
            <a:r>
              <a:rPr lang="ru-RU" sz="1600" b="1" dirty="0">
                <a:solidFill>
                  <a:srgbClr val="000000"/>
                </a:solidFill>
              </a:rPr>
              <a:t>Примечание.</a:t>
            </a:r>
            <a:r>
              <a:rPr lang="ru-RU" sz="1600" dirty="0">
                <a:solidFill>
                  <a:srgbClr val="000000"/>
                </a:solidFill>
              </a:rPr>
              <a:t> Если MAC-адрес назначения является адресом широковещательной или многоадресной рассылки, коммутатор также пересылает кадр через все порты, кроме входящего порта.</a:t>
            </a:r>
          </a:p>
        </p:txBody>
      </p:sp>
    </p:spTree>
    <p:extLst>
      <p:ext uri="{BB962C8B-B14F-4D97-AF65-F5344CB8AC3E}">
        <p14:creationId xmlns:p14="http://schemas.microsoft.com/office/powerpoint/2010/main" val="30335363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pPr rtl="0"/>
            <a:r>
              <a:rPr lang="ru-RU" sz="1600"/>
              <a:t>Таблица MAC-адресов</a:t>
            </a:r>
            <a:br>
              <a:rPr lang="en-US" dirty="0"/>
            </a:br>
            <a:r>
              <a:rPr lang="ru-RU" sz="2400"/>
              <a:t> Фильтрация кадров</a:t>
            </a:r>
          </a:p>
        </p:txBody>
      </p:sp>
      <p:sp>
        <p:nvSpPr>
          <p:cNvPr id="4" name="Content Placeholder 3">
            <a:extLst>
              <a:ext uri="{FF2B5EF4-FFF2-40B4-BE49-F238E27FC236}">
                <a16:creationId xmlns:a16="http://schemas.microsoft.com/office/drawing/2014/main" id="{1F3CA7BB-7E7C-7149-9859-4AA0DDEC8CC4}"/>
              </a:ext>
            </a:extLst>
          </p:cNvPr>
          <p:cNvSpPr>
            <a:spLocks noGrp="1"/>
          </p:cNvSpPr>
          <p:nvPr>
            <p:ph idx="1"/>
          </p:nvPr>
        </p:nvSpPr>
        <p:spPr>
          <a:xfrm>
            <a:off x="94268" y="763736"/>
            <a:ext cx="8660451" cy="1180567"/>
          </a:xfrm>
        </p:spPr>
        <p:txBody>
          <a:bodyPr/>
          <a:lstStyle/>
          <a:p>
            <a:pPr marL="0" indent="0" algn="l" rtl="0"/>
            <a:r>
              <a:rPr lang="ru-RU" sz="1600" dirty="0">
                <a:solidFill>
                  <a:srgbClr val="000000"/>
                </a:solidFill>
              </a:rPr>
              <a:t>Поскольку коммутатор получает кадры от разных устройств, его таблица MAC-адресов заполняется через проверку MAC-адреса источника каждого кадра. Если в таблице MAC-адресов коммутатора есть MAC-адрес назначения, он может выполнять фильтрацию кадров и пересылать его через один порт.</a:t>
            </a:r>
          </a:p>
        </p:txBody>
      </p:sp>
      <p:pic>
        <p:nvPicPr>
          <p:cNvPr id="5" name="Picture 4">
            <a:extLst>
              <a:ext uri="{FF2B5EF4-FFF2-40B4-BE49-F238E27FC236}">
                <a16:creationId xmlns:a16="http://schemas.microsoft.com/office/drawing/2014/main" id="{449A7AB3-F150-504C-93AA-B753EDE0AF2D}"/>
              </a:ext>
            </a:extLst>
          </p:cNvPr>
          <p:cNvPicPr>
            <a:picLocks noChangeAspect="1"/>
          </p:cNvPicPr>
          <p:nvPr/>
        </p:nvPicPr>
        <p:blipFill>
          <a:blip r:embed="rId3"/>
          <a:stretch>
            <a:fillRect/>
          </a:stretch>
        </p:blipFill>
        <p:spPr>
          <a:xfrm>
            <a:off x="1992005" y="1944303"/>
            <a:ext cx="4361477" cy="2808405"/>
          </a:xfrm>
          <a:prstGeom prst="rect">
            <a:avLst/>
          </a:prstGeom>
        </p:spPr>
      </p:pic>
    </p:spTree>
    <p:extLst>
      <p:ext uri="{BB962C8B-B14F-4D97-AF65-F5344CB8AC3E}">
        <p14:creationId xmlns:p14="http://schemas.microsoft.com/office/powerpoint/2010/main" val="4197295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pPr rtl="0"/>
            <a:r>
              <a:rPr lang="ru-RU" sz="1600"/>
              <a:t>Таблица MAC-адресов </a:t>
            </a:r>
            <a:br>
              <a:rPr lang="en-US" dirty="0"/>
            </a:br>
            <a:r>
              <a:rPr lang="ru-RU" sz="2400"/>
              <a:t>Видео - Таблицы MAC-адресов в соединенных между собой коммутаторах</a:t>
            </a:r>
          </a:p>
        </p:txBody>
      </p:sp>
      <p:sp>
        <p:nvSpPr>
          <p:cNvPr id="4" name="Content Placeholder 3">
            <a:extLst>
              <a:ext uri="{FF2B5EF4-FFF2-40B4-BE49-F238E27FC236}">
                <a16:creationId xmlns:a16="http://schemas.microsoft.com/office/drawing/2014/main" id="{1F3CA7BB-7E7C-7149-9859-4AA0DDEC8CC4}"/>
              </a:ext>
            </a:extLst>
          </p:cNvPr>
          <p:cNvSpPr>
            <a:spLocks noGrp="1"/>
          </p:cNvSpPr>
          <p:nvPr>
            <p:ph idx="1"/>
          </p:nvPr>
        </p:nvSpPr>
        <p:spPr>
          <a:xfrm>
            <a:off x="431971" y="1074655"/>
            <a:ext cx="8280057" cy="2913941"/>
          </a:xfrm>
        </p:spPr>
        <p:txBody>
          <a:bodyPr/>
          <a:lstStyle/>
          <a:p>
            <a:pPr algn="l" rtl="0"/>
            <a:r>
              <a:rPr lang="ru-RU" dirty="0">
                <a:solidFill>
                  <a:srgbClr val="000000"/>
                </a:solidFill>
              </a:rPr>
              <a:t>Это видео будет охватывать следующее:</a:t>
            </a:r>
          </a:p>
          <a:p>
            <a:pPr marL="342900" indent="-342900" algn="l" rtl="0">
              <a:buFont typeface="Arial" panose="020B0604020202020204" pitchFamily="34" charset="0"/>
              <a:buChar char="•"/>
            </a:pPr>
            <a:r>
              <a:rPr lang="ru-RU" dirty="0">
                <a:solidFill>
                  <a:srgbClr val="000000"/>
                </a:solidFill>
              </a:rPr>
              <a:t>Как коммутаторы создают таблицы MAC-адресов</a:t>
            </a:r>
          </a:p>
          <a:p>
            <a:pPr marL="342900" indent="-342900" algn="l" rtl="0">
              <a:buFont typeface="Arial" panose="020B0604020202020204" pitchFamily="34" charset="0"/>
              <a:buChar char="•"/>
            </a:pPr>
            <a:r>
              <a:rPr lang="ru-RU" dirty="0">
                <a:solidFill>
                  <a:srgbClr val="000000"/>
                </a:solidFill>
              </a:rPr>
              <a:t>Как коммутаторы пересылают кадры на основе содержимого их таблиц MAC-адресов</a:t>
            </a:r>
          </a:p>
        </p:txBody>
      </p:sp>
    </p:spTree>
    <p:extLst>
      <p:ext uri="{BB962C8B-B14F-4D97-AF65-F5344CB8AC3E}">
        <p14:creationId xmlns:p14="http://schemas.microsoft.com/office/powerpoint/2010/main" val="10470998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pPr rtl="0"/>
            <a:r>
              <a:rPr lang="ru-RU" sz="1600"/>
              <a:t>Таблица MAC-адресов </a:t>
            </a:r>
            <a:br>
              <a:rPr lang="en-US" dirty="0"/>
            </a:br>
            <a:r>
              <a:rPr lang="ru-RU" sz="2400"/>
              <a:t>Видео - Отправка кадра на шлюз по умолчанию</a:t>
            </a:r>
          </a:p>
        </p:txBody>
      </p:sp>
      <p:sp>
        <p:nvSpPr>
          <p:cNvPr id="4" name="Content Placeholder 3">
            <a:extLst>
              <a:ext uri="{FF2B5EF4-FFF2-40B4-BE49-F238E27FC236}">
                <a16:creationId xmlns:a16="http://schemas.microsoft.com/office/drawing/2014/main" id="{1F3CA7BB-7E7C-7149-9859-4AA0DDEC8CC4}"/>
              </a:ext>
            </a:extLst>
          </p:cNvPr>
          <p:cNvSpPr>
            <a:spLocks noGrp="1"/>
          </p:cNvSpPr>
          <p:nvPr>
            <p:ph idx="1"/>
          </p:nvPr>
        </p:nvSpPr>
        <p:spPr>
          <a:xfrm>
            <a:off x="431971" y="1034777"/>
            <a:ext cx="8280057" cy="3073946"/>
          </a:xfrm>
        </p:spPr>
        <p:txBody>
          <a:bodyPr/>
          <a:lstStyle/>
          <a:p>
            <a:pPr algn="l" rtl="0"/>
            <a:r>
              <a:rPr lang="ru-RU" dirty="0">
                <a:solidFill>
                  <a:srgbClr val="000000"/>
                </a:solidFill>
              </a:rPr>
              <a:t>Это видео будет охватывать следующее:</a:t>
            </a:r>
          </a:p>
          <a:p>
            <a:pPr marL="342900" indent="-342900" algn="l">
              <a:buFont typeface="Arial" panose="020B0604020202020204" pitchFamily="34" charset="0"/>
              <a:buChar char="•"/>
            </a:pPr>
            <a:r>
              <a:rPr lang="ru-RU" dirty="0">
                <a:solidFill>
                  <a:srgbClr val="000000"/>
                </a:solidFill>
              </a:rPr>
              <a:t>Что делает коммутатор, если MAC-</a:t>
            </a:r>
            <a:r>
              <a:rPr lang="ru-RU" dirty="0" err="1">
                <a:solidFill>
                  <a:srgbClr val="000000"/>
                </a:solidFill>
              </a:rPr>
              <a:t>адресназначения</a:t>
            </a:r>
            <a:r>
              <a:rPr lang="ru-RU" dirty="0">
                <a:solidFill>
                  <a:srgbClr val="000000"/>
                </a:solidFill>
              </a:rPr>
              <a:t> не указан в таблице MAC-адресов коммутатора.</a:t>
            </a:r>
          </a:p>
          <a:p>
            <a:pPr marL="342900" indent="-342900" algn="l">
              <a:buFont typeface="Arial" panose="020B0604020202020204" pitchFamily="34" charset="0"/>
              <a:buChar char="•"/>
            </a:pPr>
            <a:r>
              <a:rPr lang="ru-RU" dirty="0">
                <a:solidFill>
                  <a:srgbClr val="000000"/>
                </a:solidFill>
              </a:rPr>
              <a:t>Что делает коммутатор, если исходный MAC-адрес не указан в таблице MAC-адресов коммутатора.</a:t>
            </a:r>
          </a:p>
        </p:txBody>
      </p:sp>
    </p:spTree>
    <p:extLst>
      <p:ext uri="{BB962C8B-B14F-4D97-AF65-F5344CB8AC3E}">
        <p14:creationId xmlns:p14="http://schemas.microsoft.com/office/powerpoint/2010/main" val="4389013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986196"/>
          </a:xfrm>
        </p:spPr>
        <p:txBody>
          <a:bodyPr/>
          <a:lstStyle/>
          <a:p>
            <a:pPr rtl="0"/>
            <a:r>
              <a:rPr lang="ru-RU" sz="1600" dirty="0"/>
              <a:t>Таблица MAC-адресов </a:t>
            </a:r>
            <a:br>
              <a:rPr lang="en-US" dirty="0"/>
            </a:br>
            <a:r>
              <a:rPr lang="ru-RU" sz="2400" dirty="0"/>
              <a:t>Лабораторная работа. Просмотр таблицы MAC-адресов коммутатора</a:t>
            </a:r>
          </a:p>
        </p:txBody>
      </p:sp>
      <p:sp>
        <p:nvSpPr>
          <p:cNvPr id="4" name="Content Placeholder 3">
            <a:extLst>
              <a:ext uri="{FF2B5EF4-FFF2-40B4-BE49-F238E27FC236}">
                <a16:creationId xmlns:a16="http://schemas.microsoft.com/office/drawing/2014/main" id="{1F3CA7BB-7E7C-7149-9859-4AA0DDEC8CC4}"/>
              </a:ext>
            </a:extLst>
          </p:cNvPr>
          <p:cNvSpPr>
            <a:spLocks noGrp="1"/>
          </p:cNvSpPr>
          <p:nvPr>
            <p:ph idx="1"/>
          </p:nvPr>
        </p:nvSpPr>
        <p:spPr>
          <a:xfrm>
            <a:off x="431971" y="1319752"/>
            <a:ext cx="8280057" cy="2707345"/>
          </a:xfrm>
        </p:spPr>
        <p:txBody>
          <a:bodyPr/>
          <a:lstStyle/>
          <a:p>
            <a:pPr algn="l" rtl="0"/>
            <a:r>
              <a:rPr lang="ru-RU" dirty="0">
                <a:solidFill>
                  <a:srgbClr val="000000"/>
                </a:solidFill>
              </a:rPr>
              <a:t>В этой лабораторной работе вы выполните следующие задачи.</a:t>
            </a:r>
          </a:p>
          <a:p>
            <a:pPr marL="342900" indent="-342900" algn="l" rtl="0">
              <a:buFont typeface="Arial" panose="020B0604020202020204" pitchFamily="34" charset="0"/>
              <a:buChar char="•"/>
            </a:pPr>
            <a:r>
              <a:rPr lang="ru-RU" dirty="0">
                <a:solidFill>
                  <a:srgbClr val="000000"/>
                </a:solidFill>
              </a:rPr>
              <a:t>Часть 1. Создание и настройка сети</a:t>
            </a:r>
          </a:p>
          <a:p>
            <a:pPr marL="342900" indent="-342900" algn="l" rtl="0">
              <a:buFont typeface="Arial" panose="020B0604020202020204" pitchFamily="34" charset="0"/>
              <a:buChar char="•"/>
            </a:pPr>
            <a:r>
              <a:rPr lang="ru-RU" dirty="0">
                <a:solidFill>
                  <a:srgbClr val="000000"/>
                </a:solidFill>
              </a:rPr>
              <a:t>Часть 2. Изучение таблицы МАС-адресов коммутатора</a:t>
            </a:r>
          </a:p>
          <a:p>
            <a:pPr algn="l"/>
            <a:endParaRPr lang="en-US" dirty="0">
              <a:solidFill>
                <a:srgbClr val="000000"/>
              </a:solidFill>
            </a:endParaRPr>
          </a:p>
        </p:txBody>
      </p:sp>
    </p:spTree>
    <p:extLst>
      <p:ext uri="{BB962C8B-B14F-4D97-AF65-F5344CB8AC3E}">
        <p14:creationId xmlns:p14="http://schemas.microsoft.com/office/powerpoint/2010/main" val="18635022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pPr rtl="0"/>
            <a:r>
              <a:rPr lang="ru-RU">
                <a:solidFill>
                  <a:schemeClr val="accent5">
                    <a:lumMod val="40000"/>
                    <a:lumOff val="60000"/>
                  </a:schemeClr>
                </a:solidFill>
              </a:rPr>
              <a:t>7.4 Скорость и способы пересылки на коммутаторах</a:t>
            </a:r>
          </a:p>
        </p:txBody>
      </p:sp>
    </p:spTree>
    <p:custDataLst>
      <p:tags r:id="rId1"/>
    </p:custDataLst>
    <p:extLst>
      <p:ext uri="{BB962C8B-B14F-4D97-AF65-F5344CB8AC3E}">
        <p14:creationId xmlns:p14="http://schemas.microsoft.com/office/powerpoint/2010/main" val="2518598079"/>
      </p:ext>
    </p:extLst>
  </p:cSld>
  <p:clrMapOvr>
    <a:masterClrMapping/>
  </p:clrMapOvr>
  <p:transition spd="slow">
    <p:wip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pPr rtl="0"/>
            <a:r>
              <a:rPr lang="ru-RU" sz="1600" dirty="0"/>
              <a:t>Способы переадресации на коммутаторах</a:t>
            </a:r>
            <a:br>
              <a:rPr lang="en-US" dirty="0"/>
            </a:br>
            <a:r>
              <a:rPr lang="ru-RU" sz="2400" dirty="0"/>
              <a:t>Способы переадресации кадров на коммутаторах </a:t>
            </a:r>
            <a:r>
              <a:rPr lang="ru-RU" sz="2400" dirty="0" err="1"/>
              <a:t>Cisco</a:t>
            </a:r>
            <a:endParaRPr lang="ru-RU" sz="2400" dirty="0"/>
          </a:p>
        </p:txBody>
      </p:sp>
      <p:sp>
        <p:nvSpPr>
          <p:cNvPr id="4" name="Content Placeholder 3">
            <a:extLst>
              <a:ext uri="{FF2B5EF4-FFF2-40B4-BE49-F238E27FC236}">
                <a16:creationId xmlns:a16="http://schemas.microsoft.com/office/drawing/2014/main" id="{1F3CA7BB-7E7C-7149-9859-4AA0DDEC8CC4}"/>
              </a:ext>
            </a:extLst>
          </p:cNvPr>
          <p:cNvSpPr>
            <a:spLocks noGrp="1"/>
          </p:cNvSpPr>
          <p:nvPr>
            <p:ph idx="1"/>
          </p:nvPr>
        </p:nvSpPr>
        <p:spPr>
          <a:xfrm>
            <a:off x="-1" y="763736"/>
            <a:ext cx="9144001" cy="3657998"/>
          </a:xfrm>
        </p:spPr>
        <p:txBody>
          <a:bodyPr/>
          <a:lstStyle/>
          <a:p>
            <a:pPr marL="0" indent="0" algn="l" rtl="0"/>
            <a:r>
              <a:rPr lang="ru-RU" sz="1500" dirty="0">
                <a:solidFill>
                  <a:srgbClr val="000000"/>
                </a:solidFill>
              </a:rPr>
              <a:t>Коммутаторы используют один из двух способов пересылки для коммутации данных между сетевыми портами:</a:t>
            </a:r>
          </a:p>
          <a:p>
            <a:pPr marL="285750" indent="-285750" algn="l" rtl="0">
              <a:buFont typeface="Arial" panose="020B0604020202020204" pitchFamily="34" charset="0"/>
              <a:buChar char="•"/>
            </a:pPr>
            <a:r>
              <a:rPr lang="ru-RU" sz="1500" b="1" dirty="0">
                <a:solidFill>
                  <a:srgbClr val="000000"/>
                </a:solidFill>
              </a:rPr>
              <a:t>Коммутация с промежуточным хранением  </a:t>
            </a:r>
            <a:r>
              <a:rPr lang="ru-RU" sz="1500" dirty="0">
                <a:solidFill>
                  <a:srgbClr val="000000"/>
                </a:solidFill>
              </a:rPr>
              <a:t>- В этом методе пересылки кадров коммутатор получает кадр целиком и вычисляет циклический избыточный кода (CRC). Если значение CRC допустимо, коммутатор ищет адрес назначения, который определяет выходной интерфейс. Затем кадр перенаправляется к правильному порту.</a:t>
            </a:r>
          </a:p>
          <a:p>
            <a:pPr marL="285750" indent="-285750" algn="l" rtl="0">
              <a:buFont typeface="Arial" panose="020B0604020202020204" pitchFamily="34" charset="0"/>
              <a:buChar char="•"/>
            </a:pPr>
            <a:r>
              <a:rPr lang="ru-RU" sz="1500" b="1" dirty="0">
                <a:solidFill>
                  <a:srgbClr val="000000"/>
                </a:solidFill>
              </a:rPr>
              <a:t>Коммутация со сквозной пересылкой  </a:t>
            </a:r>
            <a:r>
              <a:rPr lang="ru-RU" sz="1500" dirty="0">
                <a:solidFill>
                  <a:srgbClr val="000000"/>
                </a:solidFill>
              </a:rPr>
              <a:t>- В этом режиме коммутатор пересылает данный кадр до его полного получения. Рекомендуется указать адрес назначения кадра в начале, прежде чем кадр может быть переадресован.</a:t>
            </a:r>
          </a:p>
          <a:p>
            <a:pPr marL="285750" indent="-285750" algn="l" rtl="0">
              <a:buFont typeface="Arial" panose="020B0604020202020204" pitchFamily="34" charset="0"/>
              <a:buChar char="•"/>
            </a:pPr>
            <a:r>
              <a:rPr lang="ru-RU" sz="1500" dirty="0">
                <a:solidFill>
                  <a:srgbClr val="000000"/>
                </a:solidFill>
              </a:rPr>
              <a:t>Большим преимуществом коммутации с промежуточным хранением является то, что он определяет, есть ли у кадра ошибки перед распространением кадра. Если же в кадре обнаружена ошибка, коммутатор отклонит его. Отклонение кадров с ошибками позволяет уменьшить ширину полосы пропускания, потребляемую поврежденными данными. </a:t>
            </a:r>
          </a:p>
          <a:p>
            <a:pPr marL="285750" indent="-285750" algn="l" rtl="0">
              <a:buFont typeface="Arial" panose="020B0604020202020204" pitchFamily="34" charset="0"/>
              <a:buChar char="•"/>
            </a:pPr>
            <a:r>
              <a:rPr lang="ru-RU" sz="1500" dirty="0">
                <a:solidFill>
                  <a:srgbClr val="000000"/>
                </a:solidFill>
              </a:rPr>
              <a:t>Коммутация с промежуточным хранением необходима для анализа качества обслуживания (</a:t>
            </a:r>
            <a:r>
              <a:rPr lang="ru-RU" sz="1500" dirty="0" err="1">
                <a:solidFill>
                  <a:srgbClr val="000000"/>
                </a:solidFill>
              </a:rPr>
              <a:t>QoS</a:t>
            </a:r>
            <a:r>
              <a:rPr lang="ru-RU" sz="1500" dirty="0">
                <a:solidFill>
                  <a:srgbClr val="000000"/>
                </a:solidFill>
              </a:rPr>
              <a:t>) в </a:t>
            </a:r>
            <a:r>
              <a:rPr lang="ru-RU" sz="1500" dirty="0" err="1">
                <a:solidFill>
                  <a:srgbClr val="000000"/>
                </a:solidFill>
              </a:rPr>
              <a:t>конвергированных</a:t>
            </a:r>
            <a:r>
              <a:rPr lang="ru-RU" sz="1500" dirty="0">
                <a:solidFill>
                  <a:srgbClr val="000000"/>
                </a:solidFill>
              </a:rPr>
              <a:t> сетях, в которых требуется классификация кадра для назначения приоритетов проходящего трафика. Например, при передаче речи по IP потоки данных должны иметь больший приоритет, чем трафик, используемый для просмотра веб-страниц.</a:t>
            </a:r>
          </a:p>
          <a:p>
            <a:pPr marL="285750" indent="-285750" algn="l">
              <a:buFont typeface="Arial" panose="020B0604020202020204" pitchFamily="34" charset="0"/>
              <a:buChar char="•"/>
            </a:pPr>
            <a:endParaRPr lang="en-US" sz="1400" dirty="0">
              <a:solidFill>
                <a:srgbClr val="000000"/>
              </a:solidFill>
            </a:endParaRPr>
          </a:p>
        </p:txBody>
      </p:sp>
    </p:spTree>
    <p:extLst>
      <p:ext uri="{BB962C8B-B14F-4D97-AF65-F5344CB8AC3E}">
        <p14:creationId xmlns:p14="http://schemas.microsoft.com/office/powerpoint/2010/main" val="6476214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pPr rtl="0"/>
            <a:r>
              <a:rPr lang="ru-RU" sz="1600"/>
              <a:t>Способы переадресации на коммутаторах </a:t>
            </a:r>
            <a:br>
              <a:rPr lang="en-US" dirty="0"/>
            </a:br>
            <a:r>
              <a:rPr lang="ru-RU" sz="2400"/>
              <a:t>Сквозная коммутация</a:t>
            </a:r>
          </a:p>
        </p:txBody>
      </p:sp>
      <p:sp>
        <p:nvSpPr>
          <p:cNvPr id="4" name="Content Placeholder 3">
            <a:extLst>
              <a:ext uri="{FF2B5EF4-FFF2-40B4-BE49-F238E27FC236}">
                <a16:creationId xmlns:a16="http://schemas.microsoft.com/office/drawing/2014/main" id="{1F3CA7BB-7E7C-7149-9859-4AA0DDEC8CC4}"/>
              </a:ext>
            </a:extLst>
          </p:cNvPr>
          <p:cNvSpPr>
            <a:spLocks noGrp="1"/>
          </p:cNvSpPr>
          <p:nvPr>
            <p:ph idx="1"/>
          </p:nvPr>
        </p:nvSpPr>
        <p:spPr>
          <a:xfrm>
            <a:off x="113121" y="763736"/>
            <a:ext cx="9030879" cy="3657998"/>
          </a:xfrm>
        </p:spPr>
        <p:txBody>
          <a:bodyPr/>
          <a:lstStyle/>
          <a:p>
            <a:pPr marL="0" indent="0" algn="l" rtl="0"/>
            <a:r>
              <a:rPr lang="ru-RU" sz="1600" dirty="0">
                <a:solidFill>
                  <a:srgbClr val="000000"/>
                </a:solidFill>
              </a:rPr>
              <a:t>При использовании сквозной коммутации коммутатор обрабатывает данные по мере их поступления даже в том случае, если передача еще не завершена. Коммутатор добавляет в буфер только ту часть кадра, которая требуется для чтения MAC-адреса назначения, чтобы он смог определить, на какой порт пересылать данные. Коммутатор не проверяет кадр на наличие каких-либо ошибок.</a:t>
            </a:r>
          </a:p>
          <a:p>
            <a:pPr marL="0" indent="0" algn="l" rtl="0"/>
            <a:r>
              <a:rPr lang="ru-RU" sz="1600" dirty="0">
                <a:solidFill>
                  <a:srgbClr val="000000"/>
                </a:solidFill>
              </a:rPr>
              <a:t>Существуют два варианта сквозной коммутации.</a:t>
            </a:r>
          </a:p>
          <a:p>
            <a:pPr lvl="1" rtl="0">
              <a:buFont typeface="Arial" panose="020B0604020202020204" pitchFamily="34" charset="0"/>
              <a:buChar char="•"/>
            </a:pPr>
            <a:r>
              <a:rPr lang="ru-RU" sz="1500" b="1" dirty="0">
                <a:solidFill>
                  <a:srgbClr val="000000"/>
                </a:solidFill>
              </a:rPr>
              <a:t>Коммутация с быстрой пересылкой -</a:t>
            </a:r>
            <a:r>
              <a:rPr lang="ru-RU" sz="1500" dirty="0">
                <a:solidFill>
                  <a:srgbClr val="000000"/>
                </a:solidFill>
              </a:rPr>
              <a:t> При такой коммутации пакет пересылается сразу же после чтения адреса назначения, с минимальным уровнем задержки Поскольку при коммутации с быстрой пересылкой переадресация начинается до получения всего кадра целиком, могут возникнуть случаи, когда пакеты передаются с ошибками. При получении конечный сетевой адаптер отбрасывает неисправный пакет. Коммутация с быстрой пересылкой является типичным способом сквозной коммутации.</a:t>
            </a:r>
          </a:p>
          <a:p>
            <a:pPr lvl="1" rtl="0">
              <a:buFont typeface="Arial" panose="020B0604020202020204" pitchFamily="34" charset="0"/>
              <a:buChar char="•"/>
            </a:pPr>
            <a:r>
              <a:rPr lang="ru-RU" sz="1500" b="1" dirty="0">
                <a:solidFill>
                  <a:srgbClr val="000000"/>
                </a:solidFill>
              </a:rPr>
              <a:t>Коммутация с исключением фрагментов</a:t>
            </a:r>
            <a:r>
              <a:rPr lang="ru-RU" sz="1500" dirty="0">
                <a:solidFill>
                  <a:srgbClr val="000000"/>
                </a:solidFill>
              </a:rPr>
              <a:t>  представляет собой компромисс между большой задержкой с высокой целостностью (коммутация с промежуточным хранением) и малой задержкой с меньшей целостностью (коммутация с быстрой пересылкой), коммутатор сохраняет и выполняет проверку ошибок на первых 64 байтах кадра перед пересылкой. Поскольку большинство сетевых ошибок и конфликтов происходят в течение первых 64 байт, это гарантирует, что столкновение не произошло перед переадресацией кадра. </a:t>
            </a:r>
          </a:p>
        </p:txBody>
      </p:sp>
    </p:spTree>
    <p:extLst>
      <p:ext uri="{BB962C8B-B14F-4D97-AF65-F5344CB8AC3E}">
        <p14:creationId xmlns:p14="http://schemas.microsoft.com/office/powerpoint/2010/main" val="4342107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pPr rtl="0"/>
            <a:r>
              <a:rPr lang="ru-RU" sz="1600"/>
              <a:t>Способы переадресации на коммутаторах </a:t>
            </a:r>
            <a:br>
              <a:rPr lang="en-US" dirty="0"/>
            </a:br>
            <a:r>
              <a:rPr lang="ru-RU" sz="2400"/>
              <a:t>Буферизация памяти на коммутаторах</a:t>
            </a:r>
          </a:p>
        </p:txBody>
      </p:sp>
      <p:sp>
        <p:nvSpPr>
          <p:cNvPr id="4" name="Content Placeholder 3">
            <a:extLst>
              <a:ext uri="{FF2B5EF4-FFF2-40B4-BE49-F238E27FC236}">
                <a16:creationId xmlns:a16="http://schemas.microsoft.com/office/drawing/2014/main" id="{1F3CA7BB-7E7C-7149-9859-4AA0DDEC8CC4}"/>
              </a:ext>
            </a:extLst>
          </p:cNvPr>
          <p:cNvSpPr>
            <a:spLocks noGrp="1"/>
          </p:cNvSpPr>
          <p:nvPr>
            <p:ph idx="1"/>
          </p:nvPr>
        </p:nvSpPr>
        <p:spPr>
          <a:xfrm>
            <a:off x="0" y="763736"/>
            <a:ext cx="9040305" cy="500519"/>
          </a:xfrm>
        </p:spPr>
        <p:txBody>
          <a:bodyPr/>
          <a:lstStyle/>
          <a:p>
            <a:pPr marL="0" indent="0" algn="l" rtl="0"/>
            <a:r>
              <a:rPr lang="ru-RU" sz="1400" dirty="0">
                <a:solidFill>
                  <a:srgbClr val="000000"/>
                </a:solidFill>
              </a:rPr>
              <a:t>Коммутатор </a:t>
            </a:r>
            <a:r>
              <a:rPr lang="ru-RU" sz="1400" dirty="0" err="1">
                <a:solidFill>
                  <a:srgbClr val="000000"/>
                </a:solidFill>
              </a:rPr>
              <a:t>Ethernet</a:t>
            </a:r>
            <a:r>
              <a:rPr lang="ru-RU" sz="1400" dirty="0">
                <a:solidFill>
                  <a:srgbClr val="000000"/>
                </a:solidFill>
              </a:rPr>
              <a:t> может использовать метод буферизации памяти для хранения кадров до их пересылки или когда порт назначения занят из-за перегрузки. </a:t>
            </a:r>
          </a:p>
          <a:p>
            <a:pPr marL="285750" indent="-285750" algn="l">
              <a:buFont typeface="Arial" panose="020B0604020202020204" pitchFamily="34" charset="0"/>
              <a:buChar char="•"/>
            </a:pPr>
            <a:endParaRPr lang="en-US" sz="1400" dirty="0">
              <a:solidFill>
                <a:srgbClr val="000000"/>
              </a:solidFill>
            </a:endParaRPr>
          </a:p>
          <a:p>
            <a:pPr marL="285750" indent="-285750" algn="l">
              <a:buFont typeface="Arial" panose="020B0604020202020204" pitchFamily="34" charset="0"/>
              <a:buChar char="•"/>
            </a:pPr>
            <a:endParaRPr lang="en-US" sz="1400" dirty="0">
              <a:solidFill>
                <a:srgbClr val="000000"/>
              </a:solidFill>
            </a:endParaRPr>
          </a:p>
          <a:p>
            <a:pPr marL="285750" indent="-285750" algn="l">
              <a:buFont typeface="Arial" panose="020B0604020202020204" pitchFamily="34" charset="0"/>
              <a:buChar char="•"/>
            </a:pPr>
            <a:endParaRPr lang="en-US" sz="1400" dirty="0">
              <a:solidFill>
                <a:srgbClr val="000000"/>
              </a:solidFill>
            </a:endParaRPr>
          </a:p>
          <a:p>
            <a:pPr marL="285750" indent="-285750" algn="l">
              <a:buFont typeface="Arial" panose="020B0604020202020204" pitchFamily="34" charset="0"/>
              <a:buChar char="•"/>
            </a:pPr>
            <a:endParaRPr lang="en-US" sz="1400" dirty="0">
              <a:solidFill>
                <a:srgbClr val="000000"/>
              </a:solidFill>
            </a:endParaRPr>
          </a:p>
          <a:p>
            <a:pPr marL="285750" indent="-285750" algn="l">
              <a:buFont typeface="Arial" panose="020B0604020202020204" pitchFamily="34" charset="0"/>
              <a:buChar char="•"/>
            </a:pPr>
            <a:endParaRPr lang="en-US" sz="1400" dirty="0">
              <a:solidFill>
                <a:srgbClr val="000000"/>
              </a:solidFill>
            </a:endParaRPr>
          </a:p>
          <a:p>
            <a:pPr marL="285750" indent="-285750" algn="l">
              <a:buFont typeface="Arial" panose="020B0604020202020204" pitchFamily="34" charset="0"/>
              <a:buChar char="•"/>
            </a:pPr>
            <a:endParaRPr lang="en-US" sz="1400" dirty="0">
              <a:solidFill>
                <a:srgbClr val="000000"/>
              </a:solidFill>
            </a:endParaRPr>
          </a:p>
          <a:p>
            <a:pPr marL="285750" indent="-285750" algn="l">
              <a:buFont typeface="Arial" panose="020B0604020202020204" pitchFamily="34" charset="0"/>
              <a:buChar char="•"/>
            </a:pPr>
            <a:endParaRPr lang="en-US" sz="1400" dirty="0">
              <a:solidFill>
                <a:srgbClr val="000000"/>
              </a:solidFill>
            </a:endParaRPr>
          </a:p>
          <a:p>
            <a:pPr marL="285750" indent="-285750" algn="l">
              <a:buFont typeface="Arial" panose="020B0604020202020204" pitchFamily="34" charset="0"/>
              <a:buChar char="•"/>
            </a:pPr>
            <a:endParaRPr lang="en-US" sz="1400" dirty="0">
              <a:solidFill>
                <a:srgbClr val="000000"/>
              </a:solidFill>
            </a:endParaRPr>
          </a:p>
          <a:p>
            <a:pPr marL="285750" indent="-285750" algn="l">
              <a:buFont typeface="Arial" panose="020B0604020202020204" pitchFamily="34" charset="0"/>
              <a:buChar char="•"/>
            </a:pPr>
            <a:endParaRPr lang="en-US" sz="1400" dirty="0">
              <a:solidFill>
                <a:srgbClr val="000000"/>
              </a:solidFill>
            </a:endParaRPr>
          </a:p>
          <a:p>
            <a:pPr marL="285750" indent="-285750" algn="l">
              <a:buFont typeface="Arial" panose="020B0604020202020204" pitchFamily="34" charset="0"/>
              <a:buChar char="•"/>
            </a:pPr>
            <a:endParaRPr lang="en-US" sz="1400" dirty="0">
              <a:solidFill>
                <a:srgbClr val="000000"/>
              </a:solidFill>
            </a:endParaRPr>
          </a:p>
          <a:p>
            <a:pPr marL="285750" indent="-285750" algn="l">
              <a:buFont typeface="Arial" panose="020B0604020202020204" pitchFamily="34" charset="0"/>
              <a:buChar char="•"/>
            </a:pPr>
            <a:endParaRPr lang="en-US" sz="1400" dirty="0">
              <a:solidFill>
                <a:srgbClr val="000000"/>
              </a:solidFill>
            </a:endParaRPr>
          </a:p>
          <a:p>
            <a:pPr marL="285750" indent="-285750" algn="l" rtl="0">
              <a:buFont typeface="Arial" panose="020B0604020202020204" pitchFamily="34" charset="0"/>
              <a:buChar char="•"/>
            </a:pPr>
            <a:r>
              <a:rPr lang="ru-RU" sz="1400" dirty="0">
                <a:solidFill>
                  <a:srgbClr val="000000"/>
                </a:solidFill>
              </a:rPr>
              <a:t>Буферизация общей памяти также приводит к увеличению числа кадров, которые могут быть переданы с меньшим количеством отброшенных кадров. Это важно при асимметричной коммутации, которая допускает разные скорости передачи данных на разных портах. Следовательно, для определенных портов может быть выделена большая полоса пропускания (например, порт сервера).</a:t>
            </a:r>
          </a:p>
        </p:txBody>
      </p:sp>
      <p:graphicFrame>
        <p:nvGraphicFramePr>
          <p:cNvPr id="2" name="Table 1">
            <a:extLst>
              <a:ext uri="{FF2B5EF4-FFF2-40B4-BE49-F238E27FC236}">
                <a16:creationId xmlns:a16="http://schemas.microsoft.com/office/drawing/2014/main" id="{0138F2A8-C500-184D-877E-6BADCD4F07C5}"/>
              </a:ext>
            </a:extLst>
          </p:cNvPr>
          <p:cNvGraphicFramePr>
            <a:graphicFrameLocks noGrp="1"/>
          </p:cNvGraphicFramePr>
          <p:nvPr>
            <p:extLst>
              <p:ext uri="{D42A27DB-BD31-4B8C-83A1-F6EECF244321}">
                <p14:modId xmlns:p14="http://schemas.microsoft.com/office/powerpoint/2010/main" val="3031662999"/>
              </p:ext>
            </p:extLst>
          </p:nvPr>
        </p:nvGraphicFramePr>
        <p:xfrm>
          <a:off x="403222" y="1372213"/>
          <a:ext cx="8439119" cy="2637990"/>
        </p:xfrm>
        <a:graphic>
          <a:graphicData uri="http://schemas.openxmlformats.org/drawingml/2006/table">
            <a:tbl>
              <a:tblPr firstRow="1" bandRow="1">
                <a:tableStyleId>{5C22544A-7EE6-4342-B048-85BDC9FD1C3A}</a:tableStyleId>
              </a:tblPr>
              <a:tblGrid>
                <a:gridCol w="1387871">
                  <a:extLst>
                    <a:ext uri="{9D8B030D-6E8A-4147-A177-3AD203B41FA5}">
                      <a16:colId xmlns:a16="http://schemas.microsoft.com/office/drawing/2014/main" val="2223784943"/>
                    </a:ext>
                  </a:extLst>
                </a:gridCol>
                <a:gridCol w="7051248">
                  <a:extLst>
                    <a:ext uri="{9D8B030D-6E8A-4147-A177-3AD203B41FA5}">
                      <a16:colId xmlns:a16="http://schemas.microsoft.com/office/drawing/2014/main" val="80051659"/>
                    </a:ext>
                  </a:extLst>
                </a:gridCol>
              </a:tblGrid>
              <a:tr h="299491">
                <a:tc>
                  <a:txBody>
                    <a:bodyPr/>
                    <a:lstStyle/>
                    <a:p>
                      <a:pPr algn="l" rtl="0" fontAlgn="ctr"/>
                      <a:r>
                        <a:rPr lang="ru-RU" sz="1200">
                          <a:effectLst/>
                        </a:rPr>
                        <a:t>Метод</a:t>
                      </a:r>
                    </a:p>
                  </a:txBody>
                  <a:tcPr marL="47625" marR="47625" marT="47625" marB="47625" anchor="ctr"/>
                </a:tc>
                <a:tc>
                  <a:txBody>
                    <a:bodyPr/>
                    <a:lstStyle/>
                    <a:p>
                      <a:pPr algn="l" rtl="0" fontAlgn="ctr"/>
                      <a:r>
                        <a:rPr lang="ru-RU" sz="1200" dirty="0">
                          <a:effectLst/>
                        </a:rPr>
                        <a:t>Описание</a:t>
                      </a:r>
                    </a:p>
                  </a:txBody>
                  <a:tcPr marL="47625" marR="47625" marT="47625" marB="47625" anchor="ctr"/>
                </a:tc>
                <a:extLst>
                  <a:ext uri="{0D108BD9-81ED-4DB2-BD59-A6C34878D82A}">
                    <a16:rowId xmlns:a16="http://schemas.microsoft.com/office/drawing/2014/main" val="902563454"/>
                  </a:ext>
                </a:extLst>
              </a:tr>
              <a:tr h="1258477">
                <a:tc>
                  <a:txBody>
                    <a:bodyPr/>
                    <a:lstStyle/>
                    <a:p>
                      <a:pPr rtl="0" fontAlgn="ctr"/>
                      <a:r>
                        <a:rPr lang="ru-RU" sz="1200" b="1">
                          <a:effectLst/>
                        </a:rPr>
                        <a:t>Буферизация памяти на основе портов</a:t>
                      </a:r>
                    </a:p>
                  </a:txBody>
                  <a:tcPr marL="47625" marR="47625" marT="47625" marB="47625" anchor="ctr"/>
                </a:tc>
                <a:tc>
                  <a:txBody>
                    <a:bodyPr/>
                    <a:lstStyle/>
                    <a:p>
                      <a:pPr rtl="0" fontAlgn="ctr">
                        <a:buFont typeface="Arial" panose="020B0604020202020204" pitchFamily="34" charset="0"/>
                        <a:buChar char="•"/>
                      </a:pPr>
                      <a:r>
                        <a:rPr lang="ru-RU" sz="1200" b="0" dirty="0">
                          <a:effectLst/>
                        </a:rPr>
                        <a:t>Кадры хранятся в очередях, связанных с определенными входящими и исходящими портами.</a:t>
                      </a:r>
                    </a:p>
                    <a:p>
                      <a:pPr rtl="0" fontAlgn="ctr">
                        <a:buFont typeface="Arial" panose="020B0604020202020204" pitchFamily="34" charset="0"/>
                        <a:buChar char="•"/>
                      </a:pPr>
                      <a:r>
                        <a:rPr lang="ru-RU" sz="1200" b="0" dirty="0">
                          <a:effectLst/>
                        </a:rPr>
                        <a:t>Кадр пересылается на исходящий порт только в том случае, если все кадры, находящиеся в очереди перед ним, были успешно отправлены.</a:t>
                      </a:r>
                    </a:p>
                    <a:p>
                      <a:pPr rtl="0" fontAlgn="ctr">
                        <a:buFont typeface="Arial" panose="020B0604020202020204" pitchFamily="34" charset="0"/>
                        <a:buChar char="•"/>
                      </a:pPr>
                      <a:r>
                        <a:rPr lang="ru-RU" sz="1200" b="0" dirty="0">
                          <a:effectLst/>
                        </a:rPr>
                        <a:t>Один кадр может стать причиной задержки передачи всех кадров в памяти из-за занятости порта назначения.</a:t>
                      </a:r>
                    </a:p>
                    <a:p>
                      <a:pPr rtl="0" fontAlgn="ctr">
                        <a:buFont typeface="Arial" panose="020B0604020202020204" pitchFamily="34" charset="0"/>
                        <a:buChar char="•"/>
                      </a:pPr>
                      <a:r>
                        <a:rPr lang="ru-RU" sz="1200" b="0" dirty="0">
                          <a:effectLst/>
                        </a:rPr>
                        <a:t>Такая задержка возникает и в том случае, если другие кадры можно передать на открытые порты назначения.</a:t>
                      </a:r>
                    </a:p>
                  </a:txBody>
                  <a:tcPr marL="47625" marR="47625" marT="47625" marB="47625" anchor="ctr"/>
                </a:tc>
                <a:extLst>
                  <a:ext uri="{0D108BD9-81ED-4DB2-BD59-A6C34878D82A}">
                    <a16:rowId xmlns:a16="http://schemas.microsoft.com/office/drawing/2014/main" val="4000291324"/>
                  </a:ext>
                </a:extLst>
              </a:tr>
              <a:tr h="963089">
                <a:tc>
                  <a:txBody>
                    <a:bodyPr/>
                    <a:lstStyle/>
                    <a:p>
                      <a:pPr rtl="0" fontAlgn="ctr"/>
                      <a:r>
                        <a:rPr lang="ru-RU" sz="1200" b="1" dirty="0">
                          <a:effectLst/>
                        </a:rPr>
                        <a:t>Буферизация совместно используемой памяти</a:t>
                      </a:r>
                    </a:p>
                  </a:txBody>
                  <a:tcPr marL="47625" marR="47625" marT="47625" marB="47625" anchor="ctr"/>
                </a:tc>
                <a:tc>
                  <a:txBody>
                    <a:bodyPr/>
                    <a:lstStyle/>
                    <a:p>
                      <a:pPr rtl="0" fontAlgn="ctr">
                        <a:buFont typeface="Arial" panose="020B0604020202020204" pitchFamily="34" charset="0"/>
                        <a:buChar char="•"/>
                      </a:pPr>
                      <a:r>
                        <a:rPr lang="ru-RU" sz="1200" b="0" dirty="0">
                          <a:effectLst/>
                        </a:rPr>
                        <a:t>Помещает все кадры в общий буфер памяти, совместно используемый всеми портами коммутатора, и объем буферной памяти, требуемой для порта, распределяется динамически.</a:t>
                      </a:r>
                    </a:p>
                    <a:p>
                      <a:pPr rtl="0" fontAlgn="ctr">
                        <a:buFont typeface="Arial" panose="020B0604020202020204" pitchFamily="34" charset="0"/>
                        <a:buChar char="•"/>
                      </a:pPr>
                      <a:r>
                        <a:rPr lang="ru-RU" sz="1200" b="0" dirty="0">
                          <a:effectLst/>
                        </a:rPr>
                        <a:t>Кадры в буфере динамически связаны с портом назначения, что позволяет принимать пакет на одном порту и затем передавать на другой порт, не перемещая его в другую очередь.</a:t>
                      </a:r>
                    </a:p>
                  </a:txBody>
                  <a:tcPr marL="47625" marR="47625" marT="47625" marB="47625" anchor="ctr"/>
                </a:tc>
                <a:extLst>
                  <a:ext uri="{0D108BD9-81ED-4DB2-BD59-A6C34878D82A}">
                    <a16:rowId xmlns:a16="http://schemas.microsoft.com/office/drawing/2014/main" val="4232877066"/>
                  </a:ext>
                </a:extLst>
              </a:tr>
            </a:tbl>
          </a:graphicData>
        </a:graphic>
      </p:graphicFrame>
    </p:spTree>
    <p:extLst>
      <p:ext uri="{BB962C8B-B14F-4D97-AF65-F5344CB8AC3E}">
        <p14:creationId xmlns:p14="http://schemas.microsoft.com/office/powerpoint/2010/main" val="29889654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pPr rtl="0"/>
            <a:r>
              <a:rPr lang="ru-RU" sz="1600"/>
              <a:t>Скорость и способы пересылки на коммутаторах </a:t>
            </a:r>
            <a:br>
              <a:rPr lang="en-US" dirty="0"/>
            </a:br>
            <a:r>
              <a:rPr lang="ru-RU" sz="2400"/>
              <a:t>Настройка дуплексного режима и скорости</a:t>
            </a:r>
          </a:p>
        </p:txBody>
      </p:sp>
      <p:sp>
        <p:nvSpPr>
          <p:cNvPr id="4" name="Content Placeholder 3">
            <a:extLst>
              <a:ext uri="{FF2B5EF4-FFF2-40B4-BE49-F238E27FC236}">
                <a16:creationId xmlns:a16="http://schemas.microsoft.com/office/drawing/2014/main" id="{1F3CA7BB-7E7C-7149-9859-4AA0DDEC8CC4}"/>
              </a:ext>
            </a:extLst>
          </p:cNvPr>
          <p:cNvSpPr>
            <a:spLocks noGrp="1"/>
          </p:cNvSpPr>
          <p:nvPr>
            <p:ph idx="1"/>
          </p:nvPr>
        </p:nvSpPr>
        <p:spPr>
          <a:xfrm>
            <a:off x="75414" y="763736"/>
            <a:ext cx="9068586" cy="3657998"/>
          </a:xfrm>
        </p:spPr>
        <p:txBody>
          <a:bodyPr/>
          <a:lstStyle/>
          <a:p>
            <a:pPr marL="0" indent="0" algn="l" rtl="0"/>
            <a:r>
              <a:rPr lang="ru-RU" sz="1600" dirty="0">
                <a:solidFill>
                  <a:srgbClr val="000000"/>
                </a:solidFill>
              </a:rPr>
              <a:t>К двум базовым параметрам коммутатора относятся пропускная способность (</a:t>
            </a:r>
            <a:r>
              <a:rPr lang="ru-RU" sz="1600" dirty="0" err="1">
                <a:solidFill>
                  <a:srgbClr val="000000"/>
                </a:solidFill>
              </a:rPr>
              <a:t>bandwidth</a:t>
            </a:r>
            <a:r>
              <a:rPr lang="ru-RU" sz="1600" dirty="0">
                <a:solidFill>
                  <a:srgbClr val="000000"/>
                </a:solidFill>
              </a:rPr>
              <a:t>) и дуплексный режим, которые задаются для каждого отдельного порта коммутатора. Важно, чтобы настройки дуплексного режима и пропускной способности порта коммутатора и подключенных устройств.</a:t>
            </a:r>
          </a:p>
          <a:p>
            <a:pPr marL="0" indent="0" algn="l"/>
            <a:endParaRPr lang="en-US" sz="1600" dirty="0">
              <a:solidFill>
                <a:srgbClr val="000000"/>
              </a:solidFill>
            </a:endParaRPr>
          </a:p>
          <a:p>
            <a:pPr marL="0" indent="0" algn="l" rtl="0"/>
            <a:r>
              <a:rPr lang="ru-RU" sz="1600" dirty="0">
                <a:solidFill>
                  <a:srgbClr val="000000"/>
                </a:solidFill>
              </a:rPr>
              <a:t>Для обмена данными в сетях </a:t>
            </a:r>
            <a:r>
              <a:rPr lang="ru-RU" sz="1600" dirty="0" err="1">
                <a:solidFill>
                  <a:srgbClr val="000000"/>
                </a:solidFill>
              </a:rPr>
              <a:t>Ethernet</a:t>
            </a:r>
            <a:r>
              <a:rPr lang="ru-RU" sz="1600" dirty="0">
                <a:solidFill>
                  <a:srgbClr val="000000"/>
                </a:solidFill>
              </a:rPr>
              <a:t> используются два типа настроек дуплексного режима.</a:t>
            </a:r>
          </a:p>
          <a:p>
            <a:pPr marL="358835" lvl="1" indent="-285750" rtl="0">
              <a:buFont typeface="Arial" panose="020B0604020202020204" pitchFamily="34" charset="0"/>
              <a:buChar char="•"/>
            </a:pPr>
            <a:r>
              <a:rPr lang="ru-RU" sz="1600" b="1" dirty="0">
                <a:solidFill>
                  <a:srgbClr val="000000"/>
                </a:solidFill>
              </a:rPr>
              <a:t>Полнодуплексный режим:</a:t>
            </a:r>
            <a:r>
              <a:rPr lang="ru-RU" sz="1600" dirty="0">
                <a:solidFill>
                  <a:srgbClr val="000000"/>
                </a:solidFill>
              </a:rPr>
              <a:t>  одновременная отправка и получение данных в обе стороны.</a:t>
            </a:r>
          </a:p>
          <a:p>
            <a:pPr marL="358835" lvl="1" indent="-285750" rtl="0">
              <a:buFont typeface="Arial" panose="020B0604020202020204" pitchFamily="34" charset="0"/>
              <a:buChar char="•"/>
            </a:pPr>
            <a:r>
              <a:rPr lang="ru-RU" sz="1600" b="1" dirty="0">
                <a:solidFill>
                  <a:srgbClr val="000000"/>
                </a:solidFill>
              </a:rPr>
              <a:t>Полудуплексный режим:</a:t>
            </a:r>
            <a:r>
              <a:rPr lang="ru-RU" sz="1600" dirty="0">
                <a:solidFill>
                  <a:srgbClr val="000000"/>
                </a:solidFill>
              </a:rPr>
              <a:t>  отправка данных только одной стороной.</a:t>
            </a:r>
          </a:p>
          <a:p>
            <a:pPr marL="0" indent="0" algn="l"/>
            <a:endParaRPr lang="en-US" sz="1600" dirty="0">
              <a:solidFill>
                <a:srgbClr val="000000"/>
              </a:solidFill>
            </a:endParaRPr>
          </a:p>
          <a:p>
            <a:pPr marL="0" indent="0" algn="l" rtl="0"/>
            <a:r>
              <a:rPr lang="ru-RU" sz="1600" dirty="0" err="1">
                <a:solidFill>
                  <a:srgbClr val="000000"/>
                </a:solidFill>
              </a:rPr>
              <a:t>Автоопределение</a:t>
            </a:r>
            <a:r>
              <a:rPr lang="ru-RU" sz="1600" dirty="0">
                <a:solidFill>
                  <a:srgbClr val="000000"/>
                </a:solidFill>
              </a:rPr>
              <a:t> — это дополнительная функция, которой оснащено большинство коммутаторов и сетевых плат </a:t>
            </a:r>
            <a:r>
              <a:rPr lang="ru-RU" sz="1600" dirty="0" err="1">
                <a:solidFill>
                  <a:srgbClr val="000000"/>
                </a:solidFill>
              </a:rPr>
              <a:t>Ethernet</a:t>
            </a:r>
            <a:r>
              <a:rPr lang="ru-RU" sz="1600" dirty="0">
                <a:solidFill>
                  <a:srgbClr val="000000"/>
                </a:solidFill>
              </a:rPr>
              <a:t>. </a:t>
            </a:r>
            <a:r>
              <a:rPr lang="ru-RU" sz="1600" dirty="0" err="1">
                <a:solidFill>
                  <a:srgbClr val="000000"/>
                </a:solidFill>
              </a:rPr>
              <a:t>Автоопределение</a:t>
            </a:r>
            <a:r>
              <a:rPr lang="ru-RU" sz="1600" dirty="0">
                <a:solidFill>
                  <a:srgbClr val="000000"/>
                </a:solidFill>
              </a:rPr>
              <a:t> позволяет двум устройствам автоматически обмениваться информацией о скорости и возможностях дуплексного режима.</a:t>
            </a:r>
            <a:endParaRPr lang="en-US" sz="1600" b="1" dirty="0">
              <a:solidFill>
                <a:srgbClr val="000000"/>
              </a:solidFill>
            </a:endParaRPr>
          </a:p>
          <a:p>
            <a:pPr marL="0" indent="0" algn="l" rtl="0"/>
            <a:r>
              <a:rPr lang="ru-RU" sz="1600" b="1" dirty="0">
                <a:solidFill>
                  <a:srgbClr val="000000"/>
                </a:solidFill>
              </a:rPr>
              <a:t>Примечание. </a:t>
            </a:r>
            <a:r>
              <a:rPr lang="ru-RU" sz="1600" dirty="0">
                <a:solidFill>
                  <a:srgbClr val="000000"/>
                </a:solidFill>
              </a:rPr>
              <a:t>Порты </a:t>
            </a:r>
            <a:r>
              <a:rPr lang="ru-RU" sz="1600" dirty="0" err="1">
                <a:solidFill>
                  <a:srgbClr val="000000"/>
                </a:solidFill>
              </a:rPr>
              <a:t>Gigabit</a:t>
            </a:r>
            <a:r>
              <a:rPr lang="ru-RU" sz="1600" dirty="0">
                <a:solidFill>
                  <a:srgbClr val="000000"/>
                </a:solidFill>
              </a:rPr>
              <a:t> </a:t>
            </a:r>
            <a:r>
              <a:rPr lang="ru-RU" sz="1600" dirty="0" err="1">
                <a:solidFill>
                  <a:srgbClr val="000000"/>
                </a:solidFill>
              </a:rPr>
              <a:t>Ethernet</a:t>
            </a:r>
            <a:r>
              <a:rPr lang="ru-RU" sz="1600" dirty="0">
                <a:solidFill>
                  <a:srgbClr val="000000"/>
                </a:solidFill>
              </a:rPr>
              <a:t> работают только в полнодуплексном режиме.</a:t>
            </a:r>
            <a:r>
              <a:rPr lang="ru-RU" sz="1600" b="1" dirty="0">
                <a:solidFill>
                  <a:srgbClr val="000000"/>
                </a:solidFill>
              </a:rPr>
              <a:t> </a:t>
            </a:r>
          </a:p>
        </p:txBody>
      </p:sp>
    </p:spTree>
    <p:extLst>
      <p:ext uri="{BB962C8B-B14F-4D97-AF65-F5344CB8AC3E}">
        <p14:creationId xmlns:p14="http://schemas.microsoft.com/office/powerpoint/2010/main" val="40554031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pPr rtl="0"/>
            <a:r>
              <a:rPr lang="ru-RU" sz="1600"/>
              <a:t>Скорость и способы пересылки на коммутаторах </a:t>
            </a:r>
            <a:br>
              <a:rPr lang="en-US" dirty="0"/>
            </a:br>
            <a:r>
              <a:rPr lang="ru-RU" sz="2400"/>
              <a:t>Настройка дуплексного режима и скорости</a:t>
            </a:r>
          </a:p>
        </p:txBody>
      </p:sp>
      <p:sp>
        <p:nvSpPr>
          <p:cNvPr id="5" name="Content Placeholder 4">
            <a:extLst>
              <a:ext uri="{FF2B5EF4-FFF2-40B4-BE49-F238E27FC236}">
                <a16:creationId xmlns:a16="http://schemas.microsoft.com/office/drawing/2014/main" id="{EAF5B935-3345-4044-9B1C-FFAA3841A95F}"/>
              </a:ext>
            </a:extLst>
          </p:cNvPr>
          <p:cNvSpPr>
            <a:spLocks noGrp="1"/>
          </p:cNvSpPr>
          <p:nvPr>
            <p:ph idx="1"/>
          </p:nvPr>
        </p:nvSpPr>
        <p:spPr>
          <a:xfrm>
            <a:off x="0" y="763736"/>
            <a:ext cx="9068586" cy="2140258"/>
          </a:xfrm>
        </p:spPr>
        <p:txBody>
          <a:bodyPr/>
          <a:lstStyle/>
          <a:p>
            <a:pPr marL="342900" indent="-342900" algn="l" rtl="0">
              <a:buFont typeface="Arial" panose="020B0604020202020204" pitchFamily="34" charset="0"/>
              <a:buChar char="•"/>
            </a:pPr>
            <a:r>
              <a:rPr lang="ru-RU" sz="1600" dirty="0">
                <a:solidFill>
                  <a:srgbClr val="000000"/>
                </a:solidFill>
              </a:rPr>
              <a:t>Несоответствие дуплексных режимов является наиболее распространенной причиной снижения производительности каналов </a:t>
            </a:r>
            <a:r>
              <a:rPr lang="ru-RU" sz="1600" dirty="0" err="1">
                <a:solidFill>
                  <a:srgbClr val="000000"/>
                </a:solidFill>
              </a:rPr>
              <a:t>Ethernet</a:t>
            </a:r>
            <a:r>
              <a:rPr lang="ru-RU" sz="1600" dirty="0">
                <a:solidFill>
                  <a:srgbClr val="000000"/>
                </a:solidFill>
              </a:rPr>
              <a:t>. Это происходит, когда один порт канала работает в полудуплексном режиме, а другой — в полнодуплексном.</a:t>
            </a:r>
          </a:p>
          <a:p>
            <a:pPr marL="342900" indent="-342900" algn="l" rtl="0">
              <a:buFont typeface="Arial" panose="020B0604020202020204" pitchFamily="34" charset="0"/>
              <a:buChar char="•"/>
            </a:pPr>
            <a:r>
              <a:rPr lang="ru-RU" sz="1600" dirty="0">
                <a:solidFill>
                  <a:srgbClr val="000000"/>
                </a:solidFill>
              </a:rPr>
              <a:t>Это происходит при сбросе одного или обоих портов канала, в результате чего </a:t>
            </a:r>
            <a:r>
              <a:rPr lang="ru-RU" sz="1600" dirty="0" err="1">
                <a:solidFill>
                  <a:srgbClr val="000000"/>
                </a:solidFill>
              </a:rPr>
              <a:t>автоопределение</a:t>
            </a:r>
            <a:r>
              <a:rPr lang="ru-RU" sz="1600" dirty="0">
                <a:solidFill>
                  <a:srgbClr val="000000"/>
                </a:solidFill>
              </a:rPr>
              <a:t> не приводит к одинаковой конфигурации обоих устройств связи. </a:t>
            </a:r>
          </a:p>
          <a:p>
            <a:pPr marL="342900" indent="-342900" algn="l" rtl="0">
              <a:buFont typeface="Arial" panose="020B0604020202020204" pitchFamily="34" charset="0"/>
              <a:buChar char="•"/>
            </a:pPr>
            <a:r>
              <a:rPr lang="ru-RU" sz="1600" dirty="0">
                <a:solidFill>
                  <a:srgbClr val="000000"/>
                </a:solidFill>
              </a:rPr>
              <a:t>Это также может произойти тогда, когда пользователи меняют конфигурацию на одной стороне канала и забывают про другую. </a:t>
            </a:r>
            <a:r>
              <a:rPr lang="ru-RU" sz="1600" dirty="0" err="1">
                <a:solidFill>
                  <a:srgbClr val="000000"/>
                </a:solidFill>
              </a:rPr>
              <a:t>Автоопределение</a:t>
            </a:r>
            <a:r>
              <a:rPr lang="ru-RU" sz="1600" dirty="0">
                <a:solidFill>
                  <a:srgbClr val="000000"/>
                </a:solidFill>
              </a:rPr>
              <a:t> должно быть включено либо отключено на обеих сторонах канала. Рекомендуется настроить оба порта коммутатора </a:t>
            </a:r>
            <a:r>
              <a:rPr lang="ru-RU" sz="1600" dirty="0" err="1">
                <a:solidFill>
                  <a:srgbClr val="000000"/>
                </a:solidFill>
              </a:rPr>
              <a:t>Ethernet</a:t>
            </a:r>
            <a:r>
              <a:rPr lang="ru-RU" sz="1600" dirty="0">
                <a:solidFill>
                  <a:srgbClr val="000000"/>
                </a:solidFill>
              </a:rPr>
              <a:t> в полнодуплексный режим.</a:t>
            </a:r>
          </a:p>
        </p:txBody>
      </p:sp>
      <p:pic>
        <p:nvPicPr>
          <p:cNvPr id="7" name="Picture 6">
            <a:extLst>
              <a:ext uri="{FF2B5EF4-FFF2-40B4-BE49-F238E27FC236}">
                <a16:creationId xmlns:a16="http://schemas.microsoft.com/office/drawing/2014/main" id="{E391F5F5-84B2-074A-ADD6-27895E0506BE}"/>
              </a:ext>
            </a:extLst>
          </p:cNvPr>
          <p:cNvPicPr>
            <a:picLocks noChangeAspect="1"/>
          </p:cNvPicPr>
          <p:nvPr/>
        </p:nvPicPr>
        <p:blipFill>
          <a:blip r:embed="rId3"/>
          <a:stretch>
            <a:fillRect/>
          </a:stretch>
        </p:blipFill>
        <p:spPr>
          <a:xfrm>
            <a:off x="1399240" y="3126784"/>
            <a:ext cx="6722591" cy="1694312"/>
          </a:xfrm>
          <a:prstGeom prst="rect">
            <a:avLst/>
          </a:prstGeom>
        </p:spPr>
      </p:pic>
    </p:spTree>
    <p:extLst>
      <p:ext uri="{BB962C8B-B14F-4D97-AF65-F5344CB8AC3E}">
        <p14:creationId xmlns:p14="http://schemas.microsoft.com/office/powerpoint/2010/main" val="38332029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pPr rtl="0"/>
            <a:r>
              <a:rPr lang="ru-RU" sz="1600"/>
              <a:t>Способы переадресации на коммутаторах</a:t>
            </a:r>
            <a:br>
              <a:rPr lang="en-US" dirty="0"/>
            </a:br>
            <a:r>
              <a:rPr lang="ru-RU" sz="2400"/>
              <a:t> Функция </a:t>
            </a:r>
            <a:r>
              <a:rPr lang="ru-RU" sz="1600"/>
              <a:t>Auto-MDIX</a:t>
            </a:r>
          </a:p>
        </p:txBody>
      </p:sp>
      <p:sp>
        <p:nvSpPr>
          <p:cNvPr id="4" name="Content Placeholder 3">
            <a:extLst>
              <a:ext uri="{FF2B5EF4-FFF2-40B4-BE49-F238E27FC236}">
                <a16:creationId xmlns:a16="http://schemas.microsoft.com/office/drawing/2014/main" id="{1F3CA7BB-7E7C-7149-9859-4AA0DDEC8CC4}"/>
              </a:ext>
            </a:extLst>
          </p:cNvPr>
          <p:cNvSpPr>
            <a:spLocks noGrp="1"/>
          </p:cNvSpPr>
          <p:nvPr>
            <p:ph idx="1"/>
          </p:nvPr>
        </p:nvSpPr>
        <p:spPr>
          <a:xfrm>
            <a:off x="131976" y="763736"/>
            <a:ext cx="8870622" cy="3657998"/>
          </a:xfrm>
        </p:spPr>
        <p:txBody>
          <a:bodyPr/>
          <a:lstStyle/>
          <a:p>
            <a:pPr marL="0" indent="0" algn="l" rtl="0"/>
            <a:r>
              <a:rPr lang="ru-RU" sz="1600" dirty="0">
                <a:solidFill>
                  <a:srgbClr val="000000"/>
                </a:solidFill>
              </a:rPr>
              <a:t>Для соединений между устройствами когда-то требовалось использование либо перекрестного, либо прямого кабеля. Тип необходимого кабеля зависит от типа соединительных устройств.</a:t>
            </a:r>
          </a:p>
          <a:p>
            <a:pPr marL="0" indent="0" algn="l" rtl="0"/>
            <a:r>
              <a:rPr lang="ru-RU" sz="1600" dirty="0">
                <a:solidFill>
                  <a:srgbClr val="000000"/>
                </a:solidFill>
              </a:rPr>
              <a:t>Примечание. Прямое соединение между маршрутизатором и хостом требует перекрестного подключения. </a:t>
            </a:r>
            <a:endParaRPr lang="en-US" sz="1600" dirty="0">
              <a:solidFill>
                <a:srgbClr val="000000"/>
              </a:solidFill>
            </a:endParaRPr>
          </a:p>
          <a:p>
            <a:pPr marL="285750" indent="-285750" algn="l" rtl="0">
              <a:buFont typeface="Arial" panose="020B0604020202020204" pitchFamily="34" charset="0"/>
              <a:buChar char="•"/>
            </a:pPr>
            <a:r>
              <a:rPr lang="ru-RU" sz="1600" dirty="0">
                <a:solidFill>
                  <a:srgbClr val="000000"/>
                </a:solidFill>
              </a:rPr>
              <a:t>Теперь большинство устройств поддерживают функцию автоматического определения перекрещивания пар на зависящем от среды передачи интерфейсе (</a:t>
            </a:r>
            <a:r>
              <a:rPr lang="ru-RU" sz="1600" dirty="0" err="1">
                <a:solidFill>
                  <a:srgbClr val="000000"/>
                </a:solidFill>
              </a:rPr>
              <a:t>Auto</a:t>
            </a:r>
            <a:r>
              <a:rPr lang="ru-RU" sz="1600" dirty="0">
                <a:solidFill>
                  <a:srgbClr val="000000"/>
                </a:solidFill>
              </a:rPr>
              <a:t>-MDIX). Если функция </a:t>
            </a:r>
            <a:r>
              <a:rPr lang="ru-RU" sz="1600" dirty="0" err="1">
                <a:solidFill>
                  <a:srgbClr val="000000"/>
                </a:solidFill>
              </a:rPr>
              <a:t>Auto</a:t>
            </a:r>
            <a:r>
              <a:rPr lang="ru-RU" sz="1600" dirty="0">
                <a:solidFill>
                  <a:srgbClr val="000000"/>
                </a:solidFill>
              </a:rPr>
              <a:t>-MDIX включена, коммутатор определяет необходимый тип кабеля, подключенного к порту, и настраивает интерфейс соответствующим образом. </a:t>
            </a:r>
          </a:p>
          <a:p>
            <a:pPr marL="285750" indent="-285750" algn="l" rtl="0">
              <a:buFont typeface="Arial" panose="020B0604020202020204" pitchFamily="34" charset="0"/>
              <a:buChar char="•"/>
            </a:pPr>
            <a:r>
              <a:rPr lang="ru-RU" sz="1600" dirty="0">
                <a:solidFill>
                  <a:srgbClr val="000000"/>
                </a:solidFill>
              </a:rPr>
              <a:t>Функция </a:t>
            </a:r>
            <a:r>
              <a:rPr lang="ru-RU" sz="1600" dirty="0" err="1">
                <a:solidFill>
                  <a:srgbClr val="000000"/>
                </a:solidFill>
              </a:rPr>
              <a:t>Auto</a:t>
            </a:r>
            <a:r>
              <a:rPr lang="ru-RU" sz="1600" dirty="0">
                <a:solidFill>
                  <a:srgbClr val="000000"/>
                </a:solidFill>
              </a:rPr>
              <a:t>-MDIX включена по умолчанию на коммутаторах с операционной системой </a:t>
            </a:r>
            <a:r>
              <a:rPr lang="ru-RU" sz="1600" dirty="0" err="1">
                <a:solidFill>
                  <a:srgbClr val="000000"/>
                </a:solidFill>
              </a:rPr>
              <a:t>Cisco</a:t>
            </a:r>
            <a:r>
              <a:rPr lang="ru-RU" sz="1600" dirty="0">
                <a:solidFill>
                  <a:srgbClr val="000000"/>
                </a:solidFill>
              </a:rPr>
              <a:t> IOS 12.2 (18) SE или более поздней версии. Однако эта функция может быть отключена. По этой причине всегда следует использовать правильный тип кабеля и не полагаться на функцию автоматического MDIX. </a:t>
            </a:r>
          </a:p>
          <a:p>
            <a:pPr marL="285750" indent="-285750" algn="l" rtl="0">
              <a:buFont typeface="Arial" panose="020B0604020202020204" pitchFamily="34" charset="0"/>
              <a:buChar char="•"/>
            </a:pPr>
            <a:r>
              <a:rPr lang="ru-RU" sz="1600" dirty="0">
                <a:solidFill>
                  <a:srgbClr val="000000"/>
                </a:solidFill>
              </a:rPr>
              <a:t>Функция </a:t>
            </a:r>
            <a:r>
              <a:rPr lang="ru-RU" sz="1600" dirty="0" err="1">
                <a:solidFill>
                  <a:srgbClr val="000000"/>
                </a:solidFill>
              </a:rPr>
              <a:t>Auto</a:t>
            </a:r>
            <a:r>
              <a:rPr lang="ru-RU" sz="1600" dirty="0">
                <a:solidFill>
                  <a:srgbClr val="000000"/>
                </a:solidFill>
              </a:rPr>
              <a:t>-MDIX может быть повторно включена с помощью команды конфигурации интерфейса </a:t>
            </a:r>
            <a:r>
              <a:rPr lang="ru-RU" sz="1600" b="1" dirty="0" err="1">
                <a:solidFill>
                  <a:srgbClr val="000000"/>
                </a:solidFill>
              </a:rPr>
              <a:t>mdix</a:t>
            </a:r>
            <a:r>
              <a:rPr lang="ru-RU" sz="1600" b="1" dirty="0">
                <a:solidFill>
                  <a:srgbClr val="000000"/>
                </a:solidFill>
              </a:rPr>
              <a:t> </a:t>
            </a:r>
            <a:r>
              <a:rPr lang="ru-RU" sz="1600" b="1" dirty="0" err="1">
                <a:solidFill>
                  <a:srgbClr val="000000"/>
                </a:solidFill>
              </a:rPr>
              <a:t>auto</a:t>
            </a:r>
            <a:endParaRPr lang="ru-RU" sz="1600" b="1" dirty="0">
              <a:solidFill>
                <a:srgbClr val="000000"/>
              </a:solidFill>
            </a:endParaRPr>
          </a:p>
          <a:p>
            <a:pPr marL="285750" indent="-28575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10765376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47520"/>
            <a:ext cx="8280314" cy="970280"/>
          </a:xfrm>
        </p:spPr>
        <p:txBody>
          <a:bodyPr/>
          <a:lstStyle/>
          <a:p>
            <a:pPr rtl="0"/>
            <a:r>
              <a:rPr lang="ru-RU">
                <a:solidFill>
                  <a:schemeClr val="accent5">
                    <a:lumMod val="40000"/>
                    <a:lumOff val="60000"/>
                  </a:schemeClr>
                </a:solidFill>
              </a:rPr>
              <a:t>7.5 Практика и контрольная работа модуля</a:t>
            </a:r>
          </a:p>
        </p:txBody>
      </p:sp>
    </p:spTree>
    <p:custDataLst>
      <p:tags r:id="rId1"/>
    </p:custDataLst>
    <p:extLst>
      <p:ext uri="{BB962C8B-B14F-4D97-AF65-F5344CB8AC3E}">
        <p14:creationId xmlns:p14="http://schemas.microsoft.com/office/powerpoint/2010/main" val="410599242"/>
      </p:ext>
    </p:extLst>
  </p:cSld>
  <p:clrMapOvr>
    <a:masterClrMapping/>
  </p:clrMapOvr>
  <p:transition spd="slow">
    <p:wip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pPr rtl="0"/>
            <a:r>
              <a:rPr lang="ru-RU" sz="1600">
                <a:latin typeface="Arial" charset="0"/>
              </a:rPr>
              <a:t>Практика и контрольная работа модуля </a:t>
            </a:r>
            <a:br>
              <a:rPr lang="en-US" dirty="0">
                <a:latin typeface="Arial" charset="0"/>
              </a:rPr>
            </a:br>
            <a:r>
              <a:rPr lang="ru-RU">
                <a:latin typeface="Arial" charset="0"/>
              </a:rPr>
              <a:t>Что я изучил в этом модуле?</a:t>
            </a:r>
          </a:p>
        </p:txBody>
      </p:sp>
      <p:sp>
        <p:nvSpPr>
          <p:cNvPr id="3" name="Content Placeholder 2">
            <a:extLst>
              <a:ext uri="{FF2B5EF4-FFF2-40B4-BE49-F238E27FC236}">
                <a16:creationId xmlns:a16="http://schemas.microsoft.com/office/drawing/2014/main" id="{D93A55FA-1939-6742-B7CE-57C0035303DD}"/>
              </a:ext>
            </a:extLst>
          </p:cNvPr>
          <p:cNvSpPr>
            <a:spLocks noGrp="1"/>
          </p:cNvSpPr>
          <p:nvPr>
            <p:ph idx="1"/>
          </p:nvPr>
        </p:nvSpPr>
        <p:spPr/>
        <p:txBody>
          <a:bodyPr/>
          <a:lstStyle/>
          <a:p>
            <a:pPr rtl="0">
              <a:spcBef>
                <a:spcPts val="0"/>
              </a:spcBef>
              <a:spcAft>
                <a:spcPts val="0"/>
              </a:spcAft>
              <a:buFont typeface="Arial" panose="020B0604020202020204" pitchFamily="34" charset="0"/>
              <a:buChar char="•"/>
            </a:pPr>
            <a:r>
              <a:rPr lang="ru-RU" sz="1600" dirty="0" err="1"/>
              <a:t>Ethernet</a:t>
            </a:r>
            <a:r>
              <a:rPr lang="ru-RU" sz="1600" dirty="0"/>
              <a:t> функционирует на канальном и физическом уровнях. Стандарты </a:t>
            </a:r>
            <a:r>
              <a:rPr lang="ru-RU" sz="1600" dirty="0" err="1"/>
              <a:t>Ethernet</a:t>
            </a:r>
            <a:r>
              <a:rPr lang="ru-RU" sz="1600" dirty="0"/>
              <a:t> регламентируют как протоколы уровня 2, так и технологии уровня 1. </a:t>
            </a:r>
          </a:p>
          <a:p>
            <a:pPr rtl="0">
              <a:spcBef>
                <a:spcPts val="0"/>
              </a:spcBef>
              <a:spcAft>
                <a:spcPts val="0"/>
              </a:spcAft>
              <a:buFont typeface="Arial" panose="020B0604020202020204" pitchFamily="34" charset="0"/>
              <a:buChar char="•"/>
            </a:pPr>
            <a:r>
              <a:rPr lang="ru-RU" sz="1600" dirty="0" err="1"/>
              <a:t>Ethernet</a:t>
            </a:r>
            <a:r>
              <a:rPr lang="ru-RU" sz="1600" dirty="0"/>
              <a:t> использует подуровни LLC и MAC канального уровня для работы. </a:t>
            </a:r>
          </a:p>
          <a:p>
            <a:pPr rtl="0">
              <a:spcBef>
                <a:spcPts val="0"/>
              </a:spcBef>
              <a:spcAft>
                <a:spcPts val="0"/>
              </a:spcAft>
              <a:buFont typeface="Arial" panose="020B0604020202020204" pitchFamily="34" charset="0"/>
              <a:buChar char="•"/>
            </a:pPr>
            <a:r>
              <a:rPr lang="ru-RU" sz="1600" dirty="0"/>
              <a:t>Поля кадра </a:t>
            </a:r>
            <a:r>
              <a:rPr lang="ru-RU" sz="1600" dirty="0" err="1"/>
              <a:t>Ethernet</a:t>
            </a:r>
            <a:r>
              <a:rPr lang="ru-RU" sz="1600" dirty="0"/>
              <a:t>: преамбула и начальный разделитель кадра, MAC-адрес назначения, MAC-адрес источника, </a:t>
            </a:r>
            <a:r>
              <a:rPr lang="ru-RU" sz="1600" dirty="0" err="1"/>
              <a:t>EtherType</a:t>
            </a:r>
            <a:r>
              <a:rPr lang="ru-RU" sz="1600" dirty="0"/>
              <a:t>, данные и FCS.</a:t>
            </a:r>
          </a:p>
          <a:p>
            <a:pPr rtl="0">
              <a:spcBef>
                <a:spcPts val="0"/>
              </a:spcBef>
              <a:spcAft>
                <a:spcPts val="0"/>
              </a:spcAft>
              <a:buFont typeface="Arial" panose="020B0604020202020204" pitchFamily="34" charset="0"/>
              <a:buChar char="•"/>
            </a:pPr>
            <a:r>
              <a:rPr lang="ru-RU" sz="1600" dirty="0"/>
              <a:t>MAC-адресация предоставляет метод идентификации устройств на более низком уровне модели OSI. </a:t>
            </a:r>
          </a:p>
          <a:p>
            <a:pPr rtl="0">
              <a:spcBef>
                <a:spcPts val="0"/>
              </a:spcBef>
              <a:spcAft>
                <a:spcPts val="0"/>
              </a:spcAft>
              <a:buFont typeface="Arial" panose="020B0604020202020204" pitchFamily="34" charset="0"/>
              <a:buChar char="•"/>
            </a:pPr>
            <a:r>
              <a:rPr lang="ru-RU" sz="1600" dirty="0"/>
              <a:t>MAC-адрес </a:t>
            </a:r>
            <a:r>
              <a:rPr lang="ru-RU" sz="1600" dirty="0" err="1"/>
              <a:t>Ethernet</a:t>
            </a:r>
            <a:r>
              <a:rPr lang="ru-RU" sz="1600" dirty="0"/>
              <a:t> — это 48-битный адрес, выраженный с использованием 12 шестнадцатеричных цифр. </a:t>
            </a:r>
          </a:p>
          <a:p>
            <a:pPr rtl="0">
              <a:spcBef>
                <a:spcPts val="0"/>
              </a:spcBef>
              <a:spcAft>
                <a:spcPts val="0"/>
              </a:spcAft>
              <a:buFont typeface="Arial" panose="020B0604020202020204" pitchFamily="34" charset="0"/>
              <a:buChar char="•"/>
            </a:pPr>
            <a:r>
              <a:rPr lang="ru-RU" sz="1600" dirty="0"/>
              <a:t>Когда устройство пересылает сообщение в сеть </a:t>
            </a:r>
            <a:r>
              <a:rPr lang="ru-RU" sz="1600" dirty="0" err="1"/>
              <a:t>Ethernet</a:t>
            </a:r>
            <a:r>
              <a:rPr lang="ru-RU" sz="1600" dirty="0"/>
              <a:t>, заголовок </a:t>
            </a:r>
            <a:r>
              <a:rPr lang="ru-RU" sz="1600" dirty="0" err="1"/>
              <a:t>Ethernet</a:t>
            </a:r>
            <a:r>
              <a:rPr lang="ru-RU" sz="1600" dirty="0"/>
              <a:t> включает MAC-адреса источника и назначения. В сети </a:t>
            </a:r>
            <a:r>
              <a:rPr lang="ru-RU" sz="1600" dirty="0" err="1"/>
              <a:t>Ethernet</a:t>
            </a:r>
            <a:r>
              <a:rPr lang="ru-RU" sz="1600" dirty="0"/>
              <a:t> для одноадресной, многоадресной и широковещательной рассылки уровня 2 используются разные MAC-адреса.</a:t>
            </a:r>
          </a:p>
        </p:txBody>
      </p:sp>
    </p:spTree>
    <p:custDataLst>
      <p:tags r:id="rId1"/>
    </p:custDataLst>
    <p:extLst>
      <p:ext uri="{BB962C8B-B14F-4D97-AF65-F5344CB8AC3E}">
        <p14:creationId xmlns:p14="http://schemas.microsoft.com/office/powerpoint/2010/main" val="2548999575"/>
      </p:ext>
    </p:extLst>
  </p:cSld>
  <p:clrMapOvr>
    <a:masterClrMapping/>
  </p:clrMapOvr>
  <p:transition spd="slow">
    <p:wip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pPr rtl="0"/>
            <a:r>
              <a:rPr lang="ru-RU" sz="1600">
                <a:latin typeface="Arial" charset="0"/>
              </a:rPr>
              <a:t>Практика и контрольная работа модуля </a:t>
            </a:r>
            <a:br>
              <a:rPr lang="en-US" dirty="0">
                <a:latin typeface="Arial" charset="0"/>
              </a:rPr>
            </a:br>
            <a:r>
              <a:rPr lang="ru-RU">
                <a:latin typeface="Arial" charset="0"/>
              </a:rPr>
              <a:t> Что я изучил в этом модуле? (продолжение)</a:t>
            </a:r>
          </a:p>
        </p:txBody>
      </p:sp>
      <p:sp>
        <p:nvSpPr>
          <p:cNvPr id="3" name="Content Placeholder 2">
            <a:extLst>
              <a:ext uri="{FF2B5EF4-FFF2-40B4-BE49-F238E27FC236}">
                <a16:creationId xmlns:a16="http://schemas.microsoft.com/office/drawing/2014/main" id="{D93A55FA-1939-6742-B7CE-57C0035303DD}"/>
              </a:ext>
            </a:extLst>
          </p:cNvPr>
          <p:cNvSpPr>
            <a:spLocks noGrp="1"/>
          </p:cNvSpPr>
          <p:nvPr>
            <p:ph idx="1"/>
          </p:nvPr>
        </p:nvSpPr>
        <p:spPr/>
        <p:txBody>
          <a:bodyPr/>
          <a:lstStyle/>
          <a:p>
            <a:pPr rtl="0">
              <a:spcBef>
                <a:spcPts val="0"/>
              </a:spcBef>
              <a:spcAft>
                <a:spcPts val="0"/>
              </a:spcAft>
              <a:buFont typeface="Arial" panose="020B0604020202020204" pitchFamily="34" charset="0"/>
              <a:buChar char="•"/>
            </a:pPr>
            <a:r>
              <a:rPr lang="ru-RU" sz="1600" dirty="0" err="1"/>
              <a:t>Ethernet</a:t>
            </a:r>
            <a:r>
              <a:rPr lang="ru-RU" sz="1600" dirty="0"/>
              <a:t>-коммутатор уровня 2 пересылает пакеты только на основе MAC-адресов </a:t>
            </a:r>
            <a:r>
              <a:rPr lang="ru-RU" sz="1600" dirty="0" err="1"/>
              <a:t>Ethernet</a:t>
            </a:r>
            <a:r>
              <a:rPr lang="ru-RU" sz="1600" dirty="0"/>
              <a:t> уровня 2. </a:t>
            </a:r>
          </a:p>
          <a:p>
            <a:pPr rtl="0">
              <a:spcBef>
                <a:spcPts val="0"/>
              </a:spcBef>
              <a:spcAft>
                <a:spcPts val="0"/>
              </a:spcAft>
              <a:buFont typeface="Arial" panose="020B0604020202020204" pitchFamily="34" charset="0"/>
              <a:buChar char="•"/>
            </a:pPr>
            <a:r>
              <a:rPr lang="ru-RU" sz="1600" dirty="0"/>
              <a:t>Коммутатор создает таблицу MAC-адресов динамически, проверяя MAC-адрес источника в кадрах, принимаемых портом. </a:t>
            </a:r>
          </a:p>
          <a:p>
            <a:pPr rtl="0">
              <a:spcBef>
                <a:spcPts val="0"/>
              </a:spcBef>
              <a:spcAft>
                <a:spcPts val="0"/>
              </a:spcAft>
              <a:buFont typeface="Arial" panose="020B0604020202020204" pitchFamily="34" charset="0"/>
              <a:buChar char="•"/>
            </a:pPr>
            <a:r>
              <a:rPr lang="ru-RU" sz="1600" dirty="0"/>
              <a:t>Он пересылает кадры на основе совпадения между MAC-адресом назначения в кадре и записью в таблице MAC-адресов. </a:t>
            </a:r>
          </a:p>
          <a:p>
            <a:pPr rtl="0">
              <a:spcBef>
                <a:spcPts val="0"/>
              </a:spcBef>
              <a:spcAft>
                <a:spcPts val="0"/>
              </a:spcAft>
              <a:buFont typeface="Arial" panose="020B0604020202020204" pitchFamily="34" charset="0"/>
              <a:buChar char="•"/>
            </a:pPr>
            <a:r>
              <a:rPr lang="ru-RU" sz="1600" dirty="0"/>
              <a:t>Коммутаторы используют один из следующих методов пересылки для переключения данных между сетевыми портами: коммутация с сохранением и пересылкой или сквозная коммутация. Сквозная коммутация бывает двух типов: быстрая пересылка и коммутация с исключением фрагментов. </a:t>
            </a:r>
          </a:p>
          <a:p>
            <a:pPr rtl="0">
              <a:spcBef>
                <a:spcPts val="0"/>
              </a:spcBef>
              <a:spcAft>
                <a:spcPts val="0"/>
              </a:spcAft>
              <a:buFont typeface="Arial" panose="020B0604020202020204" pitchFamily="34" charset="0"/>
              <a:buChar char="•"/>
            </a:pPr>
            <a:r>
              <a:rPr lang="ru-RU" sz="1600" dirty="0"/>
              <a:t>Два метода буферизации памяти - память на основе портов и общая память. </a:t>
            </a:r>
          </a:p>
          <a:p>
            <a:pPr rtl="0">
              <a:spcBef>
                <a:spcPts val="0"/>
              </a:spcBef>
              <a:spcAft>
                <a:spcPts val="0"/>
              </a:spcAft>
              <a:buFont typeface="Arial" panose="020B0604020202020204" pitchFamily="34" charset="0"/>
              <a:buChar char="•"/>
            </a:pPr>
            <a:r>
              <a:rPr lang="ru-RU" sz="1600" dirty="0"/>
              <a:t>Для обмена данными в сетях </a:t>
            </a:r>
            <a:r>
              <a:rPr lang="ru-RU" sz="1600" dirty="0" err="1"/>
              <a:t>Ethernet</a:t>
            </a:r>
            <a:r>
              <a:rPr lang="ru-RU" sz="1600" dirty="0"/>
              <a:t> используются два типа настроек дуплексного режима: полудуплексный и полнодуплексный. </a:t>
            </a:r>
          </a:p>
        </p:txBody>
      </p:sp>
    </p:spTree>
    <p:custDataLst>
      <p:tags r:id="rId1"/>
    </p:custDataLst>
    <p:extLst>
      <p:ext uri="{BB962C8B-B14F-4D97-AF65-F5344CB8AC3E}">
        <p14:creationId xmlns:p14="http://schemas.microsoft.com/office/powerpoint/2010/main" val="168620875"/>
      </p:ext>
    </p:extLst>
  </p:cSld>
  <p:clrMapOvr>
    <a:masterClrMapping/>
  </p:clrMapOvr>
  <p:transition spd="slow">
    <p:wip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Rectangle 2"/>
          <p:cNvSpPr>
            <a:spLocks noGrp="1" noChangeArrowheads="1"/>
          </p:cNvSpPr>
          <p:nvPr>
            <p:ph type="title"/>
          </p:nvPr>
        </p:nvSpPr>
        <p:spPr>
          <a:xfrm>
            <a:off x="1" y="41394"/>
            <a:ext cx="9144000" cy="609056"/>
          </a:xfrm>
        </p:spPr>
        <p:txBody>
          <a:bodyPr/>
          <a:lstStyle/>
          <a:p>
            <a:r>
              <a:rPr lang="ru-RU" sz="1600" dirty="0">
                <a:latin typeface="Arial" charset="0"/>
              </a:rPr>
              <a:t>Модуль 7: Коммутация </a:t>
            </a:r>
            <a:r>
              <a:rPr lang="en-US" sz="1600" dirty="0">
                <a:latin typeface="Arial" charset="0"/>
              </a:rPr>
              <a:t>Ethernet</a:t>
            </a:r>
            <a:br>
              <a:rPr lang="en-US" dirty="0">
                <a:latin typeface="Arial" charset="0"/>
              </a:rPr>
            </a:br>
            <a:r>
              <a:rPr lang="ru-RU" dirty="0">
                <a:latin typeface="Arial" charset="0"/>
              </a:rPr>
              <a:t>Новые термины и команды</a:t>
            </a:r>
          </a:p>
        </p:txBody>
      </p:sp>
      <p:sp>
        <p:nvSpPr>
          <p:cNvPr id="2" name="Content Placeholder 1">
            <a:extLst>
              <a:ext uri="{FF2B5EF4-FFF2-40B4-BE49-F238E27FC236}">
                <a16:creationId xmlns:a16="http://schemas.microsoft.com/office/drawing/2014/main" id="{C3353614-7F17-DC4C-A95A-616BC6DF8431}"/>
              </a:ext>
            </a:extLst>
          </p:cNvPr>
          <p:cNvSpPr>
            <a:spLocks noGrp="1"/>
          </p:cNvSpPr>
          <p:nvPr>
            <p:ph idx="1"/>
          </p:nvPr>
        </p:nvSpPr>
        <p:spPr/>
        <p:txBody>
          <a:bodyPr/>
          <a:lstStyle/>
          <a:p>
            <a:pPr rtl="0">
              <a:buFont typeface="Arial" panose="020B0604020202020204" pitchFamily="34" charset="0"/>
              <a:buChar char="•"/>
            </a:pPr>
            <a:r>
              <a:rPr lang="ru-RU" sz="1600"/>
              <a:t>Store-and-Forward Switching</a:t>
            </a:r>
          </a:p>
          <a:p>
            <a:pPr rtl="0">
              <a:buFont typeface="Arial" panose="020B0604020202020204" pitchFamily="34" charset="0"/>
              <a:buChar char="•"/>
            </a:pPr>
            <a:r>
              <a:rPr lang="ru-RU" sz="1600"/>
              <a:t>Cut-through Switching</a:t>
            </a:r>
          </a:p>
          <a:p>
            <a:pPr rtl="0">
              <a:buFont typeface="Arial" panose="020B0604020202020204" pitchFamily="34" charset="0"/>
              <a:buChar char="•"/>
            </a:pPr>
            <a:r>
              <a:rPr lang="ru-RU" sz="1600"/>
              <a:t>Fast-Forward Switching</a:t>
            </a:r>
          </a:p>
          <a:p>
            <a:pPr rtl="0">
              <a:buFont typeface="Arial" panose="020B0604020202020204" pitchFamily="34" charset="0"/>
              <a:buChar char="•"/>
            </a:pPr>
            <a:r>
              <a:rPr lang="ru-RU" sz="1600"/>
              <a:t>Fragment-free Switching</a:t>
            </a:r>
          </a:p>
          <a:p>
            <a:pPr rtl="0">
              <a:buFont typeface="Arial" panose="020B0604020202020204" pitchFamily="34" charset="0"/>
              <a:buChar char="•"/>
            </a:pPr>
            <a:r>
              <a:rPr lang="ru-RU" sz="1600"/>
              <a:t>OUI (Organizationally Unique Identifier)</a:t>
            </a:r>
          </a:p>
          <a:p>
            <a:pPr rtl="0">
              <a:buFont typeface="Arial" panose="020B0604020202020204" pitchFamily="34" charset="0"/>
              <a:buChar char="•"/>
            </a:pPr>
            <a:r>
              <a:rPr lang="ru-RU" sz="1600"/>
              <a:t>ARP (Address Resolution Protocol)</a:t>
            </a:r>
          </a:p>
          <a:p>
            <a:pPr rtl="0">
              <a:buFont typeface="Arial" panose="020B0604020202020204" pitchFamily="34" charset="0"/>
              <a:buChar char="•"/>
            </a:pPr>
            <a:r>
              <a:rPr lang="ru-RU" sz="1600"/>
              <a:t>ND (Neighbor Discovery)</a:t>
            </a:r>
          </a:p>
          <a:p>
            <a:pPr rtl="0">
              <a:buFont typeface="Arial" panose="020B0604020202020204" pitchFamily="34" charset="0"/>
              <a:buChar char="•"/>
            </a:pPr>
            <a:r>
              <a:rPr lang="ru-RU" sz="1600"/>
              <a:t>Port-based memory</a:t>
            </a:r>
          </a:p>
          <a:p>
            <a:pPr rtl="0">
              <a:buFont typeface="Arial" panose="020B0604020202020204" pitchFamily="34" charset="0"/>
              <a:buChar char="•"/>
            </a:pPr>
            <a:r>
              <a:rPr lang="ru-RU" sz="1600"/>
              <a:t>Shared memory</a:t>
            </a:r>
          </a:p>
          <a:p>
            <a:pPr rtl="0">
              <a:buFont typeface="Arial" panose="020B0604020202020204" pitchFamily="34" charset="0"/>
              <a:buChar char="•"/>
            </a:pPr>
            <a:r>
              <a:rPr lang="ru-RU" sz="1600"/>
              <a:t>Auto-MDIX</a:t>
            </a:r>
          </a:p>
        </p:txBody>
      </p:sp>
    </p:spTree>
    <p:custDataLst>
      <p:tags r:id="rId1"/>
    </p:custDataLst>
    <p:extLst>
      <p:ext uri="{BB962C8B-B14F-4D97-AF65-F5344CB8AC3E}">
        <p14:creationId xmlns:p14="http://schemas.microsoft.com/office/powerpoint/2010/main" val="3271745509"/>
      </p:ext>
    </p:extLst>
  </p:cSld>
  <p:clrMapOvr>
    <a:masterClrMapping/>
  </p:clrMapOvr>
  <p:transition spd="slow">
    <p:wip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B128579-9711-49E1-ABA6-B1A56CBD1E73}"/>
              </a:ext>
            </a:extLst>
          </p:cNvPr>
          <p:cNvSpPr txBox="1"/>
          <p:nvPr/>
        </p:nvSpPr>
        <p:spPr>
          <a:xfrm>
            <a:off x="806824" y="510988"/>
            <a:ext cx="5674658" cy="369332"/>
          </a:xfrm>
          <a:prstGeom prst="rect">
            <a:avLst/>
          </a:prstGeom>
          <a:noFill/>
        </p:spPr>
        <p:txBody>
          <a:bodyPr wrap="square" rtlCol="0">
            <a:spAutoFit/>
          </a:bodyPr>
          <a:lstStyle/>
          <a:p>
            <a:r>
              <a:rPr lang="ru-RU" dirty="0"/>
              <a:t>ДЗ</a:t>
            </a:r>
          </a:p>
        </p:txBody>
      </p:sp>
      <p:sp>
        <p:nvSpPr>
          <p:cNvPr id="3" name="TextBox 2">
            <a:extLst>
              <a:ext uri="{FF2B5EF4-FFF2-40B4-BE49-F238E27FC236}">
                <a16:creationId xmlns:a16="http://schemas.microsoft.com/office/drawing/2014/main" id="{5D5F5323-BC38-4E97-BD35-EC9DAB8F64E8}"/>
              </a:ext>
            </a:extLst>
          </p:cNvPr>
          <p:cNvSpPr txBox="1"/>
          <p:nvPr/>
        </p:nvSpPr>
        <p:spPr>
          <a:xfrm>
            <a:off x="1048871" y="1658471"/>
            <a:ext cx="7198658" cy="646331"/>
          </a:xfrm>
          <a:prstGeom prst="rect">
            <a:avLst/>
          </a:prstGeom>
          <a:noFill/>
        </p:spPr>
        <p:txBody>
          <a:bodyPr wrap="square" rtlCol="0">
            <a:spAutoFit/>
          </a:bodyPr>
          <a:lstStyle/>
          <a:p>
            <a:r>
              <a:rPr lang="ru-RU" dirty="0"/>
              <a:t>Вам потребуется скачать </a:t>
            </a:r>
            <a:r>
              <a:rPr lang="en-US" dirty="0" err="1"/>
              <a:t>WireShark</a:t>
            </a:r>
            <a:r>
              <a:rPr lang="en-US" dirty="0"/>
              <a:t>, </a:t>
            </a:r>
            <a:r>
              <a:rPr lang="ru-RU" dirty="0"/>
              <a:t>запустить </a:t>
            </a:r>
            <a:r>
              <a:rPr lang="ru-RU" dirty="0" err="1"/>
              <a:t>отслежевание</a:t>
            </a:r>
            <a:r>
              <a:rPr lang="ru-RU" dirty="0"/>
              <a:t> </a:t>
            </a:r>
            <a:r>
              <a:rPr lang="en-US" dirty="0"/>
              <a:t>ethernet </a:t>
            </a:r>
            <a:r>
              <a:rPr lang="ru-RU" dirty="0"/>
              <a:t>пакетов и прислать скрин через репозиторий</a:t>
            </a:r>
          </a:p>
        </p:txBody>
      </p:sp>
    </p:spTree>
    <p:extLst>
      <p:ext uri="{BB962C8B-B14F-4D97-AF65-F5344CB8AC3E}">
        <p14:creationId xmlns:p14="http://schemas.microsoft.com/office/powerpoint/2010/main" val="3259817242"/>
      </p:ext>
    </p:extLst>
  </p:cSld>
  <p:clrMapOvr>
    <a:masterClrMapping/>
  </p:clrMapOvr>
  <p:transition spd="med">
    <p:fade/>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4190828277"/>
      </p:ext>
    </p:extLst>
  </p:cSld>
  <p:clrMapOvr>
    <a:masterClrMapping/>
  </p:clrMapOvr>
  <p:transition spd="slow">
    <p:wipe/>
  </p:transition>
</p:sld>
</file>

<file path=ppt/tags/tag1.xml><?xml version="1.0" encoding="utf-8"?>
<p:tagLst xmlns:a="http://schemas.openxmlformats.org/drawingml/2006/main" xmlns:r="http://schemas.openxmlformats.org/officeDocument/2006/relationships" xmlns:p="http://schemas.openxmlformats.org/presentationml/2006/main">
  <p:tag name="ARTICULATE_SLIDE_COUNT" val="65"/>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Default Theme">
  <a:themeElements>
    <a:clrScheme name="Custom 6">
      <a:dk1>
        <a:srgbClr val="58585B"/>
      </a:dk1>
      <a:lt1>
        <a:srgbClr val="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6A4D7"/>
        </a:solidFill>
        <a:ln>
          <a:noFill/>
        </a:ln>
        <a:effectLst/>
      </a:spPr>
      <a:bodyPr rtlCol="0" anchor="ctr"/>
      <a:lstStyle>
        <a:defPPr algn="ctr">
          <a:defRPr dirty="0"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ITE7_Chp1_Example-1" id="{4A20ED44-3835-F149-9AE4-C332C230E09E}" vid="{AFB5BC48-58F8-AD45-912F-AE2AD65EB6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Default Theme</Template>
  <TotalTime>7815</TotalTime>
  <Words>4018</Words>
  <Application>Microsoft Office PowerPoint</Application>
  <PresentationFormat>Экран (16:9)</PresentationFormat>
  <Paragraphs>414</Paragraphs>
  <Slides>42</Slides>
  <Notes>39</Notes>
  <HiddenSlides>3</HiddenSlides>
  <MMClips>0</MMClips>
  <ScaleCrop>false</ScaleCrop>
  <HeadingPairs>
    <vt:vector size="6" baseType="variant">
      <vt:variant>
        <vt:lpstr>Использованные шрифты</vt:lpstr>
      </vt:variant>
      <vt:variant>
        <vt:i4>4</vt:i4>
      </vt:variant>
      <vt:variant>
        <vt:lpstr>Тема</vt:lpstr>
      </vt:variant>
      <vt:variant>
        <vt:i4>1</vt:i4>
      </vt:variant>
      <vt:variant>
        <vt:lpstr>Заголовки слайдов</vt:lpstr>
      </vt:variant>
      <vt:variant>
        <vt:i4>42</vt:i4>
      </vt:variant>
    </vt:vector>
  </HeadingPairs>
  <TitlesOfParts>
    <vt:vector size="47" baseType="lpstr">
      <vt:lpstr>Arial</vt:lpstr>
      <vt:lpstr>Calibri</vt:lpstr>
      <vt:lpstr>CiscoSans ExtraLight</vt:lpstr>
      <vt:lpstr>Wingdings</vt:lpstr>
      <vt:lpstr>Default Theme</vt:lpstr>
      <vt:lpstr>Модуль 7: Коммутация Ethernet</vt:lpstr>
      <vt:lpstr>В этом модуле</vt:lpstr>
      <vt:lpstr>В этом модуле (продолжение)</vt:lpstr>
      <vt:lpstr>Модуль 7: Задания</vt:lpstr>
      <vt:lpstr>Модуль 7: Коммутация Ethernet</vt:lpstr>
      <vt:lpstr>Задачи модуля</vt:lpstr>
      <vt:lpstr>7.1 Кадры Ethernet</vt:lpstr>
      <vt:lpstr>Кадры Ethernet  Инкапсуляция Ethernet</vt:lpstr>
      <vt:lpstr>Кадры Ethernet Подуровни канала передачи данных</vt:lpstr>
      <vt:lpstr>Кадры Ethernet  Подуровень MAC</vt:lpstr>
      <vt:lpstr>Кадры Ethernet  Подуровень MAC</vt:lpstr>
      <vt:lpstr>Кадр Ethernet  Поля кадра Ethernet</vt:lpstr>
      <vt:lpstr>Кадр Ethernet  Лабораторная работа. Анализ кадров Ethernet с помощью программы Wireshark</vt:lpstr>
      <vt:lpstr>7.2 MAC-адрес Ethernet</vt:lpstr>
      <vt:lpstr>MAC-адреса Ethernet  MAC-адреса и шестнадцатеричные значения</vt:lpstr>
      <vt:lpstr>MAC-адрес Ethernet MAC-адрес Ethernet</vt:lpstr>
      <vt:lpstr>MAC-адреса Ethernet  Обработка кадров</vt:lpstr>
      <vt:lpstr>MAC-адреса Ethernet  Индивидуальный MAC-адрес</vt:lpstr>
      <vt:lpstr>MAC-адреса Ethernet  Широковещательный MAC-адрес</vt:lpstr>
      <vt:lpstr>MAC-адреса Ethernet  Групповой MAC-адрес</vt:lpstr>
      <vt:lpstr>MAC-адреса Ethernet  Лабораторная работа. Просмотр MAC-адресов сетевых устройств</vt:lpstr>
      <vt:lpstr>7.3 Таблица MAC-адресов</vt:lpstr>
      <vt:lpstr>Таблица MAC-адресов  Основная информация о коммутаторах</vt:lpstr>
      <vt:lpstr>Таблица MAC-адресов Переключение получения информации и пересылки</vt:lpstr>
      <vt:lpstr>Таблица MAC-адресов  Переключение получения информации и пересылки (Продолжение)</vt:lpstr>
      <vt:lpstr>Таблица MAC-адресов  Фильтрация кадров</vt:lpstr>
      <vt:lpstr>Таблица MAC-адресов  Видео - Таблицы MAC-адресов в соединенных между собой коммутаторах</vt:lpstr>
      <vt:lpstr>Таблица MAC-адресов  Видео - Отправка кадра на шлюз по умолчанию</vt:lpstr>
      <vt:lpstr>Таблица MAC-адресов  Лабораторная работа. Просмотр таблицы MAC-адресов коммутатора</vt:lpstr>
      <vt:lpstr>7.4 Скорость и способы пересылки на коммутаторах</vt:lpstr>
      <vt:lpstr>Способы переадресации на коммутаторах Способы переадресации кадров на коммутаторах Cisco</vt:lpstr>
      <vt:lpstr>Способы переадресации на коммутаторах  Сквозная коммутация</vt:lpstr>
      <vt:lpstr>Способы переадресации на коммутаторах  Буферизация памяти на коммутаторах</vt:lpstr>
      <vt:lpstr>Скорость и способы пересылки на коммутаторах  Настройка дуплексного режима и скорости</vt:lpstr>
      <vt:lpstr>Скорость и способы пересылки на коммутаторах  Настройка дуплексного режима и скорости</vt:lpstr>
      <vt:lpstr>Способы переадресации на коммутаторах  Функция Auto-MDIX</vt:lpstr>
      <vt:lpstr>7.5 Практика и контрольная работа модуля</vt:lpstr>
      <vt:lpstr>Практика и контрольная работа модуля  Что я изучил в этом модуле?</vt:lpstr>
      <vt:lpstr>Практика и контрольная работа модуля   Что я изучил в этом модуле? (продолжение)</vt:lpstr>
      <vt:lpstr>Модуль 7: Коммутация Ethernet Новые термины и команды</vt:lpstr>
      <vt:lpstr>Презентация PowerPoint</vt:lpstr>
      <vt:lpstr>Презентация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 Basic Switch and End Device Configuration</dc:title>
  <dc:creator>Stephanie Harvey</dc:creator>
  <cp:lastModifiedBy>local</cp:lastModifiedBy>
  <cp:revision>228</cp:revision>
  <dcterms:created xsi:type="dcterms:W3CDTF">2019-10-18T06:21:22Z</dcterms:created>
  <dcterms:modified xsi:type="dcterms:W3CDTF">2026-09-08T15:39:34Z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sync_ProviderInitializationData">
    <vt:lpwstr>https://cisco.jiveon.com</vt:lpwstr>
  </property>
  <property fmtid="{D5CDD505-2E9C-101B-9397-08002B2CF9AE}" pid="3" name="Offisync_UpdateToken">
    <vt:lpwstr>1</vt:lpwstr>
  </property>
  <property fmtid="{D5CDD505-2E9C-101B-9397-08002B2CF9AE}" pid="4" name="Offisync_ServerID">
    <vt:lpwstr>07841bbc-cd3c-4a76-827f-75a2226890f4</vt:lpwstr>
  </property>
  <property fmtid="{D5CDD505-2E9C-101B-9397-08002B2CF9AE}" pid="5" name="Offisync_UniqueId">
    <vt:lpwstr>1702406</vt:lpwstr>
  </property>
  <property fmtid="{D5CDD505-2E9C-101B-9397-08002B2CF9AE}" pid="6" name="Jive_VersionGuid">
    <vt:lpwstr>fd96a0b3-f68d-4727-8e4f-2128d37ed30a</vt:lpwstr>
  </property>
  <property fmtid="{D5CDD505-2E9C-101B-9397-08002B2CF9AE}" pid="7" name="Jive_LatestUserAccountName">
    <vt:lpwstr>alljohns</vt:lpwstr>
  </property>
  <property fmtid="{D5CDD505-2E9C-101B-9397-08002B2CF9AE}" pid="8" name="ArticulateGUID">
    <vt:lpwstr>F9A496F7-57D7-4028-9572-D40DFDF3715A</vt:lpwstr>
  </property>
  <property fmtid="{D5CDD505-2E9C-101B-9397-08002B2CF9AE}" pid="9" name="ArticulatePath">
    <vt:lpwstr>ITE7_Chp9_by_jg</vt:lpwstr>
  </property>
</Properties>
</file>