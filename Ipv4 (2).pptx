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1.xml" ContentType="application/inkml+xml"/>
  <Override PartName="/ppt/tags/tag11.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2.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13.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14.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ink/ink2.xml" ContentType="application/inkml+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15.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16.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17.xml" ContentType="application/vnd.openxmlformats-officedocument.presentationml.tag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tags/tag18.xml" ContentType="application/vnd.openxmlformats-officedocument.presentationml.tags+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19.xml" ContentType="application/vnd.openxmlformats-officedocument.presentationml.tags+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tags/tag20.xml" ContentType="application/vnd.openxmlformats-officedocument.presentationml.tags+xml"/>
  <Override PartName="/ppt/notesSlides/notesSlide56.xml" ContentType="application/vnd.openxmlformats-officedocument.presentationml.notesSlide+xml"/>
  <Override PartName="/ppt/tags/tag21.xml" ContentType="application/vnd.openxmlformats-officedocument.presentationml.tags+xml"/>
  <Override PartName="/ppt/notesSlides/notesSlide57.xml" ContentType="application/vnd.openxmlformats-officedocument.presentationml.notesSlide+xml"/>
  <Override PartName="/ppt/tags/tag22.xml" ContentType="application/vnd.openxmlformats-officedocument.presentationml.tags+xml"/>
  <Override PartName="/ppt/notesSlides/notesSlide58.xml" ContentType="application/vnd.openxmlformats-officedocument.presentationml.notesSlide+xml"/>
  <Override PartName="/ppt/tags/tag23.xml" ContentType="application/vnd.openxmlformats-officedocument.presentationml.tags+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2"/>
  </p:notesMasterIdLst>
  <p:sldIdLst>
    <p:sldId id="513" r:id="rId2"/>
    <p:sldId id="1052" r:id="rId3"/>
    <p:sldId id="1069" r:id="rId4"/>
    <p:sldId id="1160" r:id="rId5"/>
    <p:sldId id="1152" r:id="rId6"/>
    <p:sldId id="1153" r:id="rId7"/>
    <p:sldId id="876" r:id="rId8"/>
    <p:sldId id="1096" r:id="rId9"/>
    <p:sldId id="759" r:id="rId10"/>
    <p:sldId id="1054" r:id="rId11"/>
    <p:sldId id="1098" r:id="rId12"/>
    <p:sldId id="1099" r:id="rId13"/>
    <p:sldId id="1100" r:id="rId14"/>
    <p:sldId id="1102" r:id="rId15"/>
    <p:sldId id="1056" r:id="rId16"/>
    <p:sldId id="1103" r:id="rId17"/>
    <p:sldId id="1104" r:id="rId18"/>
    <p:sldId id="1106" r:id="rId19"/>
    <p:sldId id="1111" r:id="rId20"/>
    <p:sldId id="1118" r:id="rId21"/>
    <p:sldId id="1125" r:id="rId22"/>
    <p:sldId id="1126" r:id="rId23"/>
    <p:sldId id="1127" r:id="rId24"/>
    <p:sldId id="1128" r:id="rId25"/>
    <p:sldId id="1112" r:id="rId26"/>
    <p:sldId id="1119" r:id="rId27"/>
    <p:sldId id="1129" r:id="rId28"/>
    <p:sldId id="1130" r:id="rId29"/>
    <p:sldId id="1113" r:id="rId30"/>
    <p:sldId id="1120" r:id="rId31"/>
    <p:sldId id="1150" r:id="rId32"/>
    <p:sldId id="1131" r:id="rId33"/>
    <p:sldId id="1135" r:id="rId34"/>
    <p:sldId id="1114" r:id="rId35"/>
    <p:sldId id="1121" r:id="rId36"/>
    <p:sldId id="1137" r:id="rId37"/>
    <p:sldId id="1138" r:id="rId38"/>
    <p:sldId id="1140" r:id="rId39"/>
    <p:sldId id="1115" r:id="rId40"/>
    <p:sldId id="1122" r:id="rId41"/>
    <p:sldId id="1141" r:id="rId42"/>
    <p:sldId id="1142" r:id="rId43"/>
    <p:sldId id="1143" r:id="rId44"/>
    <p:sldId id="1116" r:id="rId45"/>
    <p:sldId id="1145" r:id="rId46"/>
    <p:sldId id="1154" r:id="rId47"/>
    <p:sldId id="1146" r:id="rId48"/>
    <p:sldId id="1147" r:id="rId49"/>
    <p:sldId id="1117" r:id="rId50"/>
    <p:sldId id="1124" r:id="rId51"/>
    <p:sldId id="1148" r:id="rId52"/>
    <p:sldId id="1149" r:id="rId53"/>
    <p:sldId id="957" r:id="rId54"/>
    <p:sldId id="1155" r:id="rId55"/>
    <p:sldId id="1156" r:id="rId56"/>
    <p:sldId id="958" r:id="rId57"/>
    <p:sldId id="1157" r:id="rId58"/>
    <p:sldId id="874" r:id="rId59"/>
    <p:sldId id="1161" r:id="rId60"/>
    <p:sldId id="291" r:id="rId61"/>
  </p:sldIdLst>
  <p:sldSz cx="9144000" cy="5143500" type="screen16x9"/>
  <p:notesSz cx="6858000" cy="9144000"/>
  <p:custDataLst>
    <p:tags r:id="rId63"/>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63" autoAdjust="0"/>
    <p:restoredTop sz="77285" autoAdjust="0"/>
  </p:normalViewPr>
  <p:slideViewPr>
    <p:cSldViewPr snapToGrid="0" showGuides="1">
      <p:cViewPr varScale="1">
        <p:scale>
          <a:sx n="117" d="100"/>
          <a:sy n="117" d="100"/>
        </p:scale>
        <p:origin x="1716" y="96"/>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00" d="100"/>
        <a:sy n="100" d="100"/>
      </p:scale>
      <p:origin x="0" y="-343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gs" Target="tags/tag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6-09-14T14:22:31.364"/>
    </inkml:context>
    <inkml:brush xml:id="br0">
      <inkml:brushProperty name="width" value="0.05292" units="cm"/>
      <inkml:brushProperty name="height" value="0.05292" units="cm"/>
      <inkml:brushProperty name="color" value="#FF0000"/>
    </inkml:brush>
  </inkml:definitions>
  <inkml:trace contextRef="#ctx0" brushRef="#br0">22132 11165 0,'-13'14'343,"13"-1"-327,-13-13 0,13 26-1,0-12 17,0-1-1,0 0-16,-53 66 1,53-65 0,-13-14-16,13 13 15,0 0 1,-13-13 0,13 27-1,0-14 63,0 0-46,0 0-1,0 0 0,0 1-15,13-14 15,-13 13 31,26-13-46,-13 0 15,1 0 32,-1 0-16,0 0 15,0 0-31,1 0-15,-1 0 31,0 0-31,-13-13-1,0-1 32,13 14-31,-13-13-16,0 0 15,14 0 1,-14 0 15,0-1-15,13 1-16,-13 0 47,0 0-32,0-14 17,0 14-1,0 0 0,0-1-15,0 1 15,0 0 0,0 0-15,0 0 15,0-1 0,0 1 16,-13 13 31,-1 0-31,1 0 16,0 0-32,0 0 47,-1 0-31,14-13-31</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6-09-14T14:35:52.965"/>
    </inkml:context>
    <inkml:brush xml:id="br0">
      <inkml:brushProperty name="width" value="0.05292" units="cm"/>
      <inkml:brushProperty name="height" value="0.05292" units="cm"/>
      <inkml:brushProperty name="color" value="#FF0000"/>
    </inkml:brush>
  </inkml:definitions>
  <inkml:trace contextRef="#ctx0" brushRef="#br0">13467 7766 0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9/14/2026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ru-RU" b="0"/>
              <a:t>Программа Сетевой академии Cisco</a:t>
            </a:r>
          </a:p>
          <a:p>
            <a:pPr rtl="0">
              <a:buFontTx/>
              <a:buNone/>
            </a:pPr>
            <a:r>
              <a:rPr lang="ru-RU" b="0" baseline="0"/>
              <a:t>Введение в сетевые технологии v</a:t>
            </a:r>
            <a:r>
              <a:rPr lang="ru-RU" b="0"/>
              <a:t>7.0 (ITN)</a:t>
            </a:r>
          </a:p>
          <a:p>
            <a:pPr rtl="0">
              <a:buFontTx/>
              <a:buNone/>
            </a:pPr>
            <a:r>
              <a:rPr lang="ru-RU">
                <a:solidFill>
                  <a:schemeClr val="accent5">
                    <a:lumMod val="40000"/>
                    <a:lumOff val="60000"/>
                  </a:schemeClr>
                </a:solidFill>
              </a:rPr>
              <a:t>Модуль 11: Адресация IPv4</a:t>
            </a:r>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rtl="0"/>
              <a:t>2</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rtl="0"/>
              <a:t>3</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9149292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rtl="0"/>
              <a:t>4</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1651934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rtl="0"/>
              <a:t>5</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7936853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rtl="0"/>
              <a:t>6</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107451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ru-RU" b="0" dirty="0"/>
              <a:t>Программа Сетевой академии </a:t>
            </a:r>
            <a:r>
              <a:rPr lang="ru-RU" b="0" dirty="0" err="1"/>
              <a:t>Cisco</a:t>
            </a:r>
            <a:endParaRPr lang="ru-RU" b="0" dirty="0"/>
          </a:p>
          <a:p>
            <a:pPr rtl="0">
              <a:buFontTx/>
              <a:buNone/>
            </a:pPr>
            <a:r>
              <a:rPr lang="ru-RU" b="0" baseline="0" dirty="0"/>
              <a:t>Введение в сетевые технологии v</a:t>
            </a:r>
            <a:r>
              <a:rPr lang="ru-RU" b="0" dirty="0"/>
              <a:t>7.0 (ITN)</a:t>
            </a:r>
          </a:p>
          <a:p>
            <a:pPr rtl="0"/>
            <a:r>
              <a:rPr lang="ru-RU" dirty="0">
                <a:solidFill>
                  <a:schemeClr val="accent5">
                    <a:lumMod val="40000"/>
                    <a:lumOff val="60000"/>
                  </a:schemeClr>
                </a:solidFill>
              </a:rPr>
              <a:t>Модуль 11: Адресация IPv4</a:t>
            </a:r>
          </a:p>
        </p:txBody>
      </p:sp>
      <p:sp>
        <p:nvSpPr>
          <p:cNvPr id="4" name="Slide Number Placeholder 3"/>
          <p:cNvSpPr>
            <a:spLocks noGrp="1"/>
          </p:cNvSpPr>
          <p:nvPr>
            <p:ph type="sldNum" sz="quarter" idx="10"/>
          </p:nvPr>
        </p:nvSpPr>
        <p:spPr/>
        <p:txBody>
          <a:bodyPr/>
          <a:lstStyle/>
          <a:p>
            <a:pPr rtl="0"/>
            <a:fld id="{5641018C-6CAF-B84E-B92C-ECB119457FBA}" type="slidenum">
              <a:rPr/>
              <a:t>7</a:t>
            </a:fld>
            <a:endParaRPr/>
          </a:p>
        </p:txBody>
      </p:sp>
    </p:spTree>
    <p:extLst>
      <p:ext uri="{BB962C8B-B14F-4D97-AF65-F5344CB8AC3E}">
        <p14:creationId xmlns:p14="http://schemas.microsoft.com/office/powerpoint/2010/main" val="508118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solidFill>
                  <a:prstClr val="black"/>
                </a:solidFill>
              </a:rPr>
              <a:pPr algn="r" rtl="0"/>
              <a:t>8</a:t>
            </a:fld>
            <a:endParaRPr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ru-RU" sz="1200">
                <a:solidFill>
                  <a:schemeClr val="accent5">
                    <a:lumMod val="40000"/>
                    <a:lumOff val="60000"/>
                  </a:schemeClr>
                </a:solidFill>
              </a:rPr>
              <a:t>11</a:t>
            </a:r>
            <a:r>
              <a:rPr lang="ru-RU" sz="1200" baseline="0">
                <a:solidFill>
                  <a:schemeClr val="accent5">
                    <a:lumMod val="40000"/>
                    <a:lumOff val="60000"/>
                  </a:schemeClr>
                </a:solidFill>
              </a:rPr>
              <a:t> — </a:t>
            </a:r>
            <a:r>
              <a:rPr lang="ru-RU" sz="1200">
                <a:solidFill>
                  <a:schemeClr val="accent5">
                    <a:lumMod val="40000"/>
                    <a:lumOff val="60000"/>
                  </a:schemeClr>
                </a:solidFill>
              </a:rPr>
              <a:t>Адресация IPv4</a:t>
            </a:r>
          </a:p>
          <a:p>
            <a:pPr rtl="0">
              <a:buFontTx/>
              <a:buNone/>
            </a:pPr>
            <a:r>
              <a:rPr lang="ru-RU" sz="1200" b="0"/>
              <a:t>11.0 - Введение</a:t>
            </a:r>
          </a:p>
          <a:p>
            <a:pPr rtl="0">
              <a:lnSpc>
                <a:spcPct val="80000"/>
              </a:lnSpc>
              <a:buFontTx/>
              <a:buNone/>
            </a:pPr>
            <a:r>
              <a:rPr lang="ru-RU" sz="1200" kern="1200">
                <a:solidFill>
                  <a:schemeClr val="tx1"/>
                </a:solidFill>
                <a:latin typeface="Arial" charset="0"/>
                <a:ea typeface="ＭＳ Ｐゴシック" charset="0"/>
                <a:cs typeface="ＭＳ Ｐゴシック" charset="0"/>
              </a:rPr>
              <a:t>11.0.2 - </a:t>
            </a:r>
            <a:r>
              <a:rPr lang="ru-RU" sz="1200" kern="1200">
                <a:solidFill>
                  <a:schemeClr val="tx1"/>
                </a:solidFill>
                <a:latin typeface="+mn-lt"/>
                <a:ea typeface="+mn-ea"/>
                <a:cs typeface="+mn-cs"/>
              </a:rPr>
              <a:t>Что</a:t>
            </a:r>
            <a:r>
              <a:rPr lang="ru-RU" sz="1200" kern="1200" baseline="0">
                <a:solidFill>
                  <a:schemeClr val="tx1"/>
                </a:solidFill>
                <a:latin typeface="+mn-lt"/>
                <a:ea typeface="+mn-ea"/>
                <a:cs typeface="+mn-cs"/>
              </a:rPr>
              <a:t> я буду изучать в этом модуле?</a:t>
            </a:r>
          </a:p>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ru-RU" sz="1200">
                <a:solidFill>
                  <a:schemeClr val="accent5">
                    <a:lumMod val="40000"/>
                    <a:lumOff val="60000"/>
                  </a:schemeClr>
                </a:solidFill>
              </a:rPr>
              <a:t>11</a:t>
            </a:r>
            <a:r>
              <a:rPr lang="ru-RU" sz="1200" baseline="0">
                <a:solidFill>
                  <a:schemeClr val="accent5">
                    <a:lumMod val="40000"/>
                    <a:lumOff val="60000"/>
                  </a:schemeClr>
                </a:solidFill>
              </a:rPr>
              <a:t> — </a:t>
            </a:r>
            <a:r>
              <a:rPr lang="ru-RU" sz="1200">
                <a:solidFill>
                  <a:schemeClr val="accent5">
                    <a:lumMod val="40000"/>
                    <a:lumOff val="60000"/>
                  </a:schemeClr>
                </a:solidFill>
              </a:rPr>
              <a:t>Адресация IPv4</a:t>
            </a:r>
          </a:p>
          <a:p>
            <a:pPr rtl="0">
              <a:buFontTx/>
              <a:buNone/>
            </a:pPr>
            <a:r>
              <a:rPr lang="ru-RU" sz="1200" b="0"/>
              <a:t>11.1 </a:t>
            </a:r>
            <a:r>
              <a:rPr lang="ru-RU"/>
              <a:t>Структура адреса IPv4</a:t>
            </a:r>
          </a:p>
        </p:txBody>
      </p:sp>
      <p:sp>
        <p:nvSpPr>
          <p:cNvPr id="4" name="Slide Number Placeholder 3"/>
          <p:cNvSpPr>
            <a:spLocks noGrp="1"/>
          </p:cNvSpPr>
          <p:nvPr>
            <p:ph type="sldNum" sz="quarter" idx="10"/>
          </p:nvPr>
        </p:nvSpPr>
        <p:spPr/>
        <p:txBody>
          <a:bodyPr/>
          <a:lstStyle/>
          <a:p>
            <a:pPr rtl="0"/>
            <a:fld id="{5641018C-6CAF-B84E-B92C-ECB119457FBA}" type="slidenum">
              <a:rPr/>
              <a:t>9</a:t>
            </a:fld>
            <a:endParaRPr/>
          </a:p>
        </p:txBody>
      </p:sp>
    </p:spTree>
    <p:extLst>
      <p:ext uri="{BB962C8B-B14F-4D97-AF65-F5344CB8AC3E}">
        <p14:creationId xmlns:p14="http://schemas.microsoft.com/office/powerpoint/2010/main" val="6255296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ru-RU" sz="1200">
                <a:solidFill>
                  <a:schemeClr val="accent5">
                    <a:lumMod val="40000"/>
                    <a:lumOff val="60000"/>
                  </a:schemeClr>
                </a:solidFill>
              </a:rPr>
              <a:t>11</a:t>
            </a:r>
            <a:r>
              <a:rPr lang="ru-RU" sz="1200" baseline="0">
                <a:solidFill>
                  <a:schemeClr val="accent5">
                    <a:lumMod val="40000"/>
                    <a:lumOff val="60000"/>
                  </a:schemeClr>
                </a:solidFill>
              </a:rPr>
              <a:t> — </a:t>
            </a:r>
            <a:r>
              <a:rPr lang="ru-RU" sz="1200">
                <a:solidFill>
                  <a:schemeClr val="accent5">
                    <a:lumMod val="40000"/>
                    <a:lumOff val="60000"/>
                  </a:schemeClr>
                </a:solidFill>
              </a:rPr>
              <a:t>Адресация IPv4</a:t>
            </a:r>
          </a:p>
          <a:p>
            <a:pPr rtl="0"/>
            <a:r>
              <a:rPr lang="ru-RU"/>
              <a:t>11.1 Структура адреса IPv4</a:t>
            </a:r>
          </a:p>
          <a:p>
            <a:pPr rtl="0"/>
            <a:r>
              <a:rPr lang="ru-RU"/>
              <a:t>11.1.1 – Сетевая и хостовая части</a:t>
            </a:r>
          </a:p>
        </p:txBody>
      </p:sp>
      <p:sp>
        <p:nvSpPr>
          <p:cNvPr id="4" name="Slide Number Placeholder 3"/>
          <p:cNvSpPr>
            <a:spLocks noGrp="1"/>
          </p:cNvSpPr>
          <p:nvPr>
            <p:ph type="sldNum" sz="quarter" idx="5"/>
          </p:nvPr>
        </p:nvSpPr>
        <p:spPr/>
        <p:txBody>
          <a:bodyPr/>
          <a:lstStyle/>
          <a:p>
            <a:pPr rtl="0"/>
            <a:fld id="{5641018C-6CAF-B84E-B92C-ECB119457FBA}" type="slidenum">
              <a:rPr/>
              <a:t>10</a:t>
            </a:fld>
            <a:endParaRPr/>
          </a:p>
        </p:txBody>
      </p:sp>
    </p:spTree>
    <p:extLst>
      <p:ext uri="{BB962C8B-B14F-4D97-AF65-F5344CB8AC3E}">
        <p14:creationId xmlns:p14="http://schemas.microsoft.com/office/powerpoint/2010/main" val="3092312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ru-RU" sz="1200">
                <a:solidFill>
                  <a:schemeClr val="accent5">
                    <a:lumMod val="40000"/>
                    <a:lumOff val="60000"/>
                  </a:schemeClr>
                </a:solidFill>
              </a:rPr>
              <a:t>11</a:t>
            </a:r>
            <a:r>
              <a:rPr lang="ru-RU" sz="1200" baseline="0">
                <a:solidFill>
                  <a:schemeClr val="accent5">
                    <a:lumMod val="40000"/>
                    <a:lumOff val="60000"/>
                  </a:schemeClr>
                </a:solidFill>
              </a:rPr>
              <a:t> — </a:t>
            </a:r>
            <a:r>
              <a:rPr lang="ru-RU" sz="1200">
                <a:solidFill>
                  <a:schemeClr val="accent5">
                    <a:lumMod val="40000"/>
                    <a:lumOff val="60000"/>
                  </a:schemeClr>
                </a:solidFill>
              </a:rPr>
              <a:t>Адресация IPv4</a:t>
            </a:r>
          </a:p>
          <a:p>
            <a:pPr rtl="0"/>
            <a:r>
              <a:rPr lang="ru-RU"/>
              <a:t>11.1 Структура адреса IPv4</a:t>
            </a:r>
          </a:p>
          <a:p>
            <a:pPr rtl="0"/>
            <a:r>
              <a:rPr lang="ru-RU"/>
              <a:t>11.1.2 – Маска подсети</a:t>
            </a:r>
          </a:p>
        </p:txBody>
      </p:sp>
      <p:sp>
        <p:nvSpPr>
          <p:cNvPr id="4" name="Slide Number Placeholder 3"/>
          <p:cNvSpPr>
            <a:spLocks noGrp="1"/>
          </p:cNvSpPr>
          <p:nvPr>
            <p:ph type="sldNum" sz="quarter" idx="5"/>
          </p:nvPr>
        </p:nvSpPr>
        <p:spPr/>
        <p:txBody>
          <a:bodyPr/>
          <a:lstStyle/>
          <a:p>
            <a:pPr rtl="0"/>
            <a:fld id="{5641018C-6CAF-B84E-B92C-ECB119457FBA}" type="slidenum">
              <a:rPr/>
              <a:t>11</a:t>
            </a:fld>
            <a:endParaRPr/>
          </a:p>
        </p:txBody>
      </p:sp>
    </p:spTree>
    <p:extLst>
      <p:ext uri="{BB962C8B-B14F-4D97-AF65-F5344CB8AC3E}">
        <p14:creationId xmlns:p14="http://schemas.microsoft.com/office/powerpoint/2010/main" val="31890989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ru-RU" sz="1200">
                <a:solidFill>
                  <a:schemeClr val="accent5">
                    <a:lumMod val="40000"/>
                    <a:lumOff val="60000"/>
                  </a:schemeClr>
                </a:solidFill>
              </a:rPr>
              <a:t>11</a:t>
            </a:r>
            <a:r>
              <a:rPr lang="ru-RU" sz="1200" baseline="0">
                <a:solidFill>
                  <a:schemeClr val="accent5">
                    <a:lumMod val="40000"/>
                    <a:lumOff val="60000"/>
                  </a:schemeClr>
                </a:solidFill>
              </a:rPr>
              <a:t> — </a:t>
            </a:r>
            <a:r>
              <a:rPr lang="ru-RU" sz="1200">
                <a:solidFill>
                  <a:schemeClr val="accent5">
                    <a:lumMod val="40000"/>
                    <a:lumOff val="60000"/>
                  </a:schemeClr>
                </a:solidFill>
              </a:rPr>
              <a:t>Адресация IPv4</a:t>
            </a:r>
          </a:p>
          <a:p>
            <a:pPr rtl="0"/>
            <a:r>
              <a:rPr lang="ru-RU"/>
              <a:t>11.1 Структура адреса IPv4</a:t>
            </a:r>
          </a:p>
          <a:p>
            <a:pPr rtl="0"/>
            <a:r>
              <a:rPr lang="ru-RU"/>
              <a:t>11.1.3 – Длина префикса</a:t>
            </a:r>
          </a:p>
        </p:txBody>
      </p:sp>
      <p:sp>
        <p:nvSpPr>
          <p:cNvPr id="4" name="Slide Number Placeholder 3"/>
          <p:cNvSpPr>
            <a:spLocks noGrp="1"/>
          </p:cNvSpPr>
          <p:nvPr>
            <p:ph type="sldNum" sz="quarter" idx="5"/>
          </p:nvPr>
        </p:nvSpPr>
        <p:spPr/>
        <p:txBody>
          <a:bodyPr/>
          <a:lstStyle/>
          <a:p>
            <a:pPr rtl="0"/>
            <a:fld id="{5641018C-6CAF-B84E-B92C-ECB119457FBA}" type="slidenum">
              <a:rPr/>
              <a:t>12</a:t>
            </a:fld>
            <a:endParaRPr/>
          </a:p>
        </p:txBody>
      </p:sp>
    </p:spTree>
    <p:extLst>
      <p:ext uri="{BB962C8B-B14F-4D97-AF65-F5344CB8AC3E}">
        <p14:creationId xmlns:p14="http://schemas.microsoft.com/office/powerpoint/2010/main" val="12295882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ru-RU" sz="1200">
                <a:solidFill>
                  <a:schemeClr val="accent5">
                    <a:lumMod val="40000"/>
                    <a:lumOff val="60000"/>
                  </a:schemeClr>
                </a:solidFill>
              </a:rPr>
              <a:t>11</a:t>
            </a:r>
            <a:r>
              <a:rPr lang="ru-RU" sz="1200" baseline="0">
                <a:solidFill>
                  <a:schemeClr val="accent5">
                    <a:lumMod val="40000"/>
                    <a:lumOff val="60000"/>
                  </a:schemeClr>
                </a:solidFill>
              </a:rPr>
              <a:t> — </a:t>
            </a:r>
            <a:r>
              <a:rPr lang="ru-RU" sz="1200">
                <a:solidFill>
                  <a:schemeClr val="accent5">
                    <a:lumMod val="40000"/>
                    <a:lumOff val="60000"/>
                  </a:schemeClr>
                </a:solidFill>
              </a:rPr>
              <a:t>Адресация IPv4</a:t>
            </a:r>
          </a:p>
          <a:p>
            <a:pPr rtl="0"/>
            <a:r>
              <a:rPr lang="ru-RU"/>
              <a:t>11.1 Структура адреса IPv4</a:t>
            </a:r>
          </a:p>
          <a:p>
            <a:pPr rtl="0"/>
            <a:r>
              <a:rPr lang="ru-RU"/>
              <a:t>11.1.4 — Определение сети: логическое И</a:t>
            </a:r>
          </a:p>
        </p:txBody>
      </p:sp>
      <p:sp>
        <p:nvSpPr>
          <p:cNvPr id="4" name="Slide Number Placeholder 3"/>
          <p:cNvSpPr>
            <a:spLocks noGrp="1"/>
          </p:cNvSpPr>
          <p:nvPr>
            <p:ph type="sldNum" sz="quarter" idx="5"/>
          </p:nvPr>
        </p:nvSpPr>
        <p:spPr/>
        <p:txBody>
          <a:bodyPr/>
          <a:lstStyle/>
          <a:p>
            <a:pPr rtl="0"/>
            <a:fld id="{5641018C-6CAF-B84E-B92C-ECB119457FBA}" type="slidenum">
              <a:rPr/>
              <a:t>13</a:t>
            </a:fld>
            <a:endParaRPr/>
          </a:p>
        </p:txBody>
      </p:sp>
    </p:spTree>
    <p:extLst>
      <p:ext uri="{BB962C8B-B14F-4D97-AF65-F5344CB8AC3E}">
        <p14:creationId xmlns:p14="http://schemas.microsoft.com/office/powerpoint/2010/main" val="668830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11.1 Структура адреса IPv4</a:t>
            </a:r>
          </a:p>
          <a:p>
            <a:pPr rtl="0"/>
            <a:r>
              <a:rPr lang="ru-RU"/>
              <a:t>11.1.6 – Сетевой адрес, адрес хоста и широковещательный адрес</a:t>
            </a:r>
          </a:p>
          <a:p>
            <a:pPr rtl="0"/>
            <a:r>
              <a:rPr lang="ru-RU"/>
              <a:t>11.1.7 – Задание. Использование логической операции И для определения сетевого адреса</a:t>
            </a:r>
          </a:p>
          <a:p>
            <a:pPr rtl="0"/>
            <a:r>
              <a:rPr lang="ru-RU"/>
              <a:t>11.1.8 — Проверьте ваше понимание — Структура адресов IPv4</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14</a:t>
            </a:fld>
            <a:endParaRPr/>
          </a:p>
        </p:txBody>
      </p:sp>
    </p:spTree>
    <p:extLst>
      <p:ext uri="{BB962C8B-B14F-4D97-AF65-F5344CB8AC3E}">
        <p14:creationId xmlns:p14="http://schemas.microsoft.com/office/powerpoint/2010/main" val="37322015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11.2 Одноадресная, широковещательная и многоадресная рассылка IPv4</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15</a:t>
            </a:fld>
            <a:endParaRPr/>
          </a:p>
        </p:txBody>
      </p:sp>
    </p:spTree>
    <p:extLst>
      <p:ext uri="{BB962C8B-B14F-4D97-AF65-F5344CB8AC3E}">
        <p14:creationId xmlns:p14="http://schemas.microsoft.com/office/powerpoint/2010/main" val="39632910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11.2 Одноадресная, широковещательная и многоадресная рассылка IPv4</a:t>
            </a:r>
          </a:p>
          <a:p>
            <a:pPr rtl="0"/>
            <a:r>
              <a:rPr lang="ru-RU"/>
              <a:t>11.2.1 — Одноадресная передача</a:t>
            </a:r>
          </a:p>
        </p:txBody>
      </p:sp>
      <p:sp>
        <p:nvSpPr>
          <p:cNvPr id="4" name="Slide Number Placeholder 3"/>
          <p:cNvSpPr>
            <a:spLocks noGrp="1"/>
          </p:cNvSpPr>
          <p:nvPr>
            <p:ph type="sldNum" sz="quarter" idx="5"/>
          </p:nvPr>
        </p:nvSpPr>
        <p:spPr/>
        <p:txBody>
          <a:bodyPr/>
          <a:lstStyle/>
          <a:p>
            <a:pPr rtl="0"/>
            <a:fld id="{5641018C-6CAF-B84E-B92C-ECB119457FBA}" type="slidenum">
              <a:rPr/>
              <a:t>16</a:t>
            </a:fld>
            <a:endParaRPr/>
          </a:p>
        </p:txBody>
      </p:sp>
    </p:spTree>
    <p:extLst>
      <p:ext uri="{BB962C8B-B14F-4D97-AF65-F5344CB8AC3E}">
        <p14:creationId xmlns:p14="http://schemas.microsoft.com/office/powerpoint/2010/main" val="24491579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11.2 Одноадресная, широковещательная и многоадресная рассылка IPv4</a:t>
            </a:r>
          </a:p>
          <a:p>
            <a:pPr rtl="0"/>
            <a:r>
              <a:rPr lang="ru-RU"/>
              <a:t>11.2.2 — Широковещательная передача</a:t>
            </a:r>
          </a:p>
        </p:txBody>
      </p:sp>
      <p:sp>
        <p:nvSpPr>
          <p:cNvPr id="4" name="Slide Number Placeholder 3"/>
          <p:cNvSpPr>
            <a:spLocks noGrp="1"/>
          </p:cNvSpPr>
          <p:nvPr>
            <p:ph type="sldNum" sz="quarter" idx="5"/>
          </p:nvPr>
        </p:nvSpPr>
        <p:spPr/>
        <p:txBody>
          <a:bodyPr/>
          <a:lstStyle/>
          <a:p>
            <a:pPr rtl="0"/>
            <a:fld id="{5641018C-6CAF-B84E-B92C-ECB119457FBA}" type="slidenum">
              <a:rPr/>
              <a:t>17</a:t>
            </a:fld>
            <a:endParaRPr/>
          </a:p>
        </p:txBody>
      </p:sp>
    </p:spTree>
    <p:extLst>
      <p:ext uri="{BB962C8B-B14F-4D97-AF65-F5344CB8AC3E}">
        <p14:creationId xmlns:p14="http://schemas.microsoft.com/office/powerpoint/2010/main" val="30190846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11.2 Одноадресная, широковещательная и многоадресная рассылка IPv4</a:t>
            </a:r>
          </a:p>
          <a:p>
            <a:pPr rtl="0"/>
            <a:r>
              <a:rPr lang="ru-RU"/>
              <a:t>11.2.3 — Многоадресная передача</a:t>
            </a:r>
          </a:p>
          <a:p>
            <a:pPr marL="0" marR="0" lvl="0" indent="0" algn="l" defTabSz="457200" rtl="0" eaLnBrk="1" fontAlgn="auto" latinLnBrk="0" hangingPunct="1">
              <a:lnSpc>
                <a:spcPct val="100000"/>
              </a:lnSpc>
              <a:spcBef>
                <a:spcPts val="0"/>
              </a:spcBef>
              <a:spcAft>
                <a:spcPts val="0"/>
              </a:spcAft>
              <a:buClrTx/>
              <a:buSzTx/>
              <a:buFontTx/>
              <a:buNone/>
              <a:tabLst/>
              <a:defRPr/>
            </a:pPr>
            <a:r>
              <a:rPr lang="ru-RU"/>
              <a:t>11.2.4 – </a:t>
            </a:r>
            <a:r>
              <a:rPr lang="ru-RU" sz="1200" b="0" i="0" kern="1200">
                <a:solidFill>
                  <a:schemeClr val="tx1"/>
                </a:solidFill>
                <a:effectLst/>
                <a:latin typeface="+mn-lt"/>
                <a:ea typeface="+mn-ea"/>
                <a:cs typeface="+mn-cs"/>
              </a:rPr>
              <a:t>Задание. Одноадресная, многоадресная и широковещательная рассылка</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18</a:t>
            </a:fld>
            <a:endParaRPr/>
          </a:p>
        </p:txBody>
      </p:sp>
    </p:spTree>
    <p:extLst>
      <p:ext uri="{BB962C8B-B14F-4D97-AF65-F5344CB8AC3E}">
        <p14:creationId xmlns:p14="http://schemas.microsoft.com/office/powerpoint/2010/main" val="29389940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11.3 — Типы IPv4 адресов</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19</a:t>
            </a:fld>
            <a:endParaRPr/>
          </a:p>
        </p:txBody>
      </p:sp>
    </p:spTree>
    <p:extLst>
      <p:ext uri="{BB962C8B-B14F-4D97-AF65-F5344CB8AC3E}">
        <p14:creationId xmlns:p14="http://schemas.microsoft.com/office/powerpoint/2010/main" val="8967279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11.3 — Типы IPv4 адресов</a:t>
            </a:r>
          </a:p>
          <a:p>
            <a:pPr rtl="0"/>
            <a:r>
              <a:rPr lang="ru-RU"/>
              <a:t>11.3.1 – Публичные и частные IPv4-адреса</a:t>
            </a:r>
          </a:p>
        </p:txBody>
      </p:sp>
      <p:sp>
        <p:nvSpPr>
          <p:cNvPr id="4" name="Slide Number Placeholder 3"/>
          <p:cNvSpPr>
            <a:spLocks noGrp="1"/>
          </p:cNvSpPr>
          <p:nvPr>
            <p:ph type="sldNum" sz="quarter" idx="5"/>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12408230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11.3 — Типы IPv4 адресов</a:t>
            </a:r>
          </a:p>
          <a:p>
            <a:pPr rtl="0"/>
            <a:r>
              <a:rPr lang="ru-RU"/>
              <a:t>11.3.2 — Маршрутизация в Интернет</a:t>
            </a:r>
          </a:p>
          <a:p>
            <a:pPr marL="0" marR="0" lvl="0" indent="0" algn="l" defTabSz="457200" rtl="0" eaLnBrk="1" fontAlgn="auto" latinLnBrk="0" hangingPunct="1">
              <a:lnSpc>
                <a:spcPct val="100000"/>
              </a:lnSpc>
              <a:spcBef>
                <a:spcPts val="0"/>
              </a:spcBef>
              <a:spcAft>
                <a:spcPts val="0"/>
              </a:spcAft>
              <a:buClrTx/>
              <a:buSzTx/>
              <a:buFontTx/>
              <a:buNone/>
              <a:tabLst/>
              <a:defRPr/>
            </a:pPr>
            <a:r>
              <a:rPr lang="ru-RU"/>
              <a:t>11.3.3 – </a:t>
            </a:r>
            <a:r>
              <a:rPr lang="ru-RU" sz="1200" b="0" i="0" kern="1200">
                <a:solidFill>
                  <a:schemeClr val="tx1"/>
                </a:solidFill>
                <a:effectLst/>
                <a:latin typeface="+mn-lt"/>
                <a:ea typeface="+mn-ea"/>
                <a:cs typeface="+mn-cs"/>
              </a:rPr>
              <a:t>Задание. Разрешение или блокировка IPv4-адресов</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21</a:t>
            </a:fld>
            <a:endParaRPr/>
          </a:p>
        </p:txBody>
      </p:sp>
    </p:spTree>
    <p:extLst>
      <p:ext uri="{BB962C8B-B14F-4D97-AF65-F5344CB8AC3E}">
        <p14:creationId xmlns:p14="http://schemas.microsoft.com/office/powerpoint/2010/main" val="33625943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11.3 — Типы IPv4 адресов</a:t>
            </a:r>
          </a:p>
          <a:p>
            <a:pPr rtl="0"/>
            <a:r>
              <a:rPr lang="ru-RU"/>
              <a:t>11.3.4 – IPv4-адреса специального назначения</a:t>
            </a:r>
          </a:p>
        </p:txBody>
      </p:sp>
      <p:sp>
        <p:nvSpPr>
          <p:cNvPr id="4" name="Slide Number Placeholder 3"/>
          <p:cNvSpPr>
            <a:spLocks noGrp="1"/>
          </p:cNvSpPr>
          <p:nvPr>
            <p:ph type="sldNum" sz="quarter" idx="5"/>
          </p:nvPr>
        </p:nvSpPr>
        <p:spPr/>
        <p:txBody>
          <a:bodyPr/>
          <a:lstStyle/>
          <a:p>
            <a:pPr rtl="0"/>
            <a:fld id="{5641018C-6CAF-B84E-B92C-ECB119457FBA}" type="slidenum">
              <a:rPr/>
              <a:t>22</a:t>
            </a:fld>
            <a:endParaRPr/>
          </a:p>
        </p:txBody>
      </p:sp>
    </p:spTree>
    <p:extLst>
      <p:ext uri="{BB962C8B-B14F-4D97-AF65-F5344CB8AC3E}">
        <p14:creationId xmlns:p14="http://schemas.microsoft.com/office/powerpoint/2010/main" val="29014941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11.3 — Типы IPv4 адресов</a:t>
            </a:r>
          </a:p>
          <a:p>
            <a:pPr rtl="0"/>
            <a:r>
              <a:rPr lang="ru-RU"/>
              <a:t>11.3.5. Традиционная классовая адресация</a:t>
            </a:r>
          </a:p>
        </p:txBody>
      </p:sp>
      <p:sp>
        <p:nvSpPr>
          <p:cNvPr id="4" name="Slide Number Placeholder 3"/>
          <p:cNvSpPr>
            <a:spLocks noGrp="1"/>
          </p:cNvSpPr>
          <p:nvPr>
            <p:ph type="sldNum" sz="quarter" idx="5"/>
          </p:nvPr>
        </p:nvSpPr>
        <p:spPr/>
        <p:txBody>
          <a:bodyPr/>
          <a:lstStyle/>
          <a:p>
            <a:pPr rtl="0"/>
            <a:fld id="{5641018C-6CAF-B84E-B92C-ECB119457FBA}" type="slidenum">
              <a:rPr/>
              <a:t>23</a:t>
            </a:fld>
            <a:endParaRPr/>
          </a:p>
        </p:txBody>
      </p:sp>
    </p:spTree>
    <p:extLst>
      <p:ext uri="{BB962C8B-B14F-4D97-AF65-F5344CB8AC3E}">
        <p14:creationId xmlns:p14="http://schemas.microsoft.com/office/powerpoint/2010/main" val="9591470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11.3 — Типы IPv4 адресов</a:t>
            </a:r>
          </a:p>
          <a:p>
            <a:pPr rtl="0"/>
            <a:r>
              <a:rPr lang="ru-RU"/>
              <a:t>11.3.6 Назначение IP-адресов</a:t>
            </a:r>
          </a:p>
          <a:p>
            <a:pPr marL="0" marR="0" lvl="0" indent="0" algn="l" defTabSz="457200" rtl="0" eaLnBrk="1" fontAlgn="auto" latinLnBrk="0" hangingPunct="1">
              <a:lnSpc>
                <a:spcPct val="100000"/>
              </a:lnSpc>
              <a:spcBef>
                <a:spcPts val="0"/>
              </a:spcBef>
              <a:spcAft>
                <a:spcPts val="0"/>
              </a:spcAft>
              <a:buClrTx/>
              <a:buSzTx/>
              <a:buFontTx/>
              <a:buNone/>
              <a:tabLst/>
              <a:defRPr/>
            </a:pPr>
            <a:r>
              <a:rPr lang="ru-RU"/>
              <a:t>11.3.7 – </a:t>
            </a:r>
            <a:r>
              <a:rPr lang="ru-RU" sz="1200" b="0" i="0" kern="1200">
                <a:solidFill>
                  <a:schemeClr val="tx1"/>
                </a:solidFill>
                <a:effectLst/>
                <a:latin typeface="+mn-lt"/>
                <a:ea typeface="+mn-ea"/>
                <a:cs typeface="+mn-cs"/>
              </a:rPr>
              <a:t>Задание. Публичные и частные IPv4-адреса</a:t>
            </a:r>
          </a:p>
          <a:p>
            <a:pPr marL="0" marR="0" lvl="0" indent="0" algn="l" defTabSz="457200" rtl="0" eaLnBrk="1" fontAlgn="auto" latinLnBrk="0" hangingPunct="1">
              <a:lnSpc>
                <a:spcPct val="100000"/>
              </a:lnSpc>
              <a:spcBef>
                <a:spcPts val="0"/>
              </a:spcBef>
              <a:spcAft>
                <a:spcPts val="0"/>
              </a:spcAft>
              <a:buClrTx/>
              <a:buSzTx/>
              <a:buFontTx/>
              <a:buNone/>
              <a:tabLst/>
              <a:defRPr/>
            </a:pPr>
            <a:r>
              <a:rPr lang="ru-RU"/>
              <a:t>11.3.8 — </a:t>
            </a:r>
            <a:r>
              <a:rPr lang="ru-RU" sz="1200" b="0" i="0" kern="1200">
                <a:solidFill>
                  <a:schemeClr val="tx1"/>
                </a:solidFill>
                <a:effectLst/>
                <a:latin typeface="+mn-lt"/>
                <a:ea typeface="+mn-ea"/>
                <a:cs typeface="+mn-cs"/>
              </a:rPr>
              <a:t>Проверьте ваше понимание темы - Типы IPv4 адресов</a:t>
            </a:r>
          </a:p>
          <a:p>
            <a:endParaRPr lang="en-US" dirty="0"/>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24</a:t>
            </a:fld>
            <a:endParaRPr/>
          </a:p>
        </p:txBody>
      </p:sp>
    </p:spTree>
    <p:extLst>
      <p:ext uri="{BB962C8B-B14F-4D97-AF65-F5344CB8AC3E}">
        <p14:creationId xmlns:p14="http://schemas.microsoft.com/office/powerpoint/2010/main" val="20437822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11.4 — Сегментация сети</a:t>
            </a:r>
          </a:p>
          <a:p>
            <a:endParaRPr lang="en-US" dirty="0"/>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25</a:t>
            </a:fld>
            <a:endParaRPr/>
          </a:p>
        </p:txBody>
      </p:sp>
    </p:spTree>
    <p:extLst>
      <p:ext uri="{BB962C8B-B14F-4D97-AF65-F5344CB8AC3E}">
        <p14:creationId xmlns:p14="http://schemas.microsoft.com/office/powerpoint/2010/main" val="30742313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11.4 — Сегментация сети</a:t>
            </a:r>
          </a:p>
          <a:p>
            <a:pPr rtl="0"/>
            <a:r>
              <a:rPr lang="ru-RU"/>
              <a:t>11.4.1 — Домены вещания и сегментация</a:t>
            </a:r>
          </a:p>
        </p:txBody>
      </p:sp>
      <p:sp>
        <p:nvSpPr>
          <p:cNvPr id="4" name="Slide Number Placeholder 3"/>
          <p:cNvSpPr>
            <a:spLocks noGrp="1"/>
          </p:cNvSpPr>
          <p:nvPr>
            <p:ph type="sldNum" sz="quarter" idx="5"/>
          </p:nvPr>
        </p:nvSpPr>
        <p:spPr/>
        <p:txBody>
          <a:bodyPr/>
          <a:lstStyle/>
          <a:p>
            <a:pPr rtl="0"/>
            <a:fld id="{5641018C-6CAF-B84E-B92C-ECB119457FBA}" type="slidenum">
              <a:rPr/>
              <a:t>26</a:t>
            </a:fld>
            <a:endParaRPr/>
          </a:p>
        </p:txBody>
      </p:sp>
    </p:spTree>
    <p:extLst>
      <p:ext uri="{BB962C8B-B14F-4D97-AF65-F5344CB8AC3E}">
        <p14:creationId xmlns:p14="http://schemas.microsoft.com/office/powerpoint/2010/main" val="17490744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11.4 — Сегментация сети</a:t>
            </a:r>
          </a:p>
          <a:p>
            <a:pPr rtl="0"/>
            <a:r>
              <a:rPr lang="ru-RU"/>
              <a:t>11.4.2. Проблемы с крупными доменами широковещательной рассылки</a:t>
            </a:r>
          </a:p>
        </p:txBody>
      </p:sp>
      <p:sp>
        <p:nvSpPr>
          <p:cNvPr id="4" name="Slide Number Placeholder 3"/>
          <p:cNvSpPr>
            <a:spLocks noGrp="1"/>
          </p:cNvSpPr>
          <p:nvPr>
            <p:ph type="sldNum" sz="quarter" idx="5"/>
          </p:nvPr>
        </p:nvSpPr>
        <p:spPr/>
        <p:txBody>
          <a:bodyPr/>
          <a:lstStyle/>
          <a:p>
            <a:pPr rtl="0"/>
            <a:fld id="{5641018C-6CAF-B84E-B92C-ECB119457FBA}" type="slidenum">
              <a:rPr/>
              <a:t>27</a:t>
            </a:fld>
            <a:endParaRPr/>
          </a:p>
        </p:txBody>
      </p:sp>
    </p:spTree>
    <p:extLst>
      <p:ext uri="{BB962C8B-B14F-4D97-AF65-F5344CB8AC3E}">
        <p14:creationId xmlns:p14="http://schemas.microsoft.com/office/powerpoint/2010/main" val="33086440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11.4 — Сегментация сети</a:t>
            </a:r>
          </a:p>
          <a:p>
            <a:pPr rtl="0"/>
            <a:r>
              <a:rPr lang="ru-RU"/>
              <a:t>11.4.3 — Причины сегментации сетей</a:t>
            </a:r>
          </a:p>
          <a:p>
            <a:pPr marL="0" marR="0" lvl="0" indent="0" algn="l" defTabSz="457200" rtl="0" eaLnBrk="1" fontAlgn="auto" latinLnBrk="0" hangingPunct="1">
              <a:lnSpc>
                <a:spcPct val="100000"/>
              </a:lnSpc>
              <a:spcBef>
                <a:spcPts val="0"/>
              </a:spcBef>
              <a:spcAft>
                <a:spcPts val="0"/>
              </a:spcAft>
              <a:buClrTx/>
              <a:buSzTx/>
              <a:buFontTx/>
              <a:buNone/>
              <a:tabLst/>
              <a:defRPr/>
            </a:pPr>
            <a:r>
              <a:rPr lang="ru-RU"/>
              <a:t>11.4.4 — </a:t>
            </a:r>
            <a:r>
              <a:rPr lang="ru-RU" sz="1200" b="0" i="0" kern="1200">
                <a:solidFill>
                  <a:schemeClr val="tx1"/>
                </a:solidFill>
                <a:effectLst/>
                <a:latin typeface="+mn-lt"/>
                <a:ea typeface="+mn-ea"/>
                <a:cs typeface="+mn-cs"/>
              </a:rPr>
              <a:t>Проверьте ваше понимание темы — Сегментация сети</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28</a:t>
            </a:fld>
            <a:endParaRPr/>
          </a:p>
        </p:txBody>
      </p:sp>
    </p:spTree>
    <p:extLst>
      <p:ext uri="{BB962C8B-B14F-4D97-AF65-F5344CB8AC3E}">
        <p14:creationId xmlns:p14="http://schemas.microsoft.com/office/powerpoint/2010/main" val="4592482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11.5 — Подсеть сети IPv4</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29</a:t>
            </a:fld>
            <a:endParaRPr/>
          </a:p>
        </p:txBody>
      </p:sp>
    </p:spTree>
    <p:extLst>
      <p:ext uri="{BB962C8B-B14F-4D97-AF65-F5344CB8AC3E}">
        <p14:creationId xmlns:p14="http://schemas.microsoft.com/office/powerpoint/2010/main" val="29829977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11.5 — Подсеть сети IPv4</a:t>
            </a:r>
          </a:p>
          <a:p>
            <a:pPr rtl="0"/>
            <a:r>
              <a:rPr lang="ru-RU"/>
              <a:t>11.5.1 — Подсеть на границе октета</a:t>
            </a:r>
          </a:p>
        </p:txBody>
      </p:sp>
      <p:sp>
        <p:nvSpPr>
          <p:cNvPr id="4" name="Slide Number Placeholder 3"/>
          <p:cNvSpPr>
            <a:spLocks noGrp="1"/>
          </p:cNvSpPr>
          <p:nvPr>
            <p:ph type="sldNum" sz="quarter" idx="5"/>
          </p:nvPr>
        </p:nvSpPr>
        <p:spPr/>
        <p:txBody>
          <a:bodyPr/>
          <a:lstStyle/>
          <a:p>
            <a:pPr rtl="0"/>
            <a:fld id="{5641018C-6CAF-B84E-B92C-ECB119457FBA}" type="slidenum">
              <a:rPr/>
              <a:t>30</a:t>
            </a:fld>
            <a:endParaRPr/>
          </a:p>
        </p:txBody>
      </p:sp>
    </p:spTree>
    <p:extLst>
      <p:ext uri="{BB962C8B-B14F-4D97-AF65-F5344CB8AC3E}">
        <p14:creationId xmlns:p14="http://schemas.microsoft.com/office/powerpoint/2010/main" val="36278872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11.5 — Подсеть сети IPv4</a:t>
            </a:r>
          </a:p>
          <a:p>
            <a:pPr rtl="0"/>
            <a:r>
              <a:rPr lang="ru-RU"/>
              <a:t>11.5.1 — Подсеть на границе октета (продолжение)</a:t>
            </a:r>
          </a:p>
        </p:txBody>
      </p:sp>
      <p:sp>
        <p:nvSpPr>
          <p:cNvPr id="4" name="Slide Number Placeholder 3"/>
          <p:cNvSpPr>
            <a:spLocks noGrp="1"/>
          </p:cNvSpPr>
          <p:nvPr>
            <p:ph type="sldNum" sz="quarter" idx="5"/>
          </p:nvPr>
        </p:nvSpPr>
        <p:spPr/>
        <p:txBody>
          <a:bodyPr/>
          <a:lstStyle/>
          <a:p>
            <a:pPr rtl="0"/>
            <a:fld id="{5641018C-6CAF-B84E-B92C-ECB119457FBA}" type="slidenum">
              <a:rPr/>
              <a:t>31</a:t>
            </a:fld>
            <a:endParaRPr/>
          </a:p>
        </p:txBody>
      </p:sp>
    </p:spTree>
    <p:extLst>
      <p:ext uri="{BB962C8B-B14F-4D97-AF65-F5344CB8AC3E}">
        <p14:creationId xmlns:p14="http://schemas.microsoft.com/office/powerpoint/2010/main" val="29824262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11.5 — Подсеть сети IPv4</a:t>
            </a:r>
          </a:p>
          <a:p>
            <a:pPr rtl="0"/>
            <a:r>
              <a:rPr lang="ru-RU"/>
              <a:t>11.5.2 — Подсеть внутри границы октета</a:t>
            </a:r>
          </a:p>
        </p:txBody>
      </p:sp>
      <p:sp>
        <p:nvSpPr>
          <p:cNvPr id="4" name="Slide Number Placeholder 3"/>
          <p:cNvSpPr>
            <a:spLocks noGrp="1"/>
          </p:cNvSpPr>
          <p:nvPr>
            <p:ph type="sldNum" sz="quarter" idx="5"/>
          </p:nvPr>
        </p:nvSpPr>
        <p:spPr/>
        <p:txBody>
          <a:bodyPr/>
          <a:lstStyle/>
          <a:p>
            <a:pPr rtl="0"/>
            <a:fld id="{5641018C-6CAF-B84E-B92C-ECB119457FBA}" type="slidenum">
              <a:rPr/>
              <a:t>32</a:t>
            </a:fld>
            <a:endParaRPr/>
          </a:p>
        </p:txBody>
      </p:sp>
    </p:spTree>
    <p:extLst>
      <p:ext uri="{BB962C8B-B14F-4D97-AF65-F5344CB8AC3E}">
        <p14:creationId xmlns:p14="http://schemas.microsoft.com/office/powerpoint/2010/main" val="11699841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11.5 — Подсеть сети IPv4</a:t>
            </a:r>
          </a:p>
          <a:p>
            <a:pPr rtl="0"/>
            <a:r>
              <a:rPr lang="ru-RU"/>
              <a:t>11.5.5 — Packet Tracer — Разделение IPv4-сети на подсети</a:t>
            </a:r>
          </a:p>
        </p:txBody>
      </p:sp>
      <p:sp>
        <p:nvSpPr>
          <p:cNvPr id="4" name="Slide Number Placeholder 3"/>
          <p:cNvSpPr>
            <a:spLocks noGrp="1"/>
          </p:cNvSpPr>
          <p:nvPr>
            <p:ph type="sldNum" sz="quarter" idx="5"/>
          </p:nvPr>
        </p:nvSpPr>
        <p:spPr/>
        <p:txBody>
          <a:bodyPr/>
          <a:lstStyle/>
          <a:p>
            <a:pPr rtl="0"/>
            <a:fld id="{5641018C-6CAF-B84E-B92C-ECB119457FBA}" type="slidenum">
              <a:rPr/>
              <a:t>33</a:t>
            </a:fld>
            <a:endParaRPr/>
          </a:p>
        </p:txBody>
      </p:sp>
    </p:spTree>
    <p:extLst>
      <p:ext uri="{BB962C8B-B14F-4D97-AF65-F5344CB8AC3E}">
        <p14:creationId xmlns:p14="http://schemas.microsoft.com/office/powerpoint/2010/main" val="6874563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11.6 Подсеть: /16 и /8</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34</a:t>
            </a:fld>
            <a:endParaRPr/>
          </a:p>
        </p:txBody>
      </p:sp>
    </p:spTree>
    <p:extLst>
      <p:ext uri="{BB962C8B-B14F-4D97-AF65-F5344CB8AC3E}">
        <p14:creationId xmlns:p14="http://schemas.microsoft.com/office/powerpoint/2010/main" val="2760207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11.6 Подсеть: /16 и /8</a:t>
            </a:r>
          </a:p>
          <a:p>
            <a:pPr rtl="0"/>
            <a:r>
              <a:rPr lang="ru-RU"/>
              <a:t>11.6.1 — Создание подсетей с префиксом /16</a:t>
            </a:r>
          </a:p>
        </p:txBody>
      </p:sp>
      <p:sp>
        <p:nvSpPr>
          <p:cNvPr id="4" name="Slide Number Placeholder 3"/>
          <p:cNvSpPr>
            <a:spLocks noGrp="1"/>
          </p:cNvSpPr>
          <p:nvPr>
            <p:ph type="sldNum" sz="quarter" idx="5"/>
          </p:nvPr>
        </p:nvSpPr>
        <p:spPr/>
        <p:txBody>
          <a:bodyPr/>
          <a:lstStyle/>
          <a:p>
            <a:pPr rtl="0"/>
            <a:fld id="{5641018C-6CAF-B84E-B92C-ECB119457FBA}" type="slidenum">
              <a:rPr/>
              <a:t>35</a:t>
            </a:fld>
            <a:endParaRPr/>
          </a:p>
        </p:txBody>
      </p:sp>
    </p:spTree>
    <p:extLst>
      <p:ext uri="{BB962C8B-B14F-4D97-AF65-F5344CB8AC3E}">
        <p14:creationId xmlns:p14="http://schemas.microsoft.com/office/powerpoint/2010/main" val="17655035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11.6 Подсеть: /16 и /8</a:t>
            </a:r>
          </a:p>
          <a:p>
            <a:pPr rtl="0"/>
            <a:r>
              <a:rPr lang="ru-RU"/>
              <a:t>11.6.2 — Создание 100 подсетей с префиксом косой черты 16</a:t>
            </a:r>
          </a:p>
        </p:txBody>
      </p:sp>
      <p:sp>
        <p:nvSpPr>
          <p:cNvPr id="4" name="Slide Number Placeholder 3"/>
          <p:cNvSpPr>
            <a:spLocks noGrp="1"/>
          </p:cNvSpPr>
          <p:nvPr>
            <p:ph type="sldNum" sz="quarter" idx="5"/>
          </p:nvPr>
        </p:nvSpPr>
        <p:spPr/>
        <p:txBody>
          <a:bodyPr/>
          <a:lstStyle/>
          <a:p>
            <a:pPr rtl="0"/>
            <a:fld id="{5641018C-6CAF-B84E-B92C-ECB119457FBA}" type="slidenum">
              <a:rPr/>
              <a:t>36</a:t>
            </a:fld>
            <a:endParaRPr/>
          </a:p>
        </p:txBody>
      </p:sp>
    </p:spTree>
    <p:extLst>
      <p:ext uri="{BB962C8B-B14F-4D97-AF65-F5344CB8AC3E}">
        <p14:creationId xmlns:p14="http://schemas.microsoft.com/office/powerpoint/2010/main" val="25680850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11.6 Подсеть: /16 и /8</a:t>
            </a:r>
          </a:p>
          <a:p>
            <a:pPr rtl="0"/>
            <a:r>
              <a:rPr lang="ru-RU"/>
              <a:t>11.6.3 — Создание 1000 подсетей с префиксом косой черты 8</a:t>
            </a:r>
          </a:p>
        </p:txBody>
      </p:sp>
      <p:sp>
        <p:nvSpPr>
          <p:cNvPr id="4" name="Slide Number Placeholder 3"/>
          <p:cNvSpPr>
            <a:spLocks noGrp="1"/>
          </p:cNvSpPr>
          <p:nvPr>
            <p:ph type="sldNum" sz="quarter" idx="5"/>
          </p:nvPr>
        </p:nvSpPr>
        <p:spPr/>
        <p:txBody>
          <a:bodyPr/>
          <a:lstStyle/>
          <a:p>
            <a:pPr rtl="0"/>
            <a:fld id="{5641018C-6CAF-B84E-B92C-ECB119457FBA}" type="slidenum">
              <a:rPr/>
              <a:t>37</a:t>
            </a:fld>
            <a:endParaRPr/>
          </a:p>
        </p:txBody>
      </p:sp>
    </p:spTree>
    <p:extLst>
      <p:ext uri="{BB962C8B-B14F-4D97-AF65-F5344CB8AC3E}">
        <p14:creationId xmlns:p14="http://schemas.microsoft.com/office/powerpoint/2010/main" val="18854180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11.6 Подсеть: /16 и /8</a:t>
            </a:r>
          </a:p>
          <a:p>
            <a:pPr rtl="0"/>
            <a:r>
              <a:rPr lang="ru-RU"/>
              <a:t>11.6.6 – Лабораторная работа - Расчет подсетей IPv4</a:t>
            </a:r>
          </a:p>
        </p:txBody>
      </p:sp>
      <p:sp>
        <p:nvSpPr>
          <p:cNvPr id="4" name="Slide Number Placeholder 3"/>
          <p:cNvSpPr>
            <a:spLocks noGrp="1"/>
          </p:cNvSpPr>
          <p:nvPr>
            <p:ph type="sldNum" sz="quarter" idx="5"/>
          </p:nvPr>
        </p:nvSpPr>
        <p:spPr/>
        <p:txBody>
          <a:bodyPr/>
          <a:lstStyle/>
          <a:p>
            <a:pPr rtl="0"/>
            <a:fld id="{5641018C-6CAF-B84E-B92C-ECB119457FBA}" type="slidenum">
              <a:rPr/>
              <a:t>38</a:t>
            </a:fld>
            <a:endParaRPr/>
          </a:p>
        </p:txBody>
      </p:sp>
    </p:spTree>
    <p:extLst>
      <p:ext uri="{BB962C8B-B14F-4D97-AF65-F5344CB8AC3E}">
        <p14:creationId xmlns:p14="http://schemas.microsoft.com/office/powerpoint/2010/main" val="39770051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11.7 Разделение на подсети для соответствия требованиям</a:t>
            </a:r>
          </a:p>
          <a:p>
            <a:endParaRPr lang="en-US" dirty="0"/>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39</a:t>
            </a:fld>
            <a:endParaRPr/>
          </a:p>
        </p:txBody>
      </p:sp>
    </p:spTree>
    <p:extLst>
      <p:ext uri="{BB962C8B-B14F-4D97-AF65-F5344CB8AC3E}">
        <p14:creationId xmlns:p14="http://schemas.microsoft.com/office/powerpoint/2010/main" val="215167569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dirty="0"/>
              <a:t>11 — Адресация IPv4</a:t>
            </a:r>
          </a:p>
          <a:p>
            <a:pPr rtl="0"/>
            <a:r>
              <a:rPr lang="ru-RU" dirty="0"/>
              <a:t>11.7 Разделение на подсети для соответствия требованиям</a:t>
            </a:r>
          </a:p>
          <a:p>
            <a:pPr rtl="0"/>
            <a:r>
              <a:rPr lang="ru-RU" dirty="0"/>
              <a:t>11.7.1 — Частное и публичное адресное пространство IPv4 подсети</a:t>
            </a:r>
          </a:p>
        </p:txBody>
      </p:sp>
      <p:sp>
        <p:nvSpPr>
          <p:cNvPr id="4" name="Slide Number Placeholder 3"/>
          <p:cNvSpPr>
            <a:spLocks noGrp="1"/>
          </p:cNvSpPr>
          <p:nvPr>
            <p:ph type="sldNum" sz="quarter" idx="5"/>
          </p:nvPr>
        </p:nvSpPr>
        <p:spPr/>
        <p:txBody>
          <a:bodyPr/>
          <a:lstStyle/>
          <a:p>
            <a:pPr rtl="0"/>
            <a:fld id="{5641018C-6CAF-B84E-B92C-ECB119457FBA}" type="slidenum">
              <a:rPr/>
              <a:t>40</a:t>
            </a:fld>
            <a:endParaRPr/>
          </a:p>
        </p:txBody>
      </p:sp>
    </p:spTree>
    <p:extLst>
      <p:ext uri="{BB962C8B-B14F-4D97-AF65-F5344CB8AC3E}">
        <p14:creationId xmlns:p14="http://schemas.microsoft.com/office/powerpoint/2010/main" val="36834504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11.7 Разделение на подсети для соответствия требованиям</a:t>
            </a:r>
          </a:p>
          <a:p>
            <a:pPr rtl="0"/>
            <a:r>
              <a:rPr lang="ru-RU"/>
              <a:t>11.7.2 — Минимизация неиспользуемых адресов IPv4 узлов и максимизация подсетей</a:t>
            </a:r>
          </a:p>
        </p:txBody>
      </p:sp>
      <p:sp>
        <p:nvSpPr>
          <p:cNvPr id="4" name="Slide Number Placeholder 3"/>
          <p:cNvSpPr>
            <a:spLocks noGrp="1"/>
          </p:cNvSpPr>
          <p:nvPr>
            <p:ph type="sldNum" sz="quarter" idx="5"/>
          </p:nvPr>
        </p:nvSpPr>
        <p:spPr/>
        <p:txBody>
          <a:bodyPr/>
          <a:lstStyle/>
          <a:p>
            <a:pPr rtl="0"/>
            <a:fld id="{5641018C-6CAF-B84E-B92C-ECB119457FBA}" type="slidenum">
              <a:rPr/>
              <a:t>41</a:t>
            </a:fld>
            <a:endParaRPr/>
          </a:p>
        </p:txBody>
      </p:sp>
    </p:spTree>
    <p:extLst>
      <p:ext uri="{BB962C8B-B14F-4D97-AF65-F5344CB8AC3E}">
        <p14:creationId xmlns:p14="http://schemas.microsoft.com/office/powerpoint/2010/main" val="29491420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11.7 Разделение на подсети для соответствия требованиям</a:t>
            </a:r>
          </a:p>
          <a:p>
            <a:pPr rtl="0"/>
            <a:r>
              <a:rPr lang="ru-RU"/>
              <a:t>11.7.3 — Пример: Эффективное разделение на подсети IPv4</a:t>
            </a:r>
          </a:p>
          <a:p>
            <a:pPr marL="0" marR="0" lvl="0" indent="0" algn="l" defTabSz="457200" rtl="0" eaLnBrk="1" fontAlgn="auto" latinLnBrk="0" hangingPunct="1">
              <a:lnSpc>
                <a:spcPct val="100000"/>
              </a:lnSpc>
              <a:spcBef>
                <a:spcPts val="0"/>
              </a:spcBef>
              <a:spcAft>
                <a:spcPts val="0"/>
              </a:spcAft>
              <a:buClrTx/>
              <a:buSzTx/>
              <a:buFontTx/>
              <a:buNone/>
              <a:tabLst/>
              <a:defRPr/>
            </a:pPr>
            <a:r>
              <a:rPr lang="ru-RU"/>
              <a:t>11.7.4 – </a:t>
            </a:r>
            <a:r>
              <a:rPr lang="ru-RU" sz="1200" b="0" i="0" kern="1200">
                <a:solidFill>
                  <a:schemeClr val="tx1"/>
                </a:solidFill>
                <a:effectLst/>
                <a:latin typeface="+mn-lt"/>
                <a:ea typeface="+mn-ea"/>
                <a:cs typeface="+mn-cs"/>
              </a:rPr>
              <a:t>Задание. Определение количества бит для заимствования</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42</a:t>
            </a:fld>
            <a:endParaRPr/>
          </a:p>
        </p:txBody>
      </p:sp>
    </p:spTree>
    <p:extLst>
      <p:ext uri="{BB962C8B-B14F-4D97-AF65-F5344CB8AC3E}">
        <p14:creationId xmlns:p14="http://schemas.microsoft.com/office/powerpoint/2010/main" val="34033917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11.7 Разделение на подсети для соответствия требованиям</a:t>
            </a:r>
          </a:p>
          <a:p>
            <a:pPr rtl="0"/>
            <a:r>
              <a:rPr lang="ru-RU"/>
              <a:t>11.7.5. Packet Tracer. Разделение на подсети. Сценарий</a:t>
            </a:r>
          </a:p>
        </p:txBody>
      </p:sp>
      <p:sp>
        <p:nvSpPr>
          <p:cNvPr id="4" name="Slide Number Placeholder 3"/>
          <p:cNvSpPr>
            <a:spLocks noGrp="1"/>
          </p:cNvSpPr>
          <p:nvPr>
            <p:ph type="sldNum" sz="quarter" idx="5"/>
          </p:nvPr>
        </p:nvSpPr>
        <p:spPr/>
        <p:txBody>
          <a:bodyPr/>
          <a:lstStyle/>
          <a:p>
            <a:pPr rtl="0"/>
            <a:fld id="{5641018C-6CAF-B84E-B92C-ECB119457FBA}" type="slidenum">
              <a:rPr/>
              <a:t>43</a:t>
            </a:fld>
            <a:endParaRPr/>
          </a:p>
        </p:txBody>
      </p:sp>
    </p:spTree>
    <p:extLst>
      <p:ext uri="{BB962C8B-B14F-4D97-AF65-F5344CB8AC3E}">
        <p14:creationId xmlns:p14="http://schemas.microsoft.com/office/powerpoint/2010/main" val="208485464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11,8 — ВЛСМ</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44</a:t>
            </a:fld>
            <a:endParaRPr/>
          </a:p>
        </p:txBody>
      </p:sp>
    </p:spTree>
    <p:extLst>
      <p:ext uri="{BB962C8B-B14F-4D97-AF65-F5344CB8AC3E}">
        <p14:creationId xmlns:p14="http://schemas.microsoft.com/office/powerpoint/2010/main" val="4464950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11.8 – VLSM</a:t>
            </a:r>
          </a:p>
          <a:p>
            <a:pPr rtl="0"/>
            <a:r>
              <a:rPr lang="ru-RU"/>
              <a:t>11.8.3 — Сохранение адресов IPv4</a:t>
            </a:r>
          </a:p>
        </p:txBody>
      </p:sp>
      <p:sp>
        <p:nvSpPr>
          <p:cNvPr id="4" name="Slide Number Placeholder 3"/>
          <p:cNvSpPr>
            <a:spLocks noGrp="1"/>
          </p:cNvSpPr>
          <p:nvPr>
            <p:ph type="sldNum" sz="quarter" idx="5"/>
          </p:nvPr>
        </p:nvSpPr>
        <p:spPr/>
        <p:txBody>
          <a:bodyPr/>
          <a:lstStyle/>
          <a:p>
            <a:pPr rtl="0"/>
            <a:fld id="{5641018C-6CAF-B84E-B92C-ECB119457FBA}" type="slidenum">
              <a:rPr/>
              <a:t>45</a:t>
            </a:fld>
            <a:endParaRPr/>
          </a:p>
        </p:txBody>
      </p:sp>
    </p:spTree>
    <p:extLst>
      <p:ext uri="{BB962C8B-B14F-4D97-AF65-F5344CB8AC3E}">
        <p14:creationId xmlns:p14="http://schemas.microsoft.com/office/powerpoint/2010/main" val="333460080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11.8 – VLSM</a:t>
            </a:r>
          </a:p>
          <a:p>
            <a:pPr rtl="0"/>
            <a:r>
              <a:rPr lang="ru-RU"/>
              <a:t>11.8.3 — Сохранение адресов IPv4</a:t>
            </a:r>
          </a:p>
        </p:txBody>
      </p:sp>
      <p:sp>
        <p:nvSpPr>
          <p:cNvPr id="4" name="Slide Number Placeholder 3"/>
          <p:cNvSpPr>
            <a:spLocks noGrp="1"/>
          </p:cNvSpPr>
          <p:nvPr>
            <p:ph type="sldNum" sz="quarter" idx="5"/>
          </p:nvPr>
        </p:nvSpPr>
        <p:spPr/>
        <p:txBody>
          <a:bodyPr/>
          <a:lstStyle/>
          <a:p>
            <a:pPr rtl="0"/>
            <a:fld id="{5641018C-6CAF-B84E-B92C-ECB119457FBA}" type="slidenum">
              <a:rPr/>
              <a:t>46</a:t>
            </a:fld>
            <a:endParaRPr/>
          </a:p>
        </p:txBody>
      </p:sp>
    </p:spTree>
    <p:extLst>
      <p:ext uri="{BB962C8B-B14F-4D97-AF65-F5344CB8AC3E}">
        <p14:creationId xmlns:p14="http://schemas.microsoft.com/office/powerpoint/2010/main" val="71341507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11.8 – VLSM</a:t>
            </a:r>
          </a:p>
          <a:p>
            <a:pPr rtl="0"/>
            <a:r>
              <a:rPr lang="ru-RU"/>
              <a:t>11.8.4 — VLSM</a:t>
            </a:r>
          </a:p>
        </p:txBody>
      </p:sp>
      <p:sp>
        <p:nvSpPr>
          <p:cNvPr id="4" name="Slide Number Placeholder 3"/>
          <p:cNvSpPr>
            <a:spLocks noGrp="1"/>
          </p:cNvSpPr>
          <p:nvPr>
            <p:ph type="sldNum" sz="quarter" idx="5"/>
          </p:nvPr>
        </p:nvSpPr>
        <p:spPr/>
        <p:txBody>
          <a:bodyPr/>
          <a:lstStyle/>
          <a:p>
            <a:pPr rtl="0"/>
            <a:fld id="{5641018C-6CAF-B84E-B92C-ECB119457FBA}" type="slidenum">
              <a:rPr/>
              <a:t>47</a:t>
            </a:fld>
            <a:endParaRPr/>
          </a:p>
        </p:txBody>
      </p:sp>
    </p:spTree>
    <p:extLst>
      <p:ext uri="{BB962C8B-B14F-4D97-AF65-F5344CB8AC3E}">
        <p14:creationId xmlns:p14="http://schemas.microsoft.com/office/powerpoint/2010/main" val="133943219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11.8 – VLSM</a:t>
            </a:r>
          </a:p>
          <a:p>
            <a:pPr rtl="0"/>
            <a:r>
              <a:rPr lang="ru-RU"/>
              <a:t>11.8.5 — Назначение адреса топологии VLSM</a:t>
            </a:r>
          </a:p>
          <a:p>
            <a:pPr marL="0" marR="0" lvl="0" indent="0" algn="l" defTabSz="457200" rtl="0" eaLnBrk="1" fontAlgn="auto" latinLnBrk="0" hangingPunct="1">
              <a:lnSpc>
                <a:spcPct val="100000"/>
              </a:lnSpc>
              <a:spcBef>
                <a:spcPts val="0"/>
              </a:spcBef>
              <a:spcAft>
                <a:spcPts val="0"/>
              </a:spcAft>
              <a:buClrTx/>
              <a:buSzTx/>
              <a:buFontTx/>
              <a:buNone/>
              <a:tabLst/>
              <a:defRPr/>
            </a:pPr>
            <a:r>
              <a:rPr lang="ru-RU"/>
              <a:t>11.8.6 — </a:t>
            </a:r>
            <a:r>
              <a:rPr lang="ru-RU" sz="1200" b="0" i="0" kern="1200">
                <a:solidFill>
                  <a:schemeClr val="tx1"/>
                </a:solidFill>
                <a:effectLst/>
                <a:latin typeface="+mn-lt"/>
                <a:ea typeface="+mn-ea"/>
                <a:cs typeface="+mn-cs"/>
              </a:rPr>
              <a:t>Задание - Практика VLSM</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48</a:t>
            </a:fld>
            <a:endParaRPr/>
          </a:p>
        </p:txBody>
      </p:sp>
    </p:spTree>
    <p:extLst>
      <p:ext uri="{BB962C8B-B14F-4D97-AF65-F5344CB8AC3E}">
        <p14:creationId xmlns:p14="http://schemas.microsoft.com/office/powerpoint/2010/main" val="365511945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11.9.  Структурированное проектирование</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49</a:t>
            </a:fld>
            <a:endParaRPr/>
          </a:p>
        </p:txBody>
      </p:sp>
    </p:spTree>
    <p:extLst>
      <p:ext uri="{BB962C8B-B14F-4D97-AF65-F5344CB8AC3E}">
        <p14:creationId xmlns:p14="http://schemas.microsoft.com/office/powerpoint/2010/main" val="141755979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11.9.  Структурированное проектирование</a:t>
            </a:r>
          </a:p>
          <a:p>
            <a:pPr rtl="0"/>
            <a:r>
              <a:rPr lang="ru-RU"/>
              <a:t>11.9.1 – Планирование адресации сети</a:t>
            </a:r>
          </a:p>
        </p:txBody>
      </p:sp>
      <p:sp>
        <p:nvSpPr>
          <p:cNvPr id="4" name="Slide Number Placeholder 3"/>
          <p:cNvSpPr>
            <a:spLocks noGrp="1"/>
          </p:cNvSpPr>
          <p:nvPr>
            <p:ph type="sldNum" sz="quarter" idx="5"/>
          </p:nvPr>
        </p:nvSpPr>
        <p:spPr/>
        <p:txBody>
          <a:bodyPr/>
          <a:lstStyle/>
          <a:p>
            <a:pPr rtl="0"/>
            <a:fld id="{5641018C-6CAF-B84E-B92C-ECB119457FBA}" type="slidenum">
              <a:rPr/>
              <a:t>50</a:t>
            </a:fld>
            <a:endParaRPr/>
          </a:p>
        </p:txBody>
      </p:sp>
    </p:spTree>
    <p:extLst>
      <p:ext uri="{BB962C8B-B14F-4D97-AF65-F5344CB8AC3E}">
        <p14:creationId xmlns:p14="http://schemas.microsoft.com/office/powerpoint/2010/main" val="260650522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11.9.  Структурированное проектирование</a:t>
            </a:r>
          </a:p>
          <a:p>
            <a:pPr rtl="0"/>
            <a:r>
              <a:rPr lang="ru-RU"/>
              <a:t>11.9.2 — Назначение адреса устройства</a:t>
            </a:r>
          </a:p>
        </p:txBody>
      </p:sp>
      <p:sp>
        <p:nvSpPr>
          <p:cNvPr id="4" name="Slide Number Placeholder 3"/>
          <p:cNvSpPr>
            <a:spLocks noGrp="1"/>
          </p:cNvSpPr>
          <p:nvPr>
            <p:ph type="sldNum" sz="quarter" idx="5"/>
          </p:nvPr>
        </p:nvSpPr>
        <p:spPr/>
        <p:txBody>
          <a:bodyPr/>
          <a:lstStyle/>
          <a:p>
            <a:pPr rtl="0"/>
            <a:fld id="{5641018C-6CAF-B84E-B92C-ECB119457FBA}" type="slidenum">
              <a:rPr/>
              <a:t>51</a:t>
            </a:fld>
            <a:endParaRPr/>
          </a:p>
        </p:txBody>
      </p:sp>
    </p:spTree>
    <p:extLst>
      <p:ext uri="{BB962C8B-B14F-4D97-AF65-F5344CB8AC3E}">
        <p14:creationId xmlns:p14="http://schemas.microsoft.com/office/powerpoint/2010/main" val="163408749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11.9.  Структурированное проектирование</a:t>
            </a:r>
          </a:p>
          <a:p>
            <a:pPr rtl="0"/>
            <a:r>
              <a:rPr lang="ru-RU"/>
              <a:t>11.9.3 — Packet Tracer — Практика проектирования и внедрения VLSM</a:t>
            </a:r>
          </a:p>
        </p:txBody>
      </p:sp>
      <p:sp>
        <p:nvSpPr>
          <p:cNvPr id="4" name="Slide Number Placeholder 3"/>
          <p:cNvSpPr>
            <a:spLocks noGrp="1"/>
          </p:cNvSpPr>
          <p:nvPr>
            <p:ph type="sldNum" sz="quarter" idx="5"/>
          </p:nvPr>
        </p:nvSpPr>
        <p:spPr/>
        <p:txBody>
          <a:bodyPr/>
          <a:lstStyle/>
          <a:p>
            <a:pPr rtl="0"/>
            <a:fld id="{5641018C-6CAF-B84E-B92C-ECB119457FBA}" type="slidenum">
              <a:rPr/>
              <a:t>52</a:t>
            </a:fld>
            <a:endParaRPr/>
          </a:p>
        </p:txBody>
      </p:sp>
    </p:spTree>
    <p:extLst>
      <p:ext uri="{BB962C8B-B14F-4D97-AF65-F5344CB8AC3E}">
        <p14:creationId xmlns:p14="http://schemas.microsoft.com/office/powerpoint/2010/main" val="10226435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11.10 Практика и контрольная работа модуля</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53</a:t>
            </a:fld>
            <a:endParaRPr/>
          </a:p>
        </p:txBody>
      </p:sp>
    </p:spTree>
    <p:extLst>
      <p:ext uri="{BB962C8B-B14F-4D97-AF65-F5344CB8AC3E}">
        <p14:creationId xmlns:p14="http://schemas.microsoft.com/office/powerpoint/2010/main" val="22171436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11.10. Структурированное проектирование</a:t>
            </a:r>
          </a:p>
          <a:p>
            <a:pPr rtl="0"/>
            <a:r>
              <a:rPr lang="ru-RU"/>
              <a:t>11.10.1 – Packet Tracer - Разработка и реализация схемы адресации VLSM</a:t>
            </a:r>
          </a:p>
        </p:txBody>
      </p:sp>
      <p:sp>
        <p:nvSpPr>
          <p:cNvPr id="4" name="Slide Number Placeholder 3"/>
          <p:cNvSpPr>
            <a:spLocks noGrp="1"/>
          </p:cNvSpPr>
          <p:nvPr>
            <p:ph type="sldNum" sz="quarter" idx="5"/>
          </p:nvPr>
        </p:nvSpPr>
        <p:spPr/>
        <p:txBody>
          <a:bodyPr/>
          <a:lstStyle/>
          <a:p>
            <a:pPr rtl="0"/>
            <a:fld id="{5641018C-6CAF-B84E-B92C-ECB119457FBA}" type="slidenum">
              <a:rPr/>
              <a:t>54</a:t>
            </a:fld>
            <a:endParaRPr/>
          </a:p>
        </p:txBody>
      </p:sp>
    </p:spTree>
    <p:extLst>
      <p:ext uri="{BB962C8B-B14F-4D97-AF65-F5344CB8AC3E}">
        <p14:creationId xmlns:p14="http://schemas.microsoft.com/office/powerpoint/2010/main" val="29947768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11.10. Структурированное проектирование</a:t>
            </a:r>
          </a:p>
          <a:p>
            <a:pPr rtl="0"/>
            <a:r>
              <a:rPr lang="ru-RU"/>
              <a:t>11.10.2 – </a:t>
            </a:r>
            <a:r>
              <a:rPr lang="ru-RU" sz="1200"/>
              <a:t>Лабораторная работа - Разработка и реализация схемы адресации VLSM</a:t>
            </a:r>
          </a:p>
        </p:txBody>
      </p:sp>
      <p:sp>
        <p:nvSpPr>
          <p:cNvPr id="4" name="Slide Number Placeholder 3"/>
          <p:cNvSpPr>
            <a:spLocks noGrp="1"/>
          </p:cNvSpPr>
          <p:nvPr>
            <p:ph type="sldNum" sz="quarter" idx="5"/>
          </p:nvPr>
        </p:nvSpPr>
        <p:spPr/>
        <p:txBody>
          <a:bodyPr/>
          <a:lstStyle/>
          <a:p>
            <a:pPr rtl="0"/>
            <a:fld id="{5641018C-6CAF-B84E-B92C-ECB119457FBA}" type="slidenum">
              <a:rPr/>
              <a:t>55</a:t>
            </a:fld>
            <a:endParaRPr/>
          </a:p>
        </p:txBody>
      </p:sp>
    </p:spTree>
    <p:extLst>
      <p:ext uri="{BB962C8B-B14F-4D97-AF65-F5344CB8AC3E}">
        <p14:creationId xmlns:p14="http://schemas.microsoft.com/office/powerpoint/2010/main" val="70042031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56</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ru-RU"/>
              <a:t>11 — Адресация IPv4</a:t>
            </a:r>
          </a:p>
          <a:p>
            <a:pPr rtl="0"/>
            <a:r>
              <a:rPr lang="ru-RU"/>
              <a:t>11.10. Структурированное проектирование</a:t>
            </a:r>
          </a:p>
          <a:p>
            <a:pPr rtl="0"/>
            <a:r>
              <a:rPr lang="ru-RU"/>
              <a:t>11.10.3 – Что я узнал в этом модуле?</a:t>
            </a:r>
          </a:p>
        </p:txBody>
      </p:sp>
    </p:spTree>
    <p:extLst>
      <p:ext uri="{BB962C8B-B14F-4D97-AF65-F5344CB8AC3E}">
        <p14:creationId xmlns:p14="http://schemas.microsoft.com/office/powerpoint/2010/main" val="147682419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57</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ru-RU"/>
              <a:t>11 — Адресация IPv4</a:t>
            </a:r>
          </a:p>
          <a:p>
            <a:pPr rtl="0"/>
            <a:r>
              <a:rPr lang="ru-RU"/>
              <a:t>11.10. Структурированное проектирование</a:t>
            </a:r>
          </a:p>
          <a:p>
            <a:pPr rtl="0"/>
            <a:r>
              <a:rPr lang="ru-RU"/>
              <a:t>11.10.3 – Что я узнал в этом модуле? (продолжение)</a:t>
            </a:r>
          </a:p>
          <a:p>
            <a:pPr rtl="0"/>
            <a:r>
              <a:rPr lang="ru-RU"/>
              <a:t>11.10.4 — Контрольная по модулю — адресация IPv4</a:t>
            </a:r>
          </a:p>
        </p:txBody>
      </p:sp>
    </p:spTree>
    <p:extLst>
      <p:ext uri="{BB962C8B-B14F-4D97-AF65-F5344CB8AC3E}">
        <p14:creationId xmlns:p14="http://schemas.microsoft.com/office/powerpoint/2010/main" val="27084466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rtl="0"/>
              <a:t>58</a:t>
            </a:fld>
            <a:endParaRPr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60</a:t>
            </a:fld>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ru-RU" sz="600">
                <a:solidFill>
                  <a:schemeClr val="accent5">
                    <a:lumMod val="50000"/>
                  </a:schemeClr>
                </a:solidFill>
                <a:latin typeface="+mn-lt"/>
                <a:ea typeface="+mn-ea"/>
                <a:cs typeface="CiscoSans Thin"/>
              </a:rPr>
              <a:t>© Cisco и/или Партнеры, 2016 г. Все права защищены.   Конфиденциальная информация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ru-RU" sz="600">
                <a:solidFill>
                  <a:schemeClr val="accent3">
                    <a:lumMod val="85000"/>
                  </a:schemeClr>
                </a:solidFill>
                <a:latin typeface="+mn-lt"/>
                <a:ea typeface="+mn-ea"/>
                <a:cs typeface="CiscoSans Thin"/>
              </a:rPr>
              <a:t>© Cisco и/или Партнеры, 2016 г. Все права защищены.   Конфиденциальная информация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5.xml"/><Relationship Id="rId5" Type="http://schemas.openxmlformats.org/officeDocument/2006/relationships/image" Target="../media/image7.emf"/><Relationship Id="rId4" Type="http://schemas.openxmlformats.org/officeDocument/2006/relationships/customXml" Target="../ink/ink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5.xml"/><Relationship Id="rId5" Type="http://schemas.openxmlformats.org/officeDocument/2006/relationships/image" Target="../media/image22.png"/><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31.xml"/><Relationship Id="rId1" Type="http://schemas.openxmlformats.org/officeDocument/2006/relationships/slideLayout" Target="../slideLayouts/slideLayout5.xml"/><Relationship Id="rId4" Type="http://schemas.openxmlformats.org/officeDocument/2006/relationships/image" Target="../media/image24.e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2.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6.xml"/><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4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7.xml"/><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4.xml"/><Relationship Id="rId1" Type="http://schemas.openxmlformats.org/officeDocument/2006/relationships/tags" Target="../tags/tag1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3.xml"/><Relationship Id="rId1" Type="http://schemas.openxmlformats.org/officeDocument/2006/relationships/tags" Target="../tags/tag20.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3.xml"/><Relationship Id="rId1" Type="http://schemas.openxmlformats.org/officeDocument/2006/relationships/tags" Target="../tags/tag21.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3.xml"/><Relationship Id="rId1" Type="http://schemas.openxmlformats.org/officeDocument/2006/relationships/tags" Target="../tags/tag2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0.xml"/><Relationship Id="rId1" Type="http://schemas.openxmlformats.org/officeDocument/2006/relationships/tags" Target="../tags/tag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pPr rtl="0"/>
            <a:r>
              <a:rPr lang="ru-RU" dirty="0">
                <a:solidFill>
                  <a:schemeClr val="accent5">
                    <a:lumMod val="40000"/>
                    <a:lumOff val="60000"/>
                  </a:schemeClr>
                </a:solidFill>
              </a:rPr>
              <a:t>Модуль 11: Адресация IPv4</a:t>
            </a:r>
          </a:p>
        </p:txBody>
      </p:sp>
      <p:sp>
        <p:nvSpPr>
          <p:cNvPr id="7" name="Subtitle 6"/>
          <p:cNvSpPr>
            <a:spLocks noGrp="1"/>
          </p:cNvSpPr>
          <p:nvPr>
            <p:ph type="subTitle" idx="1"/>
          </p:nvPr>
        </p:nvSpPr>
        <p:spPr>
          <a:xfrm>
            <a:off x="469497" y="3809526"/>
            <a:ext cx="2368954" cy="902174"/>
          </a:xfrm>
        </p:spPr>
        <p:txBody>
          <a:bodyPr/>
          <a:lstStyle/>
          <a:p>
            <a:pPr rtl="0"/>
            <a:r>
              <a:rPr lang="ru-RU">
                <a:solidFill>
                  <a:schemeClr val="accent5">
                    <a:lumMod val="40000"/>
                    <a:lumOff val="60000"/>
                  </a:schemeClr>
                </a:solidFill>
              </a:rPr>
              <a:t>Введение в сетевые технологии v7.0 (ITN) </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Модуль 11: Рекомендации</a:t>
            </a:r>
          </a:p>
        </p:txBody>
      </p:sp>
      <p:sp>
        <p:nvSpPr>
          <p:cNvPr id="11266" name="Rectangle 34"/>
          <p:cNvSpPr>
            <a:spLocks noGrp="1" noChangeArrowheads="1"/>
          </p:cNvSpPr>
          <p:nvPr>
            <p:ph idx="1"/>
          </p:nvPr>
        </p:nvSpPr>
        <p:spPr>
          <a:xfrm>
            <a:off x="145356" y="684644"/>
            <a:ext cx="8998643" cy="4155319"/>
          </a:xfrm>
        </p:spPr>
        <p:txBody>
          <a:bodyPr/>
          <a:lstStyle/>
          <a:p>
            <a:pPr marL="0" indent="0">
              <a:lnSpc>
                <a:spcPct val="85000"/>
              </a:lnSpc>
              <a:spcBef>
                <a:spcPct val="30000"/>
              </a:spcBef>
              <a:buNone/>
            </a:pPr>
            <a:r>
              <a:rPr lang="ru-RU" sz="1600" dirty="0"/>
              <a:t>Перед обучением по модулю 11 инструктор должен:</a:t>
            </a:r>
          </a:p>
          <a:p>
            <a:pPr>
              <a:lnSpc>
                <a:spcPct val="85000"/>
              </a:lnSpc>
              <a:spcBef>
                <a:spcPct val="30000"/>
              </a:spcBef>
              <a:buFont typeface="Arial" panose="020B0604020202020204" pitchFamily="34" charset="0"/>
              <a:buChar char="•"/>
            </a:pPr>
            <a:r>
              <a:rPr lang="ru-RU" sz="1600" dirty="0"/>
              <a:t>Просмотреть задания и лабораторные работы для этого модуля.</a:t>
            </a:r>
          </a:p>
          <a:p>
            <a:pPr>
              <a:lnSpc>
                <a:spcPct val="85000"/>
              </a:lnSpc>
              <a:spcBef>
                <a:spcPct val="30000"/>
              </a:spcBef>
              <a:buFont typeface="Arial" panose="020B0604020202020204" pitchFamily="34" charset="0"/>
              <a:buChar char="•"/>
            </a:pPr>
            <a:r>
              <a:rPr lang="ru-RU" sz="1600" dirty="0"/>
              <a:t>Постараться включить как можно больше вопросов, чтобы привлечь внимание учащихся во время презентации в классе.</a:t>
            </a:r>
          </a:p>
          <a:p>
            <a:pPr marL="0" indent="0" rtl="0" eaLnBrk="1" hangingPunct="1">
              <a:lnSpc>
                <a:spcPct val="85000"/>
              </a:lnSpc>
              <a:spcBef>
                <a:spcPct val="30000"/>
              </a:spcBef>
              <a:buNone/>
            </a:pPr>
            <a:r>
              <a:rPr lang="ru-RU" sz="1600" dirty="0"/>
              <a:t>Тема 11.1</a:t>
            </a:r>
          </a:p>
          <a:p>
            <a:pPr lvl="1">
              <a:lnSpc>
                <a:spcPct val="85000"/>
              </a:lnSpc>
              <a:spcBef>
                <a:spcPct val="30000"/>
              </a:spcBef>
            </a:pPr>
            <a:r>
              <a:rPr lang="ru-RU" sz="1600" dirty="0"/>
              <a:t>Спросите студентов или проведите обсуждение в классе</a:t>
            </a:r>
          </a:p>
          <a:p>
            <a:pPr lvl="2">
              <a:lnSpc>
                <a:spcPct val="85000"/>
              </a:lnSpc>
              <a:spcBef>
                <a:spcPct val="30000"/>
              </a:spcBef>
            </a:pPr>
            <a:r>
              <a:rPr lang="ru-RU" sz="1600" dirty="0"/>
              <a:t>Как маршрутизатор идентифицирует сетевую и </a:t>
            </a:r>
            <a:r>
              <a:rPr lang="ru-RU" sz="1600" dirty="0" err="1"/>
              <a:t>хостовую</a:t>
            </a:r>
            <a:r>
              <a:rPr lang="ru-RU" sz="1600" dirty="0"/>
              <a:t> части IP-адреса?</a:t>
            </a:r>
          </a:p>
          <a:p>
            <a:pPr lvl="2">
              <a:lnSpc>
                <a:spcPct val="85000"/>
              </a:lnSpc>
              <a:spcBef>
                <a:spcPct val="30000"/>
              </a:spcBef>
            </a:pPr>
            <a:r>
              <a:rPr lang="ru-RU" sz="1600" dirty="0"/>
              <a:t>Не могли бы вы объяснить, как маска подсети IPv4 и длина префикса IPv6 используются для идентификации частей сети и хоста с использованием операции И.</a:t>
            </a:r>
          </a:p>
          <a:p>
            <a:pPr marL="0" indent="0" rtl="0">
              <a:lnSpc>
                <a:spcPct val="85000"/>
              </a:lnSpc>
              <a:spcBef>
                <a:spcPct val="30000"/>
              </a:spcBef>
              <a:buNone/>
            </a:pPr>
            <a:r>
              <a:rPr lang="ru-RU" sz="1600" dirty="0"/>
              <a:t>Тема 11.2</a:t>
            </a:r>
          </a:p>
          <a:p>
            <a:pPr lvl="1">
              <a:lnSpc>
                <a:spcPct val="85000"/>
              </a:lnSpc>
              <a:spcBef>
                <a:spcPct val="30000"/>
              </a:spcBef>
            </a:pPr>
            <a:r>
              <a:rPr lang="ru-RU" sz="1600" dirty="0"/>
              <a:t>Спросите студентов или проведите обсуждение в классе</a:t>
            </a:r>
          </a:p>
          <a:p>
            <a:pPr lvl="2">
              <a:lnSpc>
                <a:spcPct val="85000"/>
              </a:lnSpc>
              <a:spcBef>
                <a:spcPct val="30000"/>
              </a:spcBef>
            </a:pPr>
            <a:r>
              <a:rPr lang="ru-RU" sz="1600" dirty="0"/>
              <a:t>Можете ли вы привести пример одноадресной, широковещательной и многоадресной рассылки?</a:t>
            </a:r>
          </a:p>
          <a:p>
            <a:pPr eaLnBrk="1" hangingPunct="1">
              <a:lnSpc>
                <a:spcPct val="85000"/>
              </a:lnSpc>
              <a:spcBef>
                <a:spcPct val="30000"/>
              </a:spcBef>
            </a:pPr>
            <a:endParaRPr lang="en-US" sz="1400" dirty="0"/>
          </a:p>
          <a:p>
            <a:pPr lvl="1">
              <a:lnSpc>
                <a:spcPct val="85000"/>
              </a:lnSpc>
              <a:spcBef>
                <a:spcPct val="30000"/>
              </a:spcBef>
            </a:pPr>
            <a:endParaRPr lang="en-US" dirty="0"/>
          </a:p>
          <a:p>
            <a:pPr lvl="1">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Модуль 11: Рекомендации (Продолжение)</a:t>
            </a:r>
          </a:p>
        </p:txBody>
      </p:sp>
      <p:sp>
        <p:nvSpPr>
          <p:cNvPr id="11266" name="Rectangle 34"/>
          <p:cNvSpPr>
            <a:spLocks noGrp="1" noChangeArrowheads="1"/>
          </p:cNvSpPr>
          <p:nvPr>
            <p:ph idx="1"/>
          </p:nvPr>
        </p:nvSpPr>
        <p:spPr>
          <a:xfrm>
            <a:off x="145357" y="628083"/>
            <a:ext cx="8853286" cy="4155319"/>
          </a:xfrm>
        </p:spPr>
        <p:txBody>
          <a:bodyPr/>
          <a:lstStyle/>
          <a:p>
            <a:pPr marL="0" indent="0" rtl="0" eaLnBrk="1" hangingPunct="1">
              <a:lnSpc>
                <a:spcPct val="85000"/>
              </a:lnSpc>
              <a:spcBef>
                <a:spcPct val="30000"/>
              </a:spcBef>
              <a:buNone/>
            </a:pPr>
            <a:r>
              <a:rPr lang="ru-RU" sz="1600" dirty="0"/>
              <a:t>Тема 11.3</a:t>
            </a:r>
          </a:p>
          <a:p>
            <a:pPr lvl="1">
              <a:lnSpc>
                <a:spcPct val="85000"/>
              </a:lnSpc>
              <a:spcBef>
                <a:spcPct val="30000"/>
              </a:spcBef>
            </a:pPr>
            <a:r>
              <a:rPr lang="ru-RU" sz="1600" dirty="0"/>
              <a:t>Спросите студентов или проведите обсуждение в классе</a:t>
            </a:r>
          </a:p>
          <a:p>
            <a:pPr lvl="2">
              <a:lnSpc>
                <a:spcPct val="85000"/>
              </a:lnSpc>
              <a:spcBef>
                <a:spcPct val="30000"/>
              </a:spcBef>
            </a:pPr>
            <a:r>
              <a:rPr lang="ru-RU" sz="1600" dirty="0"/>
              <a:t>Какой адрес они используют при доступе в интернет?</a:t>
            </a:r>
          </a:p>
          <a:p>
            <a:pPr lvl="2">
              <a:lnSpc>
                <a:spcPct val="85000"/>
              </a:lnSpc>
              <a:spcBef>
                <a:spcPct val="30000"/>
              </a:spcBef>
            </a:pPr>
            <a:r>
              <a:rPr lang="ru-RU" sz="1600" dirty="0"/>
              <a:t>Почему поле маски подсети автоматически заполняется маской подсети 255.0.0.0, 255.255.0.0 или 255.255.255.0 при назначении узлу </a:t>
            </a:r>
            <a:r>
              <a:rPr lang="ru-RU" sz="1600" dirty="0" err="1"/>
              <a:t>Windows</a:t>
            </a:r>
            <a:r>
              <a:rPr lang="ru-RU" sz="1600" dirty="0"/>
              <a:t> IP-адреса вручную?</a:t>
            </a:r>
          </a:p>
          <a:p>
            <a:pPr marL="0" indent="0" rtl="0">
              <a:lnSpc>
                <a:spcPct val="85000"/>
              </a:lnSpc>
              <a:spcBef>
                <a:spcPct val="30000"/>
              </a:spcBef>
              <a:buNone/>
            </a:pPr>
            <a:r>
              <a:rPr lang="ru-RU" sz="1600" dirty="0"/>
              <a:t>Тема 11.4</a:t>
            </a:r>
          </a:p>
          <a:p>
            <a:pPr lvl="1">
              <a:lnSpc>
                <a:spcPct val="85000"/>
              </a:lnSpc>
              <a:spcBef>
                <a:spcPct val="30000"/>
              </a:spcBef>
            </a:pPr>
            <a:r>
              <a:rPr lang="ru-RU" sz="1600" dirty="0"/>
              <a:t>Спросите студентов или проведите обсуждение в классе</a:t>
            </a:r>
          </a:p>
          <a:p>
            <a:pPr lvl="2">
              <a:lnSpc>
                <a:spcPct val="85000"/>
              </a:lnSpc>
              <a:spcBef>
                <a:spcPct val="30000"/>
              </a:spcBef>
            </a:pPr>
            <a:r>
              <a:rPr lang="ru-RU" sz="1600" dirty="0"/>
              <a:t>Можете ли вы привести пример широковещательного домена с использованием людей и комнат?</a:t>
            </a:r>
          </a:p>
          <a:p>
            <a:pPr lvl="2">
              <a:lnSpc>
                <a:spcPct val="85000"/>
              </a:lnSpc>
              <a:spcBef>
                <a:spcPct val="30000"/>
              </a:spcBef>
            </a:pPr>
            <a:r>
              <a:rPr lang="ru-RU" sz="1600" dirty="0"/>
              <a:t>Можете ли вы привести примеры того, как мы можем сгруппировать устройства и службы в подсети?</a:t>
            </a:r>
            <a:endParaRPr lang="en-US" sz="1400" dirty="0"/>
          </a:p>
        </p:txBody>
      </p:sp>
    </p:spTree>
    <p:custDataLst>
      <p:tags r:id="rId1"/>
    </p:custDataLst>
    <p:extLst>
      <p:ext uri="{BB962C8B-B14F-4D97-AF65-F5344CB8AC3E}">
        <p14:creationId xmlns:p14="http://schemas.microsoft.com/office/powerpoint/2010/main" val="1129576059"/>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Модуль 11: Рекомендации (Продолжение)</a:t>
            </a:r>
          </a:p>
        </p:txBody>
      </p:sp>
      <p:sp>
        <p:nvSpPr>
          <p:cNvPr id="11266" name="Rectangle 34"/>
          <p:cNvSpPr>
            <a:spLocks noGrp="1" noChangeArrowheads="1"/>
          </p:cNvSpPr>
          <p:nvPr>
            <p:ph idx="1"/>
          </p:nvPr>
        </p:nvSpPr>
        <p:spPr>
          <a:xfrm>
            <a:off x="145357" y="637511"/>
            <a:ext cx="8853286" cy="4000478"/>
          </a:xfrm>
        </p:spPr>
        <p:txBody>
          <a:bodyPr/>
          <a:lstStyle/>
          <a:p>
            <a:pPr marL="0" indent="0">
              <a:lnSpc>
                <a:spcPct val="85000"/>
              </a:lnSpc>
              <a:spcBef>
                <a:spcPct val="30000"/>
              </a:spcBef>
              <a:buNone/>
            </a:pPr>
            <a:r>
              <a:rPr lang="ru-RU" sz="1600" dirty="0"/>
              <a:t>Тема 11.5</a:t>
            </a:r>
          </a:p>
          <a:p>
            <a:pPr lvl="1">
              <a:lnSpc>
                <a:spcPct val="85000"/>
              </a:lnSpc>
              <a:spcBef>
                <a:spcPct val="30000"/>
              </a:spcBef>
            </a:pPr>
            <a:r>
              <a:rPr lang="ru-RU" sz="1600" dirty="0"/>
              <a:t>Спросите студентов или проведите обсуждение в классе</a:t>
            </a:r>
          </a:p>
          <a:p>
            <a:pPr lvl="2">
              <a:lnSpc>
                <a:spcPct val="85000"/>
              </a:lnSpc>
              <a:spcBef>
                <a:spcPct val="30000"/>
              </a:spcBef>
            </a:pPr>
            <a:r>
              <a:rPr lang="ru-RU" sz="1600" dirty="0"/>
              <a:t>Можете ли вы привести пример подсетей с использованием пиццы? Подсеть (т. Е. Разделить) ее на куски соответствующего размера.</a:t>
            </a:r>
          </a:p>
          <a:p>
            <a:pPr lvl="2">
              <a:lnSpc>
                <a:spcPct val="85000"/>
              </a:lnSpc>
              <a:spcBef>
                <a:spcPct val="30000"/>
              </a:spcBef>
            </a:pPr>
            <a:r>
              <a:rPr lang="ru-RU" sz="1600" dirty="0"/>
              <a:t>Можете ли вы объяснить, как разделить на подсети сеть / 24?</a:t>
            </a:r>
            <a:br>
              <a:rPr lang="ru-RU" sz="1600" dirty="0"/>
            </a:br>
            <a:endParaRPr lang="ru-RU" sz="1600" dirty="0"/>
          </a:p>
          <a:p>
            <a:pPr lvl="2">
              <a:lnSpc>
                <a:spcPct val="85000"/>
              </a:lnSpc>
              <a:spcBef>
                <a:spcPct val="30000"/>
              </a:spcBef>
            </a:pPr>
            <a:endParaRPr lang="ru-RU" sz="1600" dirty="0"/>
          </a:p>
        </p:txBody>
      </p:sp>
    </p:spTree>
    <p:custDataLst>
      <p:tags r:id="rId1"/>
    </p:custDataLst>
    <p:extLst>
      <p:ext uri="{BB962C8B-B14F-4D97-AF65-F5344CB8AC3E}">
        <p14:creationId xmlns:p14="http://schemas.microsoft.com/office/powerpoint/2010/main" val="2160710637"/>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Модуль 11: Рекомендации (Продолжение)</a:t>
            </a:r>
          </a:p>
        </p:txBody>
      </p:sp>
      <p:sp>
        <p:nvSpPr>
          <p:cNvPr id="11266" name="Rectangle 34"/>
          <p:cNvSpPr>
            <a:spLocks noGrp="1" noChangeArrowheads="1"/>
          </p:cNvSpPr>
          <p:nvPr>
            <p:ph idx="1"/>
          </p:nvPr>
        </p:nvSpPr>
        <p:spPr>
          <a:xfrm>
            <a:off x="145357" y="628083"/>
            <a:ext cx="8853286" cy="4155319"/>
          </a:xfrm>
        </p:spPr>
        <p:txBody>
          <a:bodyPr/>
          <a:lstStyle/>
          <a:p>
            <a:pPr marL="0" indent="0">
              <a:lnSpc>
                <a:spcPct val="85000"/>
              </a:lnSpc>
              <a:spcBef>
                <a:spcPct val="30000"/>
              </a:spcBef>
              <a:buNone/>
            </a:pPr>
            <a:r>
              <a:rPr lang="ru-RU" sz="1600" dirty="0"/>
              <a:t>Тема 11.7</a:t>
            </a:r>
          </a:p>
          <a:p>
            <a:pPr lvl="1">
              <a:lnSpc>
                <a:spcPct val="85000"/>
              </a:lnSpc>
              <a:spcBef>
                <a:spcPct val="30000"/>
              </a:spcBef>
            </a:pPr>
            <a:r>
              <a:rPr lang="ru-RU" sz="1600" dirty="0"/>
              <a:t>Спросите студентов или проведите обсуждение в классе</a:t>
            </a:r>
          </a:p>
          <a:p>
            <a:pPr lvl="2">
              <a:lnSpc>
                <a:spcPct val="85000"/>
              </a:lnSpc>
              <a:spcBef>
                <a:spcPct val="30000"/>
              </a:spcBef>
            </a:pPr>
            <a:r>
              <a:rPr lang="ru-RU" sz="1600" dirty="0"/>
              <a:t>Можете ли вы объяснить, почему подсеть может тратить IP-адреса хоста? Используя аналогию с пиццей, подчеркните, что не все одинаково голодны. Может быть, один человек хочет два или три куска, а другой - половину куска.</a:t>
            </a:r>
          </a:p>
          <a:p>
            <a:pPr lvl="2">
              <a:lnSpc>
                <a:spcPct val="85000"/>
              </a:lnSpc>
              <a:spcBef>
                <a:spcPct val="30000"/>
              </a:spcBef>
            </a:pPr>
            <a:r>
              <a:rPr lang="ru-RU" sz="1600" dirty="0"/>
              <a:t>Спросите, как эта проблема может быть решена.</a:t>
            </a:r>
          </a:p>
          <a:p>
            <a:pPr lvl="2">
              <a:lnSpc>
                <a:spcPct val="85000"/>
              </a:lnSpc>
              <a:spcBef>
                <a:spcPct val="30000"/>
              </a:spcBef>
            </a:pPr>
            <a:r>
              <a:rPr lang="ru-RU" sz="1600" dirty="0"/>
              <a:t>Спросите, как это можно применить к подсетям.</a:t>
            </a:r>
          </a:p>
          <a:p>
            <a:pPr marL="0" indent="0">
              <a:lnSpc>
                <a:spcPct val="85000"/>
              </a:lnSpc>
              <a:spcBef>
                <a:spcPct val="30000"/>
              </a:spcBef>
              <a:buNone/>
            </a:pPr>
            <a:r>
              <a:rPr lang="ru-RU" sz="1600" dirty="0"/>
              <a:t>Тема 11.8</a:t>
            </a:r>
          </a:p>
          <a:p>
            <a:pPr lvl="1">
              <a:lnSpc>
                <a:spcPct val="85000"/>
              </a:lnSpc>
              <a:spcBef>
                <a:spcPct val="30000"/>
              </a:spcBef>
            </a:pPr>
            <a:r>
              <a:rPr lang="ru-RU" sz="1600" dirty="0"/>
              <a:t>Спросите студентов или проведите обсуждение в классе</a:t>
            </a:r>
          </a:p>
          <a:p>
            <a:pPr lvl="2">
              <a:lnSpc>
                <a:spcPct val="85000"/>
              </a:lnSpc>
              <a:spcBef>
                <a:spcPct val="30000"/>
              </a:spcBef>
            </a:pPr>
            <a:r>
              <a:rPr lang="ru-RU" sz="1600" dirty="0"/>
              <a:t>Можете ли вы привести пример VLSM с использованием кусочков пиццы? Ломтики соответствующего размера нарезаются в зависимости от необходимости.</a:t>
            </a:r>
          </a:p>
          <a:p>
            <a:pPr lvl="2">
              <a:lnSpc>
                <a:spcPct val="85000"/>
              </a:lnSpc>
              <a:spcBef>
                <a:spcPct val="30000"/>
              </a:spcBef>
            </a:pPr>
            <a:r>
              <a:rPr lang="ru-RU" sz="1600" dirty="0"/>
              <a:t>Можете ли вы объяснить, как VLSM может применяться к подсетям?</a:t>
            </a:r>
          </a:p>
        </p:txBody>
      </p:sp>
    </p:spTree>
    <p:custDataLst>
      <p:tags r:id="rId1"/>
    </p:custDataLst>
    <p:extLst>
      <p:ext uri="{BB962C8B-B14F-4D97-AF65-F5344CB8AC3E}">
        <p14:creationId xmlns:p14="http://schemas.microsoft.com/office/powerpoint/2010/main" val="1553097275"/>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Модуль 11: Рекомендации (Продолжение)</a:t>
            </a:r>
          </a:p>
        </p:txBody>
      </p:sp>
      <p:sp>
        <p:nvSpPr>
          <p:cNvPr id="11266" name="Rectangle 34"/>
          <p:cNvSpPr>
            <a:spLocks noGrp="1" noChangeArrowheads="1"/>
          </p:cNvSpPr>
          <p:nvPr>
            <p:ph idx="1"/>
          </p:nvPr>
        </p:nvSpPr>
        <p:spPr>
          <a:xfrm>
            <a:off x="145357" y="628083"/>
            <a:ext cx="8853286" cy="4155319"/>
          </a:xfrm>
        </p:spPr>
        <p:txBody>
          <a:bodyPr/>
          <a:lstStyle/>
          <a:p>
            <a:pPr lvl="2">
              <a:lnSpc>
                <a:spcPct val="85000"/>
              </a:lnSpc>
              <a:spcBef>
                <a:spcPct val="30000"/>
              </a:spcBef>
            </a:pPr>
            <a:endParaRPr lang="en-US" sz="1600" dirty="0"/>
          </a:p>
          <a:p>
            <a:pPr marL="0" indent="0">
              <a:lnSpc>
                <a:spcPct val="85000"/>
              </a:lnSpc>
              <a:spcBef>
                <a:spcPct val="30000"/>
              </a:spcBef>
              <a:buNone/>
            </a:pPr>
            <a:r>
              <a:rPr lang="ru-RU" sz="1600" dirty="0"/>
              <a:t>Тема 11.9</a:t>
            </a:r>
          </a:p>
          <a:p>
            <a:pPr lvl="1">
              <a:lnSpc>
                <a:spcPct val="85000"/>
              </a:lnSpc>
              <a:spcBef>
                <a:spcPct val="30000"/>
              </a:spcBef>
            </a:pPr>
            <a:r>
              <a:rPr lang="ru-RU" sz="1600" dirty="0"/>
              <a:t>Спросите студентов или проведите обсуждение в классе</a:t>
            </a:r>
          </a:p>
          <a:p>
            <a:pPr lvl="2">
              <a:lnSpc>
                <a:spcPct val="85000"/>
              </a:lnSpc>
              <a:spcBef>
                <a:spcPct val="30000"/>
              </a:spcBef>
            </a:pPr>
            <a:r>
              <a:rPr lang="ru-RU" sz="1600" dirty="0"/>
              <a:t>Учитывая </a:t>
            </a:r>
            <a:r>
              <a:rPr lang="ru-RU" sz="1600" dirty="0" err="1"/>
              <a:t>многосайтовую</a:t>
            </a:r>
            <a:r>
              <a:rPr lang="ru-RU" sz="1600" dirty="0"/>
              <a:t> топологию, можете ли вы разработать масштабируемую схему адресации?</a:t>
            </a:r>
          </a:p>
          <a:p>
            <a:pPr lvl="2">
              <a:lnSpc>
                <a:spcPct val="85000"/>
              </a:lnSpc>
              <a:spcBef>
                <a:spcPct val="30000"/>
              </a:spcBef>
            </a:pPr>
            <a:r>
              <a:rPr lang="ru-RU" sz="1600" dirty="0"/>
              <a:t>Можете ли вы создать диаграмму логической топологии и определить схему масштабируемой адресации?</a:t>
            </a:r>
          </a:p>
        </p:txBody>
      </p:sp>
    </p:spTree>
    <p:custDataLst>
      <p:tags r:id="rId1"/>
    </p:custDataLst>
    <p:extLst>
      <p:ext uri="{BB962C8B-B14F-4D97-AF65-F5344CB8AC3E}">
        <p14:creationId xmlns:p14="http://schemas.microsoft.com/office/powerpoint/2010/main" val="3257754296"/>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58416" cy="1080143"/>
          </a:xfrm>
        </p:spPr>
        <p:txBody>
          <a:bodyPr/>
          <a:lstStyle/>
          <a:p>
            <a:pPr rtl="0"/>
            <a:r>
              <a:rPr lang="ru-RU" sz="4400">
                <a:solidFill>
                  <a:schemeClr val="accent5">
                    <a:lumMod val="40000"/>
                    <a:lumOff val="60000"/>
                  </a:schemeClr>
                </a:solidFill>
              </a:rPr>
              <a:t>Модуль 11: Адресация IPv4</a:t>
            </a:r>
          </a:p>
        </p:txBody>
      </p:sp>
      <p:sp>
        <p:nvSpPr>
          <p:cNvPr id="7" name="Subtitle 6"/>
          <p:cNvSpPr>
            <a:spLocks noGrp="1"/>
          </p:cNvSpPr>
          <p:nvPr>
            <p:ph type="subTitle" idx="1"/>
          </p:nvPr>
        </p:nvSpPr>
        <p:spPr>
          <a:xfrm>
            <a:off x="469497" y="3809526"/>
            <a:ext cx="2368954" cy="902174"/>
          </a:xfrm>
        </p:spPr>
        <p:txBody>
          <a:bodyPr/>
          <a:lstStyle/>
          <a:p>
            <a:pPr rtl="0"/>
            <a:r>
              <a:rPr lang="ru-RU">
                <a:solidFill>
                  <a:schemeClr val="accent5">
                    <a:lumMod val="40000"/>
                    <a:lumOff val="60000"/>
                  </a:schemeClr>
                </a:solidFill>
              </a:rPr>
              <a:t>Введение в сетевые технологии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rtl="0" eaLnBrk="1" hangingPunct="1"/>
            <a:r>
              <a:rPr lang="ru-RU"/>
              <a:t>Задачи модуля</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769893"/>
            <a:ext cx="880463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Название модуля: </a:t>
            </a:r>
            <a:r>
              <a:rPr kumimoji="0" lang="ru-RU"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Адресация IPv4</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lvl="0" defTabSz="914400" rtl="0" eaLnBrk="0" hangingPunct="0"/>
            <a:r>
              <a:rPr kumimoji="0" lang="ru-RU"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Цели модуля</a:t>
            </a:r>
            <a:r>
              <a:rPr kumimoji="0" lang="ru-RU"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lang="ru-RU" sz="1600" dirty="0">
                <a:latin typeface="+mn-lt"/>
                <a:ea typeface="Calibri" panose="020F0502020204030204" pitchFamily="34" charset="0"/>
                <a:cs typeface="Calibri" panose="020F0502020204030204" pitchFamily="34" charset="0"/>
              </a:rPr>
              <a:t>Вычисление схемы устройства подсетей IPv4 для эффективного сегментирования сети.</a:t>
            </a: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4015827905"/>
              </p:ext>
            </p:extLst>
          </p:nvPr>
        </p:nvGraphicFramePr>
        <p:xfrm>
          <a:off x="313704" y="1821168"/>
          <a:ext cx="8328900" cy="2661225"/>
        </p:xfrm>
        <a:graphic>
          <a:graphicData uri="http://schemas.openxmlformats.org/drawingml/2006/table">
            <a:tbl>
              <a:tblPr firstRow="1" firstCol="1" bandRow="1">
                <a:tableStyleId>{5C22544A-7EE6-4342-B048-85BDC9FD1C3A}</a:tableStyleId>
              </a:tblPr>
              <a:tblGrid>
                <a:gridCol w="3051288">
                  <a:extLst>
                    <a:ext uri="{9D8B030D-6E8A-4147-A177-3AD203B41FA5}">
                      <a16:colId xmlns:a16="http://schemas.microsoft.com/office/drawing/2014/main" val="1523797708"/>
                    </a:ext>
                  </a:extLst>
                </a:gridCol>
                <a:gridCol w="5277612">
                  <a:extLst>
                    <a:ext uri="{9D8B030D-6E8A-4147-A177-3AD203B41FA5}">
                      <a16:colId xmlns:a16="http://schemas.microsoft.com/office/drawing/2014/main" val="2750207184"/>
                    </a:ext>
                  </a:extLst>
                </a:gridCol>
              </a:tblGrid>
              <a:tr h="216347">
                <a:tc>
                  <a:txBody>
                    <a:bodyPr/>
                    <a:lstStyle/>
                    <a:p>
                      <a:pPr marL="0" marR="0" rtl="0">
                        <a:lnSpc>
                          <a:spcPct val="107000"/>
                        </a:lnSpc>
                        <a:spcBef>
                          <a:spcPts val="0"/>
                        </a:spcBef>
                        <a:spcAft>
                          <a:spcPts val="0"/>
                        </a:spcAft>
                      </a:pPr>
                      <a:r>
                        <a:rPr lang="ru-RU" sz="1400">
                          <a:effectLst/>
                        </a:rPr>
                        <a:t>Заголовок темы</a:t>
                      </a:r>
                    </a:p>
                  </a:txBody>
                  <a:tcPr marL="68580" marR="68580" marT="0" marB="0"/>
                </a:tc>
                <a:tc>
                  <a:txBody>
                    <a:bodyPr/>
                    <a:lstStyle/>
                    <a:p>
                      <a:pPr marL="0" marR="0" rtl="0">
                        <a:lnSpc>
                          <a:spcPct val="107000"/>
                        </a:lnSpc>
                        <a:spcBef>
                          <a:spcPts val="0"/>
                        </a:spcBef>
                        <a:spcAft>
                          <a:spcPts val="0"/>
                        </a:spcAft>
                      </a:pPr>
                      <a:r>
                        <a:rPr lang="ru-RU" sz="1400">
                          <a:effectLst/>
                        </a:rPr>
                        <a:t>Цель темы</a:t>
                      </a:r>
                    </a:p>
                  </a:txBody>
                  <a:tcPr marL="68580" marR="68580" marT="0" marB="0"/>
                </a:tc>
                <a:extLst>
                  <a:ext uri="{0D108BD9-81ED-4DB2-BD59-A6C34878D82A}">
                    <a16:rowId xmlns:a16="http://schemas.microsoft.com/office/drawing/2014/main" val="1874061904"/>
                  </a:ext>
                </a:extLst>
              </a:tr>
              <a:tr h="444151">
                <a:tc>
                  <a:txBody>
                    <a:bodyPr/>
                    <a:lstStyle/>
                    <a:p>
                      <a:pPr marL="0" marR="0" rtl="0">
                        <a:lnSpc>
                          <a:spcPct val="107000"/>
                        </a:lnSpc>
                        <a:spcBef>
                          <a:spcPts val="0"/>
                        </a:spcBef>
                        <a:spcAft>
                          <a:spcPts val="0"/>
                        </a:spcAft>
                      </a:pPr>
                      <a:r>
                        <a:rPr lang="ru-RU" sz="1400">
                          <a:effectLst/>
                          <a:latin typeface="+mn-lt"/>
                          <a:ea typeface="Calibri" panose="020F0502020204030204" pitchFamily="34" charset="0"/>
                          <a:cs typeface="Times New Roman" panose="02020603050405020304" pitchFamily="18" charset="0"/>
                        </a:rPr>
                        <a:t>Структура адреса IPv4</a:t>
                      </a:r>
                    </a:p>
                  </a:txBody>
                  <a:tcPr marL="68580" marR="68580" marT="0" marB="0"/>
                </a:tc>
                <a:tc>
                  <a:txBody>
                    <a:bodyPr/>
                    <a:lstStyle/>
                    <a:p>
                      <a:pPr marL="0" marR="0" rtl="0">
                        <a:lnSpc>
                          <a:spcPct val="107000"/>
                        </a:lnSpc>
                        <a:spcBef>
                          <a:spcPts val="0"/>
                        </a:spcBef>
                        <a:spcAft>
                          <a:spcPts val="0"/>
                        </a:spcAft>
                      </a:pPr>
                      <a:r>
                        <a:rPr lang="ru-RU" sz="1400" kern="1200">
                          <a:solidFill>
                            <a:srgbClr val="000000"/>
                          </a:solidFill>
                          <a:effectLst/>
                          <a:latin typeface="+mn-lt"/>
                          <a:ea typeface="+mn-ea"/>
                          <a:cs typeface="+mn-cs"/>
                        </a:rPr>
                        <a:t>Описать структуру адреса IPv4, в том числе сетевую часть, часть хоста и маску подсети.</a:t>
                      </a:r>
                    </a:p>
                  </a:txBody>
                  <a:tcPr marL="68580" marR="68580" marT="0" marB="0"/>
                </a:tc>
                <a:extLst>
                  <a:ext uri="{0D108BD9-81ED-4DB2-BD59-A6C34878D82A}">
                    <a16:rowId xmlns:a16="http://schemas.microsoft.com/office/drawing/2014/main" val="1646858405"/>
                  </a:ext>
                </a:extLst>
              </a:tr>
              <a:tr h="315930">
                <a:tc>
                  <a:txBody>
                    <a:bodyPr/>
                    <a:lstStyle/>
                    <a:p>
                      <a:pPr marL="0" marR="0" rtl="0">
                        <a:lnSpc>
                          <a:spcPct val="107000"/>
                        </a:lnSpc>
                        <a:spcBef>
                          <a:spcPts val="0"/>
                        </a:spcBef>
                        <a:spcAft>
                          <a:spcPts val="0"/>
                        </a:spcAft>
                      </a:pPr>
                      <a:r>
                        <a:rPr lang="ru-RU" sz="1400" dirty="0">
                          <a:effectLst/>
                          <a:latin typeface="+mn-lt"/>
                          <a:ea typeface="Calibri" panose="020F0502020204030204" pitchFamily="34" charset="0"/>
                          <a:cs typeface="Times New Roman" panose="02020603050405020304" pitchFamily="18" charset="0"/>
                        </a:rPr>
                        <a:t>Одноадресная, широковещательная и многоадресная рассылка IPv4</a:t>
                      </a:r>
                    </a:p>
                  </a:txBody>
                  <a:tcPr marL="68580" marR="68580" marT="0" marB="0"/>
                </a:tc>
                <a:tc>
                  <a:txBody>
                    <a:bodyPr/>
                    <a:lstStyle/>
                    <a:p>
                      <a:pPr marL="0" marR="0" rtl="0">
                        <a:lnSpc>
                          <a:spcPct val="107000"/>
                        </a:lnSpc>
                        <a:spcBef>
                          <a:spcPts val="0"/>
                        </a:spcBef>
                        <a:spcAft>
                          <a:spcPts val="0"/>
                        </a:spcAft>
                      </a:pPr>
                      <a:r>
                        <a:rPr lang="ru-RU" sz="1400" kern="1200">
                          <a:solidFill>
                            <a:srgbClr val="000000"/>
                          </a:solidFill>
                          <a:effectLst/>
                          <a:latin typeface="+mn-lt"/>
                          <a:ea typeface="+mn-ea"/>
                          <a:cs typeface="+mn-cs"/>
                        </a:rPr>
                        <a:t>Сравнить характеристики и способы использования адресов IPv4 для одноадресной, широковещательной и многоадресной рассылки.</a:t>
                      </a:r>
                    </a:p>
                  </a:txBody>
                  <a:tcPr marL="68580" marR="68580" marT="0" marB="0"/>
                </a:tc>
                <a:extLst>
                  <a:ext uri="{0D108BD9-81ED-4DB2-BD59-A6C34878D82A}">
                    <a16:rowId xmlns:a16="http://schemas.microsoft.com/office/drawing/2014/main" val="1435904258"/>
                  </a:ext>
                </a:extLst>
              </a:tr>
              <a:tr h="444151">
                <a:tc>
                  <a:txBody>
                    <a:bodyPr/>
                    <a:lstStyle/>
                    <a:p>
                      <a:pPr marL="0" marR="0" rtl="0">
                        <a:lnSpc>
                          <a:spcPct val="107000"/>
                        </a:lnSpc>
                        <a:spcBef>
                          <a:spcPts val="0"/>
                        </a:spcBef>
                        <a:spcAft>
                          <a:spcPts val="0"/>
                        </a:spcAft>
                      </a:pPr>
                      <a:r>
                        <a:rPr lang="ru-RU" sz="1400" dirty="0">
                          <a:effectLst/>
                          <a:latin typeface="+mn-lt"/>
                          <a:ea typeface="Calibri" panose="020F0502020204030204" pitchFamily="34" charset="0"/>
                          <a:cs typeface="Times New Roman" panose="02020603050405020304" pitchFamily="18" charset="0"/>
                        </a:rPr>
                        <a:t>Типы адресов IPv4</a:t>
                      </a:r>
                    </a:p>
                  </a:txBody>
                  <a:tcPr marL="68580" marR="68580" marT="0" marB="0"/>
                </a:tc>
                <a:tc>
                  <a:txBody>
                    <a:bodyPr/>
                    <a:lstStyle/>
                    <a:p>
                      <a:pPr marL="0" marR="0" rtl="0">
                        <a:lnSpc>
                          <a:spcPct val="107000"/>
                        </a:lnSpc>
                        <a:spcBef>
                          <a:spcPts val="0"/>
                        </a:spcBef>
                        <a:spcAft>
                          <a:spcPts val="0"/>
                        </a:spcAft>
                      </a:pPr>
                      <a:r>
                        <a:rPr lang="ru-RU" sz="1400" kern="1200">
                          <a:solidFill>
                            <a:srgbClr val="000000"/>
                          </a:solidFill>
                          <a:effectLst/>
                          <a:latin typeface="+mn-lt"/>
                          <a:ea typeface="+mn-ea"/>
                          <a:cs typeface="+mn-cs"/>
                        </a:rPr>
                        <a:t>Объяснить назначение общедоступных, частных и зарезервированных адресов IPv4.</a:t>
                      </a:r>
                    </a:p>
                  </a:txBody>
                  <a:tcPr marL="68580" marR="68580" marT="0" marB="0"/>
                </a:tc>
                <a:extLst>
                  <a:ext uri="{0D108BD9-81ED-4DB2-BD59-A6C34878D82A}">
                    <a16:rowId xmlns:a16="http://schemas.microsoft.com/office/drawing/2014/main" val="131737215"/>
                  </a:ext>
                </a:extLst>
              </a:tr>
              <a:tr h="444151">
                <a:tc>
                  <a:txBody>
                    <a:bodyPr/>
                    <a:lstStyle/>
                    <a:p>
                      <a:pPr marL="0" marR="0" rtl="0">
                        <a:lnSpc>
                          <a:spcPct val="107000"/>
                        </a:lnSpc>
                        <a:spcBef>
                          <a:spcPts val="0"/>
                        </a:spcBef>
                        <a:spcAft>
                          <a:spcPts val="0"/>
                        </a:spcAft>
                      </a:pPr>
                      <a:r>
                        <a:rPr lang="ru-RU" sz="1400">
                          <a:effectLst/>
                          <a:latin typeface="+mn-lt"/>
                          <a:ea typeface="Calibri" panose="020F0502020204030204" pitchFamily="34" charset="0"/>
                          <a:cs typeface="Times New Roman" panose="02020603050405020304" pitchFamily="18" charset="0"/>
                        </a:rPr>
                        <a:t>Сегментация сети</a:t>
                      </a:r>
                    </a:p>
                  </a:txBody>
                  <a:tcPr marL="68580" marR="68580" marT="0" marB="0"/>
                </a:tc>
                <a:tc>
                  <a:txBody>
                    <a:bodyPr/>
                    <a:lstStyle/>
                    <a:p>
                      <a:pPr marL="0" marR="0" rtl="0">
                        <a:lnSpc>
                          <a:spcPct val="107000"/>
                        </a:lnSpc>
                        <a:spcBef>
                          <a:spcPts val="0"/>
                        </a:spcBef>
                        <a:spcAft>
                          <a:spcPts val="0"/>
                        </a:spcAft>
                      </a:pPr>
                      <a:r>
                        <a:rPr lang="ru-RU" sz="1400" kern="1200">
                          <a:solidFill>
                            <a:srgbClr val="000000"/>
                          </a:solidFill>
                          <a:effectLst/>
                          <a:latin typeface="+mn-lt"/>
                          <a:ea typeface="+mn-ea"/>
                          <a:cs typeface="+mn-cs"/>
                        </a:rPr>
                        <a:t>Объяснить, почему разделение на сегменты-подсети повышает эффективность передачи данных.</a:t>
                      </a:r>
                    </a:p>
                  </a:txBody>
                  <a:tcPr marL="68580" marR="68580" marT="0" marB="0"/>
                </a:tc>
                <a:extLst>
                  <a:ext uri="{0D108BD9-81ED-4DB2-BD59-A6C34878D82A}">
                    <a16:rowId xmlns:a16="http://schemas.microsoft.com/office/drawing/2014/main" val="3818444524"/>
                  </a:ext>
                </a:extLst>
              </a:tr>
              <a:tr h="444151">
                <a:tc>
                  <a:txBody>
                    <a:bodyPr/>
                    <a:lstStyle/>
                    <a:p>
                      <a:pPr marL="0" marR="0" rtl="0">
                        <a:lnSpc>
                          <a:spcPct val="107000"/>
                        </a:lnSpc>
                        <a:spcBef>
                          <a:spcPts val="0"/>
                        </a:spcBef>
                        <a:spcAft>
                          <a:spcPts val="0"/>
                        </a:spcAft>
                      </a:pPr>
                      <a:r>
                        <a:rPr lang="ru-RU" sz="1400">
                          <a:effectLst/>
                          <a:latin typeface="+mn-lt"/>
                          <a:ea typeface="Calibri" panose="020F0502020204030204" pitchFamily="34" charset="0"/>
                          <a:cs typeface="Times New Roman" panose="02020603050405020304" pitchFamily="18" charset="0"/>
                        </a:rPr>
                        <a:t>Разделение сети IPv4 на подсети</a:t>
                      </a:r>
                    </a:p>
                  </a:txBody>
                  <a:tcPr marL="68580" marR="68580" marT="0" marB="0"/>
                </a:tc>
                <a:tc>
                  <a:txBody>
                    <a:bodyPr/>
                    <a:lstStyle/>
                    <a:p>
                      <a:pPr marL="0" marR="0" rtl="0">
                        <a:lnSpc>
                          <a:spcPct val="107000"/>
                        </a:lnSpc>
                        <a:spcBef>
                          <a:spcPts val="0"/>
                        </a:spcBef>
                        <a:spcAft>
                          <a:spcPts val="0"/>
                        </a:spcAft>
                      </a:pPr>
                      <a:r>
                        <a:rPr lang="ru-RU" sz="1400" kern="1200" dirty="0">
                          <a:solidFill>
                            <a:srgbClr val="000000"/>
                          </a:solidFill>
                          <a:effectLst/>
                          <a:latin typeface="+mn-lt"/>
                          <a:ea typeface="+mn-ea"/>
                          <a:cs typeface="+mn-cs"/>
                        </a:rPr>
                        <a:t>Выполнить расчет подсетей IPv4 для префикса /24.</a:t>
                      </a:r>
                    </a:p>
                  </a:txBody>
                  <a:tcPr marL="68580" marR="68580" marT="0" marB="0"/>
                </a:tc>
                <a:extLst>
                  <a:ext uri="{0D108BD9-81ED-4DB2-BD59-A6C34878D82A}">
                    <a16:rowId xmlns:a16="http://schemas.microsoft.com/office/drawing/2014/main" val="1846877670"/>
                  </a:ext>
                </a:extLst>
              </a:tr>
            </a:tbl>
          </a:graphicData>
        </a:graphic>
      </p:graphicFrame>
    </p:spTree>
    <p:custDataLst>
      <p:tags r:id="rId1"/>
    </p:custDataLst>
    <p:extLst>
      <p:ext uri="{BB962C8B-B14F-4D97-AF65-F5344CB8AC3E}">
        <p14:creationId xmlns:p14="http://schemas.microsoft.com/office/powerpoint/2010/main" val="94570917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ru-RU">
                <a:solidFill>
                  <a:schemeClr val="accent5">
                    <a:lumMod val="40000"/>
                    <a:lumOff val="60000"/>
                  </a:schemeClr>
                </a:solidFill>
              </a:rPr>
              <a:t>11.1 Структура адреса IPv4</a:t>
            </a:r>
            <a:br>
              <a:rPr lang="en-US"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 Структура адреса IPv4  </a:t>
            </a:r>
            <a:br>
              <a:rPr lang="en-US" dirty="0"/>
            </a:br>
            <a:r>
              <a:rPr lang="ru-RU" sz="2400"/>
              <a:t>Сетевая и хостовая часть</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2085744"/>
          </a:xfrm>
        </p:spPr>
        <p:txBody>
          <a:bodyPr/>
          <a:lstStyle/>
          <a:p>
            <a:pPr marL="342900" indent="-342900" algn="l" rtl="0">
              <a:buFont typeface="Arial" panose="020B0604020202020204" pitchFamily="34" charset="0"/>
              <a:buChar char="•"/>
            </a:pPr>
            <a:r>
              <a:rPr lang="ru-RU" sz="1600">
                <a:solidFill>
                  <a:srgbClr val="000000"/>
                </a:solidFill>
              </a:rPr>
              <a:t>Адрес IPv4 является иерархическим и состоит из сетевой части и  хостовой части. </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Определяя ту или иную часть, необходимо обращать внимание не на десятичное значение, а на 32-битнную запись</a:t>
            </a:r>
          </a:p>
          <a:p>
            <a:pPr marL="342900" indent="-342900" algn="l" rtl="0">
              <a:buFont typeface="Arial" panose="020B0604020202020204" pitchFamily="34" charset="0"/>
              <a:buChar char="•"/>
            </a:pPr>
            <a:r>
              <a:rPr lang="ru-RU" sz="1600">
                <a:solidFill>
                  <a:srgbClr val="000000"/>
                </a:solidFill>
              </a:rPr>
              <a:t>Маска подсети используется для определения сетевой и хостовой части адреса. </a:t>
            </a:r>
          </a:p>
        </p:txBody>
      </p:sp>
      <p:pic>
        <p:nvPicPr>
          <p:cNvPr id="2" name="Picture 1">
            <a:extLst>
              <a:ext uri="{FF2B5EF4-FFF2-40B4-BE49-F238E27FC236}">
                <a16:creationId xmlns:a16="http://schemas.microsoft.com/office/drawing/2014/main" id="{45D4F014-EE3C-4707-828B-FA78C75DBDCD}"/>
              </a:ext>
            </a:extLst>
          </p:cNvPr>
          <p:cNvPicPr>
            <a:picLocks noChangeAspect="1"/>
          </p:cNvPicPr>
          <p:nvPr/>
        </p:nvPicPr>
        <p:blipFill>
          <a:blip r:embed="rId3"/>
          <a:stretch>
            <a:fillRect/>
          </a:stretch>
        </p:blipFill>
        <p:spPr>
          <a:xfrm>
            <a:off x="2050804" y="3066806"/>
            <a:ext cx="4457929" cy="1524078"/>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Структура адреса IPv4</a:t>
            </a:r>
            <a:br>
              <a:rPr lang="en-US" dirty="0"/>
            </a:br>
            <a:r>
              <a:rPr lang="ru-RU" sz="2400"/>
              <a:t> </a:t>
            </a:r>
            <a:r>
              <a:rPr lang="ru-RU" sz="1600"/>
              <a:t>Маска подсети</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731837"/>
          </a:xfrm>
        </p:spPr>
        <p:txBody>
          <a:bodyPr/>
          <a:lstStyle/>
          <a:p>
            <a:pPr marL="342900" indent="-342900" algn="l" rtl="0">
              <a:buFont typeface="Arial" panose="020B0604020202020204" pitchFamily="34" charset="0"/>
              <a:buChar char="•"/>
            </a:pPr>
            <a:r>
              <a:rPr lang="ru-RU" sz="1600">
                <a:solidFill>
                  <a:srgbClr val="000000"/>
                </a:solidFill>
              </a:rPr>
              <a:t>Для идентификации сетевой и узловой части IPv4-адреса маска подсети побитово сравнивается с IPv4-адресом слева направо, как показано на рисунке.</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p:txBody>
      </p:sp>
      <p:sp>
        <p:nvSpPr>
          <p:cNvPr id="5" name="Content Placeholder 3">
            <a:extLst>
              <a:ext uri="{FF2B5EF4-FFF2-40B4-BE49-F238E27FC236}">
                <a16:creationId xmlns:a16="http://schemas.microsoft.com/office/drawing/2014/main" id="{F127D040-EF9A-41B6-A2B0-0C5D87D85AC1}"/>
              </a:ext>
            </a:extLst>
          </p:cNvPr>
          <p:cNvSpPr txBox="1">
            <a:spLocks/>
          </p:cNvSpPr>
          <p:nvPr/>
        </p:nvSpPr>
        <p:spPr>
          <a:xfrm>
            <a:off x="431971" y="1684028"/>
            <a:ext cx="3031991" cy="154685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ru-RU" sz="1600">
                <a:solidFill>
                  <a:srgbClr val="000000"/>
                </a:solidFill>
              </a:rPr>
              <a:t>Сам процесс, используемый для определения сетевой и узловой частей адреса, называется логической операцией И (AND).</a:t>
            </a:r>
          </a:p>
          <a:p>
            <a:pPr marL="342900" indent="-342900" algn="l">
              <a:buFont typeface="Arial" panose="020B0604020202020204" pitchFamily="34" charset="0"/>
              <a:buChar char="•"/>
            </a:pPr>
            <a:endParaRPr lang="en-CA" sz="1600" dirty="0">
              <a:solidFill>
                <a:srgbClr val="000000"/>
              </a:solidFill>
            </a:endParaRPr>
          </a:p>
        </p:txBody>
      </p:sp>
      <p:pic>
        <p:nvPicPr>
          <p:cNvPr id="2" name="Picture 1">
            <a:extLst>
              <a:ext uri="{FF2B5EF4-FFF2-40B4-BE49-F238E27FC236}">
                <a16:creationId xmlns:a16="http://schemas.microsoft.com/office/drawing/2014/main" id="{82DA54EB-7DE0-40F0-802E-91DE00F2C9A7}"/>
              </a:ext>
            </a:extLst>
          </p:cNvPr>
          <p:cNvPicPr>
            <a:picLocks noChangeAspect="1"/>
          </p:cNvPicPr>
          <p:nvPr/>
        </p:nvPicPr>
        <p:blipFill>
          <a:blip r:embed="rId3"/>
          <a:stretch>
            <a:fillRect/>
          </a:stretch>
        </p:blipFill>
        <p:spPr>
          <a:xfrm>
            <a:off x="3874858" y="1710838"/>
            <a:ext cx="4470630" cy="2159111"/>
          </a:xfrm>
          <a:prstGeom prst="rect">
            <a:avLst/>
          </a:prstGeom>
          <a:ln>
            <a:solidFill>
              <a:srgbClr val="0070C0"/>
            </a:solidFill>
          </a:ln>
        </p:spPr>
      </p:pic>
    </p:spTree>
    <p:extLst>
      <p:ext uri="{BB962C8B-B14F-4D97-AF65-F5344CB8AC3E}">
        <p14:creationId xmlns:p14="http://schemas.microsoft.com/office/powerpoint/2010/main" val="3257850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Структура адреса IPv4  </a:t>
            </a:r>
            <a:br>
              <a:rPr lang="en-US" dirty="0"/>
            </a:br>
            <a:r>
              <a:rPr lang="ru-RU" sz="2400"/>
              <a:t>Длина префикса</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510802"/>
          </a:xfrm>
        </p:spPr>
        <p:txBody>
          <a:bodyPr/>
          <a:lstStyle/>
          <a:p>
            <a:pPr marL="342900" indent="-342900" algn="l" rtl="0">
              <a:buFont typeface="Arial" panose="020B0604020202020204" pitchFamily="34" charset="0"/>
              <a:buChar char="•"/>
            </a:pPr>
            <a:r>
              <a:rPr lang="ru-RU" sz="1600">
                <a:solidFill>
                  <a:srgbClr val="000000"/>
                </a:solidFill>
              </a:rPr>
              <a:t>Длина префикса является менее громоздким методом, используемым для идентификации адреса маски подсети.</a:t>
            </a:r>
          </a:p>
        </p:txBody>
      </p:sp>
      <p:sp>
        <p:nvSpPr>
          <p:cNvPr id="5" name="Content Placeholder 3">
            <a:extLst>
              <a:ext uri="{FF2B5EF4-FFF2-40B4-BE49-F238E27FC236}">
                <a16:creationId xmlns:a16="http://schemas.microsoft.com/office/drawing/2014/main" id="{121F958E-C237-4731-8453-C4FA21B38C3F}"/>
              </a:ext>
            </a:extLst>
          </p:cNvPr>
          <p:cNvSpPr txBox="1">
            <a:spLocks/>
          </p:cNvSpPr>
          <p:nvPr/>
        </p:nvSpPr>
        <p:spPr>
          <a:xfrm>
            <a:off x="431970" y="1447090"/>
            <a:ext cx="337623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ru-RU" sz="1600">
                <a:solidFill>
                  <a:srgbClr val="000000"/>
                </a:solidFill>
              </a:rPr>
              <a:t>Длина префикса означает количество бит, установленных в единицу (1) в маске подсети. </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Следовательно, нужно подсчитать число битов в маске подсети и поставить перед этим значением косую черту.</a:t>
            </a:r>
          </a:p>
        </p:txBody>
      </p:sp>
      <p:graphicFrame>
        <p:nvGraphicFramePr>
          <p:cNvPr id="2" name="Table 1">
            <a:extLst>
              <a:ext uri="{FF2B5EF4-FFF2-40B4-BE49-F238E27FC236}">
                <a16:creationId xmlns:a16="http://schemas.microsoft.com/office/drawing/2014/main" id="{F233CEE0-728D-4198-87F2-5E9774E181A6}"/>
              </a:ext>
            </a:extLst>
          </p:cNvPr>
          <p:cNvGraphicFramePr>
            <a:graphicFrameLocks noGrp="1"/>
          </p:cNvGraphicFramePr>
          <p:nvPr>
            <p:extLst>
              <p:ext uri="{D42A27DB-BD31-4B8C-83A1-F6EECF244321}">
                <p14:modId xmlns:p14="http://schemas.microsoft.com/office/powerpoint/2010/main" val="499052206"/>
              </p:ext>
            </p:extLst>
          </p:nvPr>
        </p:nvGraphicFramePr>
        <p:xfrm>
          <a:off x="3808207" y="1476075"/>
          <a:ext cx="5000514" cy="3342146"/>
        </p:xfrm>
        <a:graphic>
          <a:graphicData uri="http://schemas.openxmlformats.org/drawingml/2006/table">
            <a:tbl>
              <a:tblPr firstRow="1" bandRow="1">
                <a:tableStyleId>{5C22544A-7EE6-4342-B048-85BDC9FD1C3A}</a:tableStyleId>
              </a:tblPr>
              <a:tblGrid>
                <a:gridCol w="1208123">
                  <a:extLst>
                    <a:ext uri="{9D8B030D-6E8A-4147-A177-3AD203B41FA5}">
                      <a16:colId xmlns:a16="http://schemas.microsoft.com/office/drawing/2014/main" val="2853717215"/>
                    </a:ext>
                  </a:extLst>
                </a:gridCol>
                <a:gridCol w="2759676">
                  <a:extLst>
                    <a:ext uri="{9D8B030D-6E8A-4147-A177-3AD203B41FA5}">
                      <a16:colId xmlns:a16="http://schemas.microsoft.com/office/drawing/2014/main" val="3859420295"/>
                    </a:ext>
                  </a:extLst>
                </a:gridCol>
                <a:gridCol w="1032715">
                  <a:extLst>
                    <a:ext uri="{9D8B030D-6E8A-4147-A177-3AD203B41FA5}">
                      <a16:colId xmlns:a16="http://schemas.microsoft.com/office/drawing/2014/main" val="2152541703"/>
                    </a:ext>
                  </a:extLst>
                </a:gridCol>
              </a:tblGrid>
              <a:tr h="369809">
                <a:tc>
                  <a:txBody>
                    <a:bodyPr/>
                    <a:lstStyle/>
                    <a:p>
                      <a:pPr algn="l" rtl="0" fontAlgn="ctr"/>
                      <a:r>
                        <a:rPr lang="ru-RU" sz="1050" b="1">
                          <a:effectLst/>
                        </a:rPr>
                        <a:t>Маска подсети</a:t>
                      </a:r>
                    </a:p>
                  </a:txBody>
                  <a:tcPr marL="31750" marR="31750" marT="31750" marB="31750" anchor="ctr"/>
                </a:tc>
                <a:tc>
                  <a:txBody>
                    <a:bodyPr/>
                    <a:lstStyle/>
                    <a:p>
                      <a:pPr algn="l" rtl="0" fontAlgn="ctr"/>
                      <a:r>
                        <a:rPr lang="ru-RU" sz="1050" b="1">
                          <a:effectLst/>
                        </a:rPr>
                        <a:t>32-битный адрес</a:t>
                      </a:r>
                    </a:p>
                  </a:txBody>
                  <a:tcPr marL="31750" marR="31750" marT="31750" marB="31750" anchor="ctr"/>
                </a:tc>
                <a:tc>
                  <a:txBody>
                    <a:bodyPr/>
                    <a:lstStyle/>
                    <a:p>
                      <a:pPr algn="l" rtl="0" fontAlgn="ctr"/>
                      <a:r>
                        <a:rPr lang="ru-RU" sz="1050" b="1">
                          <a:effectLst/>
                        </a:rPr>
                        <a:t>Префикс </a:t>
                      </a:r>
                    </a:p>
                    <a:p>
                      <a:pPr algn="l" rtl="0" fontAlgn="ctr"/>
                      <a:r>
                        <a:rPr lang="ru-RU" sz="1050" b="1">
                          <a:effectLst/>
                        </a:rPr>
                        <a:t>Длина</a:t>
                      </a:r>
                    </a:p>
                  </a:txBody>
                  <a:tcPr marL="31750" marR="31750" marT="31750" marB="31750" anchor="ctr"/>
                </a:tc>
                <a:extLst>
                  <a:ext uri="{0D108BD9-81ED-4DB2-BD59-A6C34878D82A}">
                    <a16:rowId xmlns:a16="http://schemas.microsoft.com/office/drawing/2014/main" val="1617726287"/>
                  </a:ext>
                </a:extLst>
              </a:tr>
              <a:tr h="328734">
                <a:tc>
                  <a:txBody>
                    <a:bodyPr/>
                    <a:lstStyle/>
                    <a:p>
                      <a:pPr rtl="0" fontAlgn="ctr"/>
                      <a:r>
                        <a:rPr lang="ru-RU" sz="1000" b="0">
                          <a:effectLst/>
                        </a:rPr>
                        <a:t>255.0.0.0</a:t>
                      </a:r>
                    </a:p>
                  </a:txBody>
                  <a:tcPr marL="31750" marR="31750" marT="31750" marB="31750" anchor="ctr"/>
                </a:tc>
                <a:tc>
                  <a:txBody>
                    <a:bodyPr/>
                    <a:lstStyle/>
                    <a:p>
                      <a:pPr rtl="0" fontAlgn="ctr"/>
                      <a:r>
                        <a:rPr lang="ru-RU" sz="1000" b="0">
                          <a:effectLst/>
                        </a:rPr>
                        <a:t>11111111.00000000.00000000.00000000</a:t>
                      </a:r>
                    </a:p>
                  </a:txBody>
                  <a:tcPr marL="31750" marR="31750" marT="31750" marB="31750" anchor="ctr"/>
                </a:tc>
                <a:tc>
                  <a:txBody>
                    <a:bodyPr/>
                    <a:lstStyle/>
                    <a:p>
                      <a:pPr rtl="0" fontAlgn="ctr"/>
                      <a:r>
                        <a:rPr lang="ru-RU" sz="1000" b="0">
                          <a:effectLst/>
                        </a:rPr>
                        <a:t>/8</a:t>
                      </a:r>
                    </a:p>
                  </a:txBody>
                  <a:tcPr marL="31750" marR="31750" marT="31750" marB="31750" anchor="ctr"/>
                </a:tc>
                <a:extLst>
                  <a:ext uri="{0D108BD9-81ED-4DB2-BD59-A6C34878D82A}">
                    <a16:rowId xmlns:a16="http://schemas.microsoft.com/office/drawing/2014/main" val="3476665342"/>
                  </a:ext>
                </a:extLst>
              </a:tr>
              <a:tr h="328734">
                <a:tc>
                  <a:txBody>
                    <a:bodyPr/>
                    <a:lstStyle/>
                    <a:p>
                      <a:pPr rtl="0" fontAlgn="ctr"/>
                      <a:r>
                        <a:rPr lang="ru-RU" sz="1000" b="0">
                          <a:effectLst/>
                        </a:rPr>
                        <a:t>255.255.0.0</a:t>
                      </a:r>
                    </a:p>
                  </a:txBody>
                  <a:tcPr marL="31750" marR="31750" marT="31750" marB="31750" anchor="ctr"/>
                </a:tc>
                <a:tc>
                  <a:txBody>
                    <a:bodyPr/>
                    <a:lstStyle/>
                    <a:p>
                      <a:pPr rtl="0" fontAlgn="ctr"/>
                      <a:r>
                        <a:rPr lang="ru-RU" sz="1000" b="0">
                          <a:effectLst/>
                        </a:rPr>
                        <a:t>11111111.11111111.00000000.00000000</a:t>
                      </a:r>
                    </a:p>
                  </a:txBody>
                  <a:tcPr marL="31750" marR="31750" marT="31750" marB="31750" anchor="ctr"/>
                </a:tc>
                <a:tc>
                  <a:txBody>
                    <a:bodyPr/>
                    <a:lstStyle/>
                    <a:p>
                      <a:pPr rtl="0" fontAlgn="ctr"/>
                      <a:r>
                        <a:rPr lang="ru-RU" sz="1000" b="0">
                          <a:effectLst/>
                        </a:rPr>
                        <a:t>/16</a:t>
                      </a:r>
                    </a:p>
                  </a:txBody>
                  <a:tcPr marL="31750" marR="31750" marT="31750" marB="31750" anchor="ctr"/>
                </a:tc>
                <a:extLst>
                  <a:ext uri="{0D108BD9-81ED-4DB2-BD59-A6C34878D82A}">
                    <a16:rowId xmlns:a16="http://schemas.microsoft.com/office/drawing/2014/main" val="863355901"/>
                  </a:ext>
                </a:extLst>
              </a:tr>
              <a:tr h="328734">
                <a:tc>
                  <a:txBody>
                    <a:bodyPr/>
                    <a:lstStyle/>
                    <a:p>
                      <a:pPr rtl="0" fontAlgn="ctr"/>
                      <a:r>
                        <a:rPr lang="ru-RU" sz="1000" b="0">
                          <a:effectLst/>
                        </a:rPr>
                        <a:t>255.255.255.0</a:t>
                      </a:r>
                    </a:p>
                  </a:txBody>
                  <a:tcPr marL="31750" marR="31750" marT="31750" marB="31750" anchor="ctr"/>
                </a:tc>
                <a:tc>
                  <a:txBody>
                    <a:bodyPr/>
                    <a:lstStyle/>
                    <a:p>
                      <a:pPr rtl="0" fontAlgn="ctr"/>
                      <a:r>
                        <a:rPr lang="ru-RU" sz="1000" b="0">
                          <a:effectLst/>
                        </a:rPr>
                        <a:t>11111111.11111111.11111111.00000000</a:t>
                      </a:r>
                    </a:p>
                  </a:txBody>
                  <a:tcPr marL="31750" marR="31750" marT="31750" marB="31750" anchor="ctr"/>
                </a:tc>
                <a:tc>
                  <a:txBody>
                    <a:bodyPr/>
                    <a:lstStyle/>
                    <a:p>
                      <a:pPr rtl="0" fontAlgn="ctr"/>
                      <a:r>
                        <a:rPr lang="ru-RU" sz="1000" b="0">
                          <a:effectLst/>
                        </a:rPr>
                        <a:t>/24</a:t>
                      </a:r>
                    </a:p>
                  </a:txBody>
                  <a:tcPr marL="31750" marR="31750" marT="31750" marB="31750" anchor="ctr"/>
                </a:tc>
                <a:extLst>
                  <a:ext uri="{0D108BD9-81ED-4DB2-BD59-A6C34878D82A}">
                    <a16:rowId xmlns:a16="http://schemas.microsoft.com/office/drawing/2014/main" val="2609772987"/>
                  </a:ext>
                </a:extLst>
              </a:tr>
              <a:tr h="328734">
                <a:tc>
                  <a:txBody>
                    <a:bodyPr/>
                    <a:lstStyle/>
                    <a:p>
                      <a:pPr rtl="0" fontAlgn="ctr"/>
                      <a:r>
                        <a:rPr lang="ru-RU" sz="1000" b="0">
                          <a:effectLst/>
                        </a:rPr>
                        <a:t>255.255.255.128</a:t>
                      </a:r>
                    </a:p>
                  </a:txBody>
                  <a:tcPr marL="31750" marR="31750" marT="31750" marB="31750" anchor="ctr"/>
                </a:tc>
                <a:tc>
                  <a:txBody>
                    <a:bodyPr/>
                    <a:lstStyle/>
                    <a:p>
                      <a:pPr rtl="0" fontAlgn="ctr"/>
                      <a:r>
                        <a:rPr lang="ru-RU" sz="1000" b="0">
                          <a:effectLst/>
                        </a:rPr>
                        <a:t>11111111.1111111111111111.10000000</a:t>
                      </a:r>
                    </a:p>
                  </a:txBody>
                  <a:tcPr marL="31750" marR="31750" marT="31750" marB="31750" anchor="ctr"/>
                </a:tc>
                <a:tc>
                  <a:txBody>
                    <a:bodyPr/>
                    <a:lstStyle/>
                    <a:p>
                      <a:pPr rtl="0" fontAlgn="ctr"/>
                      <a:r>
                        <a:rPr lang="ru-RU" sz="1000" b="0">
                          <a:effectLst/>
                        </a:rPr>
                        <a:t>/25</a:t>
                      </a:r>
                    </a:p>
                  </a:txBody>
                  <a:tcPr marL="31750" marR="31750" marT="31750" marB="31750" anchor="ctr"/>
                </a:tc>
                <a:extLst>
                  <a:ext uri="{0D108BD9-81ED-4DB2-BD59-A6C34878D82A}">
                    <a16:rowId xmlns:a16="http://schemas.microsoft.com/office/drawing/2014/main" val="1362219286"/>
                  </a:ext>
                </a:extLst>
              </a:tr>
              <a:tr h="328734">
                <a:tc>
                  <a:txBody>
                    <a:bodyPr/>
                    <a:lstStyle/>
                    <a:p>
                      <a:pPr rtl="0" fontAlgn="ctr"/>
                      <a:r>
                        <a:rPr lang="ru-RU" sz="1000" b="0">
                          <a:effectLst/>
                        </a:rPr>
                        <a:t>255.255.255.192</a:t>
                      </a:r>
                    </a:p>
                  </a:txBody>
                  <a:tcPr marL="31750" marR="31750" marT="31750" marB="31750" anchor="ctr"/>
                </a:tc>
                <a:tc>
                  <a:txBody>
                    <a:bodyPr/>
                    <a:lstStyle/>
                    <a:p>
                      <a:pPr rtl="0" fontAlgn="ctr"/>
                      <a:r>
                        <a:rPr lang="ru-RU" sz="1000" b="0">
                          <a:effectLst/>
                        </a:rPr>
                        <a:t>11111111.11111111.1111111111.11000000</a:t>
                      </a:r>
                    </a:p>
                  </a:txBody>
                  <a:tcPr marL="31750" marR="31750" marT="31750" marB="31750" anchor="ctr"/>
                </a:tc>
                <a:tc>
                  <a:txBody>
                    <a:bodyPr/>
                    <a:lstStyle/>
                    <a:p>
                      <a:pPr rtl="0" fontAlgn="ctr"/>
                      <a:r>
                        <a:rPr lang="ru-RU" sz="1000" b="0">
                          <a:effectLst/>
                        </a:rPr>
                        <a:t>/26</a:t>
                      </a:r>
                    </a:p>
                  </a:txBody>
                  <a:tcPr marL="31750" marR="31750" marT="31750" marB="31750" anchor="ctr"/>
                </a:tc>
                <a:extLst>
                  <a:ext uri="{0D108BD9-81ED-4DB2-BD59-A6C34878D82A}">
                    <a16:rowId xmlns:a16="http://schemas.microsoft.com/office/drawing/2014/main" val="2881816204"/>
                  </a:ext>
                </a:extLst>
              </a:tr>
              <a:tr h="328734">
                <a:tc>
                  <a:txBody>
                    <a:bodyPr/>
                    <a:lstStyle/>
                    <a:p>
                      <a:pPr rtl="0" fontAlgn="ctr"/>
                      <a:r>
                        <a:rPr lang="ru-RU" sz="1000" b="0">
                          <a:effectLst/>
                        </a:rPr>
                        <a:t>255.255.255.224</a:t>
                      </a:r>
                    </a:p>
                  </a:txBody>
                  <a:tcPr marL="31750" marR="31750" marT="31750" marB="31750" anchor="ctr"/>
                </a:tc>
                <a:tc>
                  <a:txBody>
                    <a:bodyPr/>
                    <a:lstStyle/>
                    <a:p>
                      <a:pPr rtl="0" fontAlgn="ctr"/>
                      <a:r>
                        <a:rPr lang="ru-RU" sz="1000" b="0">
                          <a:effectLst/>
                        </a:rPr>
                        <a:t>11111111.11111111.11111111.11100000</a:t>
                      </a:r>
                    </a:p>
                  </a:txBody>
                  <a:tcPr marL="31750" marR="31750" marT="31750" marB="31750" anchor="ctr"/>
                </a:tc>
                <a:tc>
                  <a:txBody>
                    <a:bodyPr/>
                    <a:lstStyle/>
                    <a:p>
                      <a:pPr rtl="0" fontAlgn="ctr"/>
                      <a:r>
                        <a:rPr lang="ru-RU" sz="1000" b="0">
                          <a:effectLst/>
                        </a:rPr>
                        <a:t>/27</a:t>
                      </a:r>
                    </a:p>
                  </a:txBody>
                  <a:tcPr marL="31750" marR="31750" marT="31750" marB="31750" anchor="ctr"/>
                </a:tc>
                <a:extLst>
                  <a:ext uri="{0D108BD9-81ED-4DB2-BD59-A6C34878D82A}">
                    <a16:rowId xmlns:a16="http://schemas.microsoft.com/office/drawing/2014/main" val="1859046036"/>
                  </a:ext>
                </a:extLst>
              </a:tr>
              <a:tr h="328734">
                <a:tc>
                  <a:txBody>
                    <a:bodyPr/>
                    <a:lstStyle/>
                    <a:p>
                      <a:pPr rtl="0" fontAlgn="ctr"/>
                      <a:r>
                        <a:rPr lang="ru-RU" sz="1000" b="0">
                          <a:effectLst/>
                        </a:rPr>
                        <a:t>255.255.255.240</a:t>
                      </a:r>
                    </a:p>
                  </a:txBody>
                  <a:tcPr marL="31750" marR="31750" marT="31750" marB="31750" anchor="ctr"/>
                </a:tc>
                <a:tc>
                  <a:txBody>
                    <a:bodyPr/>
                    <a:lstStyle/>
                    <a:p>
                      <a:pPr rtl="0" fontAlgn="ctr"/>
                      <a:r>
                        <a:rPr lang="ru-RU" sz="1000" b="0">
                          <a:effectLst/>
                        </a:rPr>
                        <a:t>11111111.11111111.11111111.11110000</a:t>
                      </a:r>
                    </a:p>
                  </a:txBody>
                  <a:tcPr marL="31750" marR="31750" marT="31750" marB="31750" anchor="ctr"/>
                </a:tc>
                <a:tc>
                  <a:txBody>
                    <a:bodyPr/>
                    <a:lstStyle/>
                    <a:p>
                      <a:pPr rtl="0" fontAlgn="ctr"/>
                      <a:r>
                        <a:rPr lang="ru-RU" sz="1000" b="0">
                          <a:effectLst/>
                        </a:rPr>
                        <a:t>/28</a:t>
                      </a:r>
                    </a:p>
                  </a:txBody>
                  <a:tcPr marL="31750" marR="31750" marT="31750" marB="31750" anchor="ctr"/>
                </a:tc>
                <a:extLst>
                  <a:ext uri="{0D108BD9-81ED-4DB2-BD59-A6C34878D82A}">
                    <a16:rowId xmlns:a16="http://schemas.microsoft.com/office/drawing/2014/main" val="2913653739"/>
                  </a:ext>
                </a:extLst>
              </a:tr>
              <a:tr h="328734">
                <a:tc>
                  <a:txBody>
                    <a:bodyPr/>
                    <a:lstStyle/>
                    <a:p>
                      <a:pPr rtl="0" fontAlgn="ctr"/>
                      <a:r>
                        <a:rPr lang="ru-RU" sz="1000" b="0">
                          <a:effectLst/>
                        </a:rPr>
                        <a:t>255.255.255.248</a:t>
                      </a:r>
                    </a:p>
                  </a:txBody>
                  <a:tcPr marL="31750" marR="31750" marT="31750" marB="31750" anchor="ctr"/>
                </a:tc>
                <a:tc>
                  <a:txBody>
                    <a:bodyPr/>
                    <a:lstStyle/>
                    <a:p>
                      <a:pPr rtl="0" fontAlgn="ctr"/>
                      <a:r>
                        <a:rPr lang="ru-RU" sz="1000" b="0" dirty="0">
                          <a:effectLst/>
                        </a:rPr>
                        <a:t>11111111.11111111.11111111.11111000</a:t>
                      </a:r>
                    </a:p>
                  </a:txBody>
                  <a:tcPr marL="31750" marR="31750" marT="31750" marB="31750" anchor="ctr"/>
                </a:tc>
                <a:tc>
                  <a:txBody>
                    <a:bodyPr/>
                    <a:lstStyle/>
                    <a:p>
                      <a:pPr rtl="0" fontAlgn="ctr"/>
                      <a:r>
                        <a:rPr lang="ru-RU" sz="1000" b="0">
                          <a:effectLst/>
                        </a:rPr>
                        <a:t>/29</a:t>
                      </a:r>
                    </a:p>
                  </a:txBody>
                  <a:tcPr marL="31750" marR="31750" marT="31750" marB="31750" anchor="ctr"/>
                </a:tc>
                <a:extLst>
                  <a:ext uri="{0D108BD9-81ED-4DB2-BD59-A6C34878D82A}">
                    <a16:rowId xmlns:a16="http://schemas.microsoft.com/office/drawing/2014/main" val="200304742"/>
                  </a:ext>
                </a:extLst>
              </a:tr>
              <a:tr h="328734">
                <a:tc>
                  <a:txBody>
                    <a:bodyPr/>
                    <a:lstStyle/>
                    <a:p>
                      <a:pPr rtl="0" fontAlgn="ctr"/>
                      <a:r>
                        <a:rPr lang="ru-RU" sz="1000" b="0">
                          <a:effectLst/>
                        </a:rPr>
                        <a:t>255.255.255.252</a:t>
                      </a:r>
                    </a:p>
                  </a:txBody>
                  <a:tcPr marL="31750" marR="31750" marT="31750" marB="31750" anchor="ctr"/>
                </a:tc>
                <a:tc>
                  <a:txBody>
                    <a:bodyPr/>
                    <a:lstStyle/>
                    <a:p>
                      <a:pPr rtl="0" fontAlgn="ctr"/>
                      <a:r>
                        <a:rPr lang="ru-RU" sz="1000" b="0">
                          <a:effectLst/>
                        </a:rPr>
                        <a:t>11111111.11111111.11111111.11111100</a:t>
                      </a:r>
                    </a:p>
                  </a:txBody>
                  <a:tcPr marL="31750" marR="31750" marT="31750" marB="31750" anchor="ctr"/>
                </a:tc>
                <a:tc>
                  <a:txBody>
                    <a:bodyPr/>
                    <a:lstStyle/>
                    <a:p>
                      <a:pPr rtl="0" fontAlgn="ctr"/>
                      <a:r>
                        <a:rPr lang="ru-RU" sz="1000" b="0" dirty="0">
                          <a:effectLst/>
                        </a:rPr>
                        <a:t>/30</a:t>
                      </a:r>
                    </a:p>
                  </a:txBody>
                  <a:tcPr marL="31750" marR="31750" marT="31750" marB="31750" anchor="ctr"/>
                </a:tc>
                <a:extLst>
                  <a:ext uri="{0D108BD9-81ED-4DB2-BD59-A6C34878D82A}">
                    <a16:rowId xmlns:a16="http://schemas.microsoft.com/office/drawing/2014/main" val="235243754"/>
                  </a:ext>
                </a:extLst>
              </a:tr>
            </a:tbl>
          </a:graphicData>
        </a:graphic>
      </p:graphicFrame>
    </p:spTree>
    <p:extLst>
      <p:ext uri="{BB962C8B-B14F-4D97-AF65-F5344CB8AC3E}">
        <p14:creationId xmlns:p14="http://schemas.microsoft.com/office/powerpoint/2010/main" val="3152352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Структура адресов IPv4</a:t>
            </a:r>
            <a:br>
              <a:rPr lang="en-US" dirty="0"/>
            </a:br>
            <a:r>
              <a:rPr lang="ru-RU" sz="2400"/>
              <a:t>Определение сети: логическое И</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82881" y="855419"/>
            <a:ext cx="8529147" cy="1522021"/>
          </a:xfrm>
        </p:spPr>
        <p:txBody>
          <a:bodyPr/>
          <a:lstStyle/>
          <a:p>
            <a:pPr marL="342900" indent="-342900" algn="l" rtl="0">
              <a:buFont typeface="Arial" panose="020B0604020202020204" pitchFamily="34" charset="0"/>
              <a:buChar char="•"/>
            </a:pPr>
            <a:r>
              <a:rPr lang="ru-RU" sz="1600" dirty="0">
                <a:solidFill>
                  <a:srgbClr val="000000"/>
                </a:solidFill>
              </a:rPr>
              <a:t>Логическая операция И используется для определения сетевого адреса.</a:t>
            </a:r>
          </a:p>
          <a:p>
            <a:pPr marL="415985" lvl="1" indent="-342900" rtl="0">
              <a:buFont typeface="Arial" panose="020B0604020202020204" pitchFamily="34" charset="0"/>
              <a:buChar char="•"/>
            </a:pPr>
            <a:r>
              <a:rPr lang="ru-RU" dirty="0">
                <a:solidFill>
                  <a:srgbClr val="000000"/>
                </a:solidFill>
              </a:rPr>
              <a:t>Логическое И - это сравнение двух битов, где только 1 И 1 производит 1, а любая другая комбинация приводит к 0.</a:t>
            </a:r>
          </a:p>
          <a:p>
            <a:pPr marL="415985" lvl="1" indent="-342900" rtl="0">
              <a:buFont typeface="Arial" panose="020B0604020202020204" pitchFamily="34" charset="0"/>
              <a:buChar char="•"/>
            </a:pPr>
            <a:r>
              <a:rPr lang="ru-RU" dirty="0">
                <a:solidFill>
                  <a:srgbClr val="000000"/>
                </a:solidFill>
              </a:rPr>
              <a:t>1 И 1 = 1, 0 И 1 = 0, 1 И 0 = 0, 0 И 0 = 0</a:t>
            </a:r>
          </a:p>
          <a:p>
            <a:pPr marL="415985" lvl="1" indent="-342900" rtl="0">
              <a:buFont typeface="Arial" panose="020B0604020202020204" pitchFamily="34" charset="0"/>
              <a:buChar char="•"/>
            </a:pPr>
            <a:r>
              <a:rPr lang="ru-RU" dirty="0">
                <a:solidFill>
                  <a:srgbClr val="000000"/>
                </a:solidFill>
              </a:rPr>
              <a:t>1 = Истина и 0 = Ложь</a:t>
            </a:r>
          </a:p>
        </p:txBody>
      </p:sp>
      <p:sp>
        <p:nvSpPr>
          <p:cNvPr id="5" name="Content Placeholder 3">
            <a:extLst>
              <a:ext uri="{FF2B5EF4-FFF2-40B4-BE49-F238E27FC236}">
                <a16:creationId xmlns:a16="http://schemas.microsoft.com/office/drawing/2014/main" id="{3528EAA4-4ECB-4719-8E9E-7DE8051ABB69}"/>
              </a:ext>
            </a:extLst>
          </p:cNvPr>
          <p:cNvSpPr txBox="1">
            <a:spLocks/>
          </p:cNvSpPr>
          <p:nvPr/>
        </p:nvSpPr>
        <p:spPr>
          <a:xfrm>
            <a:off x="182881" y="2483539"/>
            <a:ext cx="4098664" cy="198765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ru-RU" sz="1600" dirty="0">
                <a:solidFill>
                  <a:srgbClr val="000000"/>
                </a:solidFill>
              </a:rPr>
              <a:t>Для того чтобы определить сетевой адрес IPv4-узла, к IPv4-адресу и маске подсети </a:t>
            </a:r>
            <a:r>
              <a:rPr lang="ru-RU" sz="1600" dirty="0" err="1">
                <a:solidFill>
                  <a:srgbClr val="000000"/>
                </a:solidFill>
              </a:rPr>
              <a:t>побитово</a:t>
            </a:r>
            <a:r>
              <a:rPr lang="ru-RU" sz="1600" dirty="0">
                <a:solidFill>
                  <a:srgbClr val="000000"/>
                </a:solidFill>
              </a:rPr>
              <a:t> применяется логическая операция И.</a:t>
            </a:r>
          </a:p>
          <a:p>
            <a:pPr marL="342900" indent="-342900" algn="l">
              <a:buFont typeface="Arial" panose="020B0604020202020204" pitchFamily="34" charset="0"/>
              <a:buChar char="•"/>
            </a:pPr>
            <a:endParaRPr lang="en-CA" sz="1600" dirty="0">
              <a:solidFill>
                <a:srgbClr val="000000"/>
              </a:solidFill>
            </a:endParaRPr>
          </a:p>
        </p:txBody>
      </p:sp>
      <p:pic>
        <p:nvPicPr>
          <p:cNvPr id="2" name="Picture 1">
            <a:extLst>
              <a:ext uri="{FF2B5EF4-FFF2-40B4-BE49-F238E27FC236}">
                <a16:creationId xmlns:a16="http://schemas.microsoft.com/office/drawing/2014/main" id="{9F2917F7-70A6-4627-8200-4118CE19CA50}"/>
              </a:ext>
            </a:extLst>
          </p:cNvPr>
          <p:cNvPicPr>
            <a:picLocks noChangeAspect="1"/>
          </p:cNvPicPr>
          <p:nvPr/>
        </p:nvPicPr>
        <p:blipFill>
          <a:blip r:embed="rId3"/>
          <a:stretch>
            <a:fillRect/>
          </a:stretch>
        </p:blipFill>
        <p:spPr>
          <a:xfrm>
            <a:off x="4381158" y="2377440"/>
            <a:ext cx="4534133" cy="1987652"/>
          </a:xfrm>
          <a:prstGeom prst="rect">
            <a:avLst/>
          </a:prstGeom>
        </p:spPr>
      </p:pic>
    </p:spTree>
    <p:extLst>
      <p:ext uri="{BB962C8B-B14F-4D97-AF65-F5344CB8AC3E}">
        <p14:creationId xmlns:p14="http://schemas.microsoft.com/office/powerpoint/2010/main" val="2687004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9006840" cy="731837"/>
          </a:xfrm>
        </p:spPr>
        <p:txBody>
          <a:bodyPr/>
          <a:lstStyle/>
          <a:p>
            <a:pPr rtl="0"/>
            <a:r>
              <a:rPr lang="ru-RU" sz="1600" dirty="0"/>
              <a:t>Структура адреса IPv4 </a:t>
            </a:r>
            <a:br>
              <a:rPr lang="en-US" dirty="0"/>
            </a:br>
            <a:r>
              <a:rPr lang="ru-RU" sz="2400" dirty="0"/>
              <a:t>Видео. </a:t>
            </a:r>
            <a:br>
              <a:rPr lang="en-US" sz="2400" dirty="0"/>
            </a:br>
            <a:r>
              <a:rPr lang="ru-RU" sz="2400" dirty="0"/>
              <a:t>Сетевой адрес, адрес хоста и широковещательный адрес</a:t>
            </a:r>
          </a:p>
        </p:txBody>
      </p:sp>
      <p:pic>
        <p:nvPicPr>
          <p:cNvPr id="2" name="Picture 1">
            <a:extLst>
              <a:ext uri="{FF2B5EF4-FFF2-40B4-BE49-F238E27FC236}">
                <a16:creationId xmlns:a16="http://schemas.microsoft.com/office/drawing/2014/main" id="{AAC2E9A2-7F9F-404A-B632-433B3DD70A30}"/>
              </a:ext>
            </a:extLst>
          </p:cNvPr>
          <p:cNvPicPr>
            <a:picLocks noChangeAspect="1"/>
          </p:cNvPicPr>
          <p:nvPr/>
        </p:nvPicPr>
        <p:blipFill>
          <a:blip r:embed="rId3"/>
          <a:stretch>
            <a:fillRect/>
          </a:stretch>
        </p:blipFill>
        <p:spPr>
          <a:xfrm>
            <a:off x="431971" y="2222298"/>
            <a:ext cx="2898633" cy="1607424"/>
          </a:xfrm>
          <a:prstGeom prst="rect">
            <a:avLst/>
          </a:prstGeom>
        </p:spPr>
      </p:pic>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5667615" cy="1328383"/>
          </a:xfrm>
        </p:spPr>
        <p:txBody>
          <a:bodyPr/>
          <a:lstStyle/>
          <a:p>
            <a:pPr marL="342900" indent="-342900" algn="l" rtl="0">
              <a:buFont typeface="Arial" panose="020B0604020202020204" pitchFamily="34" charset="0"/>
              <a:buChar char="•"/>
            </a:pPr>
            <a:r>
              <a:rPr lang="ru-RU" sz="1600">
                <a:solidFill>
                  <a:srgbClr val="000000"/>
                </a:solidFill>
              </a:rPr>
              <a:t>В каждой сети есть три типа IP-адресов:</a:t>
            </a:r>
          </a:p>
          <a:p>
            <a:pPr marL="415985" lvl="1" indent="-342900" rtl="0">
              <a:buFont typeface="Arial" panose="020B0604020202020204" pitchFamily="34" charset="0"/>
              <a:buChar char="•"/>
            </a:pPr>
            <a:r>
              <a:rPr lang="ru-RU">
                <a:solidFill>
                  <a:srgbClr val="000000"/>
                </a:solidFill>
              </a:rPr>
              <a:t>Сетевой адрес</a:t>
            </a:r>
          </a:p>
          <a:p>
            <a:pPr marL="415985" lvl="1" indent="-342900" rtl="0">
              <a:buFont typeface="Arial" panose="020B0604020202020204" pitchFamily="34" charset="0"/>
              <a:buChar char="•"/>
            </a:pPr>
            <a:r>
              <a:rPr lang="ru-RU">
                <a:solidFill>
                  <a:srgbClr val="000000"/>
                </a:solidFill>
              </a:rPr>
              <a:t>Адрес хоста</a:t>
            </a:r>
          </a:p>
          <a:p>
            <a:pPr marL="415985" lvl="1" indent="-342900" rtl="0">
              <a:buFont typeface="Arial" panose="020B0604020202020204" pitchFamily="34" charset="0"/>
              <a:buChar char="•"/>
            </a:pPr>
            <a:r>
              <a:rPr lang="ru-RU">
                <a:solidFill>
                  <a:srgbClr val="000000"/>
                </a:solidFill>
              </a:rPr>
              <a:t>Широковещательный адрес</a:t>
            </a:r>
          </a:p>
        </p:txBody>
      </p:sp>
      <p:graphicFrame>
        <p:nvGraphicFramePr>
          <p:cNvPr id="6" name="Table 5">
            <a:extLst>
              <a:ext uri="{FF2B5EF4-FFF2-40B4-BE49-F238E27FC236}">
                <a16:creationId xmlns:a16="http://schemas.microsoft.com/office/drawing/2014/main" id="{663C58AD-E4FB-4E6F-A2AA-5493C4001BAD}"/>
              </a:ext>
            </a:extLst>
          </p:cNvPr>
          <p:cNvGraphicFramePr>
            <a:graphicFrameLocks noGrp="1"/>
          </p:cNvGraphicFramePr>
          <p:nvPr>
            <p:extLst>
              <p:ext uri="{D42A27DB-BD31-4B8C-83A1-F6EECF244321}">
                <p14:modId xmlns:p14="http://schemas.microsoft.com/office/powerpoint/2010/main" val="1207636514"/>
              </p:ext>
            </p:extLst>
          </p:nvPr>
        </p:nvGraphicFramePr>
        <p:xfrm>
          <a:off x="3512820" y="2247024"/>
          <a:ext cx="5494020" cy="2689860"/>
        </p:xfrm>
        <a:graphic>
          <a:graphicData uri="http://schemas.openxmlformats.org/drawingml/2006/table">
            <a:tbl>
              <a:tblPr firstRow="1" bandRow="1">
                <a:tableStyleId>{5C22544A-7EE6-4342-B048-85BDC9FD1C3A}</a:tableStyleId>
              </a:tblPr>
              <a:tblGrid>
                <a:gridCol w="1363980">
                  <a:extLst>
                    <a:ext uri="{9D8B030D-6E8A-4147-A177-3AD203B41FA5}">
                      <a16:colId xmlns:a16="http://schemas.microsoft.com/office/drawing/2014/main" val="6951079"/>
                    </a:ext>
                  </a:extLst>
                </a:gridCol>
                <a:gridCol w="2461260">
                  <a:extLst>
                    <a:ext uri="{9D8B030D-6E8A-4147-A177-3AD203B41FA5}">
                      <a16:colId xmlns:a16="http://schemas.microsoft.com/office/drawing/2014/main" val="3669600987"/>
                    </a:ext>
                  </a:extLst>
                </a:gridCol>
                <a:gridCol w="822960">
                  <a:extLst>
                    <a:ext uri="{9D8B030D-6E8A-4147-A177-3AD203B41FA5}">
                      <a16:colId xmlns:a16="http://schemas.microsoft.com/office/drawing/2014/main" val="1195186617"/>
                    </a:ext>
                  </a:extLst>
                </a:gridCol>
                <a:gridCol w="845820">
                  <a:extLst>
                    <a:ext uri="{9D8B030D-6E8A-4147-A177-3AD203B41FA5}">
                      <a16:colId xmlns:a16="http://schemas.microsoft.com/office/drawing/2014/main" val="3408647017"/>
                    </a:ext>
                  </a:extLst>
                </a:gridCol>
              </a:tblGrid>
              <a:tr h="370840">
                <a:tc>
                  <a:txBody>
                    <a:bodyPr/>
                    <a:lstStyle/>
                    <a:p>
                      <a:endParaRPr lang="en-CA" sz="1200" dirty="0"/>
                    </a:p>
                  </a:txBody>
                  <a:tcPr marL="31750" marR="31750" marT="31750" marB="31750" anchor="ctr">
                    <a:noFill/>
                  </a:tcPr>
                </a:tc>
                <a:tc>
                  <a:txBody>
                    <a:bodyPr/>
                    <a:lstStyle/>
                    <a:p>
                      <a:pPr algn="ctr" rtl="0" fontAlgn="ctr"/>
                      <a:r>
                        <a:rPr lang="ru-RU" sz="1050" b="1">
                          <a:effectLst/>
                        </a:rPr>
                        <a:t>Сетевая часть</a:t>
                      </a:r>
                    </a:p>
                  </a:txBody>
                  <a:tcPr marL="31750" marR="31750" marT="31750" marB="31750" anchor="ctr"/>
                </a:tc>
                <a:tc>
                  <a:txBody>
                    <a:bodyPr/>
                    <a:lstStyle/>
                    <a:p>
                      <a:pPr algn="ctr" rtl="0" fontAlgn="ctr"/>
                      <a:r>
                        <a:rPr lang="ru-RU" sz="1050" b="1">
                          <a:effectLst/>
                        </a:rPr>
                        <a:t>Раздел хоста</a:t>
                      </a:r>
                    </a:p>
                  </a:txBody>
                  <a:tcPr marL="31750" marR="31750" marT="31750" marB="31750" anchor="ctr"/>
                </a:tc>
                <a:tc>
                  <a:txBody>
                    <a:bodyPr/>
                    <a:lstStyle/>
                    <a:p>
                      <a:pPr algn="ctr" rtl="0" fontAlgn="ctr"/>
                      <a:r>
                        <a:rPr lang="ru-RU" sz="1050" b="1">
                          <a:effectLst/>
                        </a:rPr>
                        <a:t>Биты хоста</a:t>
                      </a:r>
                    </a:p>
                  </a:txBody>
                  <a:tcPr marL="31750" marR="31750" marT="31750" marB="31750" anchor="ctr"/>
                </a:tc>
                <a:extLst>
                  <a:ext uri="{0D108BD9-81ED-4DB2-BD59-A6C34878D82A}">
                    <a16:rowId xmlns:a16="http://schemas.microsoft.com/office/drawing/2014/main" val="1417013316"/>
                  </a:ext>
                </a:extLst>
              </a:tr>
              <a:tr h="370840">
                <a:tc>
                  <a:txBody>
                    <a:bodyPr/>
                    <a:lstStyle/>
                    <a:p>
                      <a:pPr rtl="0" fontAlgn="ctr"/>
                      <a:r>
                        <a:rPr lang="ru-RU" sz="1000" b="0">
                          <a:effectLst/>
                        </a:rPr>
                        <a:t>Маска подсети</a:t>
                      </a:r>
                    </a:p>
                    <a:p>
                      <a:pPr rtl="0" fontAlgn="ctr"/>
                      <a:r>
                        <a:rPr lang="ru-RU" sz="1000" b="1">
                          <a:effectLst/>
                        </a:rPr>
                        <a:t>255.255.255.</a:t>
                      </a:r>
                      <a:r>
                        <a:rPr lang="ru-RU" sz="1000" b="0">
                          <a:effectLst/>
                        </a:rPr>
                        <a:t>0 или </a:t>
                      </a:r>
                      <a:r>
                        <a:rPr lang="ru-RU" sz="1000" b="1">
                          <a:effectLst/>
                        </a:rPr>
                        <a:t>/24</a:t>
                      </a:r>
                    </a:p>
                  </a:txBody>
                  <a:tcPr marL="31750" marR="31750" marT="31750" marB="31750" anchor="ctr"/>
                </a:tc>
                <a:tc>
                  <a:txBody>
                    <a:bodyPr/>
                    <a:lstStyle/>
                    <a:p>
                      <a:pPr algn="ctr" rtl="0" fontAlgn="ctr"/>
                      <a:r>
                        <a:rPr lang="ru-RU" sz="1000" b="0">
                          <a:effectLst/>
                          <a:latin typeface="Courier New" panose="02070309020205020404" pitchFamily="49" charset="0"/>
                          <a:cs typeface="Courier New" panose="02070309020205020404" pitchFamily="49" charset="0"/>
                        </a:rPr>
                        <a:t>255 255 255</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11111111 111111 1111 111111</a:t>
                      </a:r>
                    </a:p>
                  </a:txBody>
                  <a:tcPr marL="31750" marR="31750" marT="31750" marB="31750" anchor="ctr"/>
                </a:tc>
                <a:tc>
                  <a:txBody>
                    <a:bodyPr/>
                    <a:lstStyle/>
                    <a:p>
                      <a:pPr algn="ctr" rtl="0" fontAlgn="ctr"/>
                      <a:r>
                        <a:rPr lang="ru-RU" sz="1000" b="0">
                          <a:effectLst/>
                          <a:latin typeface="Courier New" panose="02070309020205020404" pitchFamily="49" charset="0"/>
                          <a:cs typeface="Courier New" panose="02070309020205020404" pitchFamily="49" charset="0"/>
                        </a:rPr>
                        <a:t>0</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00000000</a:t>
                      </a:r>
                    </a:p>
                  </a:txBody>
                  <a:tcPr marL="31750" marR="31750" marT="31750" marB="31750" anchor="ctr"/>
                </a:tc>
                <a:tc>
                  <a:txBody>
                    <a:bodyPr/>
                    <a:lstStyle/>
                    <a:p>
                      <a:pPr fontAlgn="ctr"/>
                      <a:endParaRPr lang="en-CA" sz="1000" b="0" dirty="0">
                        <a:effectLst/>
                      </a:endParaRPr>
                    </a:p>
                  </a:txBody>
                  <a:tcPr marL="31750" marR="31750" marT="31750" marB="31750" anchor="ctr"/>
                </a:tc>
                <a:extLst>
                  <a:ext uri="{0D108BD9-81ED-4DB2-BD59-A6C34878D82A}">
                    <a16:rowId xmlns:a16="http://schemas.microsoft.com/office/drawing/2014/main" val="4212010678"/>
                  </a:ext>
                </a:extLst>
              </a:tr>
              <a:tr h="370840">
                <a:tc>
                  <a:txBody>
                    <a:bodyPr/>
                    <a:lstStyle/>
                    <a:p>
                      <a:pPr rtl="0" fontAlgn="ctr"/>
                      <a:r>
                        <a:rPr lang="ru-RU" sz="1000" b="0">
                          <a:effectLst/>
                        </a:rPr>
                        <a:t>Сетевой адрес</a:t>
                      </a:r>
                    </a:p>
                    <a:p>
                      <a:pPr rtl="0" fontAlgn="ctr"/>
                      <a:r>
                        <a:rPr lang="ru-RU" sz="1000" b="1">
                          <a:effectLst/>
                        </a:rPr>
                        <a:t>192.168.10.</a:t>
                      </a:r>
                      <a:r>
                        <a:rPr lang="ru-RU" sz="1000" b="0">
                          <a:effectLst/>
                        </a:rPr>
                        <a:t>0 или </a:t>
                      </a:r>
                      <a:r>
                        <a:rPr lang="ru-RU" sz="1000" b="1">
                          <a:effectLst/>
                        </a:rPr>
                        <a:t>/24</a:t>
                      </a:r>
                    </a:p>
                  </a:txBody>
                  <a:tcPr marL="31750" marR="31750" marT="31750" marB="31750" anchor="ctr"/>
                </a:tc>
                <a:tc>
                  <a:txBody>
                    <a:bodyPr/>
                    <a:lstStyle/>
                    <a:p>
                      <a:pPr algn="ctr" rtl="0" fontAlgn="ctr"/>
                      <a:r>
                        <a:rPr lang="ru-RU" sz="1000" b="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11000000 10100000 001010</a:t>
                      </a:r>
                    </a:p>
                  </a:txBody>
                  <a:tcPr marL="31750" marR="31750" marT="31750" marB="31750" anchor="ctr"/>
                </a:tc>
                <a:tc>
                  <a:txBody>
                    <a:bodyPr/>
                    <a:lstStyle/>
                    <a:p>
                      <a:pPr algn="ctr" rtl="0" fontAlgn="ctr"/>
                      <a:r>
                        <a:rPr lang="ru-RU" sz="1000" b="0">
                          <a:effectLst/>
                          <a:latin typeface="Courier New" panose="02070309020205020404" pitchFamily="49" charset="0"/>
                          <a:cs typeface="Courier New" panose="02070309020205020404" pitchFamily="49" charset="0"/>
                        </a:rPr>
                        <a:t>0</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00000000</a:t>
                      </a:r>
                    </a:p>
                  </a:txBody>
                  <a:tcPr marL="31750" marR="31750" marT="31750" marB="31750" anchor="ctr"/>
                </a:tc>
                <a:tc>
                  <a:txBody>
                    <a:bodyPr/>
                    <a:lstStyle/>
                    <a:p>
                      <a:pPr algn="ctr" rtl="0" fontAlgn="ctr"/>
                      <a:r>
                        <a:rPr lang="ru-RU" sz="1000" b="0">
                          <a:effectLst/>
                        </a:rPr>
                        <a:t>Все 0</a:t>
                      </a:r>
                    </a:p>
                  </a:txBody>
                  <a:tcPr marL="31750" marR="31750" marT="31750" marB="31750" anchor="ctr"/>
                </a:tc>
                <a:extLst>
                  <a:ext uri="{0D108BD9-81ED-4DB2-BD59-A6C34878D82A}">
                    <a16:rowId xmlns:a16="http://schemas.microsoft.com/office/drawing/2014/main" val="582796851"/>
                  </a:ext>
                </a:extLst>
              </a:tr>
              <a:tr h="370840">
                <a:tc>
                  <a:txBody>
                    <a:bodyPr/>
                    <a:lstStyle/>
                    <a:p>
                      <a:pPr rtl="0" fontAlgn="ctr"/>
                      <a:r>
                        <a:rPr lang="ru-RU" sz="1000" b="0">
                          <a:effectLst/>
                        </a:rPr>
                        <a:t>Первый адрес</a:t>
                      </a:r>
                    </a:p>
                    <a:p>
                      <a:pPr rtl="0" fontAlgn="ctr"/>
                      <a:r>
                        <a:rPr lang="ru-RU" sz="1000" b="1">
                          <a:effectLst/>
                        </a:rPr>
                        <a:t>192.168.10</a:t>
                      </a:r>
                      <a:r>
                        <a:rPr lang="ru-RU" sz="1000" b="0">
                          <a:effectLst/>
                        </a:rPr>
                        <a:t>.1 или  </a:t>
                      </a:r>
                      <a:r>
                        <a:rPr lang="ru-RU" sz="1000" b="1">
                          <a:effectLst/>
                        </a:rPr>
                        <a:t>/24</a:t>
                      </a:r>
                    </a:p>
                  </a:txBody>
                  <a:tcPr marL="31750" marR="31750" marT="31750" marB="31750" anchor="ctr"/>
                </a:tc>
                <a:tc>
                  <a:txBody>
                    <a:bodyPr/>
                    <a:lstStyle/>
                    <a:p>
                      <a:pPr algn="ctr" rtl="0" fontAlgn="ctr"/>
                      <a:r>
                        <a:rPr lang="ru-RU" sz="1000" b="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11000000 10100000 001010</a:t>
                      </a:r>
                    </a:p>
                  </a:txBody>
                  <a:tcPr marL="31750" marR="31750" marT="31750" marB="31750" anchor="ctr"/>
                </a:tc>
                <a:tc>
                  <a:txBody>
                    <a:bodyPr/>
                    <a:lstStyle/>
                    <a:p>
                      <a:pPr algn="ctr" rtl="0" fontAlgn="ctr"/>
                      <a:r>
                        <a:rPr lang="ru-RU" sz="1000" b="0">
                          <a:effectLst/>
                          <a:latin typeface="Courier New" panose="02070309020205020404" pitchFamily="49" charset="0"/>
                          <a:cs typeface="Courier New" panose="02070309020205020404" pitchFamily="49" charset="0"/>
                        </a:rPr>
                        <a:t>1</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000001</a:t>
                      </a:r>
                    </a:p>
                  </a:txBody>
                  <a:tcPr marL="31750" marR="31750" marT="31750" marB="31750" anchor="ctr"/>
                </a:tc>
                <a:tc>
                  <a:txBody>
                    <a:bodyPr/>
                    <a:lstStyle/>
                    <a:p>
                      <a:pPr algn="ctr" rtl="0" fontAlgn="ctr"/>
                      <a:r>
                        <a:rPr lang="ru-RU" sz="1000" b="0">
                          <a:effectLst/>
                        </a:rPr>
                        <a:t>Все 0 и 1</a:t>
                      </a:r>
                    </a:p>
                  </a:txBody>
                  <a:tcPr marL="31750" marR="31750" marT="31750" marB="31750" anchor="ctr"/>
                </a:tc>
                <a:extLst>
                  <a:ext uri="{0D108BD9-81ED-4DB2-BD59-A6C34878D82A}">
                    <a16:rowId xmlns:a16="http://schemas.microsoft.com/office/drawing/2014/main" val="3315409547"/>
                  </a:ext>
                </a:extLst>
              </a:tr>
              <a:tr h="370840">
                <a:tc>
                  <a:txBody>
                    <a:bodyPr/>
                    <a:lstStyle/>
                    <a:p>
                      <a:pPr rtl="0" fontAlgn="ctr"/>
                      <a:r>
                        <a:rPr lang="ru-RU" sz="1000" b="0">
                          <a:effectLst/>
                        </a:rPr>
                        <a:t>Последний адрес</a:t>
                      </a:r>
                    </a:p>
                    <a:p>
                      <a:pPr rtl="0" fontAlgn="ctr"/>
                      <a:r>
                        <a:rPr lang="ru-RU" sz="1000" b="1">
                          <a:effectLst/>
                        </a:rPr>
                        <a:t>192.168.10</a:t>
                      </a:r>
                      <a:r>
                        <a:rPr lang="ru-RU" sz="1000" b="0">
                          <a:effectLst/>
                        </a:rPr>
                        <a:t>.254 или </a:t>
                      </a:r>
                      <a:r>
                        <a:rPr lang="ru-RU" sz="1000" b="1">
                          <a:effectLst/>
                        </a:rPr>
                        <a:t>/24</a:t>
                      </a:r>
                    </a:p>
                  </a:txBody>
                  <a:tcPr marL="31750" marR="31750" marT="31750" marB="31750" anchor="ctr"/>
                </a:tc>
                <a:tc>
                  <a:txBody>
                    <a:bodyPr/>
                    <a:lstStyle/>
                    <a:p>
                      <a:pPr algn="ctr" rtl="0" fontAlgn="ctr"/>
                      <a:r>
                        <a:rPr lang="ru-RU" sz="1000" b="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11000000 10100000 001010</a:t>
                      </a:r>
                    </a:p>
                  </a:txBody>
                  <a:tcPr marL="31750" marR="31750" marT="31750" marB="31750" anchor="ctr"/>
                </a:tc>
                <a:tc>
                  <a:txBody>
                    <a:bodyPr/>
                    <a:lstStyle/>
                    <a:p>
                      <a:pPr algn="ctr" rtl="0" fontAlgn="ctr"/>
                      <a:r>
                        <a:rPr lang="ru-RU" sz="1000" b="0">
                          <a:effectLst/>
                          <a:latin typeface="Courier New" panose="02070309020205020404" pitchFamily="49" charset="0"/>
                          <a:cs typeface="Courier New" panose="02070309020205020404" pitchFamily="49" charset="0"/>
                        </a:rPr>
                        <a:t>254</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a:t>
                      </a:r>
                    </a:p>
                  </a:txBody>
                  <a:tcPr marL="31750" marR="31750" marT="31750" marB="31750" anchor="ctr"/>
                </a:tc>
                <a:tc>
                  <a:txBody>
                    <a:bodyPr/>
                    <a:lstStyle/>
                    <a:p>
                      <a:pPr algn="ctr" rtl="0" fontAlgn="ctr"/>
                      <a:r>
                        <a:rPr lang="ru-RU" sz="1000" b="0">
                          <a:effectLst/>
                        </a:rPr>
                        <a:t>Все 1 и  0</a:t>
                      </a:r>
                    </a:p>
                  </a:txBody>
                  <a:tcPr marL="31750" marR="31750" marT="31750" marB="31750" anchor="ctr"/>
                </a:tc>
                <a:extLst>
                  <a:ext uri="{0D108BD9-81ED-4DB2-BD59-A6C34878D82A}">
                    <a16:rowId xmlns:a16="http://schemas.microsoft.com/office/drawing/2014/main" val="3018522862"/>
                  </a:ext>
                </a:extLst>
              </a:tr>
              <a:tr h="370840">
                <a:tc>
                  <a:txBody>
                    <a:bodyPr/>
                    <a:lstStyle/>
                    <a:p>
                      <a:pPr rtl="0" fontAlgn="ctr"/>
                      <a:r>
                        <a:rPr lang="ru-RU" sz="1000" b="0">
                          <a:effectLst/>
                        </a:rPr>
                        <a:t>Широковещательный адрес</a:t>
                      </a:r>
                    </a:p>
                    <a:p>
                      <a:pPr rtl="0" fontAlgn="ctr"/>
                      <a:r>
                        <a:rPr lang="ru-RU" sz="1000" b="1">
                          <a:effectLst/>
                        </a:rPr>
                        <a:t>192.168.10</a:t>
                      </a:r>
                      <a:r>
                        <a:rPr lang="ru-RU" sz="1000" b="0">
                          <a:effectLst/>
                        </a:rPr>
                        <a:t>.255 или </a:t>
                      </a:r>
                      <a:r>
                        <a:rPr lang="ru-RU" sz="1000" b="1">
                          <a:effectLst/>
                        </a:rPr>
                        <a:t>/24</a:t>
                      </a:r>
                    </a:p>
                  </a:txBody>
                  <a:tcPr marL="31750" marR="31750" marT="31750" marB="31750" anchor="ctr"/>
                </a:tc>
                <a:tc>
                  <a:txBody>
                    <a:bodyPr/>
                    <a:lstStyle/>
                    <a:p>
                      <a:pPr algn="ctr" rtl="0" fontAlgn="ctr"/>
                      <a:r>
                        <a:rPr lang="ru-RU" sz="1000" b="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11000000 10100000 001010</a:t>
                      </a:r>
                    </a:p>
                  </a:txBody>
                  <a:tcPr marL="31750" marR="31750" marT="31750" marB="31750" anchor="ctr"/>
                </a:tc>
                <a:tc>
                  <a:txBody>
                    <a:bodyPr/>
                    <a:lstStyle/>
                    <a:p>
                      <a:pPr algn="ctr" rtl="0" fontAlgn="ctr"/>
                      <a:r>
                        <a:rPr lang="ru-RU" sz="1000" b="0">
                          <a:effectLst/>
                          <a:latin typeface="Courier New" panose="02070309020205020404" pitchFamily="49" charset="0"/>
                          <a:cs typeface="Courier New" panose="02070309020205020404" pitchFamily="49" charset="0"/>
                        </a:rPr>
                        <a:t>255</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a:t>
                      </a:r>
                    </a:p>
                  </a:txBody>
                  <a:tcPr marL="31750" marR="31750" marT="31750" marB="31750" anchor="ctr"/>
                </a:tc>
                <a:tc>
                  <a:txBody>
                    <a:bodyPr/>
                    <a:lstStyle/>
                    <a:p>
                      <a:pPr algn="ctr" rtl="0" fontAlgn="ctr"/>
                      <a:r>
                        <a:rPr lang="ru-RU" sz="1000" b="0">
                          <a:effectLst/>
                        </a:rPr>
                        <a:t>Все 1</a:t>
                      </a:r>
                    </a:p>
                  </a:txBody>
                  <a:tcPr marL="31750" marR="31750" marT="31750" marB="31750" anchor="ctr"/>
                </a:tc>
                <a:extLst>
                  <a:ext uri="{0D108BD9-81ED-4DB2-BD59-A6C34878D82A}">
                    <a16:rowId xmlns:a16="http://schemas.microsoft.com/office/drawing/2014/main" val="2127298640"/>
                  </a:ext>
                </a:extLst>
              </a:tr>
            </a:tbl>
          </a:graphicData>
        </a:graphic>
      </p:graphicFrame>
      <mc:AlternateContent xmlns:mc="http://schemas.openxmlformats.org/markup-compatibility/2006" xmlns:p14="http://schemas.microsoft.com/office/powerpoint/2010/main">
        <mc:Choice Requires="p14">
          <p:contentPart p14:bwMode="auto" r:id="rId4">
            <p14:nvContentPartPr>
              <p14:cNvPr id="5" name="Рукописный ввод 4">
                <a:extLst>
                  <a:ext uri="{FF2B5EF4-FFF2-40B4-BE49-F238E27FC236}">
                    <a16:creationId xmlns:a16="http://schemas.microsoft.com/office/drawing/2014/main" id="{6FA12951-3159-44A6-AD01-70D7A08F76E1}"/>
                  </a:ext>
                </a:extLst>
              </p14:cNvPr>
              <p14:cNvContentPartPr/>
              <p14:nvPr/>
            </p14:nvContentPartPr>
            <p14:xfrm>
              <a:off x="7929720" y="4019400"/>
              <a:ext cx="66960" cy="114840"/>
            </p14:xfrm>
          </p:contentPart>
        </mc:Choice>
        <mc:Fallback xmlns="">
          <p:pic>
            <p:nvPicPr>
              <p:cNvPr id="5" name="Рукописный ввод 4">
                <a:extLst>
                  <a:ext uri="{FF2B5EF4-FFF2-40B4-BE49-F238E27FC236}">
                    <a16:creationId xmlns:a16="http://schemas.microsoft.com/office/drawing/2014/main" id="{6FA12951-3159-44A6-AD01-70D7A08F76E1}"/>
                  </a:ext>
                </a:extLst>
              </p:cNvPr>
              <p:cNvPicPr/>
              <p:nvPr/>
            </p:nvPicPr>
            <p:blipFill>
              <a:blip r:embed="rId5"/>
              <a:stretch>
                <a:fillRect/>
              </a:stretch>
            </p:blipFill>
            <p:spPr>
              <a:xfrm>
                <a:off x="7920360" y="4010040"/>
                <a:ext cx="85680" cy="133560"/>
              </a:xfrm>
              <a:prstGeom prst="rect">
                <a:avLst/>
              </a:prstGeom>
            </p:spPr>
          </p:pic>
        </mc:Fallback>
      </mc:AlternateContent>
    </p:spTree>
    <p:extLst>
      <p:ext uri="{BB962C8B-B14F-4D97-AF65-F5344CB8AC3E}">
        <p14:creationId xmlns:p14="http://schemas.microsoft.com/office/powerpoint/2010/main" val="3241408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4" y="1188720"/>
            <a:ext cx="8498975" cy="2103120"/>
          </a:xfrm>
        </p:spPr>
        <p:txBody>
          <a:bodyPr/>
          <a:lstStyle/>
          <a:p>
            <a:pPr rtl="0"/>
            <a:r>
              <a:rPr lang="ru-RU" dirty="0">
                <a:solidFill>
                  <a:schemeClr val="accent5">
                    <a:lumMod val="40000"/>
                    <a:lumOff val="60000"/>
                  </a:schemeClr>
                </a:solidFill>
              </a:rPr>
              <a:t>11.2 Одноадресная, широковещательная и многоадресная рассылка IPv4</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Одноадресная, широковещательная и многоадресная рассылка IPv4 </a:t>
            </a:r>
            <a:br>
              <a:rPr lang="en-US" dirty="0"/>
            </a:br>
            <a:r>
              <a:rPr lang="ru-RU" sz="2400"/>
              <a:t>Одноадресная передача</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180771"/>
          </a:xfrm>
        </p:spPr>
        <p:txBody>
          <a:bodyPr/>
          <a:lstStyle/>
          <a:p>
            <a:pPr marL="342900" indent="-342900" algn="l" rtl="0">
              <a:buFont typeface="Arial" panose="020B0604020202020204" pitchFamily="34" charset="0"/>
              <a:buChar char="•"/>
            </a:pPr>
            <a:r>
              <a:rPr lang="ru-RU" sz="1600">
                <a:solidFill>
                  <a:srgbClr val="000000"/>
                </a:solidFill>
              </a:rPr>
              <a:t>Одноадресная передача отправляет пакет на один IP-адрес назначения.</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Например, компьютер 172.16.4.1 отправляет одноадресный пакет на принтер по адресу 172.16.4.253.</a:t>
            </a:r>
          </a:p>
        </p:txBody>
      </p:sp>
      <p:pic>
        <p:nvPicPr>
          <p:cNvPr id="2" name="Picture 1">
            <a:extLst>
              <a:ext uri="{FF2B5EF4-FFF2-40B4-BE49-F238E27FC236}">
                <a16:creationId xmlns:a16="http://schemas.microsoft.com/office/drawing/2014/main" id="{5B7E06A5-43CA-4616-9CC2-40C3C98FD60E}"/>
              </a:ext>
            </a:extLst>
          </p:cNvPr>
          <p:cNvPicPr>
            <a:picLocks noChangeAspect="1"/>
          </p:cNvPicPr>
          <p:nvPr/>
        </p:nvPicPr>
        <p:blipFill>
          <a:blip r:embed="rId3"/>
          <a:stretch>
            <a:fillRect/>
          </a:stretch>
        </p:blipFill>
        <p:spPr>
          <a:xfrm>
            <a:off x="876392" y="2132314"/>
            <a:ext cx="2829973" cy="2316347"/>
          </a:xfrm>
          <a:prstGeom prst="rect">
            <a:avLst/>
          </a:prstGeom>
        </p:spPr>
      </p:pic>
      <p:sp>
        <p:nvSpPr>
          <p:cNvPr id="6" name="Arrow: Right 5">
            <a:extLst>
              <a:ext uri="{FF2B5EF4-FFF2-40B4-BE49-F238E27FC236}">
                <a16:creationId xmlns:a16="http://schemas.microsoft.com/office/drawing/2014/main" id="{60C084AC-73BA-4205-822C-80E03F10B01A}"/>
              </a:ext>
            </a:extLst>
          </p:cNvPr>
          <p:cNvSpPr/>
          <p:nvPr/>
        </p:nvSpPr>
        <p:spPr>
          <a:xfrm>
            <a:off x="3971431" y="2840019"/>
            <a:ext cx="1050306" cy="247426"/>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CA" dirty="0"/>
          </a:p>
        </p:txBody>
      </p:sp>
      <p:pic>
        <p:nvPicPr>
          <p:cNvPr id="5" name="Picture 4">
            <a:extLst>
              <a:ext uri="{FF2B5EF4-FFF2-40B4-BE49-F238E27FC236}">
                <a16:creationId xmlns:a16="http://schemas.microsoft.com/office/drawing/2014/main" id="{0D0A7C70-F6C2-47F7-8084-E8C34124C64B}"/>
              </a:ext>
            </a:extLst>
          </p:cNvPr>
          <p:cNvPicPr>
            <a:picLocks noChangeAspect="1"/>
          </p:cNvPicPr>
          <p:nvPr/>
        </p:nvPicPr>
        <p:blipFill>
          <a:blip r:embed="rId4"/>
          <a:stretch>
            <a:fillRect/>
          </a:stretch>
        </p:blipFill>
        <p:spPr>
          <a:xfrm>
            <a:off x="5052151" y="2132314"/>
            <a:ext cx="2829973" cy="2316347"/>
          </a:xfrm>
          <a:prstGeom prst="rect">
            <a:avLst/>
          </a:prstGeom>
        </p:spPr>
      </p:pic>
    </p:spTree>
    <p:extLst>
      <p:ext uri="{BB962C8B-B14F-4D97-AF65-F5344CB8AC3E}">
        <p14:creationId xmlns:p14="http://schemas.microsoft.com/office/powerpoint/2010/main" val="2872558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Одноадресная, широковещательная и многоадресная рассылка IPv4 </a:t>
            </a:r>
            <a:br>
              <a:rPr lang="en-US" dirty="0"/>
            </a:br>
            <a:r>
              <a:rPr lang="ru-RU" sz="2400"/>
              <a:t>Широковещательная передача</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001661"/>
          </a:xfrm>
        </p:spPr>
        <p:txBody>
          <a:bodyPr/>
          <a:lstStyle/>
          <a:p>
            <a:pPr marL="342900" indent="-342900" algn="l" rtl="0">
              <a:buFont typeface="Arial" panose="020B0604020202020204" pitchFamily="34" charset="0"/>
              <a:buChar char="•"/>
            </a:pPr>
            <a:r>
              <a:rPr lang="ru-RU" sz="1600" dirty="0">
                <a:solidFill>
                  <a:srgbClr val="000000"/>
                </a:solidFill>
              </a:rPr>
              <a:t>Широковещательная передача отправляет пакет на все другие IP-адреса назначения.</a:t>
            </a:r>
            <a:endParaRPr lang="en-CA" sz="1600" dirty="0">
              <a:solidFill>
                <a:srgbClr val="000000"/>
              </a:solidFill>
            </a:endParaRPr>
          </a:p>
          <a:p>
            <a:pPr marL="342900" indent="-342900" algn="l" rtl="0">
              <a:buFont typeface="Arial" panose="020B0604020202020204" pitchFamily="34" charset="0"/>
              <a:buChar char="•"/>
            </a:pPr>
            <a:r>
              <a:rPr lang="ru-RU" sz="1600" dirty="0">
                <a:solidFill>
                  <a:srgbClr val="000000"/>
                </a:solidFill>
              </a:rPr>
              <a:t>Например, компьютер 172.16.4.1 отправляет широковещательный пакет всем узлам IPv4.</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9" name="Picture 8">
            <a:extLst>
              <a:ext uri="{FF2B5EF4-FFF2-40B4-BE49-F238E27FC236}">
                <a16:creationId xmlns:a16="http://schemas.microsoft.com/office/drawing/2014/main" id="{34F68B31-29E2-43C7-A438-1CE3A9BE1B74}"/>
              </a:ext>
            </a:extLst>
          </p:cNvPr>
          <p:cNvPicPr>
            <a:picLocks noChangeAspect="1"/>
          </p:cNvPicPr>
          <p:nvPr/>
        </p:nvPicPr>
        <p:blipFill>
          <a:blip r:embed="rId3"/>
          <a:stretch>
            <a:fillRect/>
          </a:stretch>
        </p:blipFill>
        <p:spPr>
          <a:xfrm>
            <a:off x="896757" y="1992794"/>
            <a:ext cx="2814401" cy="2423094"/>
          </a:xfrm>
          <a:prstGeom prst="rect">
            <a:avLst/>
          </a:prstGeom>
        </p:spPr>
      </p:pic>
      <p:sp>
        <p:nvSpPr>
          <p:cNvPr id="6" name="Arrow: Right 5">
            <a:extLst>
              <a:ext uri="{FF2B5EF4-FFF2-40B4-BE49-F238E27FC236}">
                <a16:creationId xmlns:a16="http://schemas.microsoft.com/office/drawing/2014/main" id="{AD1DB5E3-6538-4D97-B86F-3537291085CA}"/>
              </a:ext>
            </a:extLst>
          </p:cNvPr>
          <p:cNvSpPr/>
          <p:nvPr/>
        </p:nvSpPr>
        <p:spPr>
          <a:xfrm>
            <a:off x="4046847" y="2840019"/>
            <a:ext cx="1050306" cy="247426"/>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CA" dirty="0"/>
          </a:p>
        </p:txBody>
      </p:sp>
      <p:pic>
        <p:nvPicPr>
          <p:cNvPr id="11" name="Picture 10">
            <a:extLst>
              <a:ext uri="{FF2B5EF4-FFF2-40B4-BE49-F238E27FC236}">
                <a16:creationId xmlns:a16="http://schemas.microsoft.com/office/drawing/2014/main" id="{226D91D6-8B82-4552-BA7F-ACD3DC677865}"/>
              </a:ext>
            </a:extLst>
          </p:cNvPr>
          <p:cNvPicPr>
            <a:picLocks noChangeAspect="1"/>
          </p:cNvPicPr>
          <p:nvPr/>
        </p:nvPicPr>
        <p:blipFill>
          <a:blip r:embed="rId4"/>
          <a:stretch>
            <a:fillRect/>
          </a:stretch>
        </p:blipFill>
        <p:spPr>
          <a:xfrm>
            <a:off x="5066498" y="1992460"/>
            <a:ext cx="2814401" cy="2423094"/>
          </a:xfrm>
          <a:prstGeom prst="rect">
            <a:avLst/>
          </a:prstGeom>
        </p:spPr>
      </p:pic>
    </p:spTree>
    <p:extLst>
      <p:ext uri="{BB962C8B-B14F-4D97-AF65-F5344CB8AC3E}">
        <p14:creationId xmlns:p14="http://schemas.microsoft.com/office/powerpoint/2010/main" val="1166139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Одноадресная, широковещательная и многоадресная рассылка IPv4 </a:t>
            </a:r>
            <a:br>
              <a:rPr lang="en-US" dirty="0"/>
            </a:br>
            <a:r>
              <a:rPr lang="ru-RU" sz="2400"/>
              <a:t>Многоадресная передача</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180771"/>
          </a:xfrm>
        </p:spPr>
        <p:txBody>
          <a:bodyPr/>
          <a:lstStyle/>
          <a:p>
            <a:pPr marL="342900" indent="-342900" algn="l" rtl="0">
              <a:buFont typeface="Arial" panose="020B0604020202020204" pitchFamily="34" charset="0"/>
              <a:buChar char="•"/>
            </a:pPr>
            <a:r>
              <a:rPr lang="ru-RU" sz="1600" dirty="0">
                <a:solidFill>
                  <a:srgbClr val="000000"/>
                </a:solidFill>
              </a:rPr>
              <a:t>Многоадресная передача отправляет пакет в группу адресов многоадресной рассылки.</a:t>
            </a:r>
            <a:endParaRPr lang="en-CA" sz="1600" dirty="0">
              <a:solidFill>
                <a:srgbClr val="000000"/>
              </a:solidFill>
            </a:endParaRPr>
          </a:p>
          <a:p>
            <a:pPr marL="342900" indent="-342900" algn="l" rtl="0">
              <a:buFont typeface="Arial" panose="020B0604020202020204" pitchFamily="34" charset="0"/>
              <a:buChar char="•"/>
            </a:pPr>
            <a:r>
              <a:rPr lang="ru-RU" sz="1600" dirty="0">
                <a:solidFill>
                  <a:srgbClr val="000000"/>
                </a:solidFill>
              </a:rPr>
              <a:t>Например компьютер 172.16.4.1 отправляет многоадресный пакет на адрес группы многоадресной рассылки 224.10.10.5.</a:t>
            </a:r>
          </a:p>
        </p:txBody>
      </p:sp>
      <p:pic>
        <p:nvPicPr>
          <p:cNvPr id="6" name="Picture 5">
            <a:extLst>
              <a:ext uri="{FF2B5EF4-FFF2-40B4-BE49-F238E27FC236}">
                <a16:creationId xmlns:a16="http://schemas.microsoft.com/office/drawing/2014/main" id="{0508B46F-E225-4F03-B437-98A0BB4F765A}"/>
              </a:ext>
            </a:extLst>
          </p:cNvPr>
          <p:cNvPicPr>
            <a:picLocks noChangeAspect="1"/>
          </p:cNvPicPr>
          <p:nvPr/>
        </p:nvPicPr>
        <p:blipFill>
          <a:blip r:embed="rId3"/>
          <a:stretch>
            <a:fillRect/>
          </a:stretch>
        </p:blipFill>
        <p:spPr>
          <a:xfrm>
            <a:off x="918273" y="2278304"/>
            <a:ext cx="2862981" cy="2169526"/>
          </a:xfrm>
          <a:prstGeom prst="rect">
            <a:avLst/>
          </a:prstGeom>
        </p:spPr>
      </p:pic>
      <p:sp>
        <p:nvSpPr>
          <p:cNvPr id="8" name="Arrow: Right 7">
            <a:extLst>
              <a:ext uri="{FF2B5EF4-FFF2-40B4-BE49-F238E27FC236}">
                <a16:creationId xmlns:a16="http://schemas.microsoft.com/office/drawing/2014/main" id="{7B0C162D-3A37-40E3-9806-62C97CB24D0F}"/>
              </a:ext>
            </a:extLst>
          </p:cNvPr>
          <p:cNvSpPr/>
          <p:nvPr/>
        </p:nvSpPr>
        <p:spPr>
          <a:xfrm>
            <a:off x="3999712" y="2840019"/>
            <a:ext cx="1050306" cy="247426"/>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CA" dirty="0"/>
          </a:p>
        </p:txBody>
      </p:sp>
      <p:pic>
        <p:nvPicPr>
          <p:cNvPr id="7" name="Picture 6">
            <a:extLst>
              <a:ext uri="{FF2B5EF4-FFF2-40B4-BE49-F238E27FC236}">
                <a16:creationId xmlns:a16="http://schemas.microsoft.com/office/drawing/2014/main" id="{ACC59E69-3898-4F73-83D5-D2A1CF5F0CE6}"/>
              </a:ext>
            </a:extLst>
          </p:cNvPr>
          <p:cNvPicPr>
            <a:picLocks noChangeAspect="1"/>
          </p:cNvPicPr>
          <p:nvPr/>
        </p:nvPicPr>
        <p:blipFill>
          <a:blip r:embed="rId4"/>
          <a:stretch>
            <a:fillRect/>
          </a:stretch>
        </p:blipFill>
        <p:spPr>
          <a:xfrm>
            <a:off x="5073711" y="2280614"/>
            <a:ext cx="2862981" cy="2169526"/>
          </a:xfrm>
          <a:prstGeom prst="rect">
            <a:avLst/>
          </a:prstGeom>
        </p:spPr>
      </p:pic>
    </p:spTree>
    <p:extLst>
      <p:ext uri="{BB962C8B-B14F-4D97-AF65-F5344CB8AC3E}">
        <p14:creationId xmlns:p14="http://schemas.microsoft.com/office/powerpoint/2010/main" val="2085583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ru-RU">
                <a:solidFill>
                  <a:schemeClr val="accent5">
                    <a:lumMod val="40000"/>
                    <a:lumOff val="60000"/>
                  </a:schemeClr>
                </a:solidFill>
              </a:rPr>
              <a:t>11.3 Типы IPv4 адресов</a:t>
            </a:r>
          </a:p>
        </p:txBody>
      </p:sp>
    </p:spTree>
    <p:custDataLst>
      <p:tags r:id="rId1"/>
    </p:custDataLst>
    <p:extLst>
      <p:ext uri="{BB962C8B-B14F-4D97-AF65-F5344CB8AC3E}">
        <p14:creationId xmlns:p14="http://schemas.microsoft.com/office/powerpoint/2010/main" val="1782107682"/>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Типы IPv4-адресов </a:t>
            </a:r>
            <a:br>
              <a:rPr lang="en-US" dirty="0"/>
            </a:br>
            <a:r>
              <a:rPr lang="ru-RU" sz="2400"/>
              <a:t>Публичные и частные IPv4-адреса</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825923"/>
          </a:xfrm>
        </p:spPr>
        <p:txBody>
          <a:bodyPr/>
          <a:lstStyle/>
          <a:p>
            <a:pPr marL="342900" indent="-342900" algn="l" rtl="0">
              <a:buFont typeface="Arial" panose="020B0604020202020204" pitchFamily="34" charset="0"/>
              <a:buChar char="•"/>
            </a:pPr>
            <a:r>
              <a:rPr lang="ru-RU" sz="1600">
                <a:solidFill>
                  <a:srgbClr val="000000"/>
                </a:solidFill>
              </a:rPr>
              <a:t>Публичные IPv4-адреса представляют собой адреса, на глобальном уровне маршрутизируемые между маршрутизаторами интернет-провайдеров (Internet Service Provider, ISP).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Однако частные адреса не являются глобально маршрутизируемыми.</a:t>
            </a:r>
          </a:p>
          <a:p>
            <a:pPr marL="342900" indent="-342900" algn="l">
              <a:buFont typeface="Arial" panose="020B0604020202020204" pitchFamily="34" charset="0"/>
              <a:buChar char="•"/>
            </a:pPr>
            <a:endParaRPr lang="en-CA" sz="1600" dirty="0">
              <a:solidFill>
                <a:srgbClr val="000000"/>
              </a:solidFill>
            </a:endParaRPr>
          </a:p>
        </p:txBody>
      </p:sp>
      <p:sp>
        <p:nvSpPr>
          <p:cNvPr id="5" name="Content Placeholder 3">
            <a:extLst>
              <a:ext uri="{FF2B5EF4-FFF2-40B4-BE49-F238E27FC236}">
                <a16:creationId xmlns:a16="http://schemas.microsoft.com/office/drawing/2014/main" id="{58479601-5CDB-4C0D-B13C-379A83A14207}"/>
              </a:ext>
            </a:extLst>
          </p:cNvPr>
          <p:cNvSpPr txBox="1">
            <a:spLocks/>
          </p:cNvSpPr>
          <p:nvPr/>
        </p:nvSpPr>
        <p:spPr>
          <a:xfrm>
            <a:off x="431971" y="1681342"/>
            <a:ext cx="4269121" cy="246035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ru-RU" sz="1600" dirty="0">
                <a:solidFill>
                  <a:srgbClr val="000000"/>
                </a:solidFill>
              </a:rPr>
              <a:t>Имеются блоки адресов, называемые частными адресами, которые в большинстве компаний назначаются в качестве IPv4-адресов внутренних хостов.</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dirty="0">
                <a:solidFill>
                  <a:srgbClr val="000000"/>
                </a:solidFill>
              </a:rPr>
              <a:t>Частные адреса IPv4 не являются уникальными и могут использоваться в любой внутренней сети.</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p:txBody>
      </p:sp>
      <p:graphicFrame>
        <p:nvGraphicFramePr>
          <p:cNvPr id="6" name="Table 5">
            <a:extLst>
              <a:ext uri="{FF2B5EF4-FFF2-40B4-BE49-F238E27FC236}">
                <a16:creationId xmlns:a16="http://schemas.microsoft.com/office/drawing/2014/main" id="{89B44CF3-2CFA-4BA2-948A-BF99DA4FD67D}"/>
              </a:ext>
            </a:extLst>
          </p:cNvPr>
          <p:cNvGraphicFramePr>
            <a:graphicFrameLocks noGrp="1"/>
          </p:cNvGraphicFramePr>
          <p:nvPr>
            <p:extLst>
              <p:ext uri="{D42A27DB-BD31-4B8C-83A1-F6EECF244321}">
                <p14:modId xmlns:p14="http://schemas.microsoft.com/office/powerpoint/2010/main" val="728869958"/>
              </p:ext>
            </p:extLst>
          </p:nvPr>
        </p:nvGraphicFramePr>
        <p:xfrm>
          <a:off x="5173532" y="1804924"/>
          <a:ext cx="3644396" cy="1511300"/>
        </p:xfrm>
        <a:graphic>
          <a:graphicData uri="http://schemas.openxmlformats.org/drawingml/2006/table">
            <a:tbl>
              <a:tblPr firstRow="1" bandRow="1">
                <a:tableStyleId>{5C22544A-7EE6-4342-B048-85BDC9FD1C3A}</a:tableStyleId>
              </a:tblPr>
              <a:tblGrid>
                <a:gridCol w="1219648">
                  <a:extLst>
                    <a:ext uri="{9D8B030D-6E8A-4147-A177-3AD203B41FA5}">
                      <a16:colId xmlns:a16="http://schemas.microsoft.com/office/drawing/2014/main" val="828829070"/>
                    </a:ext>
                  </a:extLst>
                </a:gridCol>
                <a:gridCol w="2424748">
                  <a:extLst>
                    <a:ext uri="{9D8B030D-6E8A-4147-A177-3AD203B41FA5}">
                      <a16:colId xmlns:a16="http://schemas.microsoft.com/office/drawing/2014/main" val="1771473634"/>
                    </a:ext>
                  </a:extLst>
                </a:gridCol>
              </a:tblGrid>
              <a:tr h="370840">
                <a:tc>
                  <a:txBody>
                    <a:bodyPr/>
                    <a:lstStyle/>
                    <a:p>
                      <a:pPr algn="l" rtl="0" fontAlgn="ctr"/>
                      <a:r>
                        <a:rPr lang="ru-RU" sz="1100" b="1">
                          <a:effectLst/>
                        </a:rPr>
                        <a:t>Сетевой адрес и префикс</a:t>
                      </a:r>
                    </a:p>
                  </a:txBody>
                  <a:tcPr marL="31750" marR="31750" marT="31750" marB="31750" anchor="ctr"/>
                </a:tc>
                <a:tc>
                  <a:txBody>
                    <a:bodyPr/>
                    <a:lstStyle/>
                    <a:p>
                      <a:pPr algn="l" rtl="0" fontAlgn="ctr"/>
                      <a:r>
                        <a:rPr lang="ru-RU" sz="1100" b="1">
                          <a:effectLst/>
                        </a:rPr>
                        <a:t>Диапазон частных адресов RFC 1918</a:t>
                      </a:r>
                    </a:p>
                  </a:txBody>
                  <a:tcPr marL="31750" marR="31750" marT="31750" marB="31750" anchor="ctr"/>
                </a:tc>
                <a:extLst>
                  <a:ext uri="{0D108BD9-81ED-4DB2-BD59-A6C34878D82A}">
                    <a16:rowId xmlns:a16="http://schemas.microsoft.com/office/drawing/2014/main" val="3171941068"/>
                  </a:ext>
                </a:extLst>
              </a:tr>
              <a:tr h="370840">
                <a:tc>
                  <a:txBody>
                    <a:bodyPr/>
                    <a:lstStyle/>
                    <a:p>
                      <a:pPr rtl="0" fontAlgn="ctr"/>
                      <a:r>
                        <a:rPr lang="ru-RU" sz="1100" b="0">
                          <a:effectLst/>
                        </a:rPr>
                        <a:t>10.0.0.0/8</a:t>
                      </a:r>
                    </a:p>
                  </a:txBody>
                  <a:tcPr marL="31750" marR="31750" marT="31750" marB="31750" anchor="ctr"/>
                </a:tc>
                <a:tc>
                  <a:txBody>
                    <a:bodyPr/>
                    <a:lstStyle/>
                    <a:p>
                      <a:pPr rtl="0" fontAlgn="ctr"/>
                      <a:r>
                        <a:rPr lang="ru-RU" sz="1100" b="0">
                          <a:effectLst/>
                        </a:rPr>
                        <a:t>10.0.0.0 - 10.255.255.255</a:t>
                      </a:r>
                    </a:p>
                  </a:txBody>
                  <a:tcPr marL="31750" marR="31750" marT="31750" marB="31750" anchor="ctr"/>
                </a:tc>
                <a:extLst>
                  <a:ext uri="{0D108BD9-81ED-4DB2-BD59-A6C34878D82A}">
                    <a16:rowId xmlns:a16="http://schemas.microsoft.com/office/drawing/2014/main" val="2015275534"/>
                  </a:ext>
                </a:extLst>
              </a:tr>
              <a:tr h="370840">
                <a:tc>
                  <a:txBody>
                    <a:bodyPr/>
                    <a:lstStyle/>
                    <a:p>
                      <a:pPr rtl="0" fontAlgn="ctr"/>
                      <a:r>
                        <a:rPr lang="ru-RU" sz="1100" b="0">
                          <a:effectLst/>
                        </a:rPr>
                        <a:t>172.16.0.0/12</a:t>
                      </a:r>
                    </a:p>
                  </a:txBody>
                  <a:tcPr marL="31750" marR="31750" marT="31750" marB="31750" anchor="ctr"/>
                </a:tc>
                <a:tc>
                  <a:txBody>
                    <a:bodyPr/>
                    <a:lstStyle/>
                    <a:p>
                      <a:pPr rtl="0" fontAlgn="ctr"/>
                      <a:r>
                        <a:rPr lang="ru-RU" sz="1100" b="0">
                          <a:effectLst/>
                        </a:rPr>
                        <a:t>172.16.0.0 - 172.31.255.255</a:t>
                      </a:r>
                    </a:p>
                  </a:txBody>
                  <a:tcPr marL="31750" marR="31750" marT="31750" marB="31750" anchor="ctr"/>
                </a:tc>
                <a:extLst>
                  <a:ext uri="{0D108BD9-81ED-4DB2-BD59-A6C34878D82A}">
                    <a16:rowId xmlns:a16="http://schemas.microsoft.com/office/drawing/2014/main" val="1058997535"/>
                  </a:ext>
                </a:extLst>
              </a:tr>
              <a:tr h="370840">
                <a:tc>
                  <a:txBody>
                    <a:bodyPr/>
                    <a:lstStyle/>
                    <a:p>
                      <a:pPr rtl="0" fontAlgn="ctr"/>
                      <a:r>
                        <a:rPr lang="ru-RU" sz="1100" b="0">
                          <a:effectLst/>
                        </a:rPr>
                        <a:t>192.168.0.0/16</a:t>
                      </a:r>
                    </a:p>
                  </a:txBody>
                  <a:tcPr marL="31750" marR="31750" marT="31750" marB="31750" anchor="ctr"/>
                </a:tc>
                <a:tc>
                  <a:txBody>
                    <a:bodyPr/>
                    <a:lstStyle/>
                    <a:p>
                      <a:pPr rtl="0" fontAlgn="ctr"/>
                      <a:r>
                        <a:rPr lang="ru-RU" sz="1100" b="0">
                          <a:effectLst/>
                        </a:rPr>
                        <a:t>192.168.0.0 - 192.168.255.255</a:t>
                      </a:r>
                    </a:p>
                  </a:txBody>
                  <a:tcPr marL="31750" marR="31750" marT="31750" marB="31750" anchor="ctr"/>
                </a:tc>
                <a:extLst>
                  <a:ext uri="{0D108BD9-81ED-4DB2-BD59-A6C34878D82A}">
                    <a16:rowId xmlns:a16="http://schemas.microsoft.com/office/drawing/2014/main" val="3597758659"/>
                  </a:ext>
                </a:extLst>
              </a:tr>
            </a:tbl>
          </a:graphicData>
        </a:graphic>
      </p:graphicFrame>
    </p:spTree>
    <p:extLst>
      <p:ext uri="{BB962C8B-B14F-4D97-AF65-F5344CB8AC3E}">
        <p14:creationId xmlns:p14="http://schemas.microsoft.com/office/powerpoint/2010/main" val="4132738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Типы IPv4 Адреса</a:t>
            </a:r>
            <a:br>
              <a:rPr lang="en-US" dirty="0"/>
            </a:br>
            <a:r>
              <a:rPr lang="ru-RU" sz="2400"/>
              <a:t>Маршрутизация в Интернет</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73737" y="855419"/>
            <a:ext cx="8538291" cy="728192"/>
          </a:xfrm>
        </p:spPr>
        <p:txBody>
          <a:bodyPr/>
          <a:lstStyle/>
          <a:p>
            <a:pPr marL="342900" indent="-342900" algn="l" rtl="0">
              <a:buFont typeface="Arial" panose="020B0604020202020204" pitchFamily="34" charset="0"/>
              <a:buChar char="•"/>
            </a:pPr>
            <a:r>
              <a:rPr lang="ru-RU" sz="1600">
                <a:solidFill>
                  <a:srgbClr val="000000"/>
                </a:solidFill>
              </a:rPr>
              <a:t>Преобразование сетевых адресов (Network Address Translation, NAT) используется для преобразования частного IPv4-адреса в публичный IPv4-адрес.</a:t>
            </a:r>
          </a:p>
        </p:txBody>
      </p:sp>
      <p:sp>
        <p:nvSpPr>
          <p:cNvPr id="5" name="Content Placeholder 3">
            <a:extLst>
              <a:ext uri="{FF2B5EF4-FFF2-40B4-BE49-F238E27FC236}">
                <a16:creationId xmlns:a16="http://schemas.microsoft.com/office/drawing/2014/main" id="{BB41F94C-72F5-4291-BC41-D3CA12CF0380}"/>
              </a:ext>
            </a:extLst>
          </p:cNvPr>
          <p:cNvSpPr txBox="1">
            <a:spLocks/>
          </p:cNvSpPr>
          <p:nvPr/>
        </p:nvSpPr>
        <p:spPr>
          <a:xfrm>
            <a:off x="173737" y="1683758"/>
            <a:ext cx="3163974"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ru-RU" sz="1600" dirty="0">
                <a:solidFill>
                  <a:srgbClr val="000000"/>
                </a:solidFill>
              </a:rPr>
              <a:t>NAT обычно включается на пограничном маршрутизаторе, подключенном к Интернету.</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dirty="0">
                <a:solidFill>
                  <a:srgbClr val="000000"/>
                </a:solidFill>
              </a:rPr>
              <a:t>Преобразует частные IP-адреса в публичные IP-адреса.</a:t>
            </a:r>
          </a:p>
        </p:txBody>
      </p:sp>
      <p:pic>
        <p:nvPicPr>
          <p:cNvPr id="2" name="Picture 1">
            <a:extLst>
              <a:ext uri="{FF2B5EF4-FFF2-40B4-BE49-F238E27FC236}">
                <a16:creationId xmlns:a16="http://schemas.microsoft.com/office/drawing/2014/main" id="{012E9573-E9D0-43E1-8820-1689885BBBE5}"/>
              </a:ext>
            </a:extLst>
          </p:cNvPr>
          <p:cNvPicPr>
            <a:picLocks noChangeAspect="1"/>
          </p:cNvPicPr>
          <p:nvPr/>
        </p:nvPicPr>
        <p:blipFill>
          <a:blip r:embed="rId3"/>
          <a:stretch>
            <a:fillRect/>
          </a:stretch>
        </p:blipFill>
        <p:spPr>
          <a:xfrm>
            <a:off x="3337710" y="1583611"/>
            <a:ext cx="5288257" cy="3440210"/>
          </a:xfrm>
          <a:prstGeom prst="rect">
            <a:avLst/>
          </a:prstGeom>
        </p:spPr>
      </p:pic>
    </p:spTree>
    <p:extLst>
      <p:ext uri="{BB962C8B-B14F-4D97-AF65-F5344CB8AC3E}">
        <p14:creationId xmlns:p14="http://schemas.microsoft.com/office/powerpoint/2010/main" val="2888460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Типы IPv4-адресов </a:t>
            </a:r>
            <a:br>
              <a:rPr lang="en-US" dirty="0"/>
            </a:br>
            <a:r>
              <a:rPr lang="ru-RU" sz="2400"/>
              <a:t>IPv4-адреса специального назначения</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28017" y="855419"/>
            <a:ext cx="5103860" cy="1478990"/>
          </a:xfrm>
        </p:spPr>
        <p:txBody>
          <a:bodyPr/>
          <a:lstStyle/>
          <a:p>
            <a:pPr marL="0" indent="0" algn="l" rtl="0"/>
            <a:r>
              <a:rPr lang="ru-RU" dirty="0">
                <a:solidFill>
                  <a:srgbClr val="000000"/>
                </a:solidFill>
              </a:rPr>
              <a:t>Адреса обратной петли</a:t>
            </a:r>
          </a:p>
          <a:p>
            <a:pPr marL="342900" indent="-342900" algn="l" rtl="0">
              <a:buFont typeface="Arial" panose="020B0604020202020204" pitchFamily="34" charset="0"/>
              <a:buChar char="•"/>
            </a:pPr>
            <a:r>
              <a:rPr lang="ru-RU" sz="1600" dirty="0">
                <a:solidFill>
                  <a:srgbClr val="000000"/>
                </a:solidFill>
              </a:rPr>
              <a:t>127.0.0.0 /8 или от 127.0.0.1 до 127.255.255.254</a:t>
            </a:r>
          </a:p>
          <a:p>
            <a:pPr marL="342900" indent="-342900" algn="l" rtl="0">
              <a:buFont typeface="Arial" panose="020B0604020202020204" pitchFamily="34" charset="0"/>
              <a:buChar char="•"/>
            </a:pPr>
            <a:r>
              <a:rPr lang="ru-RU" sz="1600" dirty="0">
                <a:solidFill>
                  <a:srgbClr val="000000"/>
                </a:solidFill>
              </a:rPr>
              <a:t>Обычно идентифицируется только как 127.0.0.1</a:t>
            </a:r>
          </a:p>
          <a:p>
            <a:pPr marL="342900" indent="-342900" algn="l" rtl="0">
              <a:buFont typeface="Arial" panose="020B0604020202020204" pitchFamily="34" charset="0"/>
              <a:buChar char="•"/>
            </a:pPr>
            <a:r>
              <a:rPr lang="ru-RU" sz="1600" dirty="0">
                <a:solidFill>
                  <a:srgbClr val="000000"/>
                </a:solidFill>
              </a:rPr>
              <a:t>Используется на хосте для проверки работоспособности конфигурации TCP/IP.</a:t>
            </a:r>
          </a:p>
        </p:txBody>
      </p:sp>
      <p:pic>
        <p:nvPicPr>
          <p:cNvPr id="2" name="Picture 1">
            <a:extLst>
              <a:ext uri="{FF2B5EF4-FFF2-40B4-BE49-F238E27FC236}">
                <a16:creationId xmlns:a16="http://schemas.microsoft.com/office/drawing/2014/main" id="{ADE57F18-BC87-45CB-B8E6-D449D45277B5}"/>
              </a:ext>
            </a:extLst>
          </p:cNvPr>
          <p:cNvPicPr>
            <a:picLocks noChangeAspect="1"/>
          </p:cNvPicPr>
          <p:nvPr/>
        </p:nvPicPr>
        <p:blipFill>
          <a:blip r:embed="rId3"/>
          <a:stretch>
            <a:fillRect/>
          </a:stretch>
        </p:blipFill>
        <p:spPr>
          <a:xfrm>
            <a:off x="5357308" y="1214135"/>
            <a:ext cx="3564074" cy="876875"/>
          </a:xfrm>
          <a:prstGeom prst="rect">
            <a:avLst/>
          </a:prstGeom>
        </p:spPr>
      </p:pic>
      <p:sp>
        <p:nvSpPr>
          <p:cNvPr id="5" name="Content Placeholder 3">
            <a:extLst>
              <a:ext uri="{FF2B5EF4-FFF2-40B4-BE49-F238E27FC236}">
                <a16:creationId xmlns:a16="http://schemas.microsoft.com/office/drawing/2014/main" id="{15B257E1-0405-4735-85E9-547525F12CE6}"/>
              </a:ext>
            </a:extLst>
          </p:cNvPr>
          <p:cNvSpPr txBox="1">
            <a:spLocks/>
          </p:cNvSpPr>
          <p:nvPr/>
        </p:nvSpPr>
        <p:spPr>
          <a:xfrm>
            <a:off x="128018" y="2385343"/>
            <a:ext cx="8510374" cy="1906958"/>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rtl="0"/>
            <a:r>
              <a:rPr lang="ru-RU" dirty="0">
                <a:solidFill>
                  <a:srgbClr val="000000"/>
                </a:solidFill>
              </a:rPr>
              <a:t>Локальные адреса каналов</a:t>
            </a:r>
          </a:p>
          <a:p>
            <a:pPr marL="342900" indent="-342900" algn="l" rtl="0">
              <a:buFont typeface="Arial" panose="020B0604020202020204" pitchFamily="34" charset="0"/>
              <a:buChar char="•"/>
            </a:pPr>
            <a:r>
              <a:rPr lang="ru-RU" sz="1600" dirty="0">
                <a:solidFill>
                  <a:srgbClr val="000000"/>
                </a:solidFill>
              </a:rPr>
              <a:t>169.254.0.0 /16 или от 169.254.0.1 до 169.254.255.254</a:t>
            </a:r>
          </a:p>
          <a:p>
            <a:pPr marL="342900" indent="-342900" algn="l" rtl="0">
              <a:buFont typeface="Arial" panose="020B0604020202020204" pitchFamily="34" charset="0"/>
              <a:buChar char="•"/>
            </a:pPr>
            <a:r>
              <a:rPr lang="ru-RU" sz="1600" dirty="0">
                <a:solidFill>
                  <a:srgbClr val="000000"/>
                </a:solidFill>
              </a:rPr>
              <a:t>Более известны как адреса автоматической частной IP-адресации (APIPA). </a:t>
            </a:r>
          </a:p>
          <a:p>
            <a:pPr marL="342900" indent="-342900" algn="l" rtl="0">
              <a:buFont typeface="Arial" panose="020B0604020202020204" pitchFamily="34" charset="0"/>
              <a:buChar char="•"/>
            </a:pPr>
            <a:r>
              <a:rPr lang="ru-RU" sz="1600" dirty="0">
                <a:solidFill>
                  <a:srgbClr val="000000"/>
                </a:solidFill>
              </a:rPr>
              <a:t>Используются клиентом с ОС </a:t>
            </a:r>
            <a:r>
              <a:rPr lang="ru-RU" sz="1600" dirty="0" err="1">
                <a:solidFill>
                  <a:srgbClr val="000000"/>
                </a:solidFill>
              </a:rPr>
              <a:t>Windows</a:t>
            </a:r>
            <a:r>
              <a:rPr lang="ru-RU" sz="1600" dirty="0">
                <a:solidFill>
                  <a:srgbClr val="000000"/>
                </a:solidFill>
              </a:rPr>
              <a:t> для автоматической настройки, если нет доступного DHCP-сервера.</a:t>
            </a:r>
          </a:p>
        </p:txBody>
      </p:sp>
    </p:spTree>
    <p:extLst>
      <p:ext uri="{BB962C8B-B14F-4D97-AF65-F5344CB8AC3E}">
        <p14:creationId xmlns:p14="http://schemas.microsoft.com/office/powerpoint/2010/main" val="4007806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Типы адресов IPv4 </a:t>
            </a:r>
            <a:br>
              <a:rPr lang="en-US" dirty="0"/>
            </a:br>
            <a:r>
              <a:rPr lang="ru-RU" sz="2400"/>
              <a:t>Традиционная классовая адресация</a:t>
            </a:r>
          </a:p>
        </p:txBody>
      </p:sp>
      <p:pic>
        <p:nvPicPr>
          <p:cNvPr id="2" name="Picture 1">
            <a:extLst>
              <a:ext uri="{FF2B5EF4-FFF2-40B4-BE49-F238E27FC236}">
                <a16:creationId xmlns:a16="http://schemas.microsoft.com/office/drawing/2014/main" id="{ADCDBF03-421E-4564-9492-4248ADBE461B}"/>
              </a:ext>
            </a:extLst>
          </p:cNvPr>
          <p:cNvPicPr>
            <a:picLocks noChangeAspect="1"/>
          </p:cNvPicPr>
          <p:nvPr/>
        </p:nvPicPr>
        <p:blipFill>
          <a:blip r:embed="rId3"/>
          <a:stretch>
            <a:fillRect/>
          </a:stretch>
        </p:blipFill>
        <p:spPr>
          <a:xfrm>
            <a:off x="5482551" y="1248180"/>
            <a:ext cx="3163682" cy="1836595"/>
          </a:xfrm>
          <a:prstGeom prst="rect">
            <a:avLst/>
          </a:prstGeom>
        </p:spPr>
      </p:pic>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685733"/>
            <a:ext cx="4956309" cy="4060826"/>
          </a:xfrm>
        </p:spPr>
        <p:txBody>
          <a:bodyPr/>
          <a:lstStyle/>
          <a:p>
            <a:pPr marL="0" indent="0" algn="l" rtl="0"/>
            <a:r>
              <a:rPr lang="ru-RU">
                <a:solidFill>
                  <a:srgbClr val="000000"/>
                </a:solidFill>
              </a:rPr>
              <a:t>RFC 790 (1981) выделил адреса IPv4 в классах</a:t>
            </a:r>
          </a:p>
          <a:p>
            <a:pPr marL="342900" indent="-342900" algn="l" rtl="0">
              <a:buFont typeface="Arial" panose="020B0604020202020204" pitchFamily="34" charset="0"/>
              <a:buChar char="•"/>
            </a:pPr>
            <a:r>
              <a:rPr lang="ru-RU" sz="1600">
                <a:solidFill>
                  <a:srgbClr val="000000"/>
                </a:solidFill>
              </a:rPr>
              <a:t>Класс A (0.0.0.0/8 - 127.0.0.0/8)</a:t>
            </a:r>
          </a:p>
          <a:p>
            <a:pPr marL="342900" indent="-342900" algn="l" rtl="0">
              <a:buFont typeface="Arial" panose="020B0604020202020204" pitchFamily="34" charset="0"/>
              <a:buChar char="•"/>
            </a:pPr>
            <a:r>
              <a:rPr lang="ru-RU" sz="1600">
                <a:solidFill>
                  <a:srgbClr val="000000"/>
                </a:solidFill>
              </a:rPr>
              <a:t>Класс B (128.0.0.0 /16 - 191.255.0.0 /16)</a:t>
            </a:r>
          </a:p>
          <a:p>
            <a:pPr marL="342900" indent="-342900" algn="l" rtl="0">
              <a:buFont typeface="Arial" panose="020B0604020202020204" pitchFamily="34" charset="0"/>
              <a:buChar char="•"/>
            </a:pPr>
            <a:r>
              <a:rPr lang="ru-RU" sz="1600">
                <a:solidFill>
                  <a:srgbClr val="000000"/>
                </a:solidFill>
              </a:rPr>
              <a:t>Класс С (192.0.0.0 /24 - 223.255.255.0 /24)</a:t>
            </a:r>
          </a:p>
          <a:p>
            <a:pPr marL="342900" indent="-342900" algn="l" rtl="0">
              <a:buFont typeface="Arial" panose="020B0604020202020204" pitchFamily="34" charset="0"/>
              <a:buChar char="•"/>
            </a:pPr>
            <a:r>
              <a:rPr lang="ru-RU" sz="1600">
                <a:solidFill>
                  <a:srgbClr val="000000"/>
                </a:solidFill>
              </a:rPr>
              <a:t>Класс D (224.0.0.0 - 239.0.0.0)</a:t>
            </a:r>
          </a:p>
          <a:p>
            <a:pPr marL="342900" indent="-342900" algn="l" rtl="0">
              <a:buFont typeface="Arial" panose="020B0604020202020204" pitchFamily="34" charset="0"/>
              <a:buChar char="•"/>
            </a:pPr>
            <a:r>
              <a:rPr lang="ru-RU" sz="1600">
                <a:solidFill>
                  <a:srgbClr val="000000"/>
                </a:solidFill>
              </a:rPr>
              <a:t>Класс Е (240.0.0.0 - 255.0.0.0)</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Классическая адресация потратила много адресов IPv4.</a:t>
            </a:r>
          </a:p>
          <a:p>
            <a:pPr marL="342900" indent="-342900" algn="l">
              <a:buFont typeface="Arial" panose="020B0604020202020204" pitchFamily="34" charset="0"/>
              <a:buChar char="•"/>
            </a:pPr>
            <a:endParaRPr lang="en-CA" sz="1600" dirty="0">
              <a:solidFill>
                <a:srgbClr val="000000"/>
              </a:solidFill>
            </a:endParaRPr>
          </a:p>
          <a:p>
            <a:pPr marL="0" indent="0" algn="l" rtl="0"/>
            <a:r>
              <a:rPr lang="ru-RU" sz="1600">
                <a:solidFill>
                  <a:srgbClr val="000000"/>
                </a:solidFill>
              </a:rPr>
              <a:t>Классовое распределение адресов было заменено бесклассовой адресацией, которая игнорирует правила классов (A, B, C). </a:t>
            </a:r>
          </a:p>
        </p:txBody>
      </p:sp>
    </p:spTree>
    <p:extLst>
      <p:ext uri="{BB962C8B-B14F-4D97-AF65-F5344CB8AC3E}">
        <p14:creationId xmlns:p14="http://schemas.microsoft.com/office/powerpoint/2010/main" val="728904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Типы адресов IPv4 </a:t>
            </a:r>
            <a:br>
              <a:rPr lang="en-US" dirty="0"/>
            </a:br>
            <a:r>
              <a:rPr lang="ru-RU" sz="2400"/>
              <a:t>Назначение IP-адресов</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737711"/>
          </a:xfrm>
        </p:spPr>
        <p:txBody>
          <a:bodyPr/>
          <a:lstStyle/>
          <a:p>
            <a:pPr marL="342900" indent="-342900" algn="l" rtl="0">
              <a:buFont typeface="Arial" panose="020B0604020202020204" pitchFamily="34" charset="0"/>
              <a:buChar char="•"/>
            </a:pPr>
            <a:r>
              <a:rPr lang="ru-RU" sz="1600">
                <a:solidFill>
                  <a:srgbClr val="000000"/>
                </a:solidFill>
              </a:rPr>
              <a:t>IANA управляет блоками IP-адресов и распределяет их между региональными интернет-регистраторами (RIR). </a:t>
            </a:r>
          </a:p>
        </p:txBody>
      </p:sp>
      <p:sp>
        <p:nvSpPr>
          <p:cNvPr id="5" name="Content Placeholder 3">
            <a:extLst>
              <a:ext uri="{FF2B5EF4-FFF2-40B4-BE49-F238E27FC236}">
                <a16:creationId xmlns:a16="http://schemas.microsoft.com/office/drawing/2014/main" id="{409BC4D9-9184-42D7-839E-39E96E08A3D4}"/>
              </a:ext>
            </a:extLst>
          </p:cNvPr>
          <p:cNvSpPr txBox="1">
            <a:spLocks/>
          </p:cNvSpPr>
          <p:nvPr/>
        </p:nvSpPr>
        <p:spPr>
          <a:xfrm>
            <a:off x="431970" y="1681116"/>
            <a:ext cx="3337951" cy="2248249"/>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ru-RU" sz="1600">
                <a:solidFill>
                  <a:srgbClr val="000000"/>
                </a:solidFill>
              </a:rPr>
              <a:t>Региональные интернет-регистраторы (RIR) отвечают за распределение IP-адресов между интернет-провайдерами (ISP), которые, в свою очередь, предоставляют блоки IPv4-адресов организациям и менее крупным провайдерам. </a:t>
            </a:r>
          </a:p>
        </p:txBody>
      </p:sp>
      <p:pic>
        <p:nvPicPr>
          <p:cNvPr id="2" name="Picture 1">
            <a:extLst>
              <a:ext uri="{FF2B5EF4-FFF2-40B4-BE49-F238E27FC236}">
                <a16:creationId xmlns:a16="http://schemas.microsoft.com/office/drawing/2014/main" id="{B02C39C3-1B89-41EA-828D-DA77348A5746}"/>
              </a:ext>
            </a:extLst>
          </p:cNvPr>
          <p:cNvPicPr>
            <a:picLocks noChangeAspect="1"/>
          </p:cNvPicPr>
          <p:nvPr/>
        </p:nvPicPr>
        <p:blipFill>
          <a:blip r:embed="rId3"/>
          <a:stretch>
            <a:fillRect/>
          </a:stretch>
        </p:blipFill>
        <p:spPr>
          <a:xfrm>
            <a:off x="3937299" y="1681116"/>
            <a:ext cx="4607351" cy="2371831"/>
          </a:xfrm>
          <a:prstGeom prst="rect">
            <a:avLst/>
          </a:prstGeom>
        </p:spPr>
      </p:pic>
    </p:spTree>
    <p:extLst>
      <p:ext uri="{BB962C8B-B14F-4D97-AF65-F5344CB8AC3E}">
        <p14:creationId xmlns:p14="http://schemas.microsoft.com/office/powerpoint/2010/main" val="619740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ru-RU">
                <a:solidFill>
                  <a:schemeClr val="accent5">
                    <a:lumMod val="40000"/>
                    <a:lumOff val="60000"/>
                  </a:schemeClr>
                </a:solidFill>
              </a:rPr>
              <a:t>11.4 Сегментация</a:t>
            </a:r>
            <a:br>
              <a:rPr lang="en-CA" dirty="0">
                <a:solidFill>
                  <a:schemeClr val="accent5">
                    <a:lumMod val="40000"/>
                    <a:lumOff val="60000"/>
                  </a:schemeClr>
                </a:solidFill>
              </a:rPr>
            </a:br>
            <a:r>
              <a:rPr lang="ru-RU">
                <a:solidFill>
                  <a:schemeClr val="accent5">
                    <a:lumMod val="40000"/>
                    <a:lumOff val="60000"/>
                  </a:schemeClr>
                </a:solidFill>
              </a:rPr>
              <a:t>сети</a:t>
            </a:r>
          </a:p>
        </p:txBody>
      </p:sp>
    </p:spTree>
    <p:custDataLst>
      <p:tags r:id="rId1"/>
    </p:custDataLst>
    <p:extLst>
      <p:ext uri="{BB962C8B-B14F-4D97-AF65-F5344CB8AC3E}">
        <p14:creationId xmlns:p14="http://schemas.microsoft.com/office/powerpoint/2010/main" val="4286237413"/>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Сегментация сети </a:t>
            </a:r>
            <a:br>
              <a:rPr lang="en-US" dirty="0"/>
            </a:br>
            <a:r>
              <a:rPr lang="ru-RU" sz="2400"/>
              <a:t>Сегментация сети Домены широковещательной рассылки</a:t>
            </a:r>
          </a:p>
        </p:txBody>
      </p:sp>
      <p:sp>
        <p:nvSpPr>
          <p:cNvPr id="4" name="Content Placeholder 1">
            <a:extLst>
              <a:ext uri="{FF2B5EF4-FFF2-40B4-BE49-F238E27FC236}">
                <a16:creationId xmlns:a16="http://schemas.microsoft.com/office/drawing/2014/main" id="{50693879-5816-3444-9D50-A12F1F37F5DE}"/>
              </a:ext>
            </a:extLst>
          </p:cNvPr>
          <p:cNvSpPr>
            <a:spLocks noGrp="1"/>
          </p:cNvSpPr>
          <p:nvPr>
            <p:ph idx="1"/>
          </p:nvPr>
        </p:nvSpPr>
        <p:spPr>
          <a:xfrm>
            <a:off x="64155" y="873478"/>
            <a:ext cx="8997549" cy="1190197"/>
          </a:xfrm>
        </p:spPr>
        <p:txBody>
          <a:bodyPr/>
          <a:lstStyle/>
          <a:p>
            <a:pPr marL="342900" indent="-342900" algn="l" rtl="0">
              <a:buFont typeface="Arial" panose="020B0604020202020204" pitchFamily="34" charset="0"/>
              <a:buChar char="•"/>
            </a:pPr>
            <a:r>
              <a:rPr lang="ru-RU" sz="1600" dirty="0">
                <a:solidFill>
                  <a:srgbClr val="000000"/>
                </a:solidFill>
              </a:rPr>
              <a:t>Многие протоколы используют широковещательные или многоадресные рассылки (например, ARP использует широковещательные рассылки для поиска других устройств, хосты отправляют широковещательные рассылки DHCP для поиска DHCP-сервера).</a:t>
            </a:r>
          </a:p>
          <a:p>
            <a:pPr marL="342900" indent="-342900" algn="l" rtl="0">
              <a:buFont typeface="Arial" panose="020B0604020202020204" pitchFamily="34" charset="0"/>
              <a:buChar char="•"/>
            </a:pPr>
            <a:r>
              <a:rPr lang="ru-RU" sz="1600" dirty="0">
                <a:solidFill>
                  <a:srgbClr val="000000"/>
                </a:solidFill>
              </a:rPr>
              <a:t>Коммутаторы выполняют широковещательную рассылку на все интерфейсы, за исключением того интерфейса, через который была получена рассылка. </a:t>
            </a:r>
          </a:p>
        </p:txBody>
      </p:sp>
      <p:pic>
        <p:nvPicPr>
          <p:cNvPr id="2" name="Picture 1">
            <a:extLst>
              <a:ext uri="{FF2B5EF4-FFF2-40B4-BE49-F238E27FC236}">
                <a16:creationId xmlns:a16="http://schemas.microsoft.com/office/drawing/2014/main" id="{10398782-9905-4785-9579-06EB01676450}"/>
              </a:ext>
            </a:extLst>
          </p:cNvPr>
          <p:cNvPicPr>
            <a:picLocks noChangeAspect="1"/>
          </p:cNvPicPr>
          <p:nvPr/>
        </p:nvPicPr>
        <p:blipFill>
          <a:blip r:embed="rId3"/>
          <a:stretch>
            <a:fillRect/>
          </a:stretch>
        </p:blipFill>
        <p:spPr>
          <a:xfrm>
            <a:off x="431971" y="2358904"/>
            <a:ext cx="4432055" cy="2638933"/>
          </a:xfrm>
          <a:prstGeom prst="rect">
            <a:avLst/>
          </a:prstGeom>
        </p:spPr>
      </p:pic>
      <p:sp>
        <p:nvSpPr>
          <p:cNvPr id="5" name="Content Placeholder 3">
            <a:extLst>
              <a:ext uri="{FF2B5EF4-FFF2-40B4-BE49-F238E27FC236}">
                <a16:creationId xmlns:a16="http://schemas.microsoft.com/office/drawing/2014/main" id="{845B5FA5-3694-4D86-AB3C-0BB4544AC221}"/>
              </a:ext>
            </a:extLst>
          </p:cNvPr>
          <p:cNvSpPr txBox="1">
            <a:spLocks/>
          </p:cNvSpPr>
          <p:nvPr/>
        </p:nvSpPr>
        <p:spPr>
          <a:xfrm>
            <a:off x="4645152" y="2205317"/>
            <a:ext cx="4608576" cy="2344464"/>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ru-RU" sz="1600" dirty="0">
                <a:solidFill>
                  <a:srgbClr val="000000"/>
                </a:solidFill>
              </a:rPr>
              <a:t>Единственным устройством, останавливающим широковещательные передачи, является маршрутизатор.</a:t>
            </a:r>
          </a:p>
          <a:p>
            <a:pPr marL="342900" indent="-342900" algn="l" rtl="0">
              <a:buFont typeface="Arial" panose="020B0604020202020204" pitchFamily="34" charset="0"/>
              <a:buChar char="•"/>
            </a:pPr>
            <a:r>
              <a:rPr lang="ru-RU" sz="1600" dirty="0">
                <a:solidFill>
                  <a:srgbClr val="000000"/>
                </a:solidFill>
              </a:rPr>
              <a:t>Маршрутизаторы не выполняют широковещательную рассылку. </a:t>
            </a:r>
          </a:p>
          <a:p>
            <a:pPr marL="342900" indent="-342900" algn="l" rtl="0">
              <a:buFont typeface="Arial" panose="020B0604020202020204" pitchFamily="34" charset="0"/>
              <a:buChar char="•"/>
            </a:pPr>
            <a:r>
              <a:rPr lang="ru-RU" sz="1600" dirty="0">
                <a:solidFill>
                  <a:srgbClr val="000000"/>
                </a:solidFill>
              </a:rPr>
              <a:t>Таким образом, каждый интерфейс маршрутизатора подключен к широковещательному домену, и широковещательные рассылки выполняются только в рамках определенного домена рассылки.</a:t>
            </a:r>
          </a:p>
        </p:txBody>
      </p:sp>
    </p:spTree>
    <p:extLst>
      <p:ext uri="{BB962C8B-B14F-4D97-AF65-F5344CB8AC3E}">
        <p14:creationId xmlns:p14="http://schemas.microsoft.com/office/powerpoint/2010/main" val="46914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778018" cy="855418"/>
          </a:xfrm>
        </p:spPr>
        <p:txBody>
          <a:bodyPr/>
          <a:lstStyle/>
          <a:p>
            <a:pPr rtl="0"/>
            <a:r>
              <a:rPr lang="ru-RU" sz="1600" dirty="0"/>
              <a:t>Сегментация сети</a:t>
            </a:r>
            <a:br>
              <a:rPr lang="en-US" dirty="0"/>
            </a:br>
            <a:r>
              <a:rPr lang="ru-RU" sz="2400" dirty="0"/>
              <a:t>Проблемы с крупными доменами широковещательной рассылки</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 y="855418"/>
            <a:ext cx="5238975" cy="3899461"/>
          </a:xfrm>
        </p:spPr>
        <p:txBody>
          <a:bodyPr/>
          <a:lstStyle/>
          <a:p>
            <a:pPr marL="342900" indent="-342900" algn="l" rtl="0">
              <a:buFont typeface="Arial" panose="020B0604020202020204" pitchFamily="34" charset="0"/>
              <a:buChar char="•"/>
            </a:pPr>
            <a:r>
              <a:rPr lang="ru-RU" sz="1600" dirty="0">
                <a:solidFill>
                  <a:srgbClr val="000000"/>
                </a:solidFill>
              </a:rPr>
              <a:t>Проблема крупного домена широковещательной рассылки заключается в следующем: узлы могут генерировать избыточную рассылку и негативно влиять на работу сети.</a:t>
            </a:r>
          </a:p>
          <a:p>
            <a:pPr marL="342900" indent="-342900" algn="l" rtl="0">
              <a:buFont typeface="Arial" panose="020B0604020202020204" pitchFamily="34" charset="0"/>
              <a:buChar char="•"/>
            </a:pPr>
            <a:r>
              <a:rPr lang="ru-RU" sz="1600" dirty="0">
                <a:solidFill>
                  <a:srgbClr val="000000"/>
                </a:solidFill>
              </a:rPr>
              <a:t>Для решения этой проблемы надо сократить размер сети, создав меньшие домены широковещательной рассылки. Такой процесс называется разделением на подсети. </a:t>
            </a:r>
          </a:p>
          <a:p>
            <a:pPr marL="342900" indent="-342900" algn="l" rtl="0">
              <a:buFont typeface="Arial" panose="020B0604020202020204" pitchFamily="34" charset="0"/>
              <a:buChar char="•"/>
            </a:pPr>
            <a:r>
              <a:rPr lang="ru-RU" sz="1600" dirty="0">
                <a:solidFill>
                  <a:srgbClr val="000000"/>
                </a:solidFill>
              </a:rPr>
              <a:t>400 пользователей локальной сети LAN 1 с сетевым адресом 172.16.0.0 /16 были разделены на две подсети по 200 пользователей каждая — 172.16.0.0 /24 и 172.16.1.0 /24. </a:t>
            </a:r>
          </a:p>
          <a:p>
            <a:pPr marL="342900" indent="-342900" algn="l" rtl="0">
              <a:buFont typeface="Arial" panose="020B0604020202020204" pitchFamily="34" charset="0"/>
              <a:buChar char="•"/>
            </a:pPr>
            <a:r>
              <a:rPr lang="ru-RU" sz="1600" dirty="0">
                <a:solidFill>
                  <a:srgbClr val="000000"/>
                </a:solidFill>
              </a:rPr>
              <a:t>Рассылка ограничивается более мелкими доменами широковещательной рассылки. </a:t>
            </a:r>
          </a:p>
        </p:txBody>
      </p:sp>
      <p:pic>
        <p:nvPicPr>
          <p:cNvPr id="2" name="Picture 1">
            <a:extLst>
              <a:ext uri="{FF2B5EF4-FFF2-40B4-BE49-F238E27FC236}">
                <a16:creationId xmlns:a16="http://schemas.microsoft.com/office/drawing/2014/main" id="{5A7A91AF-16E4-4E33-B4E6-A586D3355209}"/>
              </a:ext>
            </a:extLst>
          </p:cNvPr>
          <p:cNvPicPr>
            <a:picLocks noChangeAspect="1"/>
          </p:cNvPicPr>
          <p:nvPr/>
        </p:nvPicPr>
        <p:blipFill>
          <a:blip r:embed="rId3"/>
          <a:stretch>
            <a:fillRect/>
          </a:stretch>
        </p:blipFill>
        <p:spPr>
          <a:xfrm>
            <a:off x="5447794" y="582072"/>
            <a:ext cx="3330224" cy="1980005"/>
          </a:xfrm>
          <a:prstGeom prst="rect">
            <a:avLst/>
          </a:prstGeom>
        </p:spPr>
      </p:pic>
      <p:pic>
        <p:nvPicPr>
          <p:cNvPr id="5" name="Picture 4">
            <a:extLst>
              <a:ext uri="{FF2B5EF4-FFF2-40B4-BE49-F238E27FC236}">
                <a16:creationId xmlns:a16="http://schemas.microsoft.com/office/drawing/2014/main" id="{65746CC1-6CFB-4882-AB1A-AEF0BB4396C4}"/>
              </a:ext>
            </a:extLst>
          </p:cNvPr>
          <p:cNvPicPr>
            <a:picLocks noChangeAspect="1"/>
          </p:cNvPicPr>
          <p:nvPr/>
        </p:nvPicPr>
        <p:blipFill>
          <a:blip r:embed="rId4"/>
          <a:stretch>
            <a:fillRect/>
          </a:stretch>
        </p:blipFill>
        <p:spPr>
          <a:xfrm>
            <a:off x="5165109" y="2791150"/>
            <a:ext cx="3802562" cy="1755763"/>
          </a:xfrm>
          <a:prstGeom prst="rect">
            <a:avLst/>
          </a:prstGeom>
        </p:spPr>
      </p:pic>
    </p:spTree>
    <p:extLst>
      <p:ext uri="{BB962C8B-B14F-4D97-AF65-F5344CB8AC3E}">
        <p14:creationId xmlns:p14="http://schemas.microsoft.com/office/powerpoint/2010/main" val="2044923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dirty="0"/>
              <a:t>Сегментация сети </a:t>
            </a:r>
            <a:br>
              <a:rPr lang="en-US" dirty="0"/>
            </a:br>
            <a:r>
              <a:rPr lang="ru-RU" sz="2400" dirty="0"/>
              <a:t>Причины для разделения на подсети</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 y="625593"/>
            <a:ext cx="9143999" cy="1550058"/>
          </a:xfrm>
        </p:spPr>
        <p:txBody>
          <a:bodyPr/>
          <a:lstStyle/>
          <a:p>
            <a:pPr marL="342900" indent="-342900" algn="l" rtl="0">
              <a:buFont typeface="Arial" panose="020B0604020202020204" pitchFamily="34" charset="0"/>
              <a:buChar char="•"/>
            </a:pPr>
            <a:r>
              <a:rPr lang="ru-RU" sz="1600" dirty="0">
                <a:solidFill>
                  <a:srgbClr val="000000"/>
                </a:solidFill>
              </a:rPr>
              <a:t>Разделение на подсети снижает общий объем сетевого трафика и повышает производительность сети. </a:t>
            </a:r>
          </a:p>
          <a:p>
            <a:pPr marL="342900" indent="-342900" algn="l" rtl="0">
              <a:buFont typeface="Arial" panose="020B0604020202020204" pitchFamily="34" charset="0"/>
              <a:buChar char="•"/>
            </a:pPr>
            <a:r>
              <a:rPr lang="ru-RU" sz="1600" dirty="0">
                <a:solidFill>
                  <a:srgbClr val="000000"/>
                </a:solidFill>
              </a:rPr>
              <a:t>Его можно использовать для реализации политик безопасности между подсетями.</a:t>
            </a:r>
          </a:p>
          <a:p>
            <a:pPr marL="342900" indent="-342900" algn="l" rtl="0">
              <a:buFont typeface="Arial" panose="020B0604020202020204" pitchFamily="34" charset="0"/>
              <a:buChar char="•"/>
            </a:pPr>
            <a:r>
              <a:rPr lang="ru-RU" sz="1600" dirty="0">
                <a:solidFill>
                  <a:srgbClr val="000000"/>
                </a:solidFill>
              </a:rPr>
              <a:t>Подсеть уменьшает количество устройств, затронутых аномальным широковещательным трафиком.</a:t>
            </a:r>
            <a:endParaRPr lang="en-CA" sz="1600" dirty="0">
              <a:solidFill>
                <a:srgbClr val="000000"/>
              </a:solidFill>
            </a:endParaRPr>
          </a:p>
          <a:p>
            <a:pPr marL="342900" indent="-342900" algn="l" rtl="0">
              <a:buFont typeface="Arial" panose="020B0604020202020204" pitchFamily="34" charset="0"/>
              <a:buChar char="•"/>
            </a:pPr>
            <a:r>
              <a:rPr lang="ru-RU" sz="1600" dirty="0">
                <a:solidFill>
                  <a:srgbClr val="000000"/>
                </a:solidFill>
              </a:rPr>
              <a:t>Подсети используются по целому ряду причин, в том числе:</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
        <p:nvSpPr>
          <p:cNvPr id="7" name="Rectangle 6">
            <a:extLst>
              <a:ext uri="{FF2B5EF4-FFF2-40B4-BE49-F238E27FC236}">
                <a16:creationId xmlns:a16="http://schemas.microsoft.com/office/drawing/2014/main" id="{24D8B652-544C-4DA4-843F-B9A537AD3E84}"/>
              </a:ext>
            </a:extLst>
          </p:cNvPr>
          <p:cNvSpPr/>
          <p:nvPr/>
        </p:nvSpPr>
        <p:spPr>
          <a:xfrm>
            <a:off x="375431" y="2492000"/>
            <a:ext cx="2698320" cy="1806839"/>
          </a:xfrm>
          <a:prstGeom prst="rect">
            <a:avLst/>
          </a:prstGeom>
          <a:noFill/>
          <a:ln/>
        </p:spPr>
        <p:style>
          <a:lnRef idx="1">
            <a:schemeClr val="accent5"/>
          </a:lnRef>
          <a:fillRef idx="2">
            <a:schemeClr val="accent5"/>
          </a:fillRef>
          <a:effectRef idx="1">
            <a:schemeClr val="accent5"/>
          </a:effectRef>
          <a:fontRef idx="minor">
            <a:schemeClr val="dk1"/>
          </a:fontRef>
        </p:style>
        <p:txBody>
          <a:bodyPr rtlCol="0" anchor="t"/>
          <a:lstStyle/>
          <a:p>
            <a:pPr rtl="0"/>
            <a:r>
              <a:rPr lang="ru-RU" sz="1600"/>
              <a:t>Местоположение</a:t>
            </a:r>
          </a:p>
        </p:txBody>
      </p:sp>
      <p:pic>
        <p:nvPicPr>
          <p:cNvPr id="2" name="Picture 1">
            <a:extLst>
              <a:ext uri="{FF2B5EF4-FFF2-40B4-BE49-F238E27FC236}">
                <a16:creationId xmlns:a16="http://schemas.microsoft.com/office/drawing/2014/main" id="{63D0E2D3-D553-4D04-B410-56EFCD0EF721}"/>
              </a:ext>
            </a:extLst>
          </p:cNvPr>
          <p:cNvPicPr>
            <a:picLocks noChangeAspect="1"/>
          </p:cNvPicPr>
          <p:nvPr/>
        </p:nvPicPr>
        <p:blipFill>
          <a:blip r:embed="rId3"/>
          <a:stretch>
            <a:fillRect/>
          </a:stretch>
        </p:blipFill>
        <p:spPr>
          <a:xfrm>
            <a:off x="342756" y="2914594"/>
            <a:ext cx="2789064" cy="1318328"/>
          </a:xfrm>
          <a:prstGeom prst="rect">
            <a:avLst/>
          </a:prstGeom>
        </p:spPr>
      </p:pic>
      <p:sp>
        <p:nvSpPr>
          <p:cNvPr id="8" name="Rectangle 7">
            <a:extLst>
              <a:ext uri="{FF2B5EF4-FFF2-40B4-BE49-F238E27FC236}">
                <a16:creationId xmlns:a16="http://schemas.microsoft.com/office/drawing/2014/main" id="{32CC4029-1176-45DF-9BD6-D3DC9A0400D7}"/>
              </a:ext>
            </a:extLst>
          </p:cNvPr>
          <p:cNvSpPr/>
          <p:nvPr/>
        </p:nvSpPr>
        <p:spPr>
          <a:xfrm>
            <a:off x="3342986" y="2492000"/>
            <a:ext cx="2698320" cy="2036970"/>
          </a:xfrm>
          <a:prstGeom prst="rect">
            <a:avLst/>
          </a:prstGeom>
          <a:noFill/>
          <a:ln/>
        </p:spPr>
        <p:style>
          <a:lnRef idx="1">
            <a:schemeClr val="accent5"/>
          </a:lnRef>
          <a:fillRef idx="2">
            <a:schemeClr val="accent5"/>
          </a:fillRef>
          <a:effectRef idx="1">
            <a:schemeClr val="accent5"/>
          </a:effectRef>
          <a:fontRef idx="minor">
            <a:schemeClr val="dk1"/>
          </a:fontRef>
        </p:style>
        <p:txBody>
          <a:bodyPr rtlCol="0" anchor="t"/>
          <a:lstStyle/>
          <a:p>
            <a:pPr rtl="0"/>
            <a:r>
              <a:rPr lang="ru-RU" sz="1600"/>
              <a:t>Группа или функция</a:t>
            </a:r>
          </a:p>
        </p:txBody>
      </p:sp>
      <p:pic>
        <p:nvPicPr>
          <p:cNvPr id="5" name="Picture 4">
            <a:extLst>
              <a:ext uri="{FF2B5EF4-FFF2-40B4-BE49-F238E27FC236}">
                <a16:creationId xmlns:a16="http://schemas.microsoft.com/office/drawing/2014/main" id="{7332D7C8-8057-4C93-9478-2A5D8FE11E83}"/>
              </a:ext>
            </a:extLst>
          </p:cNvPr>
          <p:cNvPicPr>
            <a:picLocks noChangeAspect="1"/>
          </p:cNvPicPr>
          <p:nvPr/>
        </p:nvPicPr>
        <p:blipFill>
          <a:blip r:embed="rId4"/>
          <a:stretch>
            <a:fillRect/>
          </a:stretch>
        </p:blipFill>
        <p:spPr>
          <a:xfrm>
            <a:off x="3497358" y="2879280"/>
            <a:ext cx="2372228" cy="1571706"/>
          </a:xfrm>
          <a:prstGeom prst="rect">
            <a:avLst/>
          </a:prstGeom>
        </p:spPr>
      </p:pic>
      <p:sp>
        <p:nvSpPr>
          <p:cNvPr id="9" name="Rectangle 8">
            <a:extLst>
              <a:ext uri="{FF2B5EF4-FFF2-40B4-BE49-F238E27FC236}">
                <a16:creationId xmlns:a16="http://schemas.microsoft.com/office/drawing/2014/main" id="{38AE73D0-B95E-40DB-9C64-6AF021F99C3A}"/>
              </a:ext>
            </a:extLst>
          </p:cNvPr>
          <p:cNvSpPr/>
          <p:nvPr/>
        </p:nvSpPr>
        <p:spPr>
          <a:xfrm>
            <a:off x="6319781" y="2483461"/>
            <a:ext cx="2523186" cy="2036970"/>
          </a:xfrm>
          <a:prstGeom prst="rect">
            <a:avLst/>
          </a:prstGeom>
          <a:noFill/>
          <a:ln/>
        </p:spPr>
        <p:style>
          <a:lnRef idx="1">
            <a:schemeClr val="accent5"/>
          </a:lnRef>
          <a:fillRef idx="2">
            <a:schemeClr val="accent5"/>
          </a:fillRef>
          <a:effectRef idx="1">
            <a:schemeClr val="accent5"/>
          </a:effectRef>
          <a:fontRef idx="minor">
            <a:schemeClr val="dk1"/>
          </a:fontRef>
        </p:style>
        <p:txBody>
          <a:bodyPr rtlCol="0" anchor="t"/>
          <a:lstStyle/>
          <a:p>
            <a:pPr rtl="0"/>
            <a:r>
              <a:rPr lang="ru-RU" sz="1600"/>
              <a:t>Тип устройства</a:t>
            </a:r>
          </a:p>
        </p:txBody>
      </p:sp>
      <p:pic>
        <p:nvPicPr>
          <p:cNvPr id="6" name="Picture 5">
            <a:extLst>
              <a:ext uri="{FF2B5EF4-FFF2-40B4-BE49-F238E27FC236}">
                <a16:creationId xmlns:a16="http://schemas.microsoft.com/office/drawing/2014/main" id="{7D853623-0268-429C-9C1F-8E5C4E0CD002}"/>
              </a:ext>
            </a:extLst>
          </p:cNvPr>
          <p:cNvPicPr>
            <a:picLocks noChangeAspect="1"/>
          </p:cNvPicPr>
          <p:nvPr/>
        </p:nvPicPr>
        <p:blipFill>
          <a:blip r:embed="rId5"/>
          <a:stretch>
            <a:fillRect/>
          </a:stretch>
        </p:blipFill>
        <p:spPr>
          <a:xfrm>
            <a:off x="6382832" y="2900796"/>
            <a:ext cx="2372228" cy="1571706"/>
          </a:xfrm>
          <a:prstGeom prst="rect">
            <a:avLst/>
          </a:prstGeom>
        </p:spPr>
      </p:pic>
    </p:spTree>
    <p:extLst>
      <p:ext uri="{BB962C8B-B14F-4D97-AF65-F5344CB8AC3E}">
        <p14:creationId xmlns:p14="http://schemas.microsoft.com/office/powerpoint/2010/main" val="1348821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4" y="1788160"/>
            <a:ext cx="8444111" cy="929640"/>
          </a:xfrm>
        </p:spPr>
        <p:txBody>
          <a:bodyPr/>
          <a:lstStyle/>
          <a:p>
            <a:pPr rtl="0"/>
            <a:r>
              <a:rPr lang="ru-RU" dirty="0">
                <a:solidFill>
                  <a:schemeClr val="accent5">
                    <a:lumMod val="40000"/>
                    <a:lumOff val="60000"/>
                  </a:schemeClr>
                </a:solidFill>
              </a:rPr>
              <a:t>11.5 Подсеть сети</a:t>
            </a:r>
            <a:r>
              <a:rPr lang="en-CA" dirty="0">
                <a:solidFill>
                  <a:schemeClr val="accent5">
                    <a:lumMod val="40000"/>
                    <a:lumOff val="60000"/>
                  </a:schemeClr>
                </a:solidFill>
              </a:rPr>
              <a:t> </a:t>
            </a:r>
            <a:r>
              <a:rPr lang="ru-RU" dirty="0">
                <a:solidFill>
                  <a:schemeClr val="accent5">
                    <a:lumMod val="40000"/>
                    <a:lumOff val="60000"/>
                  </a:schemeClr>
                </a:solidFill>
              </a:rPr>
              <a:t>IPv4</a:t>
            </a:r>
          </a:p>
        </p:txBody>
      </p:sp>
    </p:spTree>
    <p:custDataLst>
      <p:tags r:id="rId1"/>
    </p:custDataLst>
    <p:extLst>
      <p:ext uri="{BB962C8B-B14F-4D97-AF65-F5344CB8AC3E}">
        <p14:creationId xmlns:p14="http://schemas.microsoft.com/office/powerpoint/2010/main" val="603752357"/>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Разделение на подсети IPv4-сети</a:t>
            </a:r>
            <a:br>
              <a:rPr lang="en-US" dirty="0"/>
            </a:br>
            <a:r>
              <a:rPr lang="ru-RU" sz="2400"/>
              <a:t> Разделение на подсети на границе октетов</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114783"/>
          </a:xfrm>
        </p:spPr>
        <p:txBody>
          <a:bodyPr/>
          <a:lstStyle/>
          <a:p>
            <a:pPr marL="342900" indent="-342900" algn="l" rtl="0">
              <a:buFont typeface="Arial" panose="020B0604020202020204" pitchFamily="34" charset="0"/>
              <a:buChar char="•"/>
            </a:pPr>
            <a:r>
              <a:rPr lang="ru-RU" sz="1600">
                <a:solidFill>
                  <a:srgbClr val="000000"/>
                </a:solidFill>
              </a:rPr>
              <a:t>Разделение сетей проще всего выполнить на границах октетов /8, /16 и /24. </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Обратите внимание, что увеличение длины префикса сокращает число узлов в каждой подсети.</a:t>
            </a:r>
          </a:p>
        </p:txBody>
      </p:sp>
      <p:graphicFrame>
        <p:nvGraphicFramePr>
          <p:cNvPr id="5" name="Table 4">
            <a:extLst>
              <a:ext uri="{FF2B5EF4-FFF2-40B4-BE49-F238E27FC236}">
                <a16:creationId xmlns:a16="http://schemas.microsoft.com/office/drawing/2014/main" id="{AB61C527-BCD3-42E1-8735-11AC62583EC0}"/>
              </a:ext>
            </a:extLst>
          </p:cNvPr>
          <p:cNvGraphicFramePr>
            <a:graphicFrameLocks noGrp="1"/>
          </p:cNvGraphicFramePr>
          <p:nvPr>
            <p:extLst>
              <p:ext uri="{D42A27DB-BD31-4B8C-83A1-F6EECF244321}">
                <p14:modId xmlns:p14="http://schemas.microsoft.com/office/powerpoint/2010/main" val="1984700362"/>
              </p:ext>
            </p:extLst>
          </p:nvPr>
        </p:nvGraphicFramePr>
        <p:xfrm>
          <a:off x="991974" y="2111017"/>
          <a:ext cx="6896100" cy="1595120"/>
        </p:xfrm>
        <a:graphic>
          <a:graphicData uri="http://schemas.openxmlformats.org/drawingml/2006/table">
            <a:tbl>
              <a:tblPr firstRow="1" bandRow="1">
                <a:tableStyleId>{5C22544A-7EE6-4342-B048-85BDC9FD1C3A}</a:tableStyleId>
              </a:tblPr>
              <a:tblGrid>
                <a:gridCol w="1103376">
                  <a:extLst>
                    <a:ext uri="{9D8B030D-6E8A-4147-A177-3AD203B41FA5}">
                      <a16:colId xmlns:a16="http://schemas.microsoft.com/office/drawing/2014/main" val="401309278"/>
                    </a:ext>
                  </a:extLst>
                </a:gridCol>
                <a:gridCol w="1215438">
                  <a:extLst>
                    <a:ext uri="{9D8B030D-6E8A-4147-A177-3AD203B41FA5}">
                      <a16:colId xmlns:a16="http://schemas.microsoft.com/office/drawing/2014/main" val="1282189193"/>
                    </a:ext>
                  </a:extLst>
                </a:gridCol>
                <a:gridCol w="3473910">
                  <a:extLst>
                    <a:ext uri="{9D8B030D-6E8A-4147-A177-3AD203B41FA5}">
                      <a16:colId xmlns:a16="http://schemas.microsoft.com/office/drawing/2014/main" val="2307218981"/>
                    </a:ext>
                  </a:extLst>
                </a:gridCol>
                <a:gridCol w="1103376">
                  <a:extLst>
                    <a:ext uri="{9D8B030D-6E8A-4147-A177-3AD203B41FA5}">
                      <a16:colId xmlns:a16="http://schemas.microsoft.com/office/drawing/2014/main" val="1338141003"/>
                    </a:ext>
                  </a:extLst>
                </a:gridCol>
              </a:tblGrid>
              <a:tr h="370840">
                <a:tc>
                  <a:txBody>
                    <a:bodyPr/>
                    <a:lstStyle/>
                    <a:p>
                      <a:pPr algn="l" rtl="0" fontAlgn="ctr"/>
                      <a:r>
                        <a:rPr lang="ru-RU" sz="1100" b="1">
                          <a:effectLst/>
                        </a:rPr>
                        <a:t>Длина префикса</a:t>
                      </a:r>
                    </a:p>
                  </a:txBody>
                  <a:tcPr marL="31750" marR="31750" marT="31750" marB="31750" anchor="ctr"/>
                </a:tc>
                <a:tc>
                  <a:txBody>
                    <a:bodyPr/>
                    <a:lstStyle/>
                    <a:p>
                      <a:pPr algn="l" rtl="0" fontAlgn="ctr"/>
                      <a:r>
                        <a:rPr lang="ru-RU" sz="1100" b="1">
                          <a:effectLst/>
                        </a:rPr>
                        <a:t>Маска подсети</a:t>
                      </a:r>
                    </a:p>
                  </a:txBody>
                  <a:tcPr marL="31750" marR="31750" marT="31750" marB="31750" anchor="ctr"/>
                </a:tc>
                <a:tc>
                  <a:txBody>
                    <a:bodyPr/>
                    <a:lstStyle/>
                    <a:p>
                      <a:pPr algn="l" rtl="0" fontAlgn="ctr"/>
                      <a:r>
                        <a:rPr lang="ru-RU" sz="1100" b="1">
                          <a:effectLst/>
                        </a:rPr>
                        <a:t>Маска подсети в двоичной системе (n = сеть, h = хост)</a:t>
                      </a:r>
                    </a:p>
                  </a:txBody>
                  <a:tcPr marL="31750" marR="31750" marT="31750" marB="31750" anchor="ctr"/>
                </a:tc>
                <a:tc>
                  <a:txBody>
                    <a:bodyPr/>
                    <a:lstStyle/>
                    <a:p>
                      <a:pPr algn="l" rtl="0" fontAlgn="ctr"/>
                      <a:r>
                        <a:rPr lang="ru-RU" sz="1100" b="1">
                          <a:effectLst/>
                        </a:rPr>
                        <a:t>Количество узлов</a:t>
                      </a:r>
                    </a:p>
                  </a:txBody>
                  <a:tcPr marL="31750" marR="31750" marT="31750" marB="31750" anchor="ctr"/>
                </a:tc>
                <a:extLst>
                  <a:ext uri="{0D108BD9-81ED-4DB2-BD59-A6C34878D82A}">
                    <a16:rowId xmlns:a16="http://schemas.microsoft.com/office/drawing/2014/main" val="400614944"/>
                  </a:ext>
                </a:extLst>
              </a:tr>
              <a:tr h="370840">
                <a:tc>
                  <a:txBody>
                    <a:bodyPr/>
                    <a:lstStyle/>
                    <a:p>
                      <a:pPr rtl="0" fontAlgn="ctr"/>
                      <a:r>
                        <a:rPr lang="ru-RU" sz="1100" b="1">
                          <a:effectLst/>
                        </a:rPr>
                        <a:t>/8</a:t>
                      </a:r>
                    </a:p>
                  </a:txBody>
                  <a:tcPr marL="31750" marR="31750" marT="31750" marB="31750" anchor="ctr"/>
                </a:tc>
                <a:tc>
                  <a:txBody>
                    <a:bodyPr/>
                    <a:lstStyle/>
                    <a:p>
                      <a:pPr rtl="0" fontAlgn="ctr"/>
                      <a:r>
                        <a:rPr lang="ru-RU" sz="1100" b="1">
                          <a:effectLst/>
                        </a:rPr>
                        <a:t>255</a:t>
                      </a:r>
                      <a:r>
                        <a:rPr lang="ru-RU" sz="1100" b="0">
                          <a:effectLst/>
                        </a:rPr>
                        <a:t>.0.0.0</a:t>
                      </a:r>
                    </a:p>
                  </a:txBody>
                  <a:tcPr marL="31750" marR="31750" marT="31750" marB="31750" anchor="ctr"/>
                </a:tc>
                <a:tc>
                  <a:txBody>
                    <a:bodyPr/>
                    <a:lstStyle/>
                    <a:p>
                      <a:pPr rtl="0" fontAlgn="ctr"/>
                      <a:r>
                        <a:rPr lang="ru-RU" sz="1100" b="1">
                          <a:effectLst/>
                          <a:latin typeface="Courier New" panose="02070309020205020404" pitchFamily="49" charset="0"/>
                          <a:cs typeface="Courier New" panose="02070309020205020404" pitchFamily="49" charset="0"/>
                        </a:rPr>
                        <a:t>nnnnnnnn</a:t>
                      </a:r>
                      <a:r>
                        <a:rPr lang="ru-RU" sz="1100" b="0">
                          <a:effectLst/>
                          <a:latin typeface="Courier New" panose="02070309020205020404" pitchFamily="49" charset="0"/>
                          <a:cs typeface="Courier New" panose="02070309020205020404" pitchFamily="49" charset="0"/>
                        </a:rPr>
                        <a:t>.hhhhhhhh.hhhhhhhh.hhhhhhhh </a:t>
                      </a:r>
                      <a:br>
                        <a:rPr lang="en-CA" sz="1100" b="0" dirty="0">
                          <a:effectLst/>
                          <a:latin typeface="Courier New" panose="02070309020205020404" pitchFamily="49" charset="0"/>
                          <a:cs typeface="Courier New" panose="02070309020205020404" pitchFamily="49" charset="0"/>
                        </a:rPr>
                      </a:br>
                      <a:r>
                        <a:rPr lang="ru-RU" sz="1100" b="1">
                          <a:effectLst/>
                          <a:latin typeface="Courier New" panose="02070309020205020404" pitchFamily="49" charset="0"/>
                          <a:cs typeface="Courier New" panose="02070309020205020404" pitchFamily="49" charset="0"/>
                        </a:rPr>
                        <a:t>11111111</a:t>
                      </a:r>
                      <a:r>
                        <a:rPr lang="ru-RU" sz="1100" b="0">
                          <a:effectLst/>
                          <a:latin typeface="Courier New" panose="02070309020205020404" pitchFamily="49" charset="0"/>
                          <a:cs typeface="Courier New" panose="02070309020205020404" pitchFamily="49" charset="0"/>
                        </a:rPr>
                        <a:t>.00000000.00000000.00000000</a:t>
                      </a:r>
                      <a:r>
                        <a:rPr lang="ru-RU" sz="1100" b="1">
                          <a:effectLst/>
                          <a:latin typeface="Courier New" panose="02070309020205020404" pitchFamily="49" charset="0"/>
                          <a:cs typeface="Courier New" panose="02070309020205020404" pitchFamily="49" charset="0"/>
                        </a:rPr>
                        <a:t> </a:t>
                      </a:r>
                    </a:p>
                  </a:txBody>
                  <a:tcPr marL="31750" marR="31750" marT="31750" marB="31750" anchor="ctr"/>
                </a:tc>
                <a:tc>
                  <a:txBody>
                    <a:bodyPr/>
                    <a:lstStyle/>
                    <a:p>
                      <a:pPr rtl="0" fontAlgn="ctr"/>
                      <a:r>
                        <a:rPr lang="ru-RU" sz="1000" b="0">
                          <a:effectLst/>
                        </a:rPr>
                        <a:t>16 777 214</a:t>
                      </a:r>
                    </a:p>
                  </a:txBody>
                  <a:tcPr marL="31750" marR="31750" marT="31750" marB="31750" anchor="ctr"/>
                </a:tc>
                <a:extLst>
                  <a:ext uri="{0D108BD9-81ED-4DB2-BD59-A6C34878D82A}">
                    <a16:rowId xmlns:a16="http://schemas.microsoft.com/office/drawing/2014/main" val="2637917206"/>
                  </a:ext>
                </a:extLst>
              </a:tr>
              <a:tr h="370840">
                <a:tc>
                  <a:txBody>
                    <a:bodyPr/>
                    <a:lstStyle/>
                    <a:p>
                      <a:pPr rtl="0" fontAlgn="ctr"/>
                      <a:r>
                        <a:rPr lang="ru-RU" sz="1100" b="1">
                          <a:effectLst/>
                        </a:rPr>
                        <a:t>/16</a:t>
                      </a:r>
                    </a:p>
                  </a:txBody>
                  <a:tcPr marL="31750" marR="31750" marT="31750" marB="31750" anchor="ctr"/>
                </a:tc>
                <a:tc>
                  <a:txBody>
                    <a:bodyPr/>
                    <a:lstStyle/>
                    <a:p>
                      <a:pPr rtl="0" fontAlgn="ctr"/>
                      <a:r>
                        <a:rPr lang="ru-RU" sz="1100" b="1">
                          <a:effectLst/>
                        </a:rPr>
                        <a:t>255.255</a:t>
                      </a:r>
                      <a:r>
                        <a:rPr lang="ru-RU" sz="1100" b="0">
                          <a:effectLst/>
                        </a:rPr>
                        <a:t>.0.0</a:t>
                      </a:r>
                    </a:p>
                  </a:txBody>
                  <a:tcPr marL="31750" marR="31750" marT="31750" marB="31750" anchor="ctr"/>
                </a:tc>
                <a:tc>
                  <a:txBody>
                    <a:bodyPr/>
                    <a:lstStyle/>
                    <a:p>
                      <a:pPr rtl="0" fontAlgn="ctr"/>
                      <a:r>
                        <a:rPr lang="ru-RU" sz="1100" b="1">
                          <a:effectLst/>
                          <a:latin typeface="Courier New" panose="02070309020205020404" pitchFamily="49" charset="0"/>
                          <a:cs typeface="Courier New" panose="02070309020205020404" pitchFamily="49" charset="0"/>
                        </a:rPr>
                        <a:t>nnnnnnnn.nnnnnnnn</a:t>
                      </a:r>
                      <a:r>
                        <a:rPr lang="ru-RU" sz="1100" b="0">
                          <a:effectLst/>
                          <a:latin typeface="Courier New" panose="02070309020205020404" pitchFamily="49" charset="0"/>
                          <a:cs typeface="Courier New" panose="02070309020205020404" pitchFamily="49" charset="0"/>
                        </a:rPr>
                        <a:t>.hhhhhhhh.hhhhhhhh </a:t>
                      </a:r>
                      <a:br>
                        <a:rPr lang="en-CA" sz="1100" b="0" dirty="0">
                          <a:effectLst/>
                          <a:latin typeface="Courier New" panose="02070309020205020404" pitchFamily="49" charset="0"/>
                          <a:cs typeface="Courier New" panose="02070309020205020404" pitchFamily="49" charset="0"/>
                        </a:rPr>
                      </a:br>
                      <a:r>
                        <a:rPr lang="ru-RU" sz="1100" b="1">
                          <a:effectLst/>
                          <a:latin typeface="Courier New" panose="02070309020205020404" pitchFamily="49" charset="0"/>
                          <a:cs typeface="Courier New" panose="02070309020205020404" pitchFamily="49" charset="0"/>
                        </a:rPr>
                        <a:t>11111111.11111111</a:t>
                      </a:r>
                      <a:r>
                        <a:rPr lang="ru-RU" sz="1100" b="0">
                          <a:effectLst/>
                          <a:latin typeface="Courier New" panose="02070309020205020404" pitchFamily="49" charset="0"/>
                          <a:cs typeface="Courier New" panose="02070309020205020404" pitchFamily="49" charset="0"/>
                        </a:rPr>
                        <a:t>.00000000.00000000</a:t>
                      </a:r>
                      <a:r>
                        <a:rPr lang="ru-RU" sz="1100" b="1">
                          <a:effectLst/>
                          <a:latin typeface="Courier New" panose="02070309020205020404" pitchFamily="49" charset="0"/>
                          <a:cs typeface="Courier New" panose="02070309020205020404" pitchFamily="49" charset="0"/>
                        </a:rPr>
                        <a:t> </a:t>
                      </a:r>
                    </a:p>
                  </a:txBody>
                  <a:tcPr marL="31750" marR="31750" marT="31750" marB="31750" anchor="ctr"/>
                </a:tc>
                <a:tc>
                  <a:txBody>
                    <a:bodyPr/>
                    <a:lstStyle/>
                    <a:p>
                      <a:pPr rtl="0" fontAlgn="ctr"/>
                      <a:r>
                        <a:rPr lang="ru-RU" sz="1000" b="0">
                          <a:effectLst/>
                        </a:rPr>
                        <a:t>65 534</a:t>
                      </a:r>
                    </a:p>
                  </a:txBody>
                  <a:tcPr marL="31750" marR="31750" marT="31750" marB="31750" anchor="ctr"/>
                </a:tc>
                <a:extLst>
                  <a:ext uri="{0D108BD9-81ED-4DB2-BD59-A6C34878D82A}">
                    <a16:rowId xmlns:a16="http://schemas.microsoft.com/office/drawing/2014/main" val="1750285378"/>
                  </a:ext>
                </a:extLst>
              </a:tr>
              <a:tr h="370840">
                <a:tc>
                  <a:txBody>
                    <a:bodyPr/>
                    <a:lstStyle/>
                    <a:p>
                      <a:pPr rtl="0" fontAlgn="ctr"/>
                      <a:r>
                        <a:rPr lang="ru-RU" sz="1100" b="1">
                          <a:effectLst/>
                        </a:rPr>
                        <a:t>/24</a:t>
                      </a:r>
                    </a:p>
                  </a:txBody>
                  <a:tcPr marL="31750" marR="31750" marT="31750" marB="31750" anchor="ctr"/>
                </a:tc>
                <a:tc>
                  <a:txBody>
                    <a:bodyPr/>
                    <a:lstStyle/>
                    <a:p>
                      <a:pPr rtl="0" fontAlgn="ctr"/>
                      <a:r>
                        <a:rPr lang="ru-RU" sz="1100" b="1">
                          <a:effectLst/>
                        </a:rPr>
                        <a:t>255.255.255</a:t>
                      </a:r>
                      <a:r>
                        <a:rPr lang="ru-RU" sz="1100" b="0">
                          <a:effectLst/>
                        </a:rPr>
                        <a:t>.0</a:t>
                      </a:r>
                    </a:p>
                  </a:txBody>
                  <a:tcPr marL="31750" marR="31750" marT="31750" marB="31750" anchor="ctr"/>
                </a:tc>
                <a:tc>
                  <a:txBody>
                    <a:bodyPr/>
                    <a:lstStyle/>
                    <a:p>
                      <a:pPr rtl="0" fontAlgn="ctr"/>
                      <a:r>
                        <a:rPr lang="ru-RU" sz="1100" b="1">
                          <a:effectLst/>
                          <a:latin typeface="Courier New" panose="02070309020205020404" pitchFamily="49" charset="0"/>
                          <a:cs typeface="Courier New" panose="02070309020205020404" pitchFamily="49" charset="0"/>
                        </a:rPr>
                        <a:t>nnnnnnnn.nnnnnnnn</a:t>
                      </a:r>
                      <a:r>
                        <a:rPr lang="ru-RU" sz="1100" b="0">
                          <a:effectLst/>
                          <a:latin typeface="Courier New" panose="02070309020205020404" pitchFamily="49" charset="0"/>
                          <a:cs typeface="Courier New" panose="02070309020205020404" pitchFamily="49" charset="0"/>
                        </a:rPr>
                        <a:t>.</a:t>
                      </a:r>
                      <a:r>
                        <a:rPr lang="ru-RU" sz="1100" b="1">
                          <a:effectLst/>
                          <a:latin typeface="Courier New" panose="02070309020205020404" pitchFamily="49" charset="0"/>
                          <a:cs typeface="Courier New" panose="02070309020205020404" pitchFamily="49" charset="0"/>
                        </a:rPr>
                        <a:t>nnnnnnnn</a:t>
                      </a:r>
                      <a:r>
                        <a:rPr lang="ru-RU" sz="1100" b="0">
                          <a:effectLst/>
                          <a:latin typeface="Courier New" panose="02070309020205020404" pitchFamily="49" charset="0"/>
                          <a:cs typeface="Courier New" panose="02070309020205020404" pitchFamily="49" charset="0"/>
                        </a:rPr>
                        <a:t>.hhhhhhhh </a:t>
                      </a:r>
                      <a:br>
                        <a:rPr lang="en-CA" sz="1100" b="0" dirty="0">
                          <a:effectLst/>
                          <a:latin typeface="Courier New" panose="02070309020205020404" pitchFamily="49" charset="0"/>
                          <a:cs typeface="Courier New" panose="02070309020205020404" pitchFamily="49" charset="0"/>
                        </a:rPr>
                      </a:br>
                      <a:r>
                        <a:rPr lang="ru-RU" sz="1100" b="1">
                          <a:effectLst/>
                          <a:latin typeface="Courier New" panose="02070309020205020404" pitchFamily="49" charset="0"/>
                          <a:cs typeface="Courier New" panose="02070309020205020404" pitchFamily="49" charset="0"/>
                        </a:rPr>
                        <a:t>11111111.11111111.11111111</a:t>
                      </a:r>
                      <a:r>
                        <a:rPr lang="ru-RU" sz="1100" b="0">
                          <a:effectLst/>
                          <a:latin typeface="Courier New" panose="02070309020205020404" pitchFamily="49" charset="0"/>
                          <a:cs typeface="Courier New" panose="02070309020205020404" pitchFamily="49" charset="0"/>
                        </a:rPr>
                        <a:t>.00000000</a:t>
                      </a:r>
                      <a:r>
                        <a:rPr lang="ru-RU" sz="1100" b="1">
                          <a:effectLst/>
                          <a:latin typeface="Courier New" panose="02070309020205020404" pitchFamily="49" charset="0"/>
                          <a:cs typeface="Courier New" panose="02070309020205020404" pitchFamily="49" charset="0"/>
                        </a:rPr>
                        <a:t> </a:t>
                      </a:r>
                    </a:p>
                  </a:txBody>
                  <a:tcPr marL="31750" marR="31750" marT="31750" marB="31750" anchor="ctr"/>
                </a:tc>
                <a:tc>
                  <a:txBody>
                    <a:bodyPr/>
                    <a:lstStyle/>
                    <a:p>
                      <a:pPr rtl="0" fontAlgn="ctr"/>
                      <a:r>
                        <a:rPr lang="ru-RU" sz="1000" b="0">
                          <a:effectLst/>
                        </a:rPr>
                        <a:t>254</a:t>
                      </a:r>
                    </a:p>
                  </a:txBody>
                  <a:tcPr marL="31750" marR="31750" marT="31750" marB="31750" anchor="ctr"/>
                </a:tc>
                <a:extLst>
                  <a:ext uri="{0D108BD9-81ED-4DB2-BD59-A6C34878D82A}">
                    <a16:rowId xmlns:a16="http://schemas.microsoft.com/office/drawing/2014/main" val="2444667633"/>
                  </a:ext>
                </a:extLst>
              </a:tr>
            </a:tbl>
          </a:graphicData>
        </a:graphic>
      </p:graphicFrame>
    </p:spTree>
    <p:extLst>
      <p:ext uri="{BB962C8B-B14F-4D97-AF65-F5344CB8AC3E}">
        <p14:creationId xmlns:p14="http://schemas.microsoft.com/office/powerpoint/2010/main" val="3820377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Разделение на подсети IPv4-сети</a:t>
            </a:r>
            <a:br>
              <a:rPr lang="en-US" dirty="0"/>
            </a:br>
            <a:r>
              <a:rPr lang="ru-RU" sz="2400"/>
              <a:t> Разделение на подсети на границе октетов (продолжение)</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0" y="731838"/>
            <a:ext cx="9144000" cy="438442"/>
          </a:xfrm>
        </p:spPr>
        <p:txBody>
          <a:bodyPr/>
          <a:lstStyle/>
          <a:p>
            <a:pPr marL="342900" indent="-342900" algn="l" rtl="0">
              <a:buFont typeface="Arial" panose="020B0604020202020204" pitchFamily="34" charset="0"/>
              <a:buChar char="•"/>
            </a:pPr>
            <a:r>
              <a:rPr lang="ru-RU" sz="1600" dirty="0">
                <a:solidFill>
                  <a:srgbClr val="000000"/>
                </a:solidFill>
              </a:rPr>
              <a:t>В первой таблице 10.0.0.0/8 подсети используется /16, а во второй таблице - маска /24.</a:t>
            </a:r>
          </a:p>
        </p:txBody>
      </p:sp>
      <p:graphicFrame>
        <p:nvGraphicFramePr>
          <p:cNvPr id="2" name="Table 1">
            <a:extLst>
              <a:ext uri="{FF2B5EF4-FFF2-40B4-BE49-F238E27FC236}">
                <a16:creationId xmlns:a16="http://schemas.microsoft.com/office/drawing/2014/main" id="{61270C55-FA5F-44D6-BE83-71DEA8A80121}"/>
              </a:ext>
            </a:extLst>
          </p:cNvPr>
          <p:cNvGraphicFramePr>
            <a:graphicFrameLocks noGrp="1"/>
          </p:cNvGraphicFramePr>
          <p:nvPr>
            <p:extLst>
              <p:ext uri="{D42A27DB-BD31-4B8C-83A1-F6EECF244321}">
                <p14:modId xmlns:p14="http://schemas.microsoft.com/office/powerpoint/2010/main" val="440006946"/>
              </p:ext>
            </p:extLst>
          </p:nvPr>
        </p:nvGraphicFramePr>
        <p:xfrm>
          <a:off x="457200" y="1246211"/>
          <a:ext cx="3870960" cy="3435080"/>
        </p:xfrm>
        <a:graphic>
          <a:graphicData uri="http://schemas.openxmlformats.org/drawingml/2006/table">
            <a:tbl>
              <a:tblPr firstRow="1" bandRow="1">
                <a:tableStyleId>{5C22544A-7EE6-4342-B048-85BDC9FD1C3A}</a:tableStyleId>
              </a:tblPr>
              <a:tblGrid>
                <a:gridCol w="1116314">
                  <a:extLst>
                    <a:ext uri="{9D8B030D-6E8A-4147-A177-3AD203B41FA5}">
                      <a16:colId xmlns:a16="http://schemas.microsoft.com/office/drawing/2014/main" val="1832368472"/>
                    </a:ext>
                  </a:extLst>
                </a:gridCol>
                <a:gridCol w="1741186">
                  <a:extLst>
                    <a:ext uri="{9D8B030D-6E8A-4147-A177-3AD203B41FA5}">
                      <a16:colId xmlns:a16="http://schemas.microsoft.com/office/drawing/2014/main" val="3133033927"/>
                    </a:ext>
                  </a:extLst>
                </a:gridCol>
                <a:gridCol w="1013460">
                  <a:extLst>
                    <a:ext uri="{9D8B030D-6E8A-4147-A177-3AD203B41FA5}">
                      <a16:colId xmlns:a16="http://schemas.microsoft.com/office/drawing/2014/main" val="1854765229"/>
                    </a:ext>
                  </a:extLst>
                </a:gridCol>
              </a:tblGrid>
              <a:tr h="409211">
                <a:tc>
                  <a:txBody>
                    <a:bodyPr/>
                    <a:lstStyle/>
                    <a:p>
                      <a:pPr algn="l" rtl="0" fontAlgn="ctr"/>
                      <a:r>
                        <a:rPr lang="ru-RU" sz="1000" b="1">
                          <a:effectLst/>
                        </a:rPr>
                        <a:t>Адрес подсети </a:t>
                      </a:r>
                      <a:br>
                        <a:rPr lang="en-CA" sz="1000" b="1" dirty="0">
                          <a:effectLst/>
                        </a:rPr>
                      </a:br>
                      <a:r>
                        <a:rPr lang="ru-RU" sz="1000" b="0">
                          <a:effectLst/>
                        </a:rPr>
                        <a:t>(256 возможных подсетей)</a:t>
                      </a:r>
                    </a:p>
                  </a:txBody>
                  <a:tcPr marL="31750" marR="31750" marT="31750" marB="31750" anchor="ctr"/>
                </a:tc>
                <a:tc>
                  <a:txBody>
                    <a:bodyPr/>
                    <a:lstStyle/>
                    <a:p>
                      <a:pPr algn="l" rtl="0" fontAlgn="ctr"/>
                      <a:r>
                        <a:rPr lang="ru-RU" sz="1000" b="1">
                          <a:effectLst/>
                        </a:rPr>
                        <a:t>Диапазон хостов </a:t>
                      </a:r>
                      <a:br>
                        <a:rPr lang="en-CA" sz="1000" b="1" dirty="0">
                          <a:effectLst/>
                        </a:rPr>
                      </a:br>
                      <a:r>
                        <a:rPr lang="ru-RU" sz="1000" b="0">
                          <a:effectLst/>
                        </a:rPr>
                        <a:t>(65 534 возможных хоста в каждой подсети)</a:t>
                      </a:r>
                    </a:p>
                  </a:txBody>
                  <a:tcPr marL="31750" marR="31750" marT="31750" marB="31750" anchor="ctr"/>
                </a:tc>
                <a:tc>
                  <a:txBody>
                    <a:bodyPr/>
                    <a:lstStyle/>
                    <a:p>
                      <a:pPr algn="l" rtl="0" fontAlgn="ctr"/>
                      <a:r>
                        <a:rPr lang="ru-RU" sz="1000" b="1">
                          <a:effectLst/>
                        </a:rPr>
                        <a:t>Широковещательная рассылка</a:t>
                      </a:r>
                    </a:p>
                  </a:txBody>
                  <a:tcPr marL="31750" marR="31750" marT="31750" marB="31750" anchor="ctr"/>
                </a:tc>
                <a:extLst>
                  <a:ext uri="{0D108BD9-81ED-4DB2-BD59-A6C34878D82A}">
                    <a16:rowId xmlns:a16="http://schemas.microsoft.com/office/drawing/2014/main" val="3621925027"/>
                  </a:ext>
                </a:extLst>
              </a:tr>
              <a:tr h="291438">
                <a:tc>
                  <a:txBody>
                    <a:bodyPr/>
                    <a:lstStyle/>
                    <a:p>
                      <a:pPr rtl="0" fontAlgn="ctr"/>
                      <a:r>
                        <a:rPr lang="ru-RU" sz="1000" b="1">
                          <a:effectLst/>
                        </a:rPr>
                        <a:t>10,0</a:t>
                      </a:r>
                      <a:r>
                        <a:rPr lang="ru-RU" sz="1000" b="0">
                          <a:effectLst/>
                        </a:rPr>
                        <a:t>.0,0</a:t>
                      </a:r>
                      <a:r>
                        <a:rPr lang="ru-RU" sz="1000" b="1">
                          <a:effectLst/>
                        </a:rPr>
                        <a:t>/16</a:t>
                      </a:r>
                    </a:p>
                  </a:txBody>
                  <a:tcPr marL="31750" marR="31750" marT="31750" marB="31750" anchor="ctr"/>
                </a:tc>
                <a:tc>
                  <a:txBody>
                    <a:bodyPr/>
                    <a:lstStyle/>
                    <a:p>
                      <a:pPr rtl="0" fontAlgn="ctr"/>
                      <a:r>
                        <a:rPr lang="ru-RU" sz="1000" b="1">
                          <a:effectLst/>
                        </a:rPr>
                        <a:t>10,0</a:t>
                      </a:r>
                      <a:r>
                        <a:rPr lang="ru-RU" sz="1000" b="0">
                          <a:effectLst/>
                        </a:rPr>
                        <a:t>.0.1 - </a:t>
                      </a:r>
                      <a:r>
                        <a:rPr lang="ru-RU" sz="1000" b="1">
                          <a:effectLst/>
                        </a:rPr>
                        <a:t>10,0</a:t>
                      </a:r>
                      <a:r>
                        <a:rPr lang="ru-RU" sz="1000" b="0">
                          <a:effectLst/>
                        </a:rPr>
                        <a:t>.255,254 </a:t>
                      </a:r>
                    </a:p>
                  </a:txBody>
                  <a:tcPr marL="31750" marR="31750" marT="31750" marB="31750" anchor="ctr"/>
                </a:tc>
                <a:tc>
                  <a:txBody>
                    <a:bodyPr/>
                    <a:lstStyle/>
                    <a:p>
                      <a:pPr rtl="0" fontAlgn="ctr"/>
                      <a:r>
                        <a:rPr lang="ru-RU" sz="1000" b="1">
                          <a:effectLst/>
                        </a:rPr>
                        <a:t>10,0</a:t>
                      </a:r>
                      <a:r>
                        <a:rPr lang="ru-RU" sz="1000" b="0">
                          <a:effectLst/>
                        </a:rPr>
                        <a:t>.255,255</a:t>
                      </a:r>
                    </a:p>
                  </a:txBody>
                  <a:tcPr marL="31750" marR="31750" marT="31750" marB="31750" anchor="ctr"/>
                </a:tc>
                <a:extLst>
                  <a:ext uri="{0D108BD9-81ED-4DB2-BD59-A6C34878D82A}">
                    <a16:rowId xmlns:a16="http://schemas.microsoft.com/office/drawing/2014/main" val="2643493669"/>
                  </a:ext>
                </a:extLst>
              </a:tr>
              <a:tr h="291438">
                <a:tc>
                  <a:txBody>
                    <a:bodyPr/>
                    <a:lstStyle/>
                    <a:p>
                      <a:pPr rtl="0" fontAlgn="ctr"/>
                      <a:r>
                        <a:rPr lang="ru-RU" sz="1000" b="1">
                          <a:effectLst/>
                        </a:rPr>
                        <a:t>10.1.</a:t>
                      </a:r>
                      <a:r>
                        <a:rPr lang="ru-RU" sz="1000" b="0">
                          <a:effectLst/>
                        </a:rPr>
                        <a:t>0,0</a:t>
                      </a:r>
                      <a:r>
                        <a:rPr lang="ru-RU" sz="1000" b="1">
                          <a:effectLst/>
                        </a:rPr>
                        <a:t>/16</a:t>
                      </a:r>
                    </a:p>
                  </a:txBody>
                  <a:tcPr marL="31750" marR="31750" marT="31750" marB="31750" anchor="ctr"/>
                </a:tc>
                <a:tc>
                  <a:txBody>
                    <a:bodyPr/>
                    <a:lstStyle/>
                    <a:p>
                      <a:pPr rtl="0" fontAlgn="ctr"/>
                      <a:r>
                        <a:rPr lang="ru-RU" sz="1000" b="1">
                          <a:effectLst/>
                        </a:rPr>
                        <a:t>10.1</a:t>
                      </a:r>
                      <a:r>
                        <a:rPr lang="ru-RU" sz="1000" b="0">
                          <a:effectLst/>
                        </a:rPr>
                        <a:t>.0.1 - </a:t>
                      </a:r>
                      <a:r>
                        <a:rPr lang="ru-RU" sz="1000" b="1">
                          <a:effectLst/>
                        </a:rPr>
                        <a:t>10,1</a:t>
                      </a:r>
                      <a:r>
                        <a:rPr lang="ru-RU" sz="1000" b="0">
                          <a:effectLst/>
                        </a:rPr>
                        <a:t>.255,254 </a:t>
                      </a:r>
                    </a:p>
                  </a:txBody>
                  <a:tcPr marL="31750" marR="31750" marT="31750" marB="31750" anchor="ctr"/>
                </a:tc>
                <a:tc>
                  <a:txBody>
                    <a:bodyPr/>
                    <a:lstStyle/>
                    <a:p>
                      <a:pPr rtl="0" fontAlgn="ctr"/>
                      <a:r>
                        <a:rPr lang="ru-RU" sz="1000" b="1">
                          <a:effectLst/>
                        </a:rPr>
                        <a:t>10.1</a:t>
                      </a:r>
                      <a:r>
                        <a:rPr lang="ru-RU" sz="1000" b="0">
                          <a:effectLst/>
                        </a:rPr>
                        <a:t>.255,255</a:t>
                      </a:r>
                    </a:p>
                  </a:txBody>
                  <a:tcPr marL="31750" marR="31750" marT="31750" marB="31750" anchor="ctr"/>
                </a:tc>
                <a:extLst>
                  <a:ext uri="{0D108BD9-81ED-4DB2-BD59-A6C34878D82A}">
                    <a16:rowId xmlns:a16="http://schemas.microsoft.com/office/drawing/2014/main" val="1459356146"/>
                  </a:ext>
                </a:extLst>
              </a:tr>
              <a:tr h="291438">
                <a:tc>
                  <a:txBody>
                    <a:bodyPr/>
                    <a:lstStyle/>
                    <a:p>
                      <a:pPr rtl="0" fontAlgn="ctr"/>
                      <a:r>
                        <a:rPr lang="ru-RU" sz="1000" b="1">
                          <a:effectLst/>
                        </a:rPr>
                        <a:t>10,2</a:t>
                      </a:r>
                      <a:r>
                        <a:rPr lang="ru-RU" sz="1000" b="0">
                          <a:effectLst/>
                        </a:rPr>
                        <a:t>.0,0</a:t>
                      </a:r>
                      <a:r>
                        <a:rPr lang="ru-RU" sz="1000" b="1">
                          <a:effectLst/>
                        </a:rPr>
                        <a:t>/16</a:t>
                      </a:r>
                    </a:p>
                  </a:txBody>
                  <a:tcPr marL="31750" marR="31750" marT="31750" marB="31750" anchor="ctr"/>
                </a:tc>
                <a:tc>
                  <a:txBody>
                    <a:bodyPr/>
                    <a:lstStyle/>
                    <a:p>
                      <a:pPr rtl="0" fontAlgn="ctr"/>
                      <a:r>
                        <a:rPr lang="ru-RU" sz="1000" b="1">
                          <a:effectLst/>
                        </a:rPr>
                        <a:t>10,2</a:t>
                      </a:r>
                      <a:r>
                        <a:rPr lang="ru-RU" sz="1000" b="0">
                          <a:effectLst/>
                        </a:rPr>
                        <a:t>.0.1 - </a:t>
                      </a:r>
                      <a:r>
                        <a:rPr lang="ru-RU" sz="1000" b="1">
                          <a:effectLst/>
                        </a:rPr>
                        <a:t>10,2</a:t>
                      </a:r>
                      <a:r>
                        <a:rPr lang="ru-RU" sz="1000" b="0">
                          <a:effectLst/>
                        </a:rPr>
                        <a:t>.255,254 </a:t>
                      </a:r>
                    </a:p>
                  </a:txBody>
                  <a:tcPr marL="31750" marR="31750" marT="31750" marB="31750" anchor="ctr"/>
                </a:tc>
                <a:tc>
                  <a:txBody>
                    <a:bodyPr/>
                    <a:lstStyle/>
                    <a:p>
                      <a:pPr rtl="0" fontAlgn="ctr"/>
                      <a:r>
                        <a:rPr lang="ru-RU" sz="1000" b="1">
                          <a:effectLst/>
                        </a:rPr>
                        <a:t>10,2</a:t>
                      </a:r>
                      <a:r>
                        <a:rPr lang="ru-RU" sz="1000" b="0">
                          <a:effectLst/>
                        </a:rPr>
                        <a:t>.255,255</a:t>
                      </a:r>
                    </a:p>
                  </a:txBody>
                  <a:tcPr marL="31750" marR="31750" marT="31750" marB="31750" anchor="ctr"/>
                </a:tc>
                <a:extLst>
                  <a:ext uri="{0D108BD9-81ED-4DB2-BD59-A6C34878D82A}">
                    <a16:rowId xmlns:a16="http://schemas.microsoft.com/office/drawing/2014/main" val="417579166"/>
                  </a:ext>
                </a:extLst>
              </a:tr>
              <a:tr h="291438">
                <a:tc>
                  <a:txBody>
                    <a:bodyPr/>
                    <a:lstStyle/>
                    <a:p>
                      <a:pPr rtl="0" fontAlgn="ctr"/>
                      <a:r>
                        <a:rPr lang="ru-RU" sz="1000" b="1">
                          <a:effectLst/>
                        </a:rPr>
                        <a:t>10,3</a:t>
                      </a:r>
                      <a:r>
                        <a:rPr lang="ru-RU" sz="1000" b="0">
                          <a:effectLst/>
                        </a:rPr>
                        <a:t>.0,0</a:t>
                      </a:r>
                      <a:r>
                        <a:rPr lang="ru-RU" sz="1000" b="1">
                          <a:effectLst/>
                        </a:rPr>
                        <a:t>/16</a:t>
                      </a:r>
                    </a:p>
                  </a:txBody>
                  <a:tcPr marL="31750" marR="31750" marT="31750" marB="31750" anchor="ctr"/>
                </a:tc>
                <a:tc>
                  <a:txBody>
                    <a:bodyPr/>
                    <a:lstStyle/>
                    <a:p>
                      <a:pPr rtl="0" fontAlgn="ctr"/>
                      <a:r>
                        <a:rPr lang="ru-RU" sz="1000" b="1">
                          <a:effectLst/>
                        </a:rPr>
                        <a:t>10.3</a:t>
                      </a:r>
                      <a:r>
                        <a:rPr lang="ru-RU" sz="1000" b="0">
                          <a:effectLst/>
                        </a:rPr>
                        <a:t>.0.1 - </a:t>
                      </a:r>
                      <a:r>
                        <a:rPr lang="ru-RU" sz="1000" b="1">
                          <a:effectLst/>
                        </a:rPr>
                        <a:t>10.3</a:t>
                      </a:r>
                      <a:r>
                        <a:rPr lang="ru-RU" sz="1000" b="0">
                          <a:effectLst/>
                        </a:rPr>
                        <a:t>.255.254 </a:t>
                      </a:r>
                    </a:p>
                  </a:txBody>
                  <a:tcPr marL="31750" marR="31750" marT="31750" marB="31750" anchor="ctr"/>
                </a:tc>
                <a:tc>
                  <a:txBody>
                    <a:bodyPr/>
                    <a:lstStyle/>
                    <a:p>
                      <a:pPr rtl="0" fontAlgn="ctr"/>
                      <a:r>
                        <a:rPr lang="ru-RU" sz="1000" b="1">
                          <a:effectLst/>
                        </a:rPr>
                        <a:t>10.3</a:t>
                      </a:r>
                      <a:r>
                        <a:rPr lang="ru-RU" sz="1000" b="0">
                          <a:effectLst/>
                        </a:rPr>
                        <a:t>.255.255</a:t>
                      </a:r>
                      <a:r>
                        <a:rPr lang="ru-RU" sz="1000" b="1">
                          <a:effectLst/>
                        </a:rPr>
                        <a:t>.</a:t>
                      </a:r>
                    </a:p>
                  </a:txBody>
                  <a:tcPr marL="31750" marR="31750" marT="31750" marB="31750" anchor="ctr"/>
                </a:tc>
                <a:extLst>
                  <a:ext uri="{0D108BD9-81ED-4DB2-BD59-A6C34878D82A}">
                    <a16:rowId xmlns:a16="http://schemas.microsoft.com/office/drawing/2014/main" val="1246693201"/>
                  </a:ext>
                </a:extLst>
              </a:tr>
              <a:tr h="291438">
                <a:tc>
                  <a:txBody>
                    <a:bodyPr/>
                    <a:lstStyle/>
                    <a:p>
                      <a:pPr rtl="0" fontAlgn="ctr"/>
                      <a:r>
                        <a:rPr lang="ru-RU" sz="1000" b="1">
                          <a:effectLst/>
                        </a:rPr>
                        <a:t>10.4</a:t>
                      </a:r>
                      <a:r>
                        <a:rPr lang="ru-RU" sz="1000" b="0">
                          <a:effectLst/>
                        </a:rPr>
                        <a:t>.0.0</a:t>
                      </a:r>
                      <a:r>
                        <a:rPr lang="ru-RU" sz="1000" b="1">
                          <a:effectLst/>
                        </a:rPr>
                        <a:t>/16</a:t>
                      </a:r>
                    </a:p>
                  </a:txBody>
                  <a:tcPr marL="31750" marR="31750" marT="31750" marB="31750" anchor="ctr"/>
                </a:tc>
                <a:tc>
                  <a:txBody>
                    <a:bodyPr/>
                    <a:lstStyle/>
                    <a:p>
                      <a:pPr rtl="0" fontAlgn="ctr"/>
                      <a:r>
                        <a:rPr lang="ru-RU" sz="1000" b="1">
                          <a:effectLst/>
                        </a:rPr>
                        <a:t>10.4</a:t>
                      </a:r>
                      <a:r>
                        <a:rPr lang="ru-RU" sz="1000" b="0">
                          <a:effectLst/>
                        </a:rPr>
                        <a:t>.0.1 - </a:t>
                      </a:r>
                      <a:r>
                        <a:rPr lang="ru-RU" sz="1000" b="1">
                          <a:effectLst/>
                        </a:rPr>
                        <a:t>10,4</a:t>
                      </a:r>
                      <a:r>
                        <a:rPr lang="ru-RU" sz="1000" b="0">
                          <a:effectLst/>
                        </a:rPr>
                        <a:t>.255.254 </a:t>
                      </a:r>
                    </a:p>
                  </a:txBody>
                  <a:tcPr marL="31750" marR="31750" marT="31750" marB="31750" anchor="ctr"/>
                </a:tc>
                <a:tc>
                  <a:txBody>
                    <a:bodyPr/>
                    <a:lstStyle/>
                    <a:p>
                      <a:pPr rtl="0" fontAlgn="ctr"/>
                      <a:r>
                        <a:rPr lang="ru-RU" sz="1000" b="1">
                          <a:effectLst/>
                        </a:rPr>
                        <a:t>10.4</a:t>
                      </a:r>
                      <a:r>
                        <a:rPr lang="ru-RU" sz="1000" b="0">
                          <a:effectLst/>
                        </a:rPr>
                        <a:t>.255.255</a:t>
                      </a:r>
                    </a:p>
                  </a:txBody>
                  <a:tcPr marL="31750" marR="31750" marT="31750" marB="31750" anchor="ctr"/>
                </a:tc>
                <a:extLst>
                  <a:ext uri="{0D108BD9-81ED-4DB2-BD59-A6C34878D82A}">
                    <a16:rowId xmlns:a16="http://schemas.microsoft.com/office/drawing/2014/main" val="1260802008"/>
                  </a:ext>
                </a:extLst>
              </a:tr>
              <a:tr h="291438">
                <a:tc>
                  <a:txBody>
                    <a:bodyPr/>
                    <a:lstStyle/>
                    <a:p>
                      <a:pPr rtl="0" fontAlgn="ctr"/>
                      <a:r>
                        <a:rPr lang="ru-RU" sz="1000" b="1">
                          <a:effectLst/>
                        </a:rPr>
                        <a:t>10.5</a:t>
                      </a:r>
                      <a:r>
                        <a:rPr lang="ru-RU" sz="1000" b="0">
                          <a:effectLst/>
                        </a:rPr>
                        <a:t>.0.0</a:t>
                      </a:r>
                      <a:r>
                        <a:rPr lang="ru-RU" sz="1000" b="1">
                          <a:effectLst/>
                        </a:rPr>
                        <a:t>/16</a:t>
                      </a:r>
                    </a:p>
                  </a:txBody>
                  <a:tcPr marL="31750" marR="31750" marT="31750" marB="31750" anchor="ctr"/>
                </a:tc>
                <a:tc>
                  <a:txBody>
                    <a:bodyPr/>
                    <a:lstStyle/>
                    <a:p>
                      <a:pPr rtl="0" fontAlgn="ctr"/>
                      <a:r>
                        <a:rPr lang="ru-RU" sz="1000" b="1">
                          <a:effectLst/>
                        </a:rPr>
                        <a:t>10.5</a:t>
                      </a:r>
                      <a:r>
                        <a:rPr lang="ru-RU" sz="1000" b="0">
                          <a:effectLst/>
                        </a:rPr>
                        <a:t>.0.1 - </a:t>
                      </a:r>
                      <a:r>
                        <a:rPr lang="ru-RU" sz="1000" b="1">
                          <a:effectLst/>
                        </a:rPr>
                        <a:t>10.5</a:t>
                      </a:r>
                      <a:r>
                        <a:rPr lang="ru-RU" sz="1000" b="0">
                          <a:effectLst/>
                        </a:rPr>
                        <a:t>.255.254 </a:t>
                      </a:r>
                    </a:p>
                  </a:txBody>
                  <a:tcPr marL="31750" marR="31750" marT="31750" marB="31750" anchor="ctr"/>
                </a:tc>
                <a:tc>
                  <a:txBody>
                    <a:bodyPr/>
                    <a:lstStyle/>
                    <a:p>
                      <a:pPr rtl="0" fontAlgn="ctr"/>
                      <a:r>
                        <a:rPr lang="ru-RU" sz="1000" b="1">
                          <a:effectLst/>
                        </a:rPr>
                        <a:t>10.5</a:t>
                      </a:r>
                      <a:r>
                        <a:rPr lang="ru-RU" sz="1000" b="0">
                          <a:effectLst/>
                        </a:rPr>
                        <a:t>.255.255</a:t>
                      </a:r>
                    </a:p>
                  </a:txBody>
                  <a:tcPr marL="31750" marR="31750" marT="31750" marB="31750" anchor="ctr"/>
                </a:tc>
                <a:extLst>
                  <a:ext uri="{0D108BD9-81ED-4DB2-BD59-A6C34878D82A}">
                    <a16:rowId xmlns:a16="http://schemas.microsoft.com/office/drawing/2014/main" val="1140251696"/>
                  </a:ext>
                </a:extLst>
              </a:tr>
              <a:tr h="291438">
                <a:tc>
                  <a:txBody>
                    <a:bodyPr/>
                    <a:lstStyle/>
                    <a:p>
                      <a:pPr rtl="0" fontAlgn="ctr"/>
                      <a:r>
                        <a:rPr lang="ru-RU" sz="1000" b="1">
                          <a:effectLst/>
                        </a:rPr>
                        <a:t>10.6</a:t>
                      </a:r>
                      <a:r>
                        <a:rPr lang="ru-RU" sz="1000" b="0">
                          <a:effectLst/>
                        </a:rPr>
                        <a:t>.0.0</a:t>
                      </a:r>
                      <a:r>
                        <a:rPr lang="ru-RU" sz="1000" b="1">
                          <a:effectLst/>
                        </a:rPr>
                        <a:t>/16</a:t>
                      </a:r>
                    </a:p>
                  </a:txBody>
                  <a:tcPr marL="31750" marR="31750" marT="31750" marB="31750" anchor="ctr"/>
                </a:tc>
                <a:tc>
                  <a:txBody>
                    <a:bodyPr/>
                    <a:lstStyle/>
                    <a:p>
                      <a:pPr rtl="0" fontAlgn="ctr"/>
                      <a:r>
                        <a:rPr lang="ru-RU" sz="1000" b="1">
                          <a:effectLst/>
                        </a:rPr>
                        <a:t>10.6</a:t>
                      </a:r>
                      <a:r>
                        <a:rPr lang="ru-RU" sz="1000" b="0">
                          <a:effectLst/>
                        </a:rPr>
                        <a:t>.0.1 - </a:t>
                      </a:r>
                      <a:r>
                        <a:rPr lang="ru-RU" sz="1000" b="1">
                          <a:effectLst/>
                        </a:rPr>
                        <a:t>10.6</a:t>
                      </a:r>
                      <a:r>
                        <a:rPr lang="ru-RU" sz="1000" b="0">
                          <a:effectLst/>
                        </a:rPr>
                        <a:t>.255.254 </a:t>
                      </a:r>
                    </a:p>
                  </a:txBody>
                  <a:tcPr marL="31750" marR="31750" marT="31750" marB="31750" anchor="ctr"/>
                </a:tc>
                <a:tc>
                  <a:txBody>
                    <a:bodyPr/>
                    <a:lstStyle/>
                    <a:p>
                      <a:pPr rtl="0" fontAlgn="ctr"/>
                      <a:r>
                        <a:rPr lang="ru-RU" sz="1000" b="1">
                          <a:effectLst/>
                        </a:rPr>
                        <a:t>10.6</a:t>
                      </a:r>
                      <a:r>
                        <a:rPr lang="ru-RU" sz="1000" b="0">
                          <a:effectLst/>
                        </a:rPr>
                        <a:t>.255.255</a:t>
                      </a:r>
                    </a:p>
                  </a:txBody>
                  <a:tcPr marL="31750" marR="31750" marT="31750" marB="31750" anchor="ctr"/>
                </a:tc>
                <a:extLst>
                  <a:ext uri="{0D108BD9-81ED-4DB2-BD59-A6C34878D82A}">
                    <a16:rowId xmlns:a16="http://schemas.microsoft.com/office/drawing/2014/main" val="1579384603"/>
                  </a:ext>
                </a:extLst>
              </a:tr>
              <a:tr h="291438">
                <a:tc>
                  <a:txBody>
                    <a:bodyPr/>
                    <a:lstStyle/>
                    <a:p>
                      <a:pPr rtl="0" fontAlgn="ctr"/>
                      <a:r>
                        <a:rPr lang="ru-RU" sz="1000" b="1">
                          <a:effectLst/>
                        </a:rPr>
                        <a:t>10.7</a:t>
                      </a:r>
                      <a:r>
                        <a:rPr lang="ru-RU" sz="1000" b="0">
                          <a:effectLst/>
                        </a:rPr>
                        <a:t>.0.0</a:t>
                      </a:r>
                      <a:r>
                        <a:rPr lang="ru-RU" sz="1000" b="1">
                          <a:effectLst/>
                        </a:rPr>
                        <a:t>/16</a:t>
                      </a:r>
                    </a:p>
                  </a:txBody>
                  <a:tcPr marL="31750" marR="31750" marT="31750" marB="31750" anchor="ctr"/>
                </a:tc>
                <a:tc>
                  <a:txBody>
                    <a:bodyPr/>
                    <a:lstStyle/>
                    <a:p>
                      <a:pPr rtl="0" fontAlgn="ctr"/>
                      <a:r>
                        <a:rPr lang="ru-RU" sz="1000" b="1">
                          <a:effectLst/>
                        </a:rPr>
                        <a:t>107</a:t>
                      </a:r>
                      <a:r>
                        <a:rPr lang="ru-RU" sz="1000" b="0">
                          <a:effectLst/>
                        </a:rPr>
                        <a:t>.0.1 - </a:t>
                      </a:r>
                      <a:r>
                        <a:rPr lang="ru-RU" sz="1000" b="1">
                          <a:effectLst/>
                        </a:rPr>
                        <a:t>10.7</a:t>
                      </a:r>
                      <a:r>
                        <a:rPr lang="ru-RU" sz="1000" b="0">
                          <a:effectLst/>
                        </a:rPr>
                        <a:t>.255.254 </a:t>
                      </a:r>
                    </a:p>
                  </a:txBody>
                  <a:tcPr marL="31750" marR="31750" marT="31750" marB="31750" anchor="ctr"/>
                </a:tc>
                <a:tc>
                  <a:txBody>
                    <a:bodyPr/>
                    <a:lstStyle/>
                    <a:p>
                      <a:pPr rtl="0" fontAlgn="ctr"/>
                      <a:r>
                        <a:rPr lang="ru-RU" sz="1000" b="1">
                          <a:effectLst/>
                        </a:rPr>
                        <a:t>10.7</a:t>
                      </a:r>
                      <a:r>
                        <a:rPr lang="ru-RU" sz="1000" b="0">
                          <a:effectLst/>
                        </a:rPr>
                        <a:t>.255.255</a:t>
                      </a:r>
                    </a:p>
                  </a:txBody>
                  <a:tcPr marL="31750" marR="31750" marT="31750" marB="31750" anchor="ctr"/>
                </a:tc>
                <a:extLst>
                  <a:ext uri="{0D108BD9-81ED-4DB2-BD59-A6C34878D82A}">
                    <a16:rowId xmlns:a16="http://schemas.microsoft.com/office/drawing/2014/main" val="1319694656"/>
                  </a:ext>
                </a:extLst>
              </a:tr>
              <a:tr h="291438">
                <a:tc>
                  <a:txBody>
                    <a:bodyPr/>
                    <a:lstStyle/>
                    <a:p>
                      <a:pPr rtl="0" fontAlgn="ctr"/>
                      <a:r>
                        <a:rPr lang="ru-RU" sz="1000" b="0">
                          <a:effectLst/>
                        </a:rPr>
                        <a:t>...</a:t>
                      </a:r>
                    </a:p>
                  </a:txBody>
                  <a:tcPr marL="31750" marR="31750" marT="31750" marB="31750" anchor="ctr"/>
                </a:tc>
                <a:tc>
                  <a:txBody>
                    <a:bodyPr/>
                    <a:lstStyle/>
                    <a:p>
                      <a:pPr rtl="0" fontAlgn="ctr"/>
                      <a:r>
                        <a:rPr lang="ru-RU" sz="1000" b="0">
                          <a:effectLst/>
                        </a:rPr>
                        <a:t>...</a:t>
                      </a:r>
                    </a:p>
                  </a:txBody>
                  <a:tcPr marL="31750" marR="31750" marT="31750" marB="31750" anchor="ctr"/>
                </a:tc>
                <a:tc>
                  <a:txBody>
                    <a:bodyPr/>
                    <a:lstStyle/>
                    <a:p>
                      <a:pPr rtl="0" fontAlgn="ctr"/>
                      <a:r>
                        <a:rPr lang="ru-RU" sz="1000" b="0">
                          <a:effectLst/>
                        </a:rPr>
                        <a:t>...</a:t>
                      </a:r>
                    </a:p>
                  </a:txBody>
                  <a:tcPr marL="31750" marR="31750" marT="31750" marB="31750" anchor="ctr"/>
                </a:tc>
                <a:extLst>
                  <a:ext uri="{0D108BD9-81ED-4DB2-BD59-A6C34878D82A}">
                    <a16:rowId xmlns:a16="http://schemas.microsoft.com/office/drawing/2014/main" val="3511108504"/>
                  </a:ext>
                </a:extLst>
              </a:tr>
              <a:tr h="291438">
                <a:tc>
                  <a:txBody>
                    <a:bodyPr/>
                    <a:lstStyle/>
                    <a:p>
                      <a:pPr rtl="0" fontAlgn="ctr"/>
                      <a:r>
                        <a:rPr lang="ru-RU" sz="1000" b="1">
                          <a:effectLst/>
                        </a:rPr>
                        <a:t>10.255</a:t>
                      </a:r>
                      <a:r>
                        <a:rPr lang="ru-RU" sz="1000" b="0">
                          <a:effectLst/>
                        </a:rPr>
                        <a:t>.0.0</a:t>
                      </a:r>
                      <a:r>
                        <a:rPr lang="ru-RU" sz="1000" b="1">
                          <a:effectLst/>
                        </a:rPr>
                        <a:t>/16</a:t>
                      </a:r>
                    </a:p>
                  </a:txBody>
                  <a:tcPr marL="31750" marR="31750" marT="31750" marB="31750" anchor="ctr"/>
                </a:tc>
                <a:tc>
                  <a:txBody>
                    <a:bodyPr/>
                    <a:lstStyle/>
                    <a:p>
                      <a:pPr rtl="0" fontAlgn="ctr"/>
                      <a:r>
                        <a:rPr lang="ru-RU" sz="1000" b="1">
                          <a:effectLst/>
                        </a:rPr>
                        <a:t>10.255</a:t>
                      </a:r>
                      <a:r>
                        <a:rPr lang="ru-RU" sz="1000" b="0">
                          <a:effectLst/>
                        </a:rPr>
                        <a:t>.0.1 - </a:t>
                      </a:r>
                      <a:r>
                        <a:rPr lang="ru-RU" sz="1000" b="1">
                          <a:effectLst/>
                        </a:rPr>
                        <a:t>10.255</a:t>
                      </a:r>
                      <a:r>
                        <a:rPr lang="ru-RU" sz="1000" b="0">
                          <a:effectLst/>
                        </a:rPr>
                        <a:t>.255.254</a:t>
                      </a:r>
                    </a:p>
                  </a:txBody>
                  <a:tcPr marL="31750" marR="31750" marT="31750" marB="31750" anchor="ctr"/>
                </a:tc>
                <a:tc>
                  <a:txBody>
                    <a:bodyPr/>
                    <a:lstStyle/>
                    <a:p>
                      <a:pPr rtl="0" fontAlgn="ctr"/>
                      <a:r>
                        <a:rPr lang="ru-RU" sz="1000" b="1">
                          <a:effectLst/>
                        </a:rPr>
                        <a:t>10.255</a:t>
                      </a:r>
                      <a:r>
                        <a:rPr lang="ru-RU" sz="1000" b="0">
                          <a:effectLst/>
                        </a:rPr>
                        <a:t>.255.255</a:t>
                      </a:r>
                    </a:p>
                  </a:txBody>
                  <a:tcPr marL="31750" marR="31750" marT="31750" marB="31750" anchor="ctr"/>
                </a:tc>
                <a:extLst>
                  <a:ext uri="{0D108BD9-81ED-4DB2-BD59-A6C34878D82A}">
                    <a16:rowId xmlns:a16="http://schemas.microsoft.com/office/drawing/2014/main" val="336941723"/>
                  </a:ext>
                </a:extLst>
              </a:tr>
            </a:tbl>
          </a:graphicData>
        </a:graphic>
      </p:graphicFrame>
      <p:graphicFrame>
        <p:nvGraphicFramePr>
          <p:cNvPr id="7" name="Table 6">
            <a:extLst>
              <a:ext uri="{FF2B5EF4-FFF2-40B4-BE49-F238E27FC236}">
                <a16:creationId xmlns:a16="http://schemas.microsoft.com/office/drawing/2014/main" id="{1A119983-4ED6-4A9F-ABB0-451D571C31AD}"/>
              </a:ext>
            </a:extLst>
          </p:cNvPr>
          <p:cNvGraphicFramePr>
            <a:graphicFrameLocks noGrp="1"/>
          </p:cNvGraphicFramePr>
          <p:nvPr>
            <p:extLst>
              <p:ext uri="{D42A27DB-BD31-4B8C-83A1-F6EECF244321}">
                <p14:modId xmlns:p14="http://schemas.microsoft.com/office/powerpoint/2010/main" val="425671318"/>
              </p:ext>
            </p:extLst>
          </p:nvPr>
        </p:nvGraphicFramePr>
        <p:xfrm>
          <a:off x="4671059" y="1246212"/>
          <a:ext cx="4152901" cy="3435608"/>
        </p:xfrm>
        <a:graphic>
          <a:graphicData uri="http://schemas.openxmlformats.org/drawingml/2006/table">
            <a:tbl>
              <a:tblPr firstRow="1" bandRow="1">
                <a:tableStyleId>{5C22544A-7EE6-4342-B048-85BDC9FD1C3A}</a:tableStyleId>
              </a:tblPr>
              <a:tblGrid>
                <a:gridCol w="1197621">
                  <a:extLst>
                    <a:ext uri="{9D8B030D-6E8A-4147-A177-3AD203B41FA5}">
                      <a16:colId xmlns:a16="http://schemas.microsoft.com/office/drawing/2014/main" val="1832368472"/>
                    </a:ext>
                  </a:extLst>
                </a:gridCol>
                <a:gridCol w="1998805">
                  <a:extLst>
                    <a:ext uri="{9D8B030D-6E8A-4147-A177-3AD203B41FA5}">
                      <a16:colId xmlns:a16="http://schemas.microsoft.com/office/drawing/2014/main" val="3133033927"/>
                    </a:ext>
                  </a:extLst>
                </a:gridCol>
                <a:gridCol w="956475">
                  <a:extLst>
                    <a:ext uri="{9D8B030D-6E8A-4147-A177-3AD203B41FA5}">
                      <a16:colId xmlns:a16="http://schemas.microsoft.com/office/drawing/2014/main" val="1854765229"/>
                    </a:ext>
                  </a:extLst>
                </a:gridCol>
              </a:tblGrid>
              <a:tr h="520177">
                <a:tc>
                  <a:txBody>
                    <a:bodyPr/>
                    <a:lstStyle/>
                    <a:p>
                      <a:pPr algn="l" rtl="0" fontAlgn="ctr"/>
                      <a:r>
                        <a:rPr lang="ru-RU" sz="1000" b="1">
                          <a:effectLst/>
                        </a:rPr>
                        <a:t>Адрес подсети </a:t>
                      </a:r>
                      <a:br>
                        <a:rPr lang="en-CA" sz="1000" b="1" dirty="0">
                          <a:effectLst/>
                        </a:rPr>
                      </a:br>
                      <a:r>
                        <a:rPr lang="ru-RU" sz="1000" b="0">
                          <a:effectLst/>
                        </a:rPr>
                        <a:t>(65,536 возможных подсетей)</a:t>
                      </a:r>
                    </a:p>
                  </a:txBody>
                  <a:tcPr marL="31750" marR="31750" marT="31750" marB="31750" anchor="ctr"/>
                </a:tc>
                <a:tc>
                  <a:txBody>
                    <a:bodyPr/>
                    <a:lstStyle/>
                    <a:p>
                      <a:pPr algn="l" rtl="0" fontAlgn="ctr"/>
                      <a:r>
                        <a:rPr lang="ru-RU" sz="1000" b="1">
                          <a:effectLst/>
                        </a:rPr>
                        <a:t>Диапазон узлов </a:t>
                      </a:r>
                      <a:br>
                        <a:rPr lang="en-CA" sz="1000" b="1" dirty="0">
                          <a:effectLst/>
                        </a:rPr>
                      </a:br>
                      <a:r>
                        <a:rPr lang="ru-RU" sz="1000" b="0">
                          <a:effectLst/>
                        </a:rPr>
                        <a:t>(254 возможных узла в каждой подсети)</a:t>
                      </a:r>
                    </a:p>
                  </a:txBody>
                  <a:tcPr marL="31750" marR="31750" marT="31750" marB="31750" anchor="ctr"/>
                </a:tc>
                <a:tc>
                  <a:txBody>
                    <a:bodyPr/>
                    <a:lstStyle/>
                    <a:p>
                      <a:pPr algn="l" rtl="0" fontAlgn="ctr"/>
                      <a:r>
                        <a:rPr lang="ru-RU" sz="1000" b="1">
                          <a:effectLst/>
                        </a:rPr>
                        <a:t>Широковещательная рассылка</a:t>
                      </a:r>
                    </a:p>
                  </a:txBody>
                  <a:tcPr marL="31750" marR="31750" marT="31750" marB="31750" anchor="ctr"/>
                </a:tc>
                <a:extLst>
                  <a:ext uri="{0D108BD9-81ED-4DB2-BD59-A6C34878D82A}">
                    <a16:rowId xmlns:a16="http://schemas.microsoft.com/office/drawing/2014/main" val="3621925027"/>
                  </a:ext>
                </a:extLst>
              </a:tr>
              <a:tr h="242909">
                <a:tc>
                  <a:txBody>
                    <a:bodyPr/>
                    <a:lstStyle/>
                    <a:p>
                      <a:pPr rtl="0" fontAlgn="ctr"/>
                      <a:r>
                        <a:rPr lang="ru-RU" sz="1000" b="1">
                          <a:effectLst/>
                        </a:rPr>
                        <a:t>10.0.0</a:t>
                      </a:r>
                      <a:r>
                        <a:rPr lang="ru-RU" sz="1000" b="0">
                          <a:effectLst/>
                        </a:rPr>
                        <a:t>.0</a:t>
                      </a:r>
                      <a:r>
                        <a:rPr lang="ru-RU" sz="1000" b="1">
                          <a:effectLst/>
                        </a:rPr>
                        <a:t>/24</a:t>
                      </a:r>
                    </a:p>
                  </a:txBody>
                  <a:tcPr marL="31750" marR="31750" marT="31750" marB="31750" anchor="ctr"/>
                </a:tc>
                <a:tc>
                  <a:txBody>
                    <a:bodyPr/>
                    <a:lstStyle/>
                    <a:p>
                      <a:pPr rtl="0" fontAlgn="ctr"/>
                      <a:r>
                        <a:rPr lang="ru-RU" sz="1000" b="1">
                          <a:effectLst/>
                        </a:rPr>
                        <a:t>10.0.0</a:t>
                      </a:r>
                      <a:r>
                        <a:rPr lang="ru-RU" sz="1000" b="0">
                          <a:effectLst/>
                        </a:rPr>
                        <a:t>.1 - </a:t>
                      </a:r>
                      <a:r>
                        <a:rPr lang="ru-RU" sz="1000" b="1">
                          <a:effectLst/>
                        </a:rPr>
                        <a:t>10.0.0</a:t>
                      </a:r>
                      <a:r>
                        <a:rPr lang="ru-RU" sz="1000" b="0">
                          <a:effectLst/>
                        </a:rPr>
                        <a:t>.254</a:t>
                      </a:r>
                    </a:p>
                  </a:txBody>
                  <a:tcPr marL="31750" marR="31750" marT="31750" marB="31750" anchor="ctr"/>
                </a:tc>
                <a:tc>
                  <a:txBody>
                    <a:bodyPr/>
                    <a:lstStyle/>
                    <a:p>
                      <a:pPr rtl="0" fontAlgn="ctr"/>
                      <a:r>
                        <a:rPr lang="ru-RU" sz="1000" b="1">
                          <a:effectLst/>
                        </a:rPr>
                        <a:t>10.0.0</a:t>
                      </a:r>
                      <a:r>
                        <a:rPr lang="ru-RU" sz="1000" b="0">
                          <a:effectLst/>
                        </a:rPr>
                        <a:t>.255</a:t>
                      </a:r>
                    </a:p>
                  </a:txBody>
                  <a:tcPr marL="31750" marR="31750" marT="31750" marB="31750" anchor="ctr"/>
                </a:tc>
                <a:extLst>
                  <a:ext uri="{0D108BD9-81ED-4DB2-BD59-A6C34878D82A}">
                    <a16:rowId xmlns:a16="http://schemas.microsoft.com/office/drawing/2014/main" val="1648350670"/>
                  </a:ext>
                </a:extLst>
              </a:tr>
              <a:tr h="242909">
                <a:tc>
                  <a:txBody>
                    <a:bodyPr/>
                    <a:lstStyle/>
                    <a:p>
                      <a:pPr rtl="0" fontAlgn="ctr"/>
                      <a:r>
                        <a:rPr lang="ru-RU" sz="1000" b="1">
                          <a:effectLst/>
                        </a:rPr>
                        <a:t>10.0.1</a:t>
                      </a:r>
                      <a:r>
                        <a:rPr lang="ru-RU" sz="1000" b="0">
                          <a:effectLst/>
                        </a:rPr>
                        <a:t>.0</a:t>
                      </a:r>
                      <a:r>
                        <a:rPr lang="ru-RU" sz="1000" b="1">
                          <a:effectLst/>
                        </a:rPr>
                        <a:t>/24</a:t>
                      </a:r>
                    </a:p>
                  </a:txBody>
                  <a:tcPr marL="31750" marR="31750" marT="31750" marB="31750" anchor="ctr"/>
                </a:tc>
                <a:tc>
                  <a:txBody>
                    <a:bodyPr/>
                    <a:lstStyle/>
                    <a:p>
                      <a:pPr rtl="0" fontAlgn="ctr"/>
                      <a:r>
                        <a:rPr lang="ru-RU" sz="1000" b="0">
                          <a:effectLst/>
                        </a:rPr>
                        <a:t>10.0.1 - </a:t>
                      </a:r>
                      <a:r>
                        <a:rPr lang="ru-RU" sz="1000" b="1">
                          <a:effectLst/>
                        </a:rPr>
                        <a:t>10.0.1</a:t>
                      </a:r>
                      <a:r>
                        <a:rPr lang="ru-RU" sz="1000" b="0">
                          <a:effectLst/>
                        </a:rPr>
                        <a:t>.254 </a:t>
                      </a:r>
                    </a:p>
                  </a:txBody>
                  <a:tcPr marL="31750" marR="31750" marT="31750" marB="31750" anchor="ctr"/>
                </a:tc>
                <a:tc>
                  <a:txBody>
                    <a:bodyPr/>
                    <a:lstStyle/>
                    <a:p>
                      <a:pPr rtl="0" fontAlgn="ctr"/>
                      <a:r>
                        <a:rPr lang="ru-RU" sz="1000" b="1">
                          <a:effectLst/>
                        </a:rPr>
                        <a:t>10.0.1</a:t>
                      </a:r>
                      <a:r>
                        <a:rPr lang="ru-RU" sz="1000" b="0">
                          <a:effectLst/>
                        </a:rPr>
                        <a:t>.255</a:t>
                      </a:r>
                    </a:p>
                  </a:txBody>
                  <a:tcPr marL="31750" marR="31750" marT="31750" marB="31750" anchor="ctr"/>
                </a:tc>
                <a:extLst>
                  <a:ext uri="{0D108BD9-81ED-4DB2-BD59-A6C34878D82A}">
                    <a16:rowId xmlns:a16="http://schemas.microsoft.com/office/drawing/2014/main" val="2838933585"/>
                  </a:ext>
                </a:extLst>
              </a:tr>
              <a:tr h="242909">
                <a:tc>
                  <a:txBody>
                    <a:bodyPr/>
                    <a:lstStyle/>
                    <a:p>
                      <a:pPr rtl="0" fontAlgn="ctr"/>
                      <a:r>
                        <a:rPr lang="ru-RU" sz="1000" b="1">
                          <a:effectLst/>
                        </a:rPr>
                        <a:t>10.0.2</a:t>
                      </a:r>
                      <a:r>
                        <a:rPr lang="ru-RU" sz="1000" b="0">
                          <a:effectLst/>
                        </a:rPr>
                        <a:t>.0</a:t>
                      </a:r>
                      <a:r>
                        <a:rPr lang="ru-RU" sz="1000" b="1">
                          <a:effectLst/>
                        </a:rPr>
                        <a:t>/24</a:t>
                      </a:r>
                    </a:p>
                  </a:txBody>
                  <a:tcPr marL="31750" marR="31750" marT="31750" marB="31750" anchor="ctr"/>
                </a:tc>
                <a:tc>
                  <a:txBody>
                    <a:bodyPr/>
                    <a:lstStyle/>
                    <a:p>
                      <a:pPr rtl="0" fontAlgn="ctr"/>
                      <a:r>
                        <a:rPr lang="ru-RU" sz="1000" b="1">
                          <a:effectLst/>
                        </a:rPr>
                        <a:t>10.0.2</a:t>
                      </a:r>
                      <a:r>
                        <a:rPr lang="ru-RU" sz="1000" b="0">
                          <a:effectLst/>
                        </a:rPr>
                        <a:t>.1 - </a:t>
                      </a:r>
                      <a:r>
                        <a:rPr lang="ru-RU" sz="1000" b="1">
                          <a:effectLst/>
                        </a:rPr>
                        <a:t>10.0.2</a:t>
                      </a:r>
                      <a:r>
                        <a:rPr lang="ru-RU" sz="1000" b="0">
                          <a:effectLst/>
                        </a:rPr>
                        <a:t>.254 </a:t>
                      </a:r>
                    </a:p>
                  </a:txBody>
                  <a:tcPr marL="31750" marR="31750" marT="31750" marB="31750" anchor="ctr"/>
                </a:tc>
                <a:tc>
                  <a:txBody>
                    <a:bodyPr/>
                    <a:lstStyle/>
                    <a:p>
                      <a:pPr rtl="0" fontAlgn="ctr"/>
                      <a:r>
                        <a:rPr lang="ru-RU" sz="1000" b="1">
                          <a:effectLst/>
                        </a:rPr>
                        <a:t>10.0.2</a:t>
                      </a:r>
                      <a:r>
                        <a:rPr lang="ru-RU" sz="1000" b="0">
                          <a:effectLst/>
                        </a:rPr>
                        <a:t>.255</a:t>
                      </a:r>
                    </a:p>
                  </a:txBody>
                  <a:tcPr marL="31750" marR="31750" marT="31750" marB="31750" anchor="ctr"/>
                </a:tc>
                <a:extLst>
                  <a:ext uri="{0D108BD9-81ED-4DB2-BD59-A6C34878D82A}">
                    <a16:rowId xmlns:a16="http://schemas.microsoft.com/office/drawing/2014/main" val="2643493669"/>
                  </a:ext>
                </a:extLst>
              </a:tr>
              <a:tr h="242909">
                <a:tc>
                  <a:txBody>
                    <a:bodyPr/>
                    <a:lstStyle/>
                    <a:p>
                      <a:pPr rtl="0" fontAlgn="ctr"/>
                      <a:r>
                        <a:rPr lang="ru-RU" sz="1000" b="0">
                          <a:effectLst/>
                        </a:rPr>
                        <a:t>…</a:t>
                      </a:r>
                    </a:p>
                  </a:txBody>
                  <a:tcPr marL="31750" marR="31750" marT="31750" marB="31750" anchor="ctr"/>
                </a:tc>
                <a:tc>
                  <a:txBody>
                    <a:bodyPr/>
                    <a:lstStyle/>
                    <a:p>
                      <a:pPr rtl="0" fontAlgn="ctr"/>
                      <a:r>
                        <a:rPr lang="ru-RU" sz="1000" b="0">
                          <a:effectLst/>
                        </a:rPr>
                        <a:t>…</a:t>
                      </a:r>
                    </a:p>
                  </a:txBody>
                  <a:tcPr marL="31750" marR="31750" marT="31750" marB="31750" anchor="ctr"/>
                </a:tc>
                <a:tc>
                  <a:txBody>
                    <a:bodyPr/>
                    <a:lstStyle/>
                    <a:p>
                      <a:pPr rtl="0" fontAlgn="ctr"/>
                      <a:r>
                        <a:rPr lang="ru-RU" sz="1000" b="0">
                          <a:effectLst/>
                        </a:rPr>
                        <a:t>…</a:t>
                      </a:r>
                    </a:p>
                  </a:txBody>
                  <a:tcPr marL="31750" marR="31750" marT="31750" marB="31750" anchor="ctr"/>
                </a:tc>
                <a:extLst>
                  <a:ext uri="{0D108BD9-81ED-4DB2-BD59-A6C34878D82A}">
                    <a16:rowId xmlns:a16="http://schemas.microsoft.com/office/drawing/2014/main" val="1459356146"/>
                  </a:ext>
                </a:extLst>
              </a:tr>
              <a:tr h="242909">
                <a:tc>
                  <a:txBody>
                    <a:bodyPr/>
                    <a:lstStyle/>
                    <a:p>
                      <a:pPr rtl="0" fontAlgn="ctr"/>
                      <a:r>
                        <a:rPr lang="ru-RU" sz="1000" b="1">
                          <a:effectLst/>
                        </a:rPr>
                        <a:t>10.0.255</a:t>
                      </a:r>
                      <a:r>
                        <a:rPr lang="ru-RU" sz="1000" b="0">
                          <a:effectLst/>
                        </a:rPr>
                        <a:t>.0</a:t>
                      </a:r>
                      <a:r>
                        <a:rPr lang="ru-RU" sz="1000" b="1">
                          <a:effectLst/>
                        </a:rPr>
                        <a:t>/24</a:t>
                      </a:r>
                    </a:p>
                  </a:txBody>
                  <a:tcPr marL="31750" marR="31750" marT="31750" marB="31750" anchor="ctr"/>
                </a:tc>
                <a:tc>
                  <a:txBody>
                    <a:bodyPr/>
                    <a:lstStyle/>
                    <a:p>
                      <a:pPr rtl="0" fontAlgn="ctr"/>
                      <a:r>
                        <a:rPr lang="ru-RU" sz="1000" b="1">
                          <a:effectLst/>
                        </a:rPr>
                        <a:t>10.0.255</a:t>
                      </a:r>
                      <a:r>
                        <a:rPr lang="ru-RU" sz="1000" b="0">
                          <a:effectLst/>
                        </a:rPr>
                        <a:t>.1 - </a:t>
                      </a:r>
                      <a:r>
                        <a:rPr lang="ru-RU" sz="1000" b="1">
                          <a:effectLst/>
                        </a:rPr>
                        <a:t>10.0.255</a:t>
                      </a:r>
                      <a:r>
                        <a:rPr lang="ru-RU" sz="1000" b="0">
                          <a:effectLst/>
                        </a:rPr>
                        <a:t>.254 </a:t>
                      </a:r>
                    </a:p>
                  </a:txBody>
                  <a:tcPr marL="31750" marR="31750" marT="31750" marB="31750" anchor="ctr"/>
                </a:tc>
                <a:tc>
                  <a:txBody>
                    <a:bodyPr/>
                    <a:lstStyle/>
                    <a:p>
                      <a:pPr rtl="0" fontAlgn="ctr"/>
                      <a:r>
                        <a:rPr lang="ru-RU" sz="1000" b="1">
                          <a:effectLst/>
                        </a:rPr>
                        <a:t>10.0.255</a:t>
                      </a:r>
                      <a:r>
                        <a:rPr lang="ru-RU" sz="1000" b="0">
                          <a:effectLst/>
                        </a:rPr>
                        <a:t>.255</a:t>
                      </a:r>
                    </a:p>
                  </a:txBody>
                  <a:tcPr marL="31750" marR="31750" marT="31750" marB="31750" anchor="ctr"/>
                </a:tc>
                <a:extLst>
                  <a:ext uri="{0D108BD9-81ED-4DB2-BD59-A6C34878D82A}">
                    <a16:rowId xmlns:a16="http://schemas.microsoft.com/office/drawing/2014/main" val="417579166"/>
                  </a:ext>
                </a:extLst>
              </a:tr>
              <a:tr h="242909">
                <a:tc>
                  <a:txBody>
                    <a:bodyPr/>
                    <a:lstStyle/>
                    <a:p>
                      <a:pPr rtl="0" fontAlgn="ctr"/>
                      <a:r>
                        <a:rPr lang="ru-RU" sz="1000" b="0">
                          <a:effectLst/>
                        </a:rPr>
                        <a:t>10.1.0.0</a:t>
                      </a:r>
                      <a:r>
                        <a:rPr lang="ru-RU" sz="1000" b="1">
                          <a:effectLst/>
                        </a:rPr>
                        <a:t>/24</a:t>
                      </a:r>
                    </a:p>
                  </a:txBody>
                  <a:tcPr marL="31750" marR="31750" marT="31750" marB="31750" anchor="ctr"/>
                </a:tc>
                <a:tc>
                  <a:txBody>
                    <a:bodyPr/>
                    <a:lstStyle/>
                    <a:p>
                      <a:pPr rtl="0" fontAlgn="ctr"/>
                      <a:r>
                        <a:rPr lang="ru-RU" sz="1000" b="1">
                          <a:effectLst/>
                        </a:rPr>
                        <a:t>10.1.0</a:t>
                      </a:r>
                      <a:r>
                        <a:rPr lang="ru-RU" sz="1000" b="0">
                          <a:effectLst/>
                        </a:rPr>
                        <a:t>.1 - </a:t>
                      </a:r>
                      <a:r>
                        <a:rPr lang="ru-RU" sz="1000" b="1">
                          <a:effectLst/>
                        </a:rPr>
                        <a:t>10.1.0</a:t>
                      </a:r>
                      <a:r>
                        <a:rPr lang="ru-RU" sz="1000" b="0">
                          <a:effectLst/>
                        </a:rPr>
                        <a:t>.254 </a:t>
                      </a:r>
                    </a:p>
                  </a:txBody>
                  <a:tcPr marL="31750" marR="31750" marT="31750" marB="31750" anchor="ctr"/>
                </a:tc>
                <a:tc>
                  <a:txBody>
                    <a:bodyPr/>
                    <a:lstStyle/>
                    <a:p>
                      <a:pPr rtl="0" fontAlgn="ctr"/>
                      <a:r>
                        <a:rPr lang="ru-RU" sz="1000" b="1">
                          <a:effectLst/>
                        </a:rPr>
                        <a:t>10.1.0</a:t>
                      </a:r>
                      <a:r>
                        <a:rPr lang="ru-RU" sz="1000" b="0">
                          <a:effectLst/>
                        </a:rPr>
                        <a:t>.255</a:t>
                      </a:r>
                    </a:p>
                  </a:txBody>
                  <a:tcPr marL="31750" marR="31750" marT="31750" marB="31750" anchor="ctr"/>
                </a:tc>
                <a:extLst>
                  <a:ext uri="{0D108BD9-81ED-4DB2-BD59-A6C34878D82A}">
                    <a16:rowId xmlns:a16="http://schemas.microsoft.com/office/drawing/2014/main" val="1246693201"/>
                  </a:ext>
                </a:extLst>
              </a:tr>
              <a:tr h="242909">
                <a:tc>
                  <a:txBody>
                    <a:bodyPr/>
                    <a:lstStyle/>
                    <a:p>
                      <a:pPr rtl="0" fontAlgn="ctr"/>
                      <a:r>
                        <a:rPr lang="ru-RU" sz="1000" b="1">
                          <a:effectLst/>
                        </a:rPr>
                        <a:t>10.1.1</a:t>
                      </a:r>
                      <a:r>
                        <a:rPr lang="ru-RU" sz="1000" b="0">
                          <a:effectLst/>
                        </a:rPr>
                        <a:t>.0</a:t>
                      </a:r>
                      <a:r>
                        <a:rPr lang="ru-RU" sz="1000" b="1">
                          <a:effectLst/>
                        </a:rPr>
                        <a:t>/24</a:t>
                      </a:r>
                    </a:p>
                  </a:txBody>
                  <a:tcPr marL="31750" marR="31750" marT="31750" marB="31750" anchor="ctr"/>
                </a:tc>
                <a:tc>
                  <a:txBody>
                    <a:bodyPr/>
                    <a:lstStyle/>
                    <a:p>
                      <a:pPr rtl="0" fontAlgn="ctr"/>
                      <a:r>
                        <a:rPr lang="ru-RU" sz="1000" b="1">
                          <a:effectLst/>
                        </a:rPr>
                        <a:t>10.1.1</a:t>
                      </a:r>
                      <a:r>
                        <a:rPr lang="ru-RU" sz="1000" b="0">
                          <a:effectLst/>
                        </a:rPr>
                        <a:t>.1 - </a:t>
                      </a:r>
                      <a:r>
                        <a:rPr lang="ru-RU" sz="1000" b="1">
                          <a:effectLst/>
                        </a:rPr>
                        <a:t>10.1.1</a:t>
                      </a:r>
                      <a:r>
                        <a:rPr lang="ru-RU" sz="1000" b="0">
                          <a:effectLst/>
                        </a:rPr>
                        <a:t>.254 </a:t>
                      </a:r>
                    </a:p>
                  </a:txBody>
                  <a:tcPr marL="31750" marR="31750" marT="31750" marB="31750" anchor="ctr"/>
                </a:tc>
                <a:tc>
                  <a:txBody>
                    <a:bodyPr/>
                    <a:lstStyle/>
                    <a:p>
                      <a:pPr rtl="0" fontAlgn="ctr"/>
                      <a:r>
                        <a:rPr lang="ru-RU" sz="1000" b="1">
                          <a:effectLst/>
                        </a:rPr>
                        <a:t>10.1.1</a:t>
                      </a:r>
                      <a:r>
                        <a:rPr lang="ru-RU" sz="1000" b="0">
                          <a:effectLst/>
                        </a:rPr>
                        <a:t>.255</a:t>
                      </a:r>
                    </a:p>
                  </a:txBody>
                  <a:tcPr marL="31750" marR="31750" marT="31750" marB="31750" anchor="ctr"/>
                </a:tc>
                <a:extLst>
                  <a:ext uri="{0D108BD9-81ED-4DB2-BD59-A6C34878D82A}">
                    <a16:rowId xmlns:a16="http://schemas.microsoft.com/office/drawing/2014/main" val="1260802008"/>
                  </a:ext>
                </a:extLst>
              </a:tr>
              <a:tr h="242909">
                <a:tc>
                  <a:txBody>
                    <a:bodyPr/>
                    <a:lstStyle/>
                    <a:p>
                      <a:pPr rtl="0" fontAlgn="ctr"/>
                      <a:r>
                        <a:rPr lang="ru-RU" sz="1000" b="1">
                          <a:effectLst/>
                        </a:rPr>
                        <a:t>10.1.2</a:t>
                      </a:r>
                      <a:r>
                        <a:rPr lang="ru-RU" sz="1000" b="0">
                          <a:effectLst/>
                        </a:rPr>
                        <a:t>.0</a:t>
                      </a:r>
                      <a:r>
                        <a:rPr lang="ru-RU" sz="1000" b="1">
                          <a:effectLst/>
                        </a:rPr>
                        <a:t>/24</a:t>
                      </a:r>
                    </a:p>
                  </a:txBody>
                  <a:tcPr marL="31750" marR="31750" marT="31750" marB="31750" anchor="ctr"/>
                </a:tc>
                <a:tc>
                  <a:txBody>
                    <a:bodyPr/>
                    <a:lstStyle/>
                    <a:p>
                      <a:pPr rtl="0" fontAlgn="ctr"/>
                      <a:r>
                        <a:rPr lang="ru-RU" sz="1000" b="1">
                          <a:effectLst/>
                        </a:rPr>
                        <a:t>10.1.2</a:t>
                      </a:r>
                      <a:r>
                        <a:rPr lang="ru-RU" sz="1000" b="0">
                          <a:effectLst/>
                        </a:rPr>
                        <a:t>.1 - </a:t>
                      </a:r>
                      <a:r>
                        <a:rPr lang="ru-RU" sz="1000" b="1">
                          <a:effectLst/>
                        </a:rPr>
                        <a:t>10.1.2</a:t>
                      </a:r>
                      <a:r>
                        <a:rPr lang="ru-RU" sz="1000" b="0">
                          <a:effectLst/>
                        </a:rPr>
                        <a:t>.254 </a:t>
                      </a:r>
                    </a:p>
                  </a:txBody>
                  <a:tcPr marL="31750" marR="31750" marT="31750" marB="31750" anchor="ctr"/>
                </a:tc>
                <a:tc>
                  <a:txBody>
                    <a:bodyPr/>
                    <a:lstStyle/>
                    <a:p>
                      <a:pPr rtl="0" fontAlgn="ctr"/>
                      <a:r>
                        <a:rPr lang="ru-RU" sz="1000" b="1">
                          <a:effectLst/>
                        </a:rPr>
                        <a:t>10.1.2</a:t>
                      </a:r>
                      <a:r>
                        <a:rPr lang="ru-RU" sz="1000" b="0">
                          <a:effectLst/>
                        </a:rPr>
                        <a:t>.255</a:t>
                      </a:r>
                    </a:p>
                  </a:txBody>
                  <a:tcPr marL="31750" marR="31750" marT="31750" marB="31750" anchor="ctr"/>
                </a:tc>
                <a:extLst>
                  <a:ext uri="{0D108BD9-81ED-4DB2-BD59-A6C34878D82A}">
                    <a16:rowId xmlns:a16="http://schemas.microsoft.com/office/drawing/2014/main" val="1140251696"/>
                  </a:ext>
                </a:extLst>
              </a:tr>
              <a:tr h="242909">
                <a:tc>
                  <a:txBody>
                    <a:bodyPr/>
                    <a:lstStyle/>
                    <a:p>
                      <a:pPr rtl="0" fontAlgn="ctr"/>
                      <a:r>
                        <a:rPr lang="ru-RU" sz="1000" b="0">
                          <a:effectLst/>
                        </a:rPr>
                        <a:t>…</a:t>
                      </a:r>
                    </a:p>
                  </a:txBody>
                  <a:tcPr marL="31750" marR="31750" marT="31750" marB="31750" anchor="ctr"/>
                </a:tc>
                <a:tc>
                  <a:txBody>
                    <a:bodyPr/>
                    <a:lstStyle/>
                    <a:p>
                      <a:pPr rtl="0" fontAlgn="ctr"/>
                      <a:r>
                        <a:rPr lang="ru-RU" sz="1000" b="0">
                          <a:effectLst/>
                        </a:rPr>
                        <a:t>…</a:t>
                      </a:r>
                    </a:p>
                  </a:txBody>
                  <a:tcPr marL="31750" marR="31750" marT="31750" marB="31750" anchor="ctr"/>
                </a:tc>
                <a:tc>
                  <a:txBody>
                    <a:bodyPr/>
                    <a:lstStyle/>
                    <a:p>
                      <a:pPr rtl="0" fontAlgn="ctr"/>
                      <a:r>
                        <a:rPr lang="ru-RU" sz="1000" b="0">
                          <a:effectLst/>
                        </a:rPr>
                        <a:t>…</a:t>
                      </a:r>
                    </a:p>
                  </a:txBody>
                  <a:tcPr marL="31750" marR="31750" marT="31750" marB="31750" anchor="ctr"/>
                </a:tc>
                <a:extLst>
                  <a:ext uri="{0D108BD9-81ED-4DB2-BD59-A6C34878D82A}">
                    <a16:rowId xmlns:a16="http://schemas.microsoft.com/office/drawing/2014/main" val="1579384603"/>
                  </a:ext>
                </a:extLst>
              </a:tr>
              <a:tr h="242909">
                <a:tc>
                  <a:txBody>
                    <a:bodyPr/>
                    <a:lstStyle/>
                    <a:p>
                      <a:pPr rtl="0" fontAlgn="ctr"/>
                      <a:r>
                        <a:rPr lang="ru-RU" sz="1000" b="1">
                          <a:effectLst/>
                        </a:rPr>
                        <a:t>10.100.0</a:t>
                      </a:r>
                      <a:r>
                        <a:rPr lang="ru-RU" sz="1000" b="0">
                          <a:effectLst/>
                        </a:rPr>
                        <a:t>.0</a:t>
                      </a:r>
                      <a:r>
                        <a:rPr lang="ru-RU" sz="1000" b="1">
                          <a:effectLst/>
                        </a:rPr>
                        <a:t>/24</a:t>
                      </a:r>
                    </a:p>
                  </a:txBody>
                  <a:tcPr marL="31750" marR="31750" marT="31750" marB="31750" anchor="ctr"/>
                </a:tc>
                <a:tc>
                  <a:txBody>
                    <a:bodyPr/>
                    <a:lstStyle/>
                    <a:p>
                      <a:pPr rtl="0" fontAlgn="ctr"/>
                      <a:r>
                        <a:rPr lang="ru-RU" sz="1000" b="1">
                          <a:effectLst/>
                        </a:rPr>
                        <a:t>10.100.0</a:t>
                      </a:r>
                      <a:r>
                        <a:rPr lang="ru-RU" sz="1000" b="0">
                          <a:effectLst/>
                        </a:rPr>
                        <a:t>.1 - </a:t>
                      </a:r>
                      <a:r>
                        <a:rPr lang="ru-RU" sz="1000" b="1">
                          <a:effectLst/>
                        </a:rPr>
                        <a:t>10.100.0</a:t>
                      </a:r>
                      <a:r>
                        <a:rPr lang="ru-RU" sz="1000" b="0">
                          <a:effectLst/>
                        </a:rPr>
                        <a:t>.254 </a:t>
                      </a:r>
                    </a:p>
                  </a:txBody>
                  <a:tcPr marL="31750" marR="31750" marT="31750" marB="31750" anchor="ctr"/>
                </a:tc>
                <a:tc>
                  <a:txBody>
                    <a:bodyPr/>
                    <a:lstStyle/>
                    <a:p>
                      <a:pPr rtl="0" fontAlgn="ctr"/>
                      <a:r>
                        <a:rPr lang="ru-RU" sz="1000" b="1">
                          <a:effectLst/>
                        </a:rPr>
                        <a:t>10.100.0</a:t>
                      </a:r>
                      <a:r>
                        <a:rPr lang="ru-RU" sz="1000" b="0">
                          <a:effectLst/>
                        </a:rPr>
                        <a:t>.255</a:t>
                      </a:r>
                    </a:p>
                  </a:txBody>
                  <a:tcPr marL="31750" marR="31750" marT="31750" marB="31750" anchor="ctr"/>
                </a:tc>
                <a:extLst>
                  <a:ext uri="{0D108BD9-81ED-4DB2-BD59-A6C34878D82A}">
                    <a16:rowId xmlns:a16="http://schemas.microsoft.com/office/drawing/2014/main" val="1319694656"/>
                  </a:ext>
                </a:extLst>
              </a:tr>
              <a:tr h="242909">
                <a:tc>
                  <a:txBody>
                    <a:bodyPr/>
                    <a:lstStyle/>
                    <a:p>
                      <a:pPr rtl="0" fontAlgn="ctr"/>
                      <a:r>
                        <a:rPr lang="ru-RU" sz="1000" b="0">
                          <a:effectLst/>
                        </a:rPr>
                        <a:t>...</a:t>
                      </a:r>
                    </a:p>
                  </a:txBody>
                  <a:tcPr marL="31750" marR="31750" marT="31750" marB="31750" anchor="ctr"/>
                </a:tc>
                <a:tc>
                  <a:txBody>
                    <a:bodyPr/>
                    <a:lstStyle/>
                    <a:p>
                      <a:pPr rtl="0" fontAlgn="ctr"/>
                      <a:r>
                        <a:rPr lang="ru-RU" sz="1000" b="0">
                          <a:effectLst/>
                        </a:rPr>
                        <a:t>...</a:t>
                      </a:r>
                    </a:p>
                  </a:txBody>
                  <a:tcPr marL="31750" marR="31750" marT="31750" marB="31750" anchor="ctr"/>
                </a:tc>
                <a:tc>
                  <a:txBody>
                    <a:bodyPr/>
                    <a:lstStyle/>
                    <a:p>
                      <a:pPr rtl="0" fontAlgn="ctr"/>
                      <a:r>
                        <a:rPr lang="ru-RU" sz="1000" b="0">
                          <a:effectLst/>
                        </a:rPr>
                        <a:t>...</a:t>
                      </a:r>
                    </a:p>
                  </a:txBody>
                  <a:tcPr marL="31750" marR="31750" marT="31750" marB="31750" anchor="ctr"/>
                </a:tc>
                <a:extLst>
                  <a:ext uri="{0D108BD9-81ED-4DB2-BD59-A6C34878D82A}">
                    <a16:rowId xmlns:a16="http://schemas.microsoft.com/office/drawing/2014/main" val="3511108504"/>
                  </a:ext>
                </a:extLst>
              </a:tr>
              <a:tr h="242909">
                <a:tc>
                  <a:txBody>
                    <a:bodyPr/>
                    <a:lstStyle/>
                    <a:p>
                      <a:pPr rtl="0" fontAlgn="ctr"/>
                      <a:r>
                        <a:rPr lang="ru-RU" sz="1000" b="1">
                          <a:effectLst/>
                        </a:rPr>
                        <a:t>10.255.255</a:t>
                      </a:r>
                      <a:r>
                        <a:rPr lang="ru-RU" sz="1000" b="0">
                          <a:effectLst/>
                        </a:rPr>
                        <a:t>.0</a:t>
                      </a:r>
                      <a:r>
                        <a:rPr lang="ru-RU" sz="1000" b="1">
                          <a:effectLst/>
                        </a:rPr>
                        <a:t>/24</a:t>
                      </a:r>
                    </a:p>
                  </a:txBody>
                  <a:tcPr marL="31750" marR="31750" marT="31750" marB="31750" anchor="ctr"/>
                </a:tc>
                <a:tc>
                  <a:txBody>
                    <a:bodyPr/>
                    <a:lstStyle/>
                    <a:p>
                      <a:pPr rtl="0" fontAlgn="ctr"/>
                      <a:r>
                        <a:rPr lang="ru-RU" sz="1000" b="1">
                          <a:effectLst/>
                        </a:rPr>
                        <a:t>10.255.255</a:t>
                      </a:r>
                      <a:r>
                        <a:rPr lang="ru-RU" sz="1000" b="0">
                          <a:effectLst/>
                        </a:rPr>
                        <a:t>.1 - </a:t>
                      </a:r>
                      <a:r>
                        <a:rPr lang="ru-RU" sz="1000" b="1">
                          <a:effectLst/>
                        </a:rPr>
                        <a:t>10.2255.255</a:t>
                      </a:r>
                      <a:r>
                        <a:rPr lang="ru-RU" sz="1000" b="0">
                          <a:effectLst/>
                        </a:rPr>
                        <a:t>.254 </a:t>
                      </a:r>
                    </a:p>
                  </a:txBody>
                  <a:tcPr marL="31750" marR="31750" marT="31750" marB="31750" anchor="ctr"/>
                </a:tc>
                <a:tc>
                  <a:txBody>
                    <a:bodyPr/>
                    <a:lstStyle/>
                    <a:p>
                      <a:pPr rtl="0" fontAlgn="ctr"/>
                      <a:r>
                        <a:rPr lang="ru-RU" sz="1000" b="1">
                          <a:effectLst/>
                        </a:rPr>
                        <a:t>10.255.255</a:t>
                      </a:r>
                      <a:r>
                        <a:rPr lang="ru-RU" sz="1000" b="0">
                          <a:effectLst/>
                        </a:rPr>
                        <a:t>.255</a:t>
                      </a:r>
                    </a:p>
                  </a:txBody>
                  <a:tcPr marL="31750" marR="31750" marT="31750" marB="31750" anchor="ctr"/>
                </a:tc>
                <a:extLst>
                  <a:ext uri="{0D108BD9-81ED-4DB2-BD59-A6C34878D82A}">
                    <a16:rowId xmlns:a16="http://schemas.microsoft.com/office/drawing/2014/main" val="336941723"/>
                  </a:ext>
                </a:extLst>
              </a:tr>
            </a:tbl>
          </a:graphicData>
        </a:graphic>
      </p:graphicFrame>
      <mc:AlternateContent xmlns:mc="http://schemas.openxmlformats.org/markup-compatibility/2006" xmlns:p14="http://schemas.microsoft.com/office/powerpoint/2010/main">
        <mc:Choice Requires="p14">
          <p:contentPart p14:bwMode="auto" r:id="rId3">
            <p14:nvContentPartPr>
              <p14:cNvPr id="5" name="Рукописный ввод 4">
                <a:extLst>
                  <a:ext uri="{FF2B5EF4-FFF2-40B4-BE49-F238E27FC236}">
                    <a16:creationId xmlns:a16="http://schemas.microsoft.com/office/drawing/2014/main" id="{6D5DF9B4-0611-4CAA-B18B-B4B3D4037037}"/>
                  </a:ext>
                </a:extLst>
              </p14:cNvPr>
              <p14:cNvContentPartPr/>
              <p14:nvPr/>
            </p14:nvContentPartPr>
            <p14:xfrm>
              <a:off x="4848120" y="2795760"/>
              <a:ext cx="360" cy="360"/>
            </p14:xfrm>
          </p:contentPart>
        </mc:Choice>
        <mc:Fallback xmlns="">
          <p:pic>
            <p:nvPicPr>
              <p:cNvPr id="5" name="Рукописный ввод 4">
                <a:extLst>
                  <a:ext uri="{FF2B5EF4-FFF2-40B4-BE49-F238E27FC236}">
                    <a16:creationId xmlns:a16="http://schemas.microsoft.com/office/drawing/2014/main" id="{6D5DF9B4-0611-4CAA-B18B-B4B3D4037037}"/>
                  </a:ext>
                </a:extLst>
              </p:cNvPr>
              <p:cNvPicPr/>
              <p:nvPr/>
            </p:nvPicPr>
            <p:blipFill>
              <a:blip r:embed="rId4"/>
              <a:stretch>
                <a:fillRect/>
              </a:stretch>
            </p:blipFill>
            <p:spPr>
              <a:xfrm>
                <a:off x="4838760" y="2786400"/>
                <a:ext cx="19080" cy="19080"/>
              </a:xfrm>
              <a:prstGeom prst="rect">
                <a:avLst/>
              </a:prstGeom>
            </p:spPr>
          </p:pic>
        </mc:Fallback>
      </mc:AlternateContent>
    </p:spTree>
    <p:extLst>
      <p:ext uri="{BB962C8B-B14F-4D97-AF65-F5344CB8AC3E}">
        <p14:creationId xmlns:p14="http://schemas.microsoft.com/office/powerpoint/2010/main" val="3918541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Разделение на подсети IPv4-сети</a:t>
            </a:r>
            <a:br>
              <a:rPr lang="en-US" dirty="0"/>
            </a:br>
            <a:r>
              <a:rPr lang="ru-RU" sz="2400"/>
              <a:t> Разделение на подсети на границе октетов</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464334"/>
          </a:xfrm>
        </p:spPr>
        <p:txBody>
          <a:bodyPr/>
          <a:lstStyle/>
          <a:p>
            <a:pPr marL="342900" indent="-342900" algn="l" rtl="0">
              <a:buFont typeface="Arial" panose="020B0604020202020204" pitchFamily="34" charset="0"/>
              <a:buChar char="•"/>
            </a:pPr>
            <a:r>
              <a:rPr lang="ru-RU" sz="1600">
                <a:solidFill>
                  <a:srgbClr val="000000"/>
                </a:solidFill>
              </a:rPr>
              <a:t>См. таблицу, чтобы увидеть шесть способов подсети сети /24.</a:t>
            </a:r>
          </a:p>
        </p:txBody>
      </p:sp>
      <p:graphicFrame>
        <p:nvGraphicFramePr>
          <p:cNvPr id="5" name="Table 4">
            <a:extLst>
              <a:ext uri="{FF2B5EF4-FFF2-40B4-BE49-F238E27FC236}">
                <a16:creationId xmlns:a16="http://schemas.microsoft.com/office/drawing/2014/main" id="{3EE5DF15-7779-4ED6-8960-EFEFE4B7C5F0}"/>
              </a:ext>
            </a:extLst>
          </p:cNvPr>
          <p:cNvGraphicFramePr>
            <a:graphicFrameLocks noGrp="1"/>
          </p:cNvGraphicFramePr>
          <p:nvPr>
            <p:extLst>
              <p:ext uri="{D42A27DB-BD31-4B8C-83A1-F6EECF244321}">
                <p14:modId xmlns:p14="http://schemas.microsoft.com/office/powerpoint/2010/main" val="2088557391"/>
              </p:ext>
            </p:extLst>
          </p:nvPr>
        </p:nvGraphicFramePr>
        <p:xfrm>
          <a:off x="1207769" y="1457067"/>
          <a:ext cx="6728460" cy="2745740"/>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val="3173678455"/>
                    </a:ext>
                  </a:extLst>
                </a:gridCol>
                <a:gridCol w="1203960">
                  <a:extLst>
                    <a:ext uri="{9D8B030D-6E8A-4147-A177-3AD203B41FA5}">
                      <a16:colId xmlns:a16="http://schemas.microsoft.com/office/drawing/2014/main" val="1538934761"/>
                    </a:ext>
                  </a:extLst>
                </a:gridCol>
                <a:gridCol w="3092530">
                  <a:extLst>
                    <a:ext uri="{9D8B030D-6E8A-4147-A177-3AD203B41FA5}">
                      <a16:colId xmlns:a16="http://schemas.microsoft.com/office/drawing/2014/main" val="1045760004"/>
                    </a:ext>
                  </a:extLst>
                </a:gridCol>
                <a:gridCol w="747950">
                  <a:extLst>
                    <a:ext uri="{9D8B030D-6E8A-4147-A177-3AD203B41FA5}">
                      <a16:colId xmlns:a16="http://schemas.microsoft.com/office/drawing/2014/main" val="2485496051"/>
                    </a:ext>
                  </a:extLst>
                </a:gridCol>
                <a:gridCol w="723900">
                  <a:extLst>
                    <a:ext uri="{9D8B030D-6E8A-4147-A177-3AD203B41FA5}">
                      <a16:colId xmlns:a16="http://schemas.microsoft.com/office/drawing/2014/main" val="660007875"/>
                    </a:ext>
                  </a:extLst>
                </a:gridCol>
              </a:tblGrid>
              <a:tr h="370840">
                <a:tc>
                  <a:txBody>
                    <a:bodyPr/>
                    <a:lstStyle/>
                    <a:p>
                      <a:pPr algn="l" rtl="0" fontAlgn="ctr"/>
                      <a:r>
                        <a:rPr lang="ru-RU" sz="1000" b="1">
                          <a:effectLst/>
                        </a:rPr>
                        <a:t>Длина префикса</a:t>
                      </a:r>
                    </a:p>
                  </a:txBody>
                  <a:tcPr marL="31750" marR="31750" marT="31750" marB="31750" anchor="ctr"/>
                </a:tc>
                <a:tc>
                  <a:txBody>
                    <a:bodyPr/>
                    <a:lstStyle/>
                    <a:p>
                      <a:pPr algn="l" rtl="0" fontAlgn="ctr"/>
                      <a:r>
                        <a:rPr lang="ru-RU" sz="1000" b="1">
                          <a:effectLst/>
                        </a:rPr>
                        <a:t>Маска подсети</a:t>
                      </a:r>
                    </a:p>
                  </a:txBody>
                  <a:tcPr marL="31750" marR="31750" marT="31750" marB="31750" anchor="ctr"/>
                </a:tc>
                <a:tc>
                  <a:txBody>
                    <a:bodyPr/>
                    <a:lstStyle/>
                    <a:p>
                      <a:pPr algn="l" rtl="0" fontAlgn="ctr"/>
                      <a:r>
                        <a:rPr lang="ru-RU" sz="1000" b="1">
                          <a:effectLst/>
                        </a:rPr>
                        <a:t>Маска подсети в двоичной системе</a:t>
                      </a:r>
                      <a:br>
                        <a:rPr lang="en-CA" sz="1000" b="1" dirty="0">
                          <a:effectLst/>
                        </a:rPr>
                      </a:br>
                      <a:r>
                        <a:rPr lang="ru-RU" sz="1000" b="1">
                          <a:effectLst/>
                        </a:rPr>
                        <a:t>(с = сеть, у = узел)</a:t>
                      </a:r>
                    </a:p>
                  </a:txBody>
                  <a:tcPr marL="31750" marR="31750" marT="31750" marB="31750" anchor="ctr"/>
                </a:tc>
                <a:tc>
                  <a:txBody>
                    <a:bodyPr/>
                    <a:lstStyle/>
                    <a:p>
                      <a:pPr algn="l" rtl="0" fontAlgn="ctr"/>
                      <a:r>
                        <a:rPr lang="ru-RU" sz="1000" b="1">
                          <a:effectLst/>
                        </a:rPr>
                        <a:t>Количество подсетей</a:t>
                      </a:r>
                    </a:p>
                  </a:txBody>
                  <a:tcPr marL="31750" marR="31750" marT="31750" marB="31750" anchor="ctr"/>
                </a:tc>
                <a:tc>
                  <a:txBody>
                    <a:bodyPr/>
                    <a:lstStyle/>
                    <a:p>
                      <a:pPr algn="l" rtl="0" fontAlgn="ctr"/>
                      <a:r>
                        <a:rPr lang="ru-RU" sz="1000" b="1">
                          <a:effectLst/>
                        </a:rPr>
                        <a:t>Количество узлов</a:t>
                      </a:r>
                    </a:p>
                  </a:txBody>
                  <a:tcPr marL="31750" marR="31750" marT="31750" marB="31750" anchor="ctr"/>
                </a:tc>
                <a:extLst>
                  <a:ext uri="{0D108BD9-81ED-4DB2-BD59-A6C34878D82A}">
                    <a16:rowId xmlns:a16="http://schemas.microsoft.com/office/drawing/2014/main" val="2275849055"/>
                  </a:ext>
                </a:extLst>
              </a:tr>
              <a:tr h="370840">
                <a:tc>
                  <a:txBody>
                    <a:bodyPr/>
                    <a:lstStyle/>
                    <a:p>
                      <a:pPr rtl="0" fontAlgn="ctr"/>
                      <a:r>
                        <a:rPr lang="ru-RU" sz="1000" b="0">
                          <a:effectLst/>
                        </a:rPr>
                        <a:t>/25</a:t>
                      </a:r>
                    </a:p>
                  </a:txBody>
                  <a:tcPr marL="31750" marR="31750" marT="31750" marB="31750" anchor="ctr"/>
                </a:tc>
                <a:tc>
                  <a:txBody>
                    <a:bodyPr/>
                    <a:lstStyle/>
                    <a:p>
                      <a:pPr rtl="0" fontAlgn="ctr"/>
                      <a:r>
                        <a:rPr lang="ru-RU" sz="1000" b="0">
                          <a:effectLst/>
                        </a:rPr>
                        <a:t>255.255.255.128</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a:t>
                      </a:r>
                      <a:r>
                        <a:rPr lang="ru-RU" sz="1000" b="0">
                          <a:effectLst/>
                          <a:latin typeface="Courier New" panose="02070309020205020404" pitchFamily="49" charset="0"/>
                          <a:cs typeface="Courier New" panose="02070309020205020404" pitchFamily="49" charset="0"/>
                        </a:rPr>
                        <a:t>hhhhhhh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a:t>
                      </a:r>
                      <a:r>
                        <a:rPr lang="ru-RU" sz="1000" b="0">
                          <a:effectLst/>
                          <a:latin typeface="Courier New" panose="02070309020205020404" pitchFamily="49" charset="0"/>
                          <a:cs typeface="Courier New" panose="02070309020205020404" pitchFamily="49" charset="0"/>
                        </a:rPr>
                        <a:t>0000000</a:t>
                      </a:r>
                    </a:p>
                  </a:txBody>
                  <a:tcPr marL="31750" marR="31750" marT="31750" marB="31750" anchor="ctr"/>
                </a:tc>
                <a:tc>
                  <a:txBody>
                    <a:bodyPr/>
                    <a:lstStyle/>
                    <a:p>
                      <a:pPr rtl="0" fontAlgn="ctr"/>
                      <a:r>
                        <a:rPr lang="ru-RU" sz="1000" b="1">
                          <a:effectLst/>
                        </a:rPr>
                        <a:t>2</a:t>
                      </a:r>
                    </a:p>
                  </a:txBody>
                  <a:tcPr marL="31750" marR="31750" marT="31750" marB="31750" anchor="ctr"/>
                </a:tc>
                <a:tc>
                  <a:txBody>
                    <a:bodyPr/>
                    <a:lstStyle/>
                    <a:p>
                      <a:pPr rtl="0" fontAlgn="ctr"/>
                      <a:r>
                        <a:rPr lang="ru-RU" sz="1000" b="0">
                          <a:effectLst/>
                        </a:rPr>
                        <a:t>126</a:t>
                      </a:r>
                    </a:p>
                  </a:txBody>
                  <a:tcPr marL="31750" marR="31750" marT="31750" marB="31750" anchor="ctr"/>
                </a:tc>
                <a:extLst>
                  <a:ext uri="{0D108BD9-81ED-4DB2-BD59-A6C34878D82A}">
                    <a16:rowId xmlns:a16="http://schemas.microsoft.com/office/drawing/2014/main" val="1601271128"/>
                  </a:ext>
                </a:extLst>
              </a:tr>
              <a:tr h="370840">
                <a:tc>
                  <a:txBody>
                    <a:bodyPr/>
                    <a:lstStyle/>
                    <a:p>
                      <a:pPr rtl="0" fontAlgn="ctr"/>
                      <a:r>
                        <a:rPr lang="ru-RU" sz="1000" b="0">
                          <a:effectLst/>
                        </a:rPr>
                        <a:t>/26</a:t>
                      </a:r>
                    </a:p>
                  </a:txBody>
                  <a:tcPr marL="31750" marR="31750" marT="31750" marB="31750" anchor="ctr"/>
                </a:tc>
                <a:tc>
                  <a:txBody>
                    <a:bodyPr/>
                    <a:lstStyle/>
                    <a:p>
                      <a:pPr rtl="0" fontAlgn="ctr"/>
                      <a:r>
                        <a:rPr lang="ru-RU" sz="1000" b="0">
                          <a:effectLst/>
                        </a:rPr>
                        <a:t>255.255.255.192</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nn</a:t>
                      </a:r>
                      <a:r>
                        <a:rPr lang="ru-RU" sz="1000" b="0">
                          <a:effectLst/>
                          <a:latin typeface="Courier New" panose="02070309020205020404" pitchFamily="49" charset="0"/>
                          <a:cs typeface="Courier New" panose="02070309020205020404" pitchFamily="49" charset="0"/>
                        </a:rPr>
                        <a:t>hhhhhh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11</a:t>
                      </a:r>
                      <a:r>
                        <a:rPr lang="ru-RU" sz="1000" b="0">
                          <a:effectLst/>
                          <a:latin typeface="Courier New" panose="02070309020205020404" pitchFamily="49" charset="0"/>
                          <a:cs typeface="Courier New" panose="02070309020205020404" pitchFamily="49" charset="0"/>
                        </a:rPr>
                        <a:t>000000</a:t>
                      </a:r>
                    </a:p>
                  </a:txBody>
                  <a:tcPr marL="31750" marR="31750" marT="31750" marB="31750" anchor="ctr"/>
                </a:tc>
                <a:tc>
                  <a:txBody>
                    <a:bodyPr/>
                    <a:lstStyle/>
                    <a:p>
                      <a:pPr rtl="0" fontAlgn="ctr"/>
                      <a:r>
                        <a:rPr lang="ru-RU" sz="1000" b="1">
                          <a:effectLst/>
                        </a:rPr>
                        <a:t>4</a:t>
                      </a:r>
                    </a:p>
                  </a:txBody>
                  <a:tcPr marL="31750" marR="31750" marT="31750" marB="31750" anchor="ctr"/>
                </a:tc>
                <a:tc>
                  <a:txBody>
                    <a:bodyPr/>
                    <a:lstStyle/>
                    <a:p>
                      <a:pPr rtl="0" fontAlgn="ctr"/>
                      <a:r>
                        <a:rPr lang="ru-RU" sz="1000" b="0">
                          <a:effectLst/>
                        </a:rPr>
                        <a:t>62</a:t>
                      </a:r>
                    </a:p>
                  </a:txBody>
                  <a:tcPr marL="31750" marR="31750" marT="31750" marB="31750" anchor="ctr"/>
                </a:tc>
                <a:extLst>
                  <a:ext uri="{0D108BD9-81ED-4DB2-BD59-A6C34878D82A}">
                    <a16:rowId xmlns:a16="http://schemas.microsoft.com/office/drawing/2014/main" val="1999121572"/>
                  </a:ext>
                </a:extLst>
              </a:tr>
              <a:tr h="370840">
                <a:tc>
                  <a:txBody>
                    <a:bodyPr/>
                    <a:lstStyle/>
                    <a:p>
                      <a:pPr rtl="0" fontAlgn="ctr"/>
                      <a:r>
                        <a:rPr lang="ru-RU" sz="1000" b="0">
                          <a:effectLst/>
                        </a:rPr>
                        <a:t>/27</a:t>
                      </a:r>
                    </a:p>
                  </a:txBody>
                  <a:tcPr marL="31750" marR="31750" marT="31750" marB="31750" anchor="ctr"/>
                </a:tc>
                <a:tc>
                  <a:txBody>
                    <a:bodyPr/>
                    <a:lstStyle/>
                    <a:p>
                      <a:pPr rtl="0" fontAlgn="ctr"/>
                      <a:r>
                        <a:rPr lang="ru-RU" sz="1000" b="0">
                          <a:effectLst/>
                        </a:rPr>
                        <a:t>255.255.255.224</a:t>
                      </a:r>
                    </a:p>
                  </a:txBody>
                  <a:tcPr marL="31750" marR="31750" marT="31750" marB="31750" anchor="ctr"/>
                </a:tc>
                <a:tc>
                  <a:txBody>
                    <a:bodyPr/>
                    <a:lstStyle/>
                    <a:p>
                      <a:pPr rtl="0" fontAlgn="ctr"/>
                      <a:r>
                        <a:rPr lang="ru-RU" sz="1000" b="0" dirty="0" err="1">
                          <a:effectLst/>
                          <a:latin typeface="Courier New" panose="02070309020205020404" pitchFamily="49" charset="0"/>
                          <a:cs typeface="Courier New" panose="02070309020205020404" pitchFamily="49" charset="0"/>
                        </a:rPr>
                        <a:t>nnnnnnnn.nnnnnnnn.nnnnnnnn.</a:t>
                      </a:r>
                      <a:r>
                        <a:rPr lang="ru-RU" sz="1000" b="1" dirty="0" err="1">
                          <a:effectLst/>
                          <a:latin typeface="Courier New" panose="02070309020205020404" pitchFamily="49" charset="0"/>
                          <a:cs typeface="Courier New" panose="02070309020205020404" pitchFamily="49" charset="0"/>
                        </a:rPr>
                        <a:t>nnn</a:t>
                      </a:r>
                      <a:r>
                        <a:rPr lang="ru-RU" sz="1000" b="0" dirty="0" err="1">
                          <a:effectLst/>
                          <a:latin typeface="Courier New" panose="02070309020205020404" pitchFamily="49" charset="0"/>
                          <a:cs typeface="Courier New" panose="02070309020205020404" pitchFamily="49" charset="0"/>
                        </a:rPr>
                        <a:t>hhhhh</a:t>
                      </a:r>
                      <a:br>
                        <a:rPr lang="en-CA" sz="1000" b="0" dirty="0">
                          <a:effectLst/>
                          <a:latin typeface="Courier New" panose="02070309020205020404" pitchFamily="49" charset="0"/>
                          <a:cs typeface="Courier New" panose="02070309020205020404" pitchFamily="49" charset="0"/>
                        </a:rPr>
                      </a:br>
                      <a:r>
                        <a:rPr lang="ru-RU" sz="1000" b="0" dirty="0">
                          <a:effectLst/>
                          <a:latin typeface="Courier New" panose="02070309020205020404" pitchFamily="49" charset="0"/>
                          <a:cs typeface="Courier New" panose="02070309020205020404" pitchFamily="49" charset="0"/>
                        </a:rPr>
                        <a:t>11111111.11111111.11111111. </a:t>
                      </a:r>
                      <a:r>
                        <a:rPr lang="ru-RU" sz="1000" b="1" dirty="0">
                          <a:effectLst/>
                          <a:latin typeface="Courier New" panose="02070309020205020404" pitchFamily="49" charset="0"/>
                          <a:cs typeface="Courier New" panose="02070309020205020404" pitchFamily="49" charset="0"/>
                        </a:rPr>
                        <a:t>111</a:t>
                      </a:r>
                      <a:r>
                        <a:rPr lang="ru-RU" sz="1000" b="0" dirty="0">
                          <a:effectLst/>
                          <a:latin typeface="Courier New" panose="02070309020205020404" pitchFamily="49" charset="0"/>
                          <a:cs typeface="Courier New" panose="02070309020205020404" pitchFamily="49" charset="0"/>
                        </a:rPr>
                        <a:t>00000</a:t>
                      </a:r>
                    </a:p>
                  </a:txBody>
                  <a:tcPr marL="31750" marR="31750" marT="31750" marB="31750" anchor="ctr"/>
                </a:tc>
                <a:tc>
                  <a:txBody>
                    <a:bodyPr/>
                    <a:lstStyle/>
                    <a:p>
                      <a:pPr rtl="0" fontAlgn="ctr"/>
                      <a:r>
                        <a:rPr lang="ru-RU" sz="1000" b="1">
                          <a:effectLst/>
                        </a:rPr>
                        <a:t>8</a:t>
                      </a:r>
                    </a:p>
                  </a:txBody>
                  <a:tcPr marL="31750" marR="31750" marT="31750" marB="31750" anchor="ctr"/>
                </a:tc>
                <a:tc>
                  <a:txBody>
                    <a:bodyPr/>
                    <a:lstStyle/>
                    <a:p>
                      <a:pPr rtl="0" fontAlgn="ctr"/>
                      <a:r>
                        <a:rPr lang="ru-RU" sz="1000" b="0">
                          <a:effectLst/>
                        </a:rPr>
                        <a:t>30</a:t>
                      </a:r>
                    </a:p>
                  </a:txBody>
                  <a:tcPr marL="31750" marR="31750" marT="31750" marB="31750" anchor="ctr"/>
                </a:tc>
                <a:extLst>
                  <a:ext uri="{0D108BD9-81ED-4DB2-BD59-A6C34878D82A}">
                    <a16:rowId xmlns:a16="http://schemas.microsoft.com/office/drawing/2014/main" val="346473952"/>
                  </a:ext>
                </a:extLst>
              </a:tr>
              <a:tr h="370840">
                <a:tc>
                  <a:txBody>
                    <a:bodyPr/>
                    <a:lstStyle/>
                    <a:p>
                      <a:pPr rtl="0" fontAlgn="ctr"/>
                      <a:r>
                        <a:rPr lang="ru-RU" sz="1000" b="0">
                          <a:effectLst/>
                        </a:rPr>
                        <a:t>/28</a:t>
                      </a:r>
                    </a:p>
                  </a:txBody>
                  <a:tcPr marL="31750" marR="31750" marT="31750" marB="31750" anchor="ctr"/>
                </a:tc>
                <a:tc>
                  <a:txBody>
                    <a:bodyPr/>
                    <a:lstStyle/>
                    <a:p>
                      <a:pPr rtl="0" fontAlgn="ctr"/>
                      <a:r>
                        <a:rPr lang="ru-RU" sz="1000" b="0">
                          <a:effectLst/>
                        </a:rPr>
                        <a:t>255.255.255.240</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nnnn</a:t>
                      </a:r>
                      <a:r>
                        <a:rPr lang="ru-RU" sz="1000" b="0">
                          <a:effectLst/>
                          <a:latin typeface="Courier New" panose="02070309020205020404" pitchFamily="49" charset="0"/>
                          <a:cs typeface="Courier New" panose="02070309020205020404" pitchFamily="49" charset="0"/>
                        </a:rPr>
                        <a:t>hhhh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1111</a:t>
                      </a:r>
                      <a:r>
                        <a:rPr lang="ru-RU" sz="1000" b="0">
                          <a:effectLst/>
                          <a:latin typeface="Courier New" panose="02070309020205020404" pitchFamily="49" charset="0"/>
                          <a:cs typeface="Courier New" panose="02070309020205020404" pitchFamily="49" charset="0"/>
                        </a:rPr>
                        <a:t>0000</a:t>
                      </a:r>
                    </a:p>
                  </a:txBody>
                  <a:tcPr marL="31750" marR="31750" marT="31750" marB="31750" anchor="ctr"/>
                </a:tc>
                <a:tc>
                  <a:txBody>
                    <a:bodyPr/>
                    <a:lstStyle/>
                    <a:p>
                      <a:pPr rtl="0" fontAlgn="ctr"/>
                      <a:r>
                        <a:rPr lang="ru-RU" sz="1000" b="1">
                          <a:effectLst/>
                        </a:rPr>
                        <a:t>16</a:t>
                      </a:r>
                    </a:p>
                  </a:txBody>
                  <a:tcPr marL="31750" marR="31750" marT="31750" marB="31750" anchor="ctr"/>
                </a:tc>
                <a:tc>
                  <a:txBody>
                    <a:bodyPr/>
                    <a:lstStyle/>
                    <a:p>
                      <a:pPr rtl="0" fontAlgn="ctr"/>
                      <a:r>
                        <a:rPr lang="ru-RU" sz="1000" b="0">
                          <a:effectLst/>
                        </a:rPr>
                        <a:t>14</a:t>
                      </a:r>
                    </a:p>
                  </a:txBody>
                  <a:tcPr marL="31750" marR="31750" marT="31750" marB="31750" anchor="ctr"/>
                </a:tc>
                <a:extLst>
                  <a:ext uri="{0D108BD9-81ED-4DB2-BD59-A6C34878D82A}">
                    <a16:rowId xmlns:a16="http://schemas.microsoft.com/office/drawing/2014/main" val="1694683452"/>
                  </a:ext>
                </a:extLst>
              </a:tr>
              <a:tr h="370840">
                <a:tc>
                  <a:txBody>
                    <a:bodyPr/>
                    <a:lstStyle/>
                    <a:p>
                      <a:pPr rtl="0" fontAlgn="ctr"/>
                      <a:r>
                        <a:rPr lang="ru-RU" sz="1000" b="0">
                          <a:effectLst/>
                        </a:rPr>
                        <a:t>/29</a:t>
                      </a:r>
                    </a:p>
                  </a:txBody>
                  <a:tcPr marL="31750" marR="31750" marT="31750" marB="31750" anchor="ctr"/>
                </a:tc>
                <a:tc>
                  <a:txBody>
                    <a:bodyPr/>
                    <a:lstStyle/>
                    <a:p>
                      <a:pPr rtl="0" fontAlgn="ctr"/>
                      <a:r>
                        <a:rPr lang="ru-RU" sz="1000" b="0">
                          <a:effectLst/>
                        </a:rPr>
                        <a:t>255.255.255.248</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nnnnn</a:t>
                      </a:r>
                      <a:r>
                        <a:rPr lang="ru-RU" sz="1000" b="0">
                          <a:effectLst/>
                          <a:latin typeface="Courier New" panose="02070309020205020404" pitchFamily="49" charset="0"/>
                          <a:cs typeface="Courier New" panose="02070309020205020404" pitchFamily="49" charset="0"/>
                        </a:rPr>
                        <a:t>hhh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11111</a:t>
                      </a:r>
                      <a:r>
                        <a:rPr lang="ru-RU" sz="1000" b="0">
                          <a:effectLst/>
                          <a:latin typeface="Courier New" panose="02070309020205020404" pitchFamily="49" charset="0"/>
                          <a:cs typeface="Courier New" panose="02070309020205020404" pitchFamily="49" charset="0"/>
                        </a:rPr>
                        <a:t>000</a:t>
                      </a:r>
                    </a:p>
                  </a:txBody>
                  <a:tcPr marL="31750" marR="31750" marT="31750" marB="31750" anchor="ctr"/>
                </a:tc>
                <a:tc>
                  <a:txBody>
                    <a:bodyPr/>
                    <a:lstStyle/>
                    <a:p>
                      <a:pPr rtl="0" fontAlgn="ctr"/>
                      <a:r>
                        <a:rPr lang="ru-RU" sz="1000" b="1">
                          <a:effectLst/>
                        </a:rPr>
                        <a:t>32</a:t>
                      </a:r>
                    </a:p>
                  </a:txBody>
                  <a:tcPr marL="31750" marR="31750" marT="31750" marB="31750" anchor="ctr"/>
                </a:tc>
                <a:tc>
                  <a:txBody>
                    <a:bodyPr/>
                    <a:lstStyle/>
                    <a:p>
                      <a:pPr rtl="0" fontAlgn="ctr"/>
                      <a:r>
                        <a:rPr lang="ru-RU" sz="1000" b="0">
                          <a:effectLst/>
                        </a:rPr>
                        <a:t>6</a:t>
                      </a:r>
                    </a:p>
                  </a:txBody>
                  <a:tcPr marL="31750" marR="31750" marT="31750" marB="31750" anchor="ctr"/>
                </a:tc>
                <a:extLst>
                  <a:ext uri="{0D108BD9-81ED-4DB2-BD59-A6C34878D82A}">
                    <a16:rowId xmlns:a16="http://schemas.microsoft.com/office/drawing/2014/main" val="2090259769"/>
                  </a:ext>
                </a:extLst>
              </a:tr>
              <a:tr h="370840">
                <a:tc>
                  <a:txBody>
                    <a:bodyPr/>
                    <a:lstStyle/>
                    <a:p>
                      <a:pPr rtl="0" fontAlgn="ctr"/>
                      <a:r>
                        <a:rPr lang="ru-RU" sz="1000" b="0">
                          <a:effectLst/>
                        </a:rPr>
                        <a:t>/30</a:t>
                      </a:r>
                    </a:p>
                  </a:txBody>
                  <a:tcPr marL="31750" marR="31750" marT="31750" marB="31750" anchor="ctr"/>
                </a:tc>
                <a:tc>
                  <a:txBody>
                    <a:bodyPr/>
                    <a:lstStyle/>
                    <a:p>
                      <a:pPr rtl="0" fontAlgn="ctr"/>
                      <a:r>
                        <a:rPr lang="ru-RU" sz="1000" b="0">
                          <a:effectLst/>
                        </a:rPr>
                        <a:t>255.255.255.252</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nnnnnn</a:t>
                      </a:r>
                      <a:r>
                        <a:rPr lang="ru-RU" sz="1000" b="0">
                          <a:effectLst/>
                          <a:latin typeface="Courier New" panose="02070309020205020404" pitchFamily="49" charset="0"/>
                          <a:cs typeface="Courier New" panose="02070309020205020404" pitchFamily="49" charset="0"/>
                        </a:rPr>
                        <a:t>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111111</a:t>
                      </a:r>
                      <a:r>
                        <a:rPr lang="ru-RU" sz="1000" b="0">
                          <a:effectLst/>
                          <a:latin typeface="Courier New" panose="02070309020205020404" pitchFamily="49" charset="0"/>
                          <a:cs typeface="Courier New" panose="02070309020205020404" pitchFamily="49" charset="0"/>
                        </a:rPr>
                        <a:t>00</a:t>
                      </a:r>
                    </a:p>
                  </a:txBody>
                  <a:tcPr marL="31750" marR="31750" marT="31750" marB="31750" anchor="ctr"/>
                </a:tc>
                <a:tc>
                  <a:txBody>
                    <a:bodyPr/>
                    <a:lstStyle/>
                    <a:p>
                      <a:pPr rtl="0" fontAlgn="ctr"/>
                      <a:r>
                        <a:rPr lang="ru-RU" sz="1000" b="1">
                          <a:effectLst/>
                        </a:rPr>
                        <a:t>64</a:t>
                      </a:r>
                    </a:p>
                  </a:txBody>
                  <a:tcPr marL="31750" marR="31750" marT="31750" marB="31750" anchor="ctr"/>
                </a:tc>
                <a:tc>
                  <a:txBody>
                    <a:bodyPr/>
                    <a:lstStyle/>
                    <a:p>
                      <a:pPr rtl="0" fontAlgn="ctr"/>
                      <a:r>
                        <a:rPr lang="ru-RU" sz="1000" b="0" dirty="0">
                          <a:effectLst/>
                        </a:rPr>
                        <a:t>2</a:t>
                      </a:r>
                    </a:p>
                  </a:txBody>
                  <a:tcPr marL="31750" marR="31750" marT="31750" marB="31750" anchor="ctr"/>
                </a:tc>
                <a:extLst>
                  <a:ext uri="{0D108BD9-81ED-4DB2-BD59-A6C34878D82A}">
                    <a16:rowId xmlns:a16="http://schemas.microsoft.com/office/drawing/2014/main" val="4211026032"/>
                  </a:ext>
                </a:extLst>
              </a:tr>
            </a:tbl>
          </a:graphicData>
        </a:graphic>
      </p:graphicFrame>
    </p:spTree>
    <p:extLst>
      <p:ext uri="{BB962C8B-B14F-4D97-AF65-F5344CB8AC3E}">
        <p14:creationId xmlns:p14="http://schemas.microsoft.com/office/powerpoint/2010/main" val="3186957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Разделение сети IPv4 на подсети</a:t>
            </a:r>
            <a:br>
              <a:rPr lang="en-US" dirty="0"/>
            </a:br>
            <a:r>
              <a:rPr lang="ru-RU" sz="1600"/>
              <a:t> </a:t>
            </a:r>
            <a:r>
              <a:rPr lang="ru-RU" sz="2400"/>
              <a:t>Packet Tracer — Разделение IPv4-сети на подсети</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rtl="0">
              <a:spcBef>
                <a:spcPts val="0"/>
              </a:spcBef>
            </a:pPr>
            <a:r>
              <a:rPr lang="ru-RU" sz="1600">
                <a:solidFill>
                  <a:srgbClr val="000000"/>
                </a:solidFill>
              </a:rPr>
              <a:t>В этом задании Packet Tracer вы будете делать следующее:</a:t>
            </a:r>
          </a:p>
          <a:p>
            <a:pPr marL="0" indent="0" algn="l">
              <a:spcBef>
                <a:spcPts val="0"/>
              </a:spcBef>
            </a:pPr>
            <a:endParaRPr lang="en-US" sz="1600" dirty="0">
              <a:solidFill>
                <a:srgbClr val="000000"/>
              </a:solidFill>
            </a:endParaRP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Разработка схемы разделения сети на подсети</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Настройка устройств</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Проверка сети и устранение неполадок</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170421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ru-RU">
                <a:solidFill>
                  <a:schemeClr val="accent5">
                    <a:lumMod val="40000"/>
                    <a:lumOff val="60000"/>
                  </a:schemeClr>
                </a:solidFill>
              </a:rPr>
              <a:t>11.6 Подсеть: /16 и /8</a:t>
            </a:r>
          </a:p>
        </p:txBody>
      </p:sp>
    </p:spTree>
    <p:custDataLst>
      <p:tags r:id="rId1"/>
    </p:custDataLst>
    <p:extLst>
      <p:ext uri="{BB962C8B-B14F-4D97-AF65-F5344CB8AC3E}">
        <p14:creationId xmlns:p14="http://schemas.microsoft.com/office/powerpoint/2010/main" val="1804441035"/>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Подсеть /16 и префиксом /8</a:t>
            </a:r>
            <a:br>
              <a:rPr lang="en-US" dirty="0"/>
            </a:br>
            <a:r>
              <a:rPr lang="ru-RU" sz="2400"/>
              <a:t>Создание подсетей с префиксом /16</a:t>
            </a:r>
          </a:p>
        </p:txBody>
      </p:sp>
      <p:sp>
        <p:nvSpPr>
          <p:cNvPr id="7" name="Content Placeholder 3">
            <a:extLst>
              <a:ext uri="{FF2B5EF4-FFF2-40B4-BE49-F238E27FC236}">
                <a16:creationId xmlns:a16="http://schemas.microsoft.com/office/drawing/2014/main" id="{A92F2256-EB3D-415D-8AD3-8D728E435B5E}"/>
              </a:ext>
            </a:extLst>
          </p:cNvPr>
          <p:cNvSpPr>
            <a:spLocks noGrp="1"/>
          </p:cNvSpPr>
          <p:nvPr>
            <p:ph idx="1"/>
          </p:nvPr>
        </p:nvSpPr>
        <p:spPr>
          <a:xfrm>
            <a:off x="0" y="855419"/>
            <a:ext cx="3222237" cy="3073946"/>
          </a:xfrm>
        </p:spPr>
        <p:txBody>
          <a:bodyPr/>
          <a:lstStyle/>
          <a:p>
            <a:pPr marL="0" indent="0" algn="l" rtl="0"/>
            <a:r>
              <a:rPr lang="ru-RU" sz="1600" dirty="0">
                <a:solidFill>
                  <a:srgbClr val="000000"/>
                </a:solidFill>
              </a:rPr>
              <a:t>В таблице на рисунке представлены все возможные сценарии разделения на подсети с префиксом /16.</a:t>
            </a:r>
          </a:p>
        </p:txBody>
      </p:sp>
      <p:graphicFrame>
        <p:nvGraphicFramePr>
          <p:cNvPr id="2" name="Table 1">
            <a:extLst>
              <a:ext uri="{FF2B5EF4-FFF2-40B4-BE49-F238E27FC236}">
                <a16:creationId xmlns:a16="http://schemas.microsoft.com/office/drawing/2014/main" id="{CDE0FA95-43CC-4153-B365-8C3E8D1B3BEC}"/>
              </a:ext>
            </a:extLst>
          </p:cNvPr>
          <p:cNvGraphicFramePr>
            <a:graphicFrameLocks noGrp="1"/>
          </p:cNvGraphicFramePr>
          <p:nvPr>
            <p:extLst>
              <p:ext uri="{D42A27DB-BD31-4B8C-83A1-F6EECF244321}">
                <p14:modId xmlns:p14="http://schemas.microsoft.com/office/powerpoint/2010/main" val="3845819510"/>
              </p:ext>
            </p:extLst>
          </p:nvPr>
        </p:nvGraphicFramePr>
        <p:xfrm>
          <a:off x="2898648" y="617507"/>
          <a:ext cx="6198217" cy="4610100"/>
        </p:xfrm>
        <a:graphic>
          <a:graphicData uri="http://schemas.openxmlformats.org/drawingml/2006/table">
            <a:tbl>
              <a:tblPr firstRow="1" bandRow="1">
                <a:tableStyleId>{5C22544A-7EE6-4342-B048-85BDC9FD1C3A}</a:tableStyleId>
              </a:tblPr>
              <a:tblGrid>
                <a:gridCol w="1065614">
                  <a:extLst>
                    <a:ext uri="{9D8B030D-6E8A-4147-A177-3AD203B41FA5}">
                      <a16:colId xmlns:a16="http://schemas.microsoft.com/office/drawing/2014/main" val="3400914921"/>
                    </a:ext>
                  </a:extLst>
                </a:gridCol>
                <a:gridCol w="1097141">
                  <a:extLst>
                    <a:ext uri="{9D8B030D-6E8A-4147-A177-3AD203B41FA5}">
                      <a16:colId xmlns:a16="http://schemas.microsoft.com/office/drawing/2014/main" val="2755569675"/>
                    </a:ext>
                  </a:extLst>
                </a:gridCol>
                <a:gridCol w="2559996">
                  <a:extLst>
                    <a:ext uri="{9D8B030D-6E8A-4147-A177-3AD203B41FA5}">
                      <a16:colId xmlns:a16="http://schemas.microsoft.com/office/drawing/2014/main" val="2977755399"/>
                    </a:ext>
                  </a:extLst>
                </a:gridCol>
                <a:gridCol w="770418">
                  <a:extLst>
                    <a:ext uri="{9D8B030D-6E8A-4147-A177-3AD203B41FA5}">
                      <a16:colId xmlns:a16="http://schemas.microsoft.com/office/drawing/2014/main" val="1257793725"/>
                    </a:ext>
                  </a:extLst>
                </a:gridCol>
                <a:gridCol w="705048">
                  <a:extLst>
                    <a:ext uri="{9D8B030D-6E8A-4147-A177-3AD203B41FA5}">
                      <a16:colId xmlns:a16="http://schemas.microsoft.com/office/drawing/2014/main" val="859093634"/>
                    </a:ext>
                  </a:extLst>
                </a:gridCol>
              </a:tblGrid>
              <a:tr h="294722">
                <a:tc>
                  <a:txBody>
                    <a:bodyPr/>
                    <a:lstStyle/>
                    <a:p>
                      <a:pPr algn="l" rtl="0" fontAlgn="ctr"/>
                      <a:r>
                        <a:rPr lang="ru-RU" sz="800" b="1">
                          <a:effectLst/>
                        </a:rPr>
                        <a:t>Длина префикса</a:t>
                      </a:r>
                    </a:p>
                  </a:txBody>
                  <a:tcPr marL="31750" marR="31750" marT="31750" marB="31750" anchor="ctr"/>
                </a:tc>
                <a:tc>
                  <a:txBody>
                    <a:bodyPr/>
                    <a:lstStyle/>
                    <a:p>
                      <a:pPr algn="l" rtl="0" fontAlgn="ctr"/>
                      <a:r>
                        <a:rPr lang="ru-RU" sz="800" b="1">
                          <a:effectLst/>
                        </a:rPr>
                        <a:t>Маска подсети</a:t>
                      </a:r>
                    </a:p>
                  </a:txBody>
                  <a:tcPr marL="31750" marR="31750" marT="31750" marB="31750" anchor="ctr"/>
                </a:tc>
                <a:tc>
                  <a:txBody>
                    <a:bodyPr/>
                    <a:lstStyle/>
                    <a:p>
                      <a:pPr algn="l" rtl="0" fontAlgn="ctr"/>
                      <a:r>
                        <a:rPr lang="ru-RU" sz="800" b="1">
                          <a:effectLst/>
                        </a:rPr>
                        <a:t>Сетевой адрес (с = сеть, х = хост)</a:t>
                      </a:r>
                    </a:p>
                  </a:txBody>
                  <a:tcPr marL="31750" marR="31750" marT="31750" marB="31750" anchor="ctr"/>
                </a:tc>
                <a:tc>
                  <a:txBody>
                    <a:bodyPr/>
                    <a:lstStyle/>
                    <a:p>
                      <a:pPr algn="l" rtl="0" fontAlgn="ctr"/>
                      <a:r>
                        <a:rPr lang="ru-RU" sz="800" b="1">
                          <a:effectLst/>
                        </a:rPr>
                        <a:t>Количество подсетей</a:t>
                      </a:r>
                    </a:p>
                  </a:txBody>
                  <a:tcPr marL="31750" marR="31750" marT="31750" marB="31750" anchor="ctr"/>
                </a:tc>
                <a:tc>
                  <a:txBody>
                    <a:bodyPr/>
                    <a:lstStyle/>
                    <a:p>
                      <a:pPr algn="l" rtl="0" fontAlgn="ctr"/>
                      <a:r>
                        <a:rPr lang="ru-RU" sz="800" b="1">
                          <a:effectLst/>
                        </a:rPr>
                        <a:t>Количество узлов</a:t>
                      </a:r>
                    </a:p>
                  </a:txBody>
                  <a:tcPr marL="31750" marR="31750" marT="31750" marB="31750" anchor="ctr"/>
                </a:tc>
                <a:extLst>
                  <a:ext uri="{0D108BD9-81ED-4DB2-BD59-A6C34878D82A}">
                    <a16:rowId xmlns:a16="http://schemas.microsoft.com/office/drawing/2014/main" val="334953287"/>
                  </a:ext>
                </a:extLst>
              </a:tr>
              <a:tr h="294722">
                <a:tc>
                  <a:txBody>
                    <a:bodyPr/>
                    <a:lstStyle/>
                    <a:p>
                      <a:pPr rtl="0" fontAlgn="ctr"/>
                      <a:r>
                        <a:rPr lang="ru-RU" sz="800" b="0">
                          <a:effectLst/>
                        </a:rPr>
                        <a:t>/17</a:t>
                      </a:r>
                    </a:p>
                  </a:txBody>
                  <a:tcPr marL="31750" marR="31750" marT="31750" marB="31750" anchor="ctr"/>
                </a:tc>
                <a:tc>
                  <a:txBody>
                    <a:bodyPr/>
                    <a:lstStyle/>
                    <a:p>
                      <a:pPr rtl="0" fontAlgn="ctr"/>
                      <a:r>
                        <a:rPr lang="ru-RU" sz="800" b="0">
                          <a:effectLst/>
                        </a:rPr>
                        <a:t>255.255.</a:t>
                      </a:r>
                      <a:r>
                        <a:rPr lang="ru-RU" sz="800" b="1">
                          <a:effectLst/>
                        </a:rPr>
                        <a:t>128</a:t>
                      </a:r>
                      <a:r>
                        <a:rPr lang="ru-RU" sz="800" b="0">
                          <a:effectLst/>
                        </a:rPr>
                        <a:t>,0</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nnnnnnnn.nnnnnnnn.</a:t>
                      </a:r>
                      <a:r>
                        <a:rPr lang="ru-RU" sz="800" b="1">
                          <a:effectLst/>
                          <a:latin typeface="Courier New" panose="02070309020205020404" pitchFamily="49" charset="0"/>
                          <a:cs typeface="Courier New" panose="02070309020205020404" pitchFamily="49" charset="0"/>
                        </a:rPr>
                        <a:t>n</a:t>
                      </a:r>
                      <a:r>
                        <a:rPr lang="ru-RU" sz="800" b="0">
                          <a:effectLst/>
                          <a:latin typeface="Courier New" panose="02070309020205020404" pitchFamily="49" charset="0"/>
                          <a:cs typeface="Courier New" panose="02070309020205020404" pitchFamily="49" charset="0"/>
                        </a:rPr>
                        <a:t>hhhhhhh.hhhhhhhh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a:t>
                      </a:r>
                      <a:r>
                        <a:rPr lang="ru-RU" sz="800" b="0">
                          <a:effectLst/>
                          <a:latin typeface="Courier New" panose="02070309020205020404" pitchFamily="49" charset="0"/>
                          <a:cs typeface="Courier New" panose="02070309020205020404" pitchFamily="49" charset="0"/>
                        </a:rPr>
                        <a:t>00000000000000</a:t>
                      </a:r>
                    </a:p>
                  </a:txBody>
                  <a:tcPr marL="31750" marR="31750" marT="31750" marB="31750" anchor="ctr"/>
                </a:tc>
                <a:tc>
                  <a:txBody>
                    <a:bodyPr/>
                    <a:lstStyle/>
                    <a:p>
                      <a:pPr rtl="0" fontAlgn="ctr"/>
                      <a:r>
                        <a:rPr lang="ru-RU" sz="800" b="1">
                          <a:effectLst/>
                        </a:rPr>
                        <a:t>2</a:t>
                      </a:r>
                    </a:p>
                  </a:txBody>
                  <a:tcPr marL="31750" marR="31750" marT="31750" marB="31750" anchor="ctr"/>
                </a:tc>
                <a:tc>
                  <a:txBody>
                    <a:bodyPr/>
                    <a:lstStyle/>
                    <a:p>
                      <a:pPr rtl="0" fontAlgn="ctr"/>
                      <a:r>
                        <a:rPr lang="ru-RU" sz="800" b="0">
                          <a:effectLst/>
                        </a:rPr>
                        <a:t>32766</a:t>
                      </a:r>
                    </a:p>
                  </a:txBody>
                  <a:tcPr marL="31750" marR="31750" marT="31750" marB="31750" anchor="ctr"/>
                </a:tc>
                <a:extLst>
                  <a:ext uri="{0D108BD9-81ED-4DB2-BD59-A6C34878D82A}">
                    <a16:rowId xmlns:a16="http://schemas.microsoft.com/office/drawing/2014/main" val="1543777364"/>
                  </a:ext>
                </a:extLst>
              </a:tr>
              <a:tr h="294722">
                <a:tc>
                  <a:txBody>
                    <a:bodyPr/>
                    <a:lstStyle/>
                    <a:p>
                      <a:pPr rtl="0" fontAlgn="ctr"/>
                      <a:r>
                        <a:rPr lang="ru-RU" sz="800" b="0">
                          <a:effectLst/>
                        </a:rPr>
                        <a:t>/18</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192</a:t>
                      </a:r>
                      <a:r>
                        <a:rPr lang="ru-RU" sz="800" b="0">
                          <a:effectLst/>
                        </a:rPr>
                        <a:t>,0</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nnnnnnnn.nnnnnnnn.</a:t>
                      </a:r>
                      <a:r>
                        <a:rPr lang="ru-RU" sz="800" b="1">
                          <a:effectLst/>
                          <a:latin typeface="Courier New" panose="02070309020205020404" pitchFamily="49" charset="0"/>
                          <a:cs typeface="Courier New" panose="02070309020205020404" pitchFamily="49" charset="0"/>
                        </a:rPr>
                        <a:t>nn</a:t>
                      </a:r>
                      <a:r>
                        <a:rPr lang="ru-RU" sz="800" b="0">
                          <a:effectLst/>
                          <a:latin typeface="Courier New" panose="02070309020205020404" pitchFamily="49" charset="0"/>
                          <a:cs typeface="Courier New" panose="02070309020205020404" pitchFamily="49" charset="0"/>
                        </a:rPr>
                        <a:t>hhhhhh.hhhhhhhh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11</a:t>
                      </a:r>
                      <a:r>
                        <a:rPr lang="ru-RU" sz="800" b="0">
                          <a:effectLst/>
                          <a:latin typeface="Courier New" panose="02070309020205020404" pitchFamily="49" charset="0"/>
                          <a:cs typeface="Courier New" panose="02070309020205020404" pitchFamily="49" charset="0"/>
                        </a:rPr>
                        <a:t>00000000000000 </a:t>
                      </a:r>
                    </a:p>
                  </a:txBody>
                  <a:tcPr marL="31750" marR="31750" marT="31750" marB="31750" anchor="ctr"/>
                </a:tc>
                <a:tc>
                  <a:txBody>
                    <a:bodyPr/>
                    <a:lstStyle/>
                    <a:p>
                      <a:pPr rtl="0" fontAlgn="ctr"/>
                      <a:r>
                        <a:rPr lang="ru-RU" sz="800" b="1">
                          <a:effectLst/>
                        </a:rPr>
                        <a:t>4</a:t>
                      </a:r>
                    </a:p>
                  </a:txBody>
                  <a:tcPr marL="31750" marR="31750" marT="31750" marB="31750" anchor="ctr"/>
                </a:tc>
                <a:tc>
                  <a:txBody>
                    <a:bodyPr/>
                    <a:lstStyle/>
                    <a:p>
                      <a:pPr rtl="0" fontAlgn="ctr"/>
                      <a:r>
                        <a:rPr lang="ru-RU" sz="800" b="0">
                          <a:effectLst/>
                        </a:rPr>
                        <a:t>16382</a:t>
                      </a:r>
                    </a:p>
                  </a:txBody>
                  <a:tcPr marL="31750" marR="31750" marT="31750" marB="31750" anchor="ctr"/>
                </a:tc>
                <a:extLst>
                  <a:ext uri="{0D108BD9-81ED-4DB2-BD59-A6C34878D82A}">
                    <a16:rowId xmlns:a16="http://schemas.microsoft.com/office/drawing/2014/main" val="507666450"/>
                  </a:ext>
                </a:extLst>
              </a:tr>
              <a:tr h="294722">
                <a:tc>
                  <a:txBody>
                    <a:bodyPr/>
                    <a:lstStyle/>
                    <a:p>
                      <a:pPr rtl="0" fontAlgn="ctr"/>
                      <a:r>
                        <a:rPr lang="ru-RU" sz="800" b="0">
                          <a:effectLst/>
                        </a:rPr>
                        <a:t>/19</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224</a:t>
                      </a:r>
                      <a:r>
                        <a:rPr lang="ru-RU" sz="800" b="0">
                          <a:effectLst/>
                        </a:rPr>
                        <a:t>.0</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nnnnnnnn.nnnnnnnn.</a:t>
                      </a:r>
                      <a:r>
                        <a:rPr lang="ru-RU" sz="800" b="1">
                          <a:effectLst/>
                          <a:latin typeface="Courier New" panose="02070309020205020404" pitchFamily="49" charset="0"/>
                          <a:cs typeface="Courier New" panose="02070309020205020404" pitchFamily="49" charset="0"/>
                        </a:rPr>
                        <a:t>nnn</a:t>
                      </a:r>
                      <a:r>
                        <a:rPr lang="ru-RU" sz="800" b="0">
                          <a:effectLst/>
                          <a:latin typeface="Courier New" panose="02070309020205020404" pitchFamily="49" charset="0"/>
                          <a:cs typeface="Courier New" panose="02070309020205020404" pitchFamily="49" charset="0"/>
                        </a:rPr>
                        <a:t>hhhhh.hhhhhhhh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111</a:t>
                      </a:r>
                      <a:r>
                        <a:rPr lang="ru-RU" sz="800" b="0">
                          <a:effectLst/>
                          <a:latin typeface="Courier New" panose="02070309020205020404" pitchFamily="49" charset="0"/>
                          <a:cs typeface="Courier New" panose="02070309020205020404" pitchFamily="49" charset="0"/>
                        </a:rPr>
                        <a:t>000000000000 </a:t>
                      </a:r>
                    </a:p>
                  </a:txBody>
                  <a:tcPr marL="31750" marR="31750" marT="31750" marB="31750" anchor="ctr"/>
                </a:tc>
                <a:tc>
                  <a:txBody>
                    <a:bodyPr/>
                    <a:lstStyle/>
                    <a:p>
                      <a:pPr rtl="0" fontAlgn="ctr"/>
                      <a:r>
                        <a:rPr lang="ru-RU" sz="800" b="1">
                          <a:effectLst/>
                        </a:rPr>
                        <a:t>8</a:t>
                      </a:r>
                    </a:p>
                  </a:txBody>
                  <a:tcPr marL="31750" marR="31750" marT="31750" marB="31750" anchor="ctr"/>
                </a:tc>
                <a:tc>
                  <a:txBody>
                    <a:bodyPr/>
                    <a:lstStyle/>
                    <a:p>
                      <a:pPr rtl="0" fontAlgn="ctr"/>
                      <a:r>
                        <a:rPr lang="ru-RU" sz="800" b="0">
                          <a:effectLst/>
                        </a:rPr>
                        <a:t>8 190</a:t>
                      </a:r>
                    </a:p>
                  </a:txBody>
                  <a:tcPr marL="31750" marR="31750" marT="31750" marB="31750" anchor="ctr"/>
                </a:tc>
                <a:extLst>
                  <a:ext uri="{0D108BD9-81ED-4DB2-BD59-A6C34878D82A}">
                    <a16:rowId xmlns:a16="http://schemas.microsoft.com/office/drawing/2014/main" val="895088631"/>
                  </a:ext>
                </a:extLst>
              </a:tr>
              <a:tr h="294722">
                <a:tc>
                  <a:txBody>
                    <a:bodyPr/>
                    <a:lstStyle/>
                    <a:p>
                      <a:pPr rtl="0" fontAlgn="ctr"/>
                      <a:r>
                        <a:rPr lang="ru-RU" sz="800" b="0">
                          <a:effectLst/>
                        </a:rPr>
                        <a:t>/20</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240</a:t>
                      </a:r>
                      <a:r>
                        <a:rPr lang="ru-RU" sz="800" b="0">
                          <a:effectLst/>
                        </a:rPr>
                        <a:t>,0</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nnnnnnnn.nnnnnnnn.</a:t>
                      </a:r>
                      <a:r>
                        <a:rPr lang="ru-RU" sz="800" b="1">
                          <a:effectLst/>
                          <a:latin typeface="Courier New" panose="02070309020205020404" pitchFamily="49" charset="0"/>
                          <a:cs typeface="Courier New" panose="02070309020205020404" pitchFamily="49" charset="0"/>
                        </a:rPr>
                        <a:t>nnnn</a:t>
                      </a:r>
                      <a:r>
                        <a:rPr lang="ru-RU" sz="800" b="0">
                          <a:effectLst/>
                          <a:latin typeface="Courier New" panose="02070309020205020404" pitchFamily="49" charset="0"/>
                          <a:cs typeface="Courier New" panose="02070309020205020404" pitchFamily="49" charset="0"/>
                        </a:rPr>
                        <a:t>hhhh.hhhhhhhh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1111</a:t>
                      </a:r>
                      <a:r>
                        <a:rPr lang="ru-RU" sz="800" b="0">
                          <a:effectLst/>
                          <a:latin typeface="Courier New" panose="02070309020205020404" pitchFamily="49" charset="0"/>
                          <a:cs typeface="Courier New" panose="02070309020205020404" pitchFamily="49" charset="0"/>
                        </a:rPr>
                        <a:t>000000000000</a:t>
                      </a:r>
                    </a:p>
                  </a:txBody>
                  <a:tcPr marL="31750" marR="31750" marT="31750" marB="31750" anchor="ctr"/>
                </a:tc>
                <a:tc>
                  <a:txBody>
                    <a:bodyPr/>
                    <a:lstStyle/>
                    <a:p>
                      <a:pPr rtl="0" fontAlgn="ctr"/>
                      <a:r>
                        <a:rPr lang="ru-RU" sz="800" b="1">
                          <a:effectLst/>
                        </a:rPr>
                        <a:t>16</a:t>
                      </a:r>
                    </a:p>
                  </a:txBody>
                  <a:tcPr marL="31750" marR="31750" marT="31750" marB="31750" anchor="ctr"/>
                </a:tc>
                <a:tc>
                  <a:txBody>
                    <a:bodyPr/>
                    <a:lstStyle/>
                    <a:p>
                      <a:pPr rtl="0" fontAlgn="ctr"/>
                      <a:r>
                        <a:rPr lang="ru-RU" sz="800" b="0">
                          <a:effectLst/>
                        </a:rPr>
                        <a:t>4 094</a:t>
                      </a:r>
                    </a:p>
                  </a:txBody>
                  <a:tcPr marL="31750" marR="31750" marT="31750" marB="31750" anchor="ctr"/>
                </a:tc>
                <a:extLst>
                  <a:ext uri="{0D108BD9-81ED-4DB2-BD59-A6C34878D82A}">
                    <a16:rowId xmlns:a16="http://schemas.microsoft.com/office/drawing/2014/main" val="3687745671"/>
                  </a:ext>
                </a:extLst>
              </a:tr>
              <a:tr h="294722">
                <a:tc>
                  <a:txBody>
                    <a:bodyPr/>
                    <a:lstStyle/>
                    <a:p>
                      <a:pPr rtl="0" fontAlgn="ctr"/>
                      <a:r>
                        <a:rPr lang="ru-RU" sz="800" b="0">
                          <a:effectLst/>
                        </a:rPr>
                        <a:t>/21</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248</a:t>
                      </a:r>
                      <a:r>
                        <a:rPr lang="ru-RU" sz="800" b="0">
                          <a:effectLst/>
                        </a:rPr>
                        <a:t>,0</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nnnnnnnn.nnnnnnnn.</a:t>
                      </a:r>
                      <a:r>
                        <a:rPr lang="ru-RU" sz="800" b="1">
                          <a:effectLst/>
                          <a:latin typeface="Courier New" panose="02070309020205020404" pitchFamily="49" charset="0"/>
                          <a:cs typeface="Courier New" panose="02070309020205020404" pitchFamily="49" charset="0"/>
                        </a:rPr>
                        <a:t>nnnnn</a:t>
                      </a:r>
                      <a:r>
                        <a:rPr lang="ru-RU" sz="800" b="0">
                          <a:effectLst/>
                          <a:latin typeface="Courier New" panose="02070309020205020404" pitchFamily="49" charset="0"/>
                          <a:cs typeface="Courier New" panose="02070309020205020404" pitchFamily="49" charset="0"/>
                        </a:rPr>
                        <a:t>hhh.hhhhhhhh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11111</a:t>
                      </a:r>
                      <a:r>
                        <a:rPr lang="ru-RU" sz="800" b="0">
                          <a:effectLst/>
                          <a:latin typeface="Courier New" panose="02070309020205020404" pitchFamily="49" charset="0"/>
                          <a:cs typeface="Courier New" panose="02070309020205020404" pitchFamily="49" charset="0"/>
                        </a:rPr>
                        <a:t>000,00000000</a:t>
                      </a:r>
                    </a:p>
                  </a:txBody>
                  <a:tcPr marL="31750" marR="31750" marT="31750" marB="31750" anchor="ctr"/>
                </a:tc>
                <a:tc>
                  <a:txBody>
                    <a:bodyPr/>
                    <a:lstStyle/>
                    <a:p>
                      <a:pPr rtl="0" fontAlgn="ctr"/>
                      <a:r>
                        <a:rPr lang="ru-RU" sz="800" b="1">
                          <a:effectLst/>
                        </a:rPr>
                        <a:t>32</a:t>
                      </a:r>
                    </a:p>
                  </a:txBody>
                  <a:tcPr marL="31750" marR="31750" marT="31750" marB="31750" anchor="ctr"/>
                </a:tc>
                <a:tc>
                  <a:txBody>
                    <a:bodyPr/>
                    <a:lstStyle/>
                    <a:p>
                      <a:pPr rtl="0" fontAlgn="ctr"/>
                      <a:r>
                        <a:rPr lang="ru-RU" sz="800" b="0">
                          <a:effectLst/>
                        </a:rPr>
                        <a:t>2 046</a:t>
                      </a:r>
                    </a:p>
                  </a:txBody>
                  <a:tcPr marL="31750" marR="31750" marT="31750" marB="31750" anchor="ctr"/>
                </a:tc>
                <a:extLst>
                  <a:ext uri="{0D108BD9-81ED-4DB2-BD59-A6C34878D82A}">
                    <a16:rowId xmlns:a16="http://schemas.microsoft.com/office/drawing/2014/main" val="1717418088"/>
                  </a:ext>
                </a:extLst>
              </a:tr>
              <a:tr h="294722">
                <a:tc>
                  <a:txBody>
                    <a:bodyPr/>
                    <a:lstStyle/>
                    <a:p>
                      <a:pPr rtl="0" fontAlgn="ctr"/>
                      <a:r>
                        <a:rPr lang="ru-RU" sz="800" b="0">
                          <a:effectLst/>
                        </a:rPr>
                        <a:t>/22</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252</a:t>
                      </a:r>
                      <a:r>
                        <a:rPr lang="ru-RU" sz="800" b="0">
                          <a:effectLst/>
                        </a:rPr>
                        <a:t>.0</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нннннннннннннннннн. </a:t>
                      </a:r>
                      <a:r>
                        <a:rPr lang="ru-RU" sz="800" b="1">
                          <a:effectLst/>
                          <a:latin typeface="Courier New" panose="02070309020205020404" pitchFamily="49" charset="0"/>
                          <a:cs typeface="Courier New" panose="02070309020205020404" pitchFamily="49" charset="0"/>
                        </a:rPr>
                        <a:t>нннннн</a:t>
                      </a:r>
                      <a:r>
                        <a:rPr lang="ru-RU" sz="800" b="0">
                          <a:effectLst/>
                          <a:latin typeface="Courier New" panose="02070309020205020404" pitchFamily="49" charset="0"/>
                          <a:cs typeface="Courier New" panose="02070309020205020404" pitchFamily="49" charset="0"/>
                        </a:rPr>
                        <a:t>ххххххххххх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a:t>
                      </a:r>
                      <a:r>
                        <a:rPr lang="ru-RU" sz="800" b="1">
                          <a:effectLst/>
                          <a:latin typeface="Courier New" panose="02070309020205020404" pitchFamily="49" charset="0"/>
                          <a:cs typeface="Courier New" panose="02070309020205020404" pitchFamily="49" charset="0"/>
                        </a:rPr>
                        <a:t>111111</a:t>
                      </a:r>
                      <a:r>
                        <a:rPr lang="ru-RU" sz="800" b="0">
                          <a:effectLst/>
                          <a:latin typeface="Courier New" panose="02070309020205020404" pitchFamily="49" charset="0"/>
                          <a:cs typeface="Courier New" panose="02070309020205020404" pitchFamily="49" charset="0"/>
                        </a:rPr>
                        <a:t>00.00000000 </a:t>
                      </a:r>
                    </a:p>
                  </a:txBody>
                  <a:tcPr marL="31750" marR="31750" marT="31750" marB="31750" anchor="ctr"/>
                </a:tc>
                <a:tc>
                  <a:txBody>
                    <a:bodyPr/>
                    <a:lstStyle/>
                    <a:p>
                      <a:pPr rtl="0" fontAlgn="ctr"/>
                      <a:r>
                        <a:rPr lang="ru-RU" sz="800" b="1">
                          <a:effectLst/>
                        </a:rPr>
                        <a:t>64</a:t>
                      </a:r>
                    </a:p>
                  </a:txBody>
                  <a:tcPr marL="31750" marR="31750" marT="31750" marB="31750" anchor="ctr"/>
                </a:tc>
                <a:tc>
                  <a:txBody>
                    <a:bodyPr/>
                    <a:lstStyle/>
                    <a:p>
                      <a:pPr rtl="0" fontAlgn="ctr"/>
                      <a:r>
                        <a:rPr lang="ru-RU" sz="800" b="0">
                          <a:effectLst/>
                        </a:rPr>
                        <a:t>1 022</a:t>
                      </a:r>
                    </a:p>
                  </a:txBody>
                  <a:tcPr marL="31750" marR="31750" marT="31750" marB="31750" anchor="ctr"/>
                </a:tc>
                <a:extLst>
                  <a:ext uri="{0D108BD9-81ED-4DB2-BD59-A6C34878D82A}">
                    <a16:rowId xmlns:a16="http://schemas.microsoft.com/office/drawing/2014/main" val="2297882614"/>
                  </a:ext>
                </a:extLst>
              </a:tr>
              <a:tr h="294722">
                <a:tc>
                  <a:txBody>
                    <a:bodyPr/>
                    <a:lstStyle/>
                    <a:p>
                      <a:pPr rtl="0" fontAlgn="ctr"/>
                      <a:r>
                        <a:rPr lang="ru-RU" sz="800" b="0">
                          <a:effectLst/>
                        </a:rPr>
                        <a:t>/23</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254</a:t>
                      </a:r>
                      <a:r>
                        <a:rPr lang="ru-RU" sz="800" b="0">
                          <a:effectLst/>
                        </a:rPr>
                        <a:t>.0</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нннннннннннннннннн. </a:t>
                      </a:r>
                      <a:r>
                        <a:rPr lang="ru-RU" sz="800" b="1">
                          <a:effectLst/>
                          <a:latin typeface="Courier New" panose="02070309020205020404" pitchFamily="49" charset="0"/>
                          <a:cs typeface="Courier New" panose="02070309020205020404" pitchFamily="49" charset="0"/>
                        </a:rPr>
                        <a:t>ннннннн</a:t>
                      </a:r>
                      <a:r>
                        <a:rPr lang="ru-RU" sz="800" b="0">
                          <a:effectLst/>
                          <a:latin typeface="Courier New" panose="02070309020205020404" pitchFamily="49" charset="0"/>
                          <a:cs typeface="Courier New" panose="02070309020205020404" pitchFamily="49" charset="0"/>
                        </a:rPr>
                        <a:t>х.хххххххх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 </a:t>
                      </a:r>
                      <a:r>
                        <a:rPr lang="ru-RU" sz="800" b="1">
                          <a:effectLst/>
                          <a:latin typeface="Courier New" panose="02070309020205020404" pitchFamily="49" charset="0"/>
                          <a:cs typeface="Courier New" panose="02070309020205020404" pitchFamily="49" charset="0"/>
                        </a:rPr>
                        <a:t>1111111</a:t>
                      </a:r>
                      <a:r>
                        <a:rPr lang="ru-RU" sz="800" b="0">
                          <a:effectLst/>
                          <a:latin typeface="Courier New" panose="02070309020205020404" pitchFamily="49" charset="0"/>
                          <a:cs typeface="Courier New" panose="02070309020205020404" pitchFamily="49" charset="0"/>
                        </a:rPr>
                        <a:t>0,00000000 </a:t>
                      </a:r>
                    </a:p>
                  </a:txBody>
                  <a:tcPr marL="31750" marR="31750" marT="31750" marB="31750" anchor="ctr"/>
                </a:tc>
                <a:tc>
                  <a:txBody>
                    <a:bodyPr/>
                    <a:lstStyle/>
                    <a:p>
                      <a:pPr rtl="0" fontAlgn="ctr"/>
                      <a:r>
                        <a:rPr lang="ru-RU" sz="800" b="1">
                          <a:effectLst/>
                        </a:rPr>
                        <a:t>128</a:t>
                      </a:r>
                    </a:p>
                  </a:txBody>
                  <a:tcPr marL="31750" marR="31750" marT="31750" marB="31750" anchor="ctr"/>
                </a:tc>
                <a:tc>
                  <a:txBody>
                    <a:bodyPr/>
                    <a:lstStyle/>
                    <a:p>
                      <a:pPr rtl="0" fontAlgn="ctr"/>
                      <a:r>
                        <a:rPr lang="ru-RU" sz="800" b="0">
                          <a:effectLst/>
                        </a:rPr>
                        <a:t>510</a:t>
                      </a:r>
                    </a:p>
                  </a:txBody>
                  <a:tcPr marL="31750" marR="31750" marT="31750" marB="31750" anchor="ctr"/>
                </a:tc>
                <a:extLst>
                  <a:ext uri="{0D108BD9-81ED-4DB2-BD59-A6C34878D82A}">
                    <a16:rowId xmlns:a16="http://schemas.microsoft.com/office/drawing/2014/main" val="4013125813"/>
                  </a:ext>
                </a:extLst>
              </a:tr>
              <a:tr h="294722">
                <a:tc>
                  <a:txBody>
                    <a:bodyPr/>
                    <a:lstStyle/>
                    <a:p>
                      <a:pPr rtl="0" fontAlgn="ctr"/>
                      <a:r>
                        <a:rPr lang="ru-RU" sz="800" b="0">
                          <a:effectLst/>
                        </a:rPr>
                        <a:t>/24</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255</a:t>
                      </a:r>
                      <a:r>
                        <a:rPr lang="ru-RU" sz="800" b="0">
                          <a:effectLst/>
                        </a:rPr>
                        <a:t>.</a:t>
                      </a:r>
                      <a:r>
                        <a:rPr lang="ru-RU" sz="800" b="1">
                          <a:effectLst/>
                        </a:rPr>
                        <a:t>0</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нннннннннннннннннн. </a:t>
                      </a:r>
                      <a:r>
                        <a:rPr lang="ru-RU" sz="800" b="1">
                          <a:effectLst/>
                          <a:latin typeface="Courier New" panose="02070309020205020404" pitchFamily="49" charset="0"/>
                          <a:cs typeface="Courier New" panose="02070309020205020404" pitchFamily="49" charset="0"/>
                        </a:rPr>
                        <a:t>нннннннн</a:t>
                      </a:r>
                      <a:r>
                        <a:rPr lang="ru-RU" sz="800" b="0">
                          <a:effectLst/>
                          <a:latin typeface="Courier New" panose="02070309020205020404" pitchFamily="49" charset="0"/>
                          <a:cs typeface="Courier New" panose="02070309020205020404" pitchFamily="49" charset="0"/>
                        </a:rPr>
                        <a:t>.хххххх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1111111111.00000000</a:t>
                      </a:r>
                    </a:p>
                  </a:txBody>
                  <a:tcPr marL="31750" marR="31750" marT="31750" marB="31750" anchor="ctr"/>
                </a:tc>
                <a:tc>
                  <a:txBody>
                    <a:bodyPr/>
                    <a:lstStyle/>
                    <a:p>
                      <a:pPr rtl="0" fontAlgn="ctr"/>
                      <a:r>
                        <a:rPr lang="ru-RU" sz="800" b="1">
                          <a:effectLst/>
                        </a:rPr>
                        <a:t>256</a:t>
                      </a:r>
                    </a:p>
                  </a:txBody>
                  <a:tcPr marL="31750" marR="31750" marT="31750" marB="31750" anchor="ctr"/>
                </a:tc>
                <a:tc>
                  <a:txBody>
                    <a:bodyPr/>
                    <a:lstStyle/>
                    <a:p>
                      <a:pPr rtl="0" fontAlgn="ctr"/>
                      <a:r>
                        <a:rPr lang="ru-RU" sz="800" b="0">
                          <a:effectLst/>
                        </a:rPr>
                        <a:t>254</a:t>
                      </a:r>
                    </a:p>
                  </a:txBody>
                  <a:tcPr marL="31750" marR="31750" marT="31750" marB="31750" anchor="ctr"/>
                </a:tc>
                <a:extLst>
                  <a:ext uri="{0D108BD9-81ED-4DB2-BD59-A6C34878D82A}">
                    <a16:rowId xmlns:a16="http://schemas.microsoft.com/office/drawing/2014/main" val="2556719010"/>
                  </a:ext>
                </a:extLst>
              </a:tr>
              <a:tr h="294722">
                <a:tc>
                  <a:txBody>
                    <a:bodyPr/>
                    <a:lstStyle/>
                    <a:p>
                      <a:pPr rtl="0" fontAlgn="ctr"/>
                      <a:r>
                        <a:rPr lang="ru-RU" sz="800" b="0">
                          <a:effectLst/>
                        </a:rPr>
                        <a:t>/25</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255</a:t>
                      </a:r>
                      <a:r>
                        <a:rPr lang="ru-RU" sz="800" b="0">
                          <a:effectLst/>
                        </a:rPr>
                        <a:t>.</a:t>
                      </a:r>
                      <a:r>
                        <a:rPr lang="ru-RU" sz="800" b="1">
                          <a:effectLst/>
                        </a:rPr>
                        <a:t>128</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нннннннннннннннннн. </a:t>
                      </a:r>
                      <a:r>
                        <a:rPr lang="ru-RU" sz="800" b="1">
                          <a:effectLst/>
                          <a:latin typeface="Courier New" panose="02070309020205020404" pitchFamily="49" charset="0"/>
                          <a:cs typeface="Courier New" panose="02070309020205020404" pitchFamily="49" charset="0"/>
                        </a:rPr>
                        <a:t>ннннннннн.н</a:t>
                      </a:r>
                      <a:r>
                        <a:rPr lang="ru-RU" sz="800" b="0">
                          <a:effectLst/>
                          <a:latin typeface="Courier New" panose="02070309020205020404" pitchFamily="49" charset="0"/>
                          <a:cs typeface="Courier New" panose="02070309020205020404" pitchFamily="49" charset="0"/>
                        </a:rPr>
                        <a:t>хххххх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11111111.1</a:t>
                      </a:r>
                      <a:r>
                        <a:rPr lang="ru-RU" sz="800" b="0">
                          <a:effectLst/>
                          <a:latin typeface="Courier New" panose="02070309020205020404" pitchFamily="49" charset="0"/>
                          <a:cs typeface="Courier New" panose="02070309020205020404" pitchFamily="49" charset="0"/>
                        </a:rPr>
                        <a:t>0000000</a:t>
                      </a:r>
                    </a:p>
                  </a:txBody>
                  <a:tcPr marL="31750" marR="31750" marT="31750" marB="31750" anchor="ctr"/>
                </a:tc>
                <a:tc>
                  <a:txBody>
                    <a:bodyPr/>
                    <a:lstStyle/>
                    <a:p>
                      <a:pPr rtl="0" fontAlgn="ctr"/>
                      <a:r>
                        <a:rPr lang="ru-RU" sz="800" b="1">
                          <a:effectLst/>
                        </a:rPr>
                        <a:t>512</a:t>
                      </a:r>
                    </a:p>
                  </a:txBody>
                  <a:tcPr marL="31750" marR="31750" marT="31750" marB="31750" anchor="ctr"/>
                </a:tc>
                <a:tc>
                  <a:txBody>
                    <a:bodyPr/>
                    <a:lstStyle/>
                    <a:p>
                      <a:pPr rtl="0" fontAlgn="ctr"/>
                      <a:r>
                        <a:rPr lang="ru-RU" sz="800" b="0">
                          <a:effectLst/>
                        </a:rPr>
                        <a:t>126</a:t>
                      </a:r>
                    </a:p>
                  </a:txBody>
                  <a:tcPr marL="31750" marR="31750" marT="31750" marB="31750" anchor="ctr"/>
                </a:tc>
                <a:extLst>
                  <a:ext uri="{0D108BD9-81ED-4DB2-BD59-A6C34878D82A}">
                    <a16:rowId xmlns:a16="http://schemas.microsoft.com/office/drawing/2014/main" val="857005324"/>
                  </a:ext>
                </a:extLst>
              </a:tr>
              <a:tr h="294722">
                <a:tc>
                  <a:txBody>
                    <a:bodyPr/>
                    <a:lstStyle/>
                    <a:p>
                      <a:pPr rtl="0" fontAlgn="ctr"/>
                      <a:r>
                        <a:rPr lang="ru-RU" sz="800" b="0">
                          <a:effectLst/>
                        </a:rPr>
                        <a:t>/26</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255</a:t>
                      </a:r>
                      <a:r>
                        <a:rPr lang="ru-RU" sz="800" b="0">
                          <a:effectLst/>
                        </a:rPr>
                        <a:t>.</a:t>
                      </a:r>
                      <a:r>
                        <a:rPr lang="ru-RU" sz="800" b="1">
                          <a:effectLst/>
                        </a:rPr>
                        <a:t>192</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nnnnnnnn.nnnnnnnn.</a:t>
                      </a:r>
                      <a:r>
                        <a:rPr lang="ru-RU" sz="800" b="1">
                          <a:effectLst/>
                          <a:latin typeface="Courier New" panose="02070309020205020404" pitchFamily="49" charset="0"/>
                          <a:cs typeface="Courier New" panose="02070309020205020404" pitchFamily="49" charset="0"/>
                        </a:rPr>
                        <a:t>nnnnnnnn.nn</a:t>
                      </a:r>
                      <a:r>
                        <a:rPr lang="ru-RU" sz="800" b="0">
                          <a:effectLst/>
                          <a:latin typeface="Courier New" panose="02070309020205020404" pitchFamily="49" charset="0"/>
                          <a:cs typeface="Courier New" panose="02070309020205020404" pitchFamily="49" charset="0"/>
                        </a:rPr>
                        <a:t>hhhhhh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11111111.11</a:t>
                      </a:r>
                      <a:r>
                        <a:rPr lang="ru-RU" sz="800" b="0">
                          <a:effectLst/>
                          <a:latin typeface="Courier New" panose="02070309020205020404" pitchFamily="49" charset="0"/>
                          <a:cs typeface="Courier New" panose="02070309020205020404" pitchFamily="49" charset="0"/>
                        </a:rPr>
                        <a:t>000000</a:t>
                      </a:r>
                    </a:p>
                  </a:txBody>
                  <a:tcPr marL="31750" marR="31750" marT="31750" marB="31750" anchor="ctr"/>
                </a:tc>
                <a:tc>
                  <a:txBody>
                    <a:bodyPr/>
                    <a:lstStyle/>
                    <a:p>
                      <a:pPr rtl="0" fontAlgn="ctr"/>
                      <a:r>
                        <a:rPr lang="ru-RU" sz="800" b="1">
                          <a:effectLst/>
                        </a:rPr>
                        <a:t>1024</a:t>
                      </a:r>
                    </a:p>
                  </a:txBody>
                  <a:tcPr marL="31750" marR="31750" marT="31750" marB="31750" anchor="ctr"/>
                </a:tc>
                <a:tc>
                  <a:txBody>
                    <a:bodyPr/>
                    <a:lstStyle/>
                    <a:p>
                      <a:pPr rtl="0" fontAlgn="ctr"/>
                      <a:r>
                        <a:rPr lang="ru-RU" sz="800" b="0">
                          <a:effectLst/>
                        </a:rPr>
                        <a:t>62</a:t>
                      </a:r>
                    </a:p>
                  </a:txBody>
                  <a:tcPr marL="31750" marR="31750" marT="31750" marB="31750" anchor="ctr"/>
                </a:tc>
                <a:extLst>
                  <a:ext uri="{0D108BD9-81ED-4DB2-BD59-A6C34878D82A}">
                    <a16:rowId xmlns:a16="http://schemas.microsoft.com/office/drawing/2014/main" val="884378750"/>
                  </a:ext>
                </a:extLst>
              </a:tr>
              <a:tr h="294722">
                <a:tc>
                  <a:txBody>
                    <a:bodyPr/>
                    <a:lstStyle/>
                    <a:p>
                      <a:pPr rtl="0" fontAlgn="ctr"/>
                      <a:r>
                        <a:rPr lang="ru-RU" sz="800" b="0">
                          <a:effectLst/>
                        </a:rPr>
                        <a:t>/27</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255</a:t>
                      </a:r>
                      <a:r>
                        <a:rPr lang="ru-RU" sz="800" b="0">
                          <a:effectLst/>
                        </a:rPr>
                        <a:t>.</a:t>
                      </a:r>
                      <a:r>
                        <a:rPr lang="ru-RU" sz="800" b="1">
                          <a:effectLst/>
                        </a:rPr>
                        <a:t>224</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нннннннннннннннннн. </a:t>
                      </a:r>
                      <a:r>
                        <a:rPr lang="ru-RU" sz="800" b="1">
                          <a:effectLst/>
                          <a:latin typeface="Courier New" panose="02070309020205020404" pitchFamily="49" charset="0"/>
                          <a:cs typeface="Courier New" panose="02070309020205020404" pitchFamily="49" charset="0"/>
                        </a:rPr>
                        <a:t>нннннннннн</a:t>
                      </a:r>
                      <a:r>
                        <a:rPr lang="ru-RU" sz="800" b="0">
                          <a:effectLst/>
                          <a:latin typeface="Courier New" panose="02070309020205020404" pitchFamily="49" charset="0"/>
                          <a:cs typeface="Courier New" panose="02070309020205020404" pitchFamily="49" charset="0"/>
                        </a:rPr>
                        <a:t>ххххх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11111111.111</a:t>
                      </a:r>
                      <a:r>
                        <a:rPr lang="ru-RU" sz="800" b="0">
                          <a:effectLst/>
                          <a:latin typeface="Courier New" panose="02070309020205020404" pitchFamily="49" charset="0"/>
                          <a:cs typeface="Courier New" panose="02070309020205020404" pitchFamily="49" charset="0"/>
                        </a:rPr>
                        <a:t>00000</a:t>
                      </a:r>
                    </a:p>
                  </a:txBody>
                  <a:tcPr marL="31750" marR="31750" marT="31750" marB="31750" anchor="ctr"/>
                </a:tc>
                <a:tc>
                  <a:txBody>
                    <a:bodyPr/>
                    <a:lstStyle/>
                    <a:p>
                      <a:pPr rtl="0" fontAlgn="ctr"/>
                      <a:r>
                        <a:rPr lang="ru-RU" sz="800" b="1">
                          <a:effectLst/>
                        </a:rPr>
                        <a:t>2048</a:t>
                      </a:r>
                    </a:p>
                  </a:txBody>
                  <a:tcPr marL="31750" marR="31750" marT="31750" marB="31750" anchor="ctr"/>
                </a:tc>
                <a:tc>
                  <a:txBody>
                    <a:bodyPr/>
                    <a:lstStyle/>
                    <a:p>
                      <a:pPr rtl="0" fontAlgn="ctr"/>
                      <a:r>
                        <a:rPr lang="ru-RU" sz="800" b="0">
                          <a:effectLst/>
                        </a:rPr>
                        <a:t>30</a:t>
                      </a:r>
                    </a:p>
                  </a:txBody>
                  <a:tcPr marL="31750" marR="31750" marT="31750" marB="31750" anchor="ctr"/>
                </a:tc>
                <a:extLst>
                  <a:ext uri="{0D108BD9-81ED-4DB2-BD59-A6C34878D82A}">
                    <a16:rowId xmlns:a16="http://schemas.microsoft.com/office/drawing/2014/main" val="3662949982"/>
                  </a:ext>
                </a:extLst>
              </a:tr>
              <a:tr h="294722">
                <a:tc>
                  <a:txBody>
                    <a:bodyPr/>
                    <a:lstStyle/>
                    <a:p>
                      <a:pPr rtl="0" fontAlgn="ctr"/>
                      <a:r>
                        <a:rPr lang="ru-RU" sz="800" b="0">
                          <a:effectLst/>
                        </a:rPr>
                        <a:t>/28</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.255. </a:t>
                      </a:r>
                      <a:r>
                        <a:rPr lang="ru-RU" sz="800" b="1">
                          <a:effectLst/>
                        </a:rPr>
                        <a:t>240</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нннннннннннннннннн. </a:t>
                      </a:r>
                      <a:r>
                        <a:rPr lang="ru-RU" sz="800" b="1">
                          <a:effectLst/>
                          <a:latin typeface="Courier New" panose="02070309020205020404" pitchFamily="49" charset="0"/>
                          <a:cs typeface="Courier New" panose="02070309020205020404" pitchFamily="49" charset="0"/>
                        </a:rPr>
                        <a:t>нннннннннннн</a:t>
                      </a:r>
                      <a:r>
                        <a:rPr lang="ru-RU" sz="800" b="0">
                          <a:effectLst/>
                          <a:latin typeface="Courier New" panose="02070309020205020404" pitchFamily="49" charset="0"/>
                          <a:cs typeface="Courier New" panose="02070309020205020404" pitchFamily="49" charset="0"/>
                        </a:rPr>
                        <a:t>чччх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11111111.1111</a:t>
                      </a:r>
                      <a:r>
                        <a:rPr lang="ru-RU" sz="800" b="0">
                          <a:effectLst/>
                          <a:latin typeface="Courier New" panose="02070309020205020404" pitchFamily="49" charset="0"/>
                          <a:cs typeface="Courier New" panose="02070309020205020404" pitchFamily="49" charset="0"/>
                        </a:rPr>
                        <a:t>0000</a:t>
                      </a:r>
                    </a:p>
                  </a:txBody>
                  <a:tcPr marL="31750" marR="31750" marT="31750" marB="31750" anchor="ctr"/>
                </a:tc>
                <a:tc>
                  <a:txBody>
                    <a:bodyPr/>
                    <a:lstStyle/>
                    <a:p>
                      <a:pPr rtl="0" fontAlgn="ctr"/>
                      <a:r>
                        <a:rPr lang="ru-RU" sz="800" b="1">
                          <a:effectLst/>
                        </a:rPr>
                        <a:t>4 096</a:t>
                      </a:r>
                    </a:p>
                  </a:txBody>
                  <a:tcPr marL="31750" marR="31750" marT="31750" marB="31750" anchor="ctr"/>
                </a:tc>
                <a:tc>
                  <a:txBody>
                    <a:bodyPr/>
                    <a:lstStyle/>
                    <a:p>
                      <a:pPr rtl="0" fontAlgn="ctr"/>
                      <a:r>
                        <a:rPr lang="ru-RU" sz="800" b="0">
                          <a:effectLst/>
                        </a:rPr>
                        <a:t>14</a:t>
                      </a:r>
                    </a:p>
                  </a:txBody>
                  <a:tcPr marL="31750" marR="31750" marT="31750" marB="31750" anchor="ctr"/>
                </a:tc>
                <a:extLst>
                  <a:ext uri="{0D108BD9-81ED-4DB2-BD59-A6C34878D82A}">
                    <a16:rowId xmlns:a16="http://schemas.microsoft.com/office/drawing/2014/main" val="247945818"/>
                  </a:ext>
                </a:extLst>
              </a:tr>
              <a:tr h="294722">
                <a:tc>
                  <a:txBody>
                    <a:bodyPr/>
                    <a:lstStyle/>
                    <a:p>
                      <a:pPr rtl="0" fontAlgn="ctr"/>
                      <a:r>
                        <a:rPr lang="ru-RU" sz="800" b="0">
                          <a:effectLst/>
                        </a:rPr>
                        <a:t>/29</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255</a:t>
                      </a:r>
                      <a:r>
                        <a:rPr lang="ru-RU" sz="800" b="0">
                          <a:effectLst/>
                        </a:rPr>
                        <a:t>.</a:t>
                      </a:r>
                      <a:r>
                        <a:rPr lang="ru-RU" sz="800" b="1">
                          <a:effectLst/>
                        </a:rPr>
                        <a:t>248</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нннннннннннннннннн. </a:t>
                      </a:r>
                      <a:r>
                        <a:rPr lang="ru-RU" sz="800" b="1">
                          <a:effectLst/>
                          <a:latin typeface="Courier New" panose="02070309020205020404" pitchFamily="49" charset="0"/>
                          <a:cs typeface="Courier New" panose="02070309020205020404" pitchFamily="49" charset="0"/>
                        </a:rPr>
                        <a:t>нннннннннннн</a:t>
                      </a:r>
                      <a:r>
                        <a:rPr lang="ru-RU" sz="800" b="0">
                          <a:effectLst/>
                          <a:latin typeface="Courier New" panose="02070309020205020404" pitchFamily="49" charset="0"/>
                          <a:cs typeface="Courier New" panose="02070309020205020404" pitchFamily="49" charset="0"/>
                        </a:rPr>
                        <a:t>чччч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11111111.11111</a:t>
                      </a:r>
                      <a:r>
                        <a:rPr lang="ru-RU" sz="800" b="0">
                          <a:effectLst/>
                          <a:latin typeface="Courier New" panose="02070309020205020404" pitchFamily="49" charset="0"/>
                          <a:cs typeface="Courier New" panose="02070309020205020404" pitchFamily="49" charset="0"/>
                        </a:rPr>
                        <a:t>000</a:t>
                      </a:r>
                    </a:p>
                  </a:txBody>
                  <a:tcPr marL="31750" marR="31750" marT="31750" marB="31750" anchor="ctr"/>
                </a:tc>
                <a:tc>
                  <a:txBody>
                    <a:bodyPr/>
                    <a:lstStyle/>
                    <a:p>
                      <a:pPr rtl="0" fontAlgn="ctr"/>
                      <a:r>
                        <a:rPr lang="ru-RU" sz="800" b="1">
                          <a:effectLst/>
                        </a:rPr>
                        <a:t>8 192</a:t>
                      </a:r>
                    </a:p>
                  </a:txBody>
                  <a:tcPr marL="31750" marR="31750" marT="31750" marB="31750" anchor="ctr"/>
                </a:tc>
                <a:tc>
                  <a:txBody>
                    <a:bodyPr/>
                    <a:lstStyle/>
                    <a:p>
                      <a:pPr rtl="0" fontAlgn="ctr"/>
                      <a:r>
                        <a:rPr lang="ru-RU" sz="800" b="0">
                          <a:effectLst/>
                        </a:rPr>
                        <a:t>6</a:t>
                      </a:r>
                    </a:p>
                  </a:txBody>
                  <a:tcPr marL="31750" marR="31750" marT="31750" marB="31750" anchor="ctr"/>
                </a:tc>
                <a:extLst>
                  <a:ext uri="{0D108BD9-81ED-4DB2-BD59-A6C34878D82A}">
                    <a16:rowId xmlns:a16="http://schemas.microsoft.com/office/drawing/2014/main" val="2719294433"/>
                  </a:ext>
                </a:extLst>
              </a:tr>
              <a:tr h="294722">
                <a:tc>
                  <a:txBody>
                    <a:bodyPr/>
                    <a:lstStyle/>
                    <a:p>
                      <a:pPr rtl="0" fontAlgn="ctr"/>
                      <a:r>
                        <a:rPr lang="ru-RU" sz="800" b="0">
                          <a:effectLst/>
                        </a:rPr>
                        <a:t>/30</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255.</a:t>
                      </a:r>
                      <a:r>
                        <a:rPr lang="ru-RU" sz="800" b="1">
                          <a:effectLst/>
                        </a:rPr>
                        <a:t>252</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нннннннннннннннннн. </a:t>
                      </a:r>
                      <a:r>
                        <a:rPr lang="ru-RU" sz="800" b="1">
                          <a:effectLst/>
                          <a:latin typeface="Courier New" panose="02070309020205020404" pitchFamily="49" charset="0"/>
                          <a:cs typeface="Courier New" panose="02070309020205020404" pitchFamily="49" charset="0"/>
                        </a:rPr>
                        <a:t>ннннннннннннн</a:t>
                      </a:r>
                      <a:r>
                        <a:rPr lang="ru-RU" sz="800" b="0">
                          <a:effectLst/>
                          <a:latin typeface="Courier New" panose="02070309020205020404" pitchFamily="49" charset="0"/>
                          <a:cs typeface="Courier New" panose="02070309020205020404" pitchFamily="49" charset="0"/>
                        </a:rPr>
                        <a:t>ч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1111111111.11111111. </a:t>
                      </a:r>
                      <a:r>
                        <a:rPr lang="ru-RU" sz="800" b="1">
                          <a:effectLst/>
                          <a:latin typeface="Courier New" panose="02070309020205020404" pitchFamily="49" charset="0"/>
                          <a:cs typeface="Courier New" panose="02070309020205020404" pitchFamily="49" charset="0"/>
                        </a:rPr>
                        <a:t>11111111.1111</a:t>
                      </a:r>
                      <a:r>
                        <a:rPr lang="ru-RU" sz="800" b="0">
                          <a:effectLst/>
                          <a:latin typeface="Courier New" panose="02070309020205020404" pitchFamily="49" charset="0"/>
                          <a:cs typeface="Courier New" panose="02070309020205020404" pitchFamily="49" charset="0"/>
                        </a:rPr>
                        <a:t>00</a:t>
                      </a:r>
                    </a:p>
                  </a:txBody>
                  <a:tcPr marL="31750" marR="31750" marT="31750" marB="31750" anchor="ctr"/>
                </a:tc>
                <a:tc>
                  <a:txBody>
                    <a:bodyPr/>
                    <a:lstStyle/>
                    <a:p>
                      <a:pPr rtl="0" fontAlgn="ctr"/>
                      <a:r>
                        <a:rPr lang="ru-RU" sz="800" b="1">
                          <a:effectLst/>
                        </a:rPr>
                        <a:t>16 384</a:t>
                      </a:r>
                    </a:p>
                  </a:txBody>
                  <a:tcPr marL="31750" marR="31750" marT="31750" marB="31750" anchor="ctr"/>
                </a:tc>
                <a:tc>
                  <a:txBody>
                    <a:bodyPr/>
                    <a:lstStyle/>
                    <a:p>
                      <a:pPr rtl="0" fontAlgn="ctr"/>
                      <a:r>
                        <a:rPr lang="ru-RU" sz="800" b="0" dirty="0">
                          <a:effectLst/>
                        </a:rPr>
                        <a:t>2</a:t>
                      </a:r>
                    </a:p>
                  </a:txBody>
                  <a:tcPr marL="31750" marR="31750" marT="31750" marB="31750" anchor="ctr"/>
                </a:tc>
                <a:extLst>
                  <a:ext uri="{0D108BD9-81ED-4DB2-BD59-A6C34878D82A}">
                    <a16:rowId xmlns:a16="http://schemas.microsoft.com/office/drawing/2014/main" val="1088457338"/>
                  </a:ext>
                </a:extLst>
              </a:tr>
            </a:tbl>
          </a:graphicData>
        </a:graphic>
      </p:graphicFrame>
    </p:spTree>
    <p:extLst>
      <p:ext uri="{BB962C8B-B14F-4D97-AF65-F5344CB8AC3E}">
        <p14:creationId xmlns:p14="http://schemas.microsoft.com/office/powerpoint/2010/main" val="743497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Подсеть /16 и префиксом /8</a:t>
            </a:r>
            <a:br>
              <a:rPr lang="en-US" dirty="0"/>
            </a:br>
            <a:r>
              <a:rPr lang="ru-RU" sz="2400"/>
              <a:t>Создание подсетей с префиксом /16</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82297" y="864845"/>
            <a:ext cx="5752896" cy="3669447"/>
          </a:xfrm>
        </p:spPr>
        <p:txBody>
          <a:bodyPr/>
          <a:lstStyle/>
          <a:p>
            <a:pPr marL="0" indent="0" algn="l" rtl="0"/>
            <a:r>
              <a:rPr lang="ru-RU" sz="1600" dirty="0">
                <a:solidFill>
                  <a:srgbClr val="000000"/>
                </a:solidFill>
              </a:rPr>
              <a:t>Рассмотрим крупное предприятие, которому необходимо хотя бы 100 подсетей, и которое выбрало частный адрес 172.16.0.0/16 в качестве адреса внутренней сети.</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dirty="0">
                <a:solidFill>
                  <a:srgbClr val="000000"/>
                </a:solidFill>
              </a:rPr>
              <a:t>На рисунке показано количество подсетей, которое может быть создано при заимствовании бит из третьего и четвертого октетов. </a:t>
            </a:r>
          </a:p>
          <a:p>
            <a:pPr marL="342900" indent="-342900" algn="l" rtl="0">
              <a:buFont typeface="Arial" panose="020B0604020202020204" pitchFamily="34" charset="0"/>
              <a:buChar char="•"/>
            </a:pPr>
            <a:r>
              <a:rPr lang="ru-RU" sz="1600" dirty="0">
                <a:solidFill>
                  <a:srgbClr val="000000"/>
                </a:solidFill>
              </a:rPr>
              <a:t>Обратите внимание, что теперь есть до 14 битов хоста, которые могут быть заимствованы (то есть, последние два бита не могут быть заимствованы).</a:t>
            </a:r>
          </a:p>
          <a:p>
            <a:pPr marL="342900" indent="-342900" algn="l">
              <a:buFont typeface="Arial" panose="020B0604020202020204" pitchFamily="34" charset="0"/>
              <a:buChar char="•"/>
            </a:pPr>
            <a:endParaRPr lang="en-CA" sz="1600" dirty="0">
              <a:solidFill>
                <a:srgbClr val="000000"/>
              </a:solidFill>
            </a:endParaRPr>
          </a:p>
          <a:p>
            <a:pPr marL="0" indent="0" algn="l" rtl="0"/>
            <a:r>
              <a:rPr lang="ru-RU" sz="1600" dirty="0">
                <a:solidFill>
                  <a:srgbClr val="000000"/>
                </a:solidFill>
              </a:rPr>
              <a:t>Чтобы удовлетворить потребности предприятия, потребуется заимствовать 7 бит (то есть 2</a:t>
            </a:r>
            <a:r>
              <a:rPr lang="ru-RU" sz="1600" baseline="30000" dirty="0">
                <a:solidFill>
                  <a:srgbClr val="000000"/>
                </a:solidFill>
              </a:rPr>
              <a:t>7</a:t>
            </a:r>
            <a:r>
              <a:rPr lang="ru-RU" sz="1600" dirty="0">
                <a:solidFill>
                  <a:srgbClr val="000000"/>
                </a:solidFill>
              </a:rPr>
              <a:t> = 128 подсетей), как показано на рисунке.</a:t>
            </a:r>
          </a:p>
        </p:txBody>
      </p:sp>
      <p:pic>
        <p:nvPicPr>
          <p:cNvPr id="2" name="Picture 1">
            <a:extLst>
              <a:ext uri="{FF2B5EF4-FFF2-40B4-BE49-F238E27FC236}">
                <a16:creationId xmlns:a16="http://schemas.microsoft.com/office/drawing/2014/main" id="{7D912EB9-9234-4648-AF24-14759A57CE1E}"/>
              </a:ext>
            </a:extLst>
          </p:cNvPr>
          <p:cNvPicPr>
            <a:picLocks noChangeAspect="1"/>
          </p:cNvPicPr>
          <p:nvPr/>
        </p:nvPicPr>
        <p:blipFill>
          <a:blip r:embed="rId3"/>
          <a:stretch>
            <a:fillRect/>
          </a:stretch>
        </p:blipFill>
        <p:spPr>
          <a:xfrm>
            <a:off x="6102029" y="855419"/>
            <a:ext cx="2914800" cy="2806844"/>
          </a:xfrm>
          <a:prstGeom prst="rect">
            <a:avLst/>
          </a:prstGeom>
        </p:spPr>
      </p:pic>
    </p:spTree>
    <p:extLst>
      <p:ext uri="{BB962C8B-B14F-4D97-AF65-F5344CB8AC3E}">
        <p14:creationId xmlns:p14="http://schemas.microsoft.com/office/powerpoint/2010/main" val="1177266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Подсеть /16 и префиксом /8</a:t>
            </a:r>
            <a:br>
              <a:rPr lang="en-US" dirty="0"/>
            </a:br>
            <a:r>
              <a:rPr lang="ru-RU" sz="2400"/>
              <a:t>Создание подсетей с префиксом /16</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37161" y="855419"/>
            <a:ext cx="5158740" cy="3073946"/>
          </a:xfrm>
        </p:spPr>
        <p:txBody>
          <a:bodyPr/>
          <a:lstStyle/>
          <a:p>
            <a:pPr marL="0" indent="0" algn="l" rtl="0"/>
            <a:r>
              <a:rPr lang="ru-RU" sz="1600" dirty="0">
                <a:solidFill>
                  <a:srgbClr val="000000"/>
                </a:solidFill>
              </a:rPr>
              <a:t>Рассмотрим небольшой </a:t>
            </a:r>
            <a:r>
              <a:rPr lang="ru-RU" sz="1600" dirty="0" err="1">
                <a:solidFill>
                  <a:srgbClr val="000000"/>
                </a:solidFill>
              </a:rPr>
              <a:t>интернет-провайдер</a:t>
            </a:r>
            <a:r>
              <a:rPr lang="ru-RU" sz="1600" dirty="0">
                <a:solidFill>
                  <a:srgbClr val="000000"/>
                </a:solidFill>
              </a:rPr>
              <a:t>, который требует 1000 подсетей для своих клиентов, использующих сетевой адрес 10.0.0.0/8, что означает, что в сетевой части есть 8 бит и 24 бита узла доступны для заимствования для подсетей. </a:t>
            </a:r>
          </a:p>
          <a:p>
            <a:pPr marL="342900" indent="-342900" algn="l" rtl="0">
              <a:buFont typeface="Arial" panose="020B0604020202020204" pitchFamily="34" charset="0"/>
              <a:buChar char="•"/>
            </a:pPr>
            <a:r>
              <a:rPr lang="ru-RU" sz="1400" dirty="0">
                <a:solidFill>
                  <a:srgbClr val="000000"/>
                </a:solidFill>
              </a:rPr>
              <a:t>На рисунке показано количество подсетей, которое может быть создано при заимствовании бит из третьего и четвертого октетов. </a:t>
            </a:r>
          </a:p>
          <a:p>
            <a:pPr marL="342900" indent="-342900" algn="l" rtl="0">
              <a:buFont typeface="Arial" panose="020B0604020202020204" pitchFamily="34" charset="0"/>
              <a:buChar char="•"/>
            </a:pPr>
            <a:r>
              <a:rPr lang="ru-RU" sz="1400" dirty="0">
                <a:solidFill>
                  <a:srgbClr val="000000"/>
                </a:solidFill>
              </a:rPr>
              <a:t>Обратите внимание, что теперь есть до 22 битов хоста, которые могут быть заимствованы (то есть, последние два бита не могут быть заимствованы).</a:t>
            </a:r>
          </a:p>
          <a:p>
            <a:pPr marL="342900" indent="-342900" algn="l">
              <a:buFont typeface="Arial" panose="020B0604020202020204" pitchFamily="34" charset="0"/>
              <a:buChar char="•"/>
            </a:pPr>
            <a:endParaRPr lang="en-CA" sz="1600" dirty="0">
              <a:solidFill>
                <a:srgbClr val="000000"/>
              </a:solidFill>
            </a:endParaRPr>
          </a:p>
          <a:p>
            <a:pPr marL="0" indent="0" algn="l" rtl="0"/>
            <a:r>
              <a:rPr lang="ru-RU" sz="1600" dirty="0">
                <a:solidFill>
                  <a:srgbClr val="000000"/>
                </a:solidFill>
              </a:rPr>
              <a:t>Для выполнения требования 1000 подсетей для предприятия необходимо заимствовать 10 бит (т.е. 2</a:t>
            </a:r>
            <a:r>
              <a:rPr lang="ru-RU" sz="1600" baseline="30000" dirty="0">
                <a:solidFill>
                  <a:srgbClr val="000000"/>
                </a:solidFill>
              </a:rPr>
              <a:t>10</a:t>
            </a:r>
            <a:r>
              <a:rPr lang="ru-RU" sz="1600" dirty="0">
                <a:solidFill>
                  <a:srgbClr val="000000"/>
                </a:solidFill>
              </a:rPr>
              <a:t>= 1024 подсетей) (в общей сложности 128 подсетей)</a:t>
            </a:r>
          </a:p>
        </p:txBody>
      </p:sp>
      <p:pic>
        <p:nvPicPr>
          <p:cNvPr id="6" name="Picture 5">
            <a:extLst>
              <a:ext uri="{FF2B5EF4-FFF2-40B4-BE49-F238E27FC236}">
                <a16:creationId xmlns:a16="http://schemas.microsoft.com/office/drawing/2014/main" id="{750D50AE-022A-4CE2-A161-C94FE631C328}"/>
              </a:ext>
            </a:extLst>
          </p:cNvPr>
          <p:cNvPicPr>
            <a:picLocks noChangeAspect="1"/>
          </p:cNvPicPr>
          <p:nvPr/>
        </p:nvPicPr>
        <p:blipFill>
          <a:blip r:embed="rId3"/>
          <a:stretch>
            <a:fillRect/>
          </a:stretch>
        </p:blipFill>
        <p:spPr>
          <a:xfrm>
            <a:off x="5399726" y="826108"/>
            <a:ext cx="3648229" cy="2424738"/>
          </a:xfrm>
          <a:prstGeom prst="rect">
            <a:avLst/>
          </a:prstGeom>
        </p:spPr>
      </p:pic>
    </p:spTree>
    <p:extLst>
      <p:ext uri="{BB962C8B-B14F-4D97-AF65-F5344CB8AC3E}">
        <p14:creationId xmlns:p14="http://schemas.microsoft.com/office/powerpoint/2010/main" val="570862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Подсеть: /16 и /8 </a:t>
            </a:r>
            <a:br>
              <a:rPr lang="en-US" dirty="0"/>
            </a:br>
            <a:r>
              <a:rPr lang="ru-RU" sz="2400"/>
              <a:t>Лабораторная работа — Вычисление подсетей IPv4</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rtl="0"/>
            <a:r>
              <a:rPr lang="ru-RU" sz="1600">
                <a:solidFill>
                  <a:srgbClr val="000000"/>
                </a:solidFill>
              </a:rPr>
              <a:t>В этой лабораторной работе вы выполните следующие задачи.</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Часть 1. Определение подсетей по IPv4-адресу</a:t>
            </a:r>
          </a:p>
          <a:p>
            <a:pPr marL="342900" indent="-342900" algn="l" rtl="0">
              <a:buFont typeface="Arial" panose="020B0604020202020204" pitchFamily="34" charset="0"/>
              <a:buChar char="•"/>
            </a:pPr>
            <a:r>
              <a:rPr lang="ru-RU" sz="1600">
                <a:solidFill>
                  <a:srgbClr val="000000"/>
                </a:solidFill>
              </a:rPr>
              <a:t>Часть 2. Расчет подсетей по IPv4-адресу</a:t>
            </a:r>
          </a:p>
        </p:txBody>
      </p:sp>
    </p:spTree>
    <p:extLst>
      <p:ext uri="{BB962C8B-B14F-4D97-AF65-F5344CB8AC3E}">
        <p14:creationId xmlns:p14="http://schemas.microsoft.com/office/powerpoint/2010/main" val="3497352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8096" y="1769872"/>
            <a:ext cx="8791584" cy="929640"/>
          </a:xfrm>
        </p:spPr>
        <p:txBody>
          <a:bodyPr/>
          <a:lstStyle/>
          <a:p>
            <a:pPr rtl="0"/>
            <a:r>
              <a:rPr lang="ru-RU" dirty="0">
                <a:solidFill>
                  <a:schemeClr val="accent5">
                    <a:lumMod val="40000"/>
                    <a:lumOff val="60000"/>
                  </a:schemeClr>
                </a:solidFill>
              </a:rPr>
              <a:t>11.7 Разделение на подсети для соответствия требованиям</a:t>
            </a:r>
          </a:p>
        </p:txBody>
      </p:sp>
    </p:spTree>
    <p:custDataLst>
      <p:tags r:id="rId1"/>
    </p:custDataLst>
    <p:extLst>
      <p:ext uri="{BB962C8B-B14F-4D97-AF65-F5344CB8AC3E}">
        <p14:creationId xmlns:p14="http://schemas.microsoft.com/office/powerpoint/2010/main" val="1599129250"/>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9079992" cy="731837"/>
          </a:xfrm>
        </p:spPr>
        <p:txBody>
          <a:bodyPr/>
          <a:lstStyle/>
          <a:p>
            <a:r>
              <a:rPr lang="ru-RU" sz="1600" dirty="0"/>
              <a:t>Разделение на подсети для соответствия требованиям</a:t>
            </a:r>
            <a:br>
              <a:rPr lang="ru-RU" sz="1600" dirty="0"/>
            </a:br>
            <a:r>
              <a:rPr lang="ru-RU" sz="2400" dirty="0"/>
              <a:t>Частное и публичное адресное пространство IPv4 подсети</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985849" cy="3073946"/>
          </a:xfrm>
        </p:spPr>
        <p:txBody>
          <a:bodyPr/>
          <a:lstStyle/>
          <a:p>
            <a:pPr marL="0" indent="0" algn="l" rtl="0"/>
            <a:r>
              <a:rPr lang="ru-RU" sz="1600">
                <a:solidFill>
                  <a:srgbClr val="000000"/>
                </a:solidFill>
              </a:rPr>
              <a:t>Корпоративные сети</a:t>
            </a:r>
          </a:p>
          <a:p>
            <a:pPr marL="342900" indent="-342900" algn="l" rtl="0">
              <a:buFont typeface="Arial" panose="020B0604020202020204" pitchFamily="34" charset="0"/>
              <a:buChar char="•"/>
            </a:pPr>
            <a:r>
              <a:rPr lang="ru-RU" sz="1600">
                <a:solidFill>
                  <a:srgbClr val="000000"/>
                </a:solidFill>
              </a:rPr>
              <a:t>Интрасеть - внутренняя сеть компании обычно использует частные адреса IPv4.</a:t>
            </a:r>
          </a:p>
          <a:p>
            <a:pPr marL="342900" indent="-342900" algn="l" rtl="0">
              <a:buFont typeface="Arial" panose="020B0604020202020204" pitchFamily="34" charset="0"/>
              <a:buChar char="•"/>
            </a:pPr>
            <a:r>
              <a:rPr lang="ru-RU" sz="1600">
                <a:solidFill>
                  <a:srgbClr val="000000"/>
                </a:solidFill>
              </a:rPr>
              <a:t>DMZ — компании, обращенные к Интернету серверы. Устройства в DMZ используют общедоступные адреса IPv4.</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Компания может использовать 10.0.0.0/8 и подсеть на границе сети /16 или /24. </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Устройства DMZ должны быть настроены с общедоступными IP-адресами.</a:t>
            </a:r>
          </a:p>
        </p:txBody>
      </p:sp>
      <p:pic>
        <p:nvPicPr>
          <p:cNvPr id="2" name="Picture 1">
            <a:extLst>
              <a:ext uri="{FF2B5EF4-FFF2-40B4-BE49-F238E27FC236}">
                <a16:creationId xmlns:a16="http://schemas.microsoft.com/office/drawing/2014/main" id="{32D669F9-6546-4D50-B5D4-ED794ADFFF31}"/>
              </a:ext>
            </a:extLst>
          </p:cNvPr>
          <p:cNvPicPr>
            <a:picLocks noChangeAspect="1"/>
          </p:cNvPicPr>
          <p:nvPr/>
        </p:nvPicPr>
        <p:blipFill>
          <a:blip r:embed="rId3"/>
          <a:stretch>
            <a:fillRect/>
          </a:stretch>
        </p:blipFill>
        <p:spPr>
          <a:xfrm>
            <a:off x="5374134" y="1118336"/>
            <a:ext cx="3581835" cy="2392363"/>
          </a:xfrm>
          <a:prstGeom prst="rect">
            <a:avLst/>
          </a:prstGeom>
        </p:spPr>
      </p:pic>
    </p:spTree>
    <p:extLst>
      <p:ext uri="{BB962C8B-B14F-4D97-AF65-F5344CB8AC3E}">
        <p14:creationId xmlns:p14="http://schemas.microsoft.com/office/powerpoint/2010/main" val="1804487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dirty="0"/>
              <a:t>Подсеть, удовлетворяющая требованиям</a:t>
            </a:r>
            <a:br>
              <a:rPr lang="en-US" dirty="0"/>
            </a:br>
            <a:r>
              <a:rPr lang="ru-RU" sz="2000" dirty="0"/>
              <a:t>Минимизация неиспользуемых адресов IPv4 узлов и максимизация подсетей</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02853" y="817477"/>
            <a:ext cx="8538292" cy="973381"/>
          </a:xfrm>
        </p:spPr>
        <p:txBody>
          <a:bodyPr/>
          <a:lstStyle/>
          <a:p>
            <a:pPr marL="0" indent="0" algn="l" rtl="0"/>
            <a:r>
              <a:rPr lang="ru-RU" sz="1600" dirty="0">
                <a:solidFill>
                  <a:srgbClr val="000000"/>
                </a:solidFill>
              </a:rPr>
              <a:t>При планировании подсетей нужно учесть два параметра. </a:t>
            </a:r>
          </a:p>
          <a:p>
            <a:pPr marL="342900" indent="-342900" algn="l" rtl="0">
              <a:buFont typeface="Arial" panose="020B0604020202020204" pitchFamily="34" charset="0"/>
              <a:buChar char="•"/>
            </a:pPr>
            <a:r>
              <a:rPr lang="ru-RU" sz="1600" dirty="0">
                <a:solidFill>
                  <a:srgbClr val="000000"/>
                </a:solidFill>
              </a:rPr>
              <a:t>Необходимое количество адресов узлов в каждой сети </a:t>
            </a:r>
          </a:p>
          <a:p>
            <a:pPr marL="342900" indent="-342900" algn="l" rtl="0">
              <a:buFont typeface="Arial" panose="020B0604020202020204" pitchFamily="34" charset="0"/>
              <a:buChar char="•"/>
            </a:pPr>
            <a:r>
              <a:rPr lang="ru-RU" sz="1600" dirty="0">
                <a:solidFill>
                  <a:srgbClr val="000000"/>
                </a:solidFill>
              </a:rPr>
              <a:t>Необходимое количество подсетей</a:t>
            </a:r>
          </a:p>
          <a:p>
            <a:pPr marL="342900" indent="-342900" algn="l">
              <a:buFont typeface="Arial" panose="020B0604020202020204" pitchFamily="34" charset="0"/>
              <a:buChar char="•"/>
            </a:pPr>
            <a:endParaRPr lang="en-US" sz="1600" dirty="0">
              <a:solidFill>
                <a:srgbClr val="000000"/>
              </a:solidFill>
            </a:endParaRPr>
          </a:p>
        </p:txBody>
      </p:sp>
      <p:graphicFrame>
        <p:nvGraphicFramePr>
          <p:cNvPr id="6" name="Table 5">
            <a:extLst>
              <a:ext uri="{FF2B5EF4-FFF2-40B4-BE49-F238E27FC236}">
                <a16:creationId xmlns:a16="http://schemas.microsoft.com/office/drawing/2014/main" id="{2FCC84FF-7C82-4B7C-A9C2-37AE1AC6A2DC}"/>
              </a:ext>
            </a:extLst>
          </p:cNvPr>
          <p:cNvGraphicFramePr>
            <a:graphicFrameLocks noGrp="1"/>
          </p:cNvGraphicFramePr>
          <p:nvPr>
            <p:extLst>
              <p:ext uri="{D42A27DB-BD31-4B8C-83A1-F6EECF244321}">
                <p14:modId xmlns:p14="http://schemas.microsoft.com/office/powerpoint/2010/main" val="3854510119"/>
              </p:ext>
            </p:extLst>
          </p:nvPr>
        </p:nvGraphicFramePr>
        <p:xfrm>
          <a:off x="1207769" y="1944355"/>
          <a:ext cx="6728460" cy="2745740"/>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val="3173678455"/>
                    </a:ext>
                  </a:extLst>
                </a:gridCol>
                <a:gridCol w="1203960">
                  <a:extLst>
                    <a:ext uri="{9D8B030D-6E8A-4147-A177-3AD203B41FA5}">
                      <a16:colId xmlns:a16="http://schemas.microsoft.com/office/drawing/2014/main" val="1538934761"/>
                    </a:ext>
                  </a:extLst>
                </a:gridCol>
                <a:gridCol w="3092530">
                  <a:extLst>
                    <a:ext uri="{9D8B030D-6E8A-4147-A177-3AD203B41FA5}">
                      <a16:colId xmlns:a16="http://schemas.microsoft.com/office/drawing/2014/main" val="1045760004"/>
                    </a:ext>
                  </a:extLst>
                </a:gridCol>
                <a:gridCol w="747950">
                  <a:extLst>
                    <a:ext uri="{9D8B030D-6E8A-4147-A177-3AD203B41FA5}">
                      <a16:colId xmlns:a16="http://schemas.microsoft.com/office/drawing/2014/main" val="2485496051"/>
                    </a:ext>
                  </a:extLst>
                </a:gridCol>
                <a:gridCol w="723900">
                  <a:extLst>
                    <a:ext uri="{9D8B030D-6E8A-4147-A177-3AD203B41FA5}">
                      <a16:colId xmlns:a16="http://schemas.microsoft.com/office/drawing/2014/main" val="660007875"/>
                    </a:ext>
                  </a:extLst>
                </a:gridCol>
              </a:tblGrid>
              <a:tr h="370840">
                <a:tc>
                  <a:txBody>
                    <a:bodyPr/>
                    <a:lstStyle/>
                    <a:p>
                      <a:pPr algn="l" rtl="0" fontAlgn="ctr"/>
                      <a:r>
                        <a:rPr lang="ru-RU" sz="1000" b="1">
                          <a:effectLst/>
                        </a:rPr>
                        <a:t>Длина префикса</a:t>
                      </a:r>
                    </a:p>
                  </a:txBody>
                  <a:tcPr marL="31750" marR="31750" marT="31750" marB="31750" anchor="ctr"/>
                </a:tc>
                <a:tc>
                  <a:txBody>
                    <a:bodyPr/>
                    <a:lstStyle/>
                    <a:p>
                      <a:pPr algn="l" rtl="0" fontAlgn="ctr"/>
                      <a:r>
                        <a:rPr lang="ru-RU" sz="1000" b="1">
                          <a:effectLst/>
                        </a:rPr>
                        <a:t>Маска подсети</a:t>
                      </a:r>
                    </a:p>
                  </a:txBody>
                  <a:tcPr marL="31750" marR="31750" marT="31750" marB="31750" anchor="ctr"/>
                </a:tc>
                <a:tc>
                  <a:txBody>
                    <a:bodyPr/>
                    <a:lstStyle/>
                    <a:p>
                      <a:pPr algn="l" rtl="0" fontAlgn="ctr"/>
                      <a:r>
                        <a:rPr lang="ru-RU" sz="1000" b="1">
                          <a:effectLst/>
                        </a:rPr>
                        <a:t>Маска подсети в двоичной системе</a:t>
                      </a:r>
                      <a:br>
                        <a:rPr lang="en-CA" sz="1000" b="1" dirty="0">
                          <a:effectLst/>
                        </a:rPr>
                      </a:br>
                      <a:r>
                        <a:rPr lang="ru-RU" sz="1000" b="1">
                          <a:effectLst/>
                        </a:rPr>
                        <a:t>(с = сеть, у = узел)</a:t>
                      </a:r>
                    </a:p>
                  </a:txBody>
                  <a:tcPr marL="31750" marR="31750" marT="31750" marB="31750" anchor="ctr"/>
                </a:tc>
                <a:tc>
                  <a:txBody>
                    <a:bodyPr/>
                    <a:lstStyle/>
                    <a:p>
                      <a:pPr algn="l" rtl="0" fontAlgn="ctr"/>
                      <a:r>
                        <a:rPr lang="ru-RU" sz="1000" b="1">
                          <a:effectLst/>
                        </a:rPr>
                        <a:t>Количество подсетей</a:t>
                      </a:r>
                    </a:p>
                  </a:txBody>
                  <a:tcPr marL="31750" marR="31750" marT="31750" marB="31750" anchor="ctr"/>
                </a:tc>
                <a:tc>
                  <a:txBody>
                    <a:bodyPr/>
                    <a:lstStyle/>
                    <a:p>
                      <a:pPr algn="l" rtl="0" fontAlgn="ctr"/>
                      <a:r>
                        <a:rPr lang="ru-RU" sz="1000" b="1">
                          <a:effectLst/>
                        </a:rPr>
                        <a:t>Количество узлов</a:t>
                      </a:r>
                    </a:p>
                  </a:txBody>
                  <a:tcPr marL="31750" marR="31750" marT="31750" marB="31750" anchor="ctr"/>
                </a:tc>
                <a:extLst>
                  <a:ext uri="{0D108BD9-81ED-4DB2-BD59-A6C34878D82A}">
                    <a16:rowId xmlns:a16="http://schemas.microsoft.com/office/drawing/2014/main" val="2275849055"/>
                  </a:ext>
                </a:extLst>
              </a:tr>
              <a:tr h="370840">
                <a:tc>
                  <a:txBody>
                    <a:bodyPr/>
                    <a:lstStyle/>
                    <a:p>
                      <a:pPr rtl="0" fontAlgn="ctr"/>
                      <a:r>
                        <a:rPr lang="ru-RU" sz="1000" b="0">
                          <a:effectLst/>
                        </a:rPr>
                        <a:t>/25</a:t>
                      </a:r>
                    </a:p>
                  </a:txBody>
                  <a:tcPr marL="31750" marR="31750" marT="31750" marB="31750" anchor="ctr"/>
                </a:tc>
                <a:tc>
                  <a:txBody>
                    <a:bodyPr/>
                    <a:lstStyle/>
                    <a:p>
                      <a:pPr rtl="0" fontAlgn="ctr"/>
                      <a:r>
                        <a:rPr lang="ru-RU" sz="1000" b="0">
                          <a:effectLst/>
                        </a:rPr>
                        <a:t>255.255.255.128</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a:t>
                      </a:r>
                      <a:r>
                        <a:rPr lang="ru-RU" sz="1000" b="0">
                          <a:effectLst/>
                          <a:latin typeface="Courier New" panose="02070309020205020404" pitchFamily="49" charset="0"/>
                          <a:cs typeface="Courier New" panose="02070309020205020404" pitchFamily="49" charset="0"/>
                        </a:rPr>
                        <a:t>hhhhhhh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a:t>
                      </a:r>
                      <a:r>
                        <a:rPr lang="ru-RU" sz="1000" b="0">
                          <a:effectLst/>
                          <a:latin typeface="Courier New" panose="02070309020205020404" pitchFamily="49" charset="0"/>
                          <a:cs typeface="Courier New" panose="02070309020205020404" pitchFamily="49" charset="0"/>
                        </a:rPr>
                        <a:t>0000000</a:t>
                      </a:r>
                    </a:p>
                  </a:txBody>
                  <a:tcPr marL="31750" marR="31750" marT="31750" marB="31750" anchor="ctr"/>
                </a:tc>
                <a:tc>
                  <a:txBody>
                    <a:bodyPr/>
                    <a:lstStyle/>
                    <a:p>
                      <a:pPr rtl="0" fontAlgn="ctr"/>
                      <a:r>
                        <a:rPr lang="ru-RU" sz="1000" b="1">
                          <a:effectLst/>
                        </a:rPr>
                        <a:t>2</a:t>
                      </a:r>
                    </a:p>
                  </a:txBody>
                  <a:tcPr marL="31750" marR="31750" marT="31750" marB="31750" anchor="ctr"/>
                </a:tc>
                <a:tc>
                  <a:txBody>
                    <a:bodyPr/>
                    <a:lstStyle/>
                    <a:p>
                      <a:pPr rtl="0" fontAlgn="ctr"/>
                      <a:r>
                        <a:rPr lang="ru-RU" sz="1000" b="0">
                          <a:effectLst/>
                        </a:rPr>
                        <a:t>126</a:t>
                      </a:r>
                    </a:p>
                  </a:txBody>
                  <a:tcPr marL="31750" marR="31750" marT="31750" marB="31750" anchor="ctr"/>
                </a:tc>
                <a:extLst>
                  <a:ext uri="{0D108BD9-81ED-4DB2-BD59-A6C34878D82A}">
                    <a16:rowId xmlns:a16="http://schemas.microsoft.com/office/drawing/2014/main" val="1601271128"/>
                  </a:ext>
                </a:extLst>
              </a:tr>
              <a:tr h="370840">
                <a:tc>
                  <a:txBody>
                    <a:bodyPr/>
                    <a:lstStyle/>
                    <a:p>
                      <a:pPr rtl="0" fontAlgn="ctr"/>
                      <a:r>
                        <a:rPr lang="ru-RU" sz="1000" b="0">
                          <a:effectLst/>
                        </a:rPr>
                        <a:t>/26</a:t>
                      </a:r>
                    </a:p>
                  </a:txBody>
                  <a:tcPr marL="31750" marR="31750" marT="31750" marB="31750" anchor="ctr"/>
                </a:tc>
                <a:tc>
                  <a:txBody>
                    <a:bodyPr/>
                    <a:lstStyle/>
                    <a:p>
                      <a:pPr rtl="0" fontAlgn="ctr"/>
                      <a:r>
                        <a:rPr lang="ru-RU" sz="1000" b="0">
                          <a:effectLst/>
                        </a:rPr>
                        <a:t>255.255.255.192</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nn</a:t>
                      </a:r>
                      <a:r>
                        <a:rPr lang="ru-RU" sz="1000" b="0">
                          <a:effectLst/>
                          <a:latin typeface="Courier New" panose="02070309020205020404" pitchFamily="49" charset="0"/>
                          <a:cs typeface="Courier New" panose="02070309020205020404" pitchFamily="49" charset="0"/>
                        </a:rPr>
                        <a:t>hhhhhh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11</a:t>
                      </a:r>
                      <a:r>
                        <a:rPr lang="ru-RU" sz="1000" b="0">
                          <a:effectLst/>
                          <a:latin typeface="Courier New" panose="02070309020205020404" pitchFamily="49" charset="0"/>
                          <a:cs typeface="Courier New" panose="02070309020205020404" pitchFamily="49" charset="0"/>
                        </a:rPr>
                        <a:t>000000</a:t>
                      </a:r>
                    </a:p>
                  </a:txBody>
                  <a:tcPr marL="31750" marR="31750" marT="31750" marB="31750" anchor="ctr"/>
                </a:tc>
                <a:tc>
                  <a:txBody>
                    <a:bodyPr/>
                    <a:lstStyle/>
                    <a:p>
                      <a:pPr rtl="0" fontAlgn="ctr"/>
                      <a:r>
                        <a:rPr lang="ru-RU" sz="1000" b="1">
                          <a:effectLst/>
                        </a:rPr>
                        <a:t>4</a:t>
                      </a:r>
                    </a:p>
                  </a:txBody>
                  <a:tcPr marL="31750" marR="31750" marT="31750" marB="31750" anchor="ctr"/>
                </a:tc>
                <a:tc>
                  <a:txBody>
                    <a:bodyPr/>
                    <a:lstStyle/>
                    <a:p>
                      <a:pPr rtl="0" fontAlgn="ctr"/>
                      <a:r>
                        <a:rPr lang="ru-RU" sz="1000" b="0">
                          <a:effectLst/>
                        </a:rPr>
                        <a:t>62</a:t>
                      </a:r>
                    </a:p>
                  </a:txBody>
                  <a:tcPr marL="31750" marR="31750" marT="31750" marB="31750" anchor="ctr"/>
                </a:tc>
                <a:extLst>
                  <a:ext uri="{0D108BD9-81ED-4DB2-BD59-A6C34878D82A}">
                    <a16:rowId xmlns:a16="http://schemas.microsoft.com/office/drawing/2014/main" val="1999121572"/>
                  </a:ext>
                </a:extLst>
              </a:tr>
              <a:tr h="370840">
                <a:tc>
                  <a:txBody>
                    <a:bodyPr/>
                    <a:lstStyle/>
                    <a:p>
                      <a:pPr rtl="0" fontAlgn="ctr"/>
                      <a:r>
                        <a:rPr lang="ru-RU" sz="1000" b="0">
                          <a:effectLst/>
                        </a:rPr>
                        <a:t>/27</a:t>
                      </a:r>
                    </a:p>
                  </a:txBody>
                  <a:tcPr marL="31750" marR="31750" marT="31750" marB="31750" anchor="ctr"/>
                </a:tc>
                <a:tc>
                  <a:txBody>
                    <a:bodyPr/>
                    <a:lstStyle/>
                    <a:p>
                      <a:pPr rtl="0" fontAlgn="ctr"/>
                      <a:r>
                        <a:rPr lang="ru-RU" sz="1000" b="0">
                          <a:effectLst/>
                        </a:rPr>
                        <a:t>255.255.255.224</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nnn</a:t>
                      </a:r>
                      <a:r>
                        <a:rPr lang="ru-RU" sz="1000" b="0">
                          <a:effectLst/>
                          <a:latin typeface="Courier New" panose="02070309020205020404" pitchFamily="49" charset="0"/>
                          <a:cs typeface="Courier New" panose="02070309020205020404" pitchFamily="49" charset="0"/>
                        </a:rPr>
                        <a:t>hhhhh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111</a:t>
                      </a:r>
                      <a:r>
                        <a:rPr lang="ru-RU" sz="1000" b="0">
                          <a:effectLst/>
                          <a:latin typeface="Courier New" panose="02070309020205020404" pitchFamily="49" charset="0"/>
                          <a:cs typeface="Courier New" panose="02070309020205020404" pitchFamily="49" charset="0"/>
                        </a:rPr>
                        <a:t>00000</a:t>
                      </a:r>
                    </a:p>
                  </a:txBody>
                  <a:tcPr marL="31750" marR="31750" marT="31750" marB="31750" anchor="ctr"/>
                </a:tc>
                <a:tc>
                  <a:txBody>
                    <a:bodyPr/>
                    <a:lstStyle/>
                    <a:p>
                      <a:pPr rtl="0" fontAlgn="ctr"/>
                      <a:r>
                        <a:rPr lang="ru-RU" sz="1000" b="1">
                          <a:effectLst/>
                        </a:rPr>
                        <a:t>8</a:t>
                      </a:r>
                    </a:p>
                  </a:txBody>
                  <a:tcPr marL="31750" marR="31750" marT="31750" marB="31750" anchor="ctr"/>
                </a:tc>
                <a:tc>
                  <a:txBody>
                    <a:bodyPr/>
                    <a:lstStyle/>
                    <a:p>
                      <a:pPr rtl="0" fontAlgn="ctr"/>
                      <a:r>
                        <a:rPr lang="ru-RU" sz="1000" b="0">
                          <a:effectLst/>
                        </a:rPr>
                        <a:t>30</a:t>
                      </a:r>
                    </a:p>
                  </a:txBody>
                  <a:tcPr marL="31750" marR="31750" marT="31750" marB="31750" anchor="ctr"/>
                </a:tc>
                <a:extLst>
                  <a:ext uri="{0D108BD9-81ED-4DB2-BD59-A6C34878D82A}">
                    <a16:rowId xmlns:a16="http://schemas.microsoft.com/office/drawing/2014/main" val="346473952"/>
                  </a:ext>
                </a:extLst>
              </a:tr>
              <a:tr h="370840">
                <a:tc>
                  <a:txBody>
                    <a:bodyPr/>
                    <a:lstStyle/>
                    <a:p>
                      <a:pPr rtl="0" fontAlgn="ctr"/>
                      <a:r>
                        <a:rPr lang="ru-RU" sz="1000" b="0">
                          <a:effectLst/>
                        </a:rPr>
                        <a:t>/28</a:t>
                      </a:r>
                    </a:p>
                  </a:txBody>
                  <a:tcPr marL="31750" marR="31750" marT="31750" marB="31750" anchor="ctr"/>
                </a:tc>
                <a:tc>
                  <a:txBody>
                    <a:bodyPr/>
                    <a:lstStyle/>
                    <a:p>
                      <a:pPr rtl="0" fontAlgn="ctr"/>
                      <a:r>
                        <a:rPr lang="ru-RU" sz="1000" b="0">
                          <a:effectLst/>
                        </a:rPr>
                        <a:t>255.255.255.240</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nnnn</a:t>
                      </a:r>
                      <a:r>
                        <a:rPr lang="ru-RU" sz="1000" b="0">
                          <a:effectLst/>
                          <a:latin typeface="Courier New" panose="02070309020205020404" pitchFamily="49" charset="0"/>
                          <a:cs typeface="Courier New" panose="02070309020205020404" pitchFamily="49" charset="0"/>
                        </a:rPr>
                        <a:t>hhhh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1111</a:t>
                      </a:r>
                      <a:r>
                        <a:rPr lang="ru-RU" sz="1000" b="0">
                          <a:effectLst/>
                          <a:latin typeface="Courier New" panose="02070309020205020404" pitchFamily="49" charset="0"/>
                          <a:cs typeface="Courier New" panose="02070309020205020404" pitchFamily="49" charset="0"/>
                        </a:rPr>
                        <a:t>0000</a:t>
                      </a:r>
                    </a:p>
                  </a:txBody>
                  <a:tcPr marL="31750" marR="31750" marT="31750" marB="31750" anchor="ctr"/>
                </a:tc>
                <a:tc>
                  <a:txBody>
                    <a:bodyPr/>
                    <a:lstStyle/>
                    <a:p>
                      <a:pPr rtl="0" fontAlgn="ctr"/>
                      <a:r>
                        <a:rPr lang="ru-RU" sz="1000" b="1">
                          <a:effectLst/>
                        </a:rPr>
                        <a:t>16</a:t>
                      </a:r>
                    </a:p>
                  </a:txBody>
                  <a:tcPr marL="31750" marR="31750" marT="31750" marB="31750" anchor="ctr"/>
                </a:tc>
                <a:tc>
                  <a:txBody>
                    <a:bodyPr/>
                    <a:lstStyle/>
                    <a:p>
                      <a:pPr rtl="0" fontAlgn="ctr"/>
                      <a:r>
                        <a:rPr lang="ru-RU" sz="1000" b="0">
                          <a:effectLst/>
                        </a:rPr>
                        <a:t>14</a:t>
                      </a:r>
                    </a:p>
                  </a:txBody>
                  <a:tcPr marL="31750" marR="31750" marT="31750" marB="31750" anchor="ctr"/>
                </a:tc>
                <a:extLst>
                  <a:ext uri="{0D108BD9-81ED-4DB2-BD59-A6C34878D82A}">
                    <a16:rowId xmlns:a16="http://schemas.microsoft.com/office/drawing/2014/main" val="1694683452"/>
                  </a:ext>
                </a:extLst>
              </a:tr>
              <a:tr h="370840">
                <a:tc>
                  <a:txBody>
                    <a:bodyPr/>
                    <a:lstStyle/>
                    <a:p>
                      <a:pPr rtl="0" fontAlgn="ctr"/>
                      <a:r>
                        <a:rPr lang="ru-RU" sz="1000" b="0">
                          <a:effectLst/>
                        </a:rPr>
                        <a:t>/29</a:t>
                      </a:r>
                    </a:p>
                  </a:txBody>
                  <a:tcPr marL="31750" marR="31750" marT="31750" marB="31750" anchor="ctr"/>
                </a:tc>
                <a:tc>
                  <a:txBody>
                    <a:bodyPr/>
                    <a:lstStyle/>
                    <a:p>
                      <a:pPr rtl="0" fontAlgn="ctr"/>
                      <a:r>
                        <a:rPr lang="ru-RU" sz="1000" b="0">
                          <a:effectLst/>
                        </a:rPr>
                        <a:t>255.255.255.248</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nnnnn</a:t>
                      </a:r>
                      <a:r>
                        <a:rPr lang="ru-RU" sz="1000" b="0">
                          <a:effectLst/>
                          <a:latin typeface="Courier New" panose="02070309020205020404" pitchFamily="49" charset="0"/>
                          <a:cs typeface="Courier New" panose="02070309020205020404" pitchFamily="49" charset="0"/>
                        </a:rPr>
                        <a:t>hhh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11111</a:t>
                      </a:r>
                      <a:r>
                        <a:rPr lang="ru-RU" sz="1000" b="0">
                          <a:effectLst/>
                          <a:latin typeface="Courier New" panose="02070309020205020404" pitchFamily="49" charset="0"/>
                          <a:cs typeface="Courier New" panose="02070309020205020404" pitchFamily="49" charset="0"/>
                        </a:rPr>
                        <a:t>000</a:t>
                      </a:r>
                    </a:p>
                  </a:txBody>
                  <a:tcPr marL="31750" marR="31750" marT="31750" marB="31750" anchor="ctr"/>
                </a:tc>
                <a:tc>
                  <a:txBody>
                    <a:bodyPr/>
                    <a:lstStyle/>
                    <a:p>
                      <a:pPr rtl="0" fontAlgn="ctr"/>
                      <a:r>
                        <a:rPr lang="ru-RU" sz="1000" b="1">
                          <a:effectLst/>
                        </a:rPr>
                        <a:t>32</a:t>
                      </a:r>
                    </a:p>
                  </a:txBody>
                  <a:tcPr marL="31750" marR="31750" marT="31750" marB="31750" anchor="ctr"/>
                </a:tc>
                <a:tc>
                  <a:txBody>
                    <a:bodyPr/>
                    <a:lstStyle/>
                    <a:p>
                      <a:pPr rtl="0" fontAlgn="ctr"/>
                      <a:r>
                        <a:rPr lang="ru-RU" sz="1000" b="0">
                          <a:effectLst/>
                        </a:rPr>
                        <a:t>6</a:t>
                      </a:r>
                    </a:p>
                  </a:txBody>
                  <a:tcPr marL="31750" marR="31750" marT="31750" marB="31750" anchor="ctr"/>
                </a:tc>
                <a:extLst>
                  <a:ext uri="{0D108BD9-81ED-4DB2-BD59-A6C34878D82A}">
                    <a16:rowId xmlns:a16="http://schemas.microsoft.com/office/drawing/2014/main" val="2090259769"/>
                  </a:ext>
                </a:extLst>
              </a:tr>
              <a:tr h="370840">
                <a:tc>
                  <a:txBody>
                    <a:bodyPr/>
                    <a:lstStyle/>
                    <a:p>
                      <a:pPr rtl="0" fontAlgn="ctr"/>
                      <a:r>
                        <a:rPr lang="ru-RU" sz="1000" b="0">
                          <a:effectLst/>
                        </a:rPr>
                        <a:t>/30</a:t>
                      </a:r>
                    </a:p>
                  </a:txBody>
                  <a:tcPr marL="31750" marR="31750" marT="31750" marB="31750" anchor="ctr"/>
                </a:tc>
                <a:tc>
                  <a:txBody>
                    <a:bodyPr/>
                    <a:lstStyle/>
                    <a:p>
                      <a:pPr rtl="0" fontAlgn="ctr"/>
                      <a:r>
                        <a:rPr lang="ru-RU" sz="1000" b="0">
                          <a:effectLst/>
                        </a:rPr>
                        <a:t>255.255.255.252</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nnnnnn</a:t>
                      </a:r>
                      <a:r>
                        <a:rPr lang="ru-RU" sz="1000" b="0">
                          <a:effectLst/>
                          <a:latin typeface="Courier New" panose="02070309020205020404" pitchFamily="49" charset="0"/>
                          <a:cs typeface="Courier New" panose="02070309020205020404" pitchFamily="49" charset="0"/>
                        </a:rPr>
                        <a:t>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111111</a:t>
                      </a:r>
                      <a:r>
                        <a:rPr lang="ru-RU" sz="1000" b="0">
                          <a:effectLst/>
                          <a:latin typeface="Courier New" panose="02070309020205020404" pitchFamily="49" charset="0"/>
                          <a:cs typeface="Courier New" panose="02070309020205020404" pitchFamily="49" charset="0"/>
                        </a:rPr>
                        <a:t>00</a:t>
                      </a:r>
                    </a:p>
                  </a:txBody>
                  <a:tcPr marL="31750" marR="31750" marT="31750" marB="31750" anchor="ctr"/>
                </a:tc>
                <a:tc>
                  <a:txBody>
                    <a:bodyPr/>
                    <a:lstStyle/>
                    <a:p>
                      <a:pPr rtl="0" fontAlgn="ctr"/>
                      <a:r>
                        <a:rPr lang="ru-RU" sz="1000" b="1">
                          <a:effectLst/>
                        </a:rPr>
                        <a:t>64</a:t>
                      </a:r>
                    </a:p>
                  </a:txBody>
                  <a:tcPr marL="31750" marR="31750" marT="31750" marB="31750" anchor="ctr"/>
                </a:tc>
                <a:tc>
                  <a:txBody>
                    <a:bodyPr/>
                    <a:lstStyle/>
                    <a:p>
                      <a:pPr rtl="0" fontAlgn="ctr"/>
                      <a:r>
                        <a:rPr lang="ru-RU" sz="1000" b="0">
                          <a:effectLst/>
                        </a:rPr>
                        <a:t>2</a:t>
                      </a:r>
                    </a:p>
                  </a:txBody>
                  <a:tcPr marL="31750" marR="31750" marT="31750" marB="31750" anchor="ctr"/>
                </a:tc>
                <a:extLst>
                  <a:ext uri="{0D108BD9-81ED-4DB2-BD59-A6C34878D82A}">
                    <a16:rowId xmlns:a16="http://schemas.microsoft.com/office/drawing/2014/main" val="4211026032"/>
                  </a:ext>
                </a:extLst>
              </a:tr>
            </a:tbl>
          </a:graphicData>
        </a:graphic>
      </p:graphicFrame>
      <p:cxnSp>
        <p:nvCxnSpPr>
          <p:cNvPr id="10" name="Connector: Elbow 9">
            <a:extLst>
              <a:ext uri="{FF2B5EF4-FFF2-40B4-BE49-F238E27FC236}">
                <a16:creationId xmlns:a16="http://schemas.microsoft.com/office/drawing/2014/main" id="{52049570-73E8-4725-BB39-4CAE9ED89E03}"/>
              </a:ext>
            </a:extLst>
          </p:cNvPr>
          <p:cNvCxnSpPr>
            <a:cxnSpLocks/>
          </p:cNvCxnSpPr>
          <p:nvPr/>
        </p:nvCxnSpPr>
        <p:spPr>
          <a:xfrm>
            <a:off x="6019800" y="1304168"/>
            <a:ext cx="1516380" cy="602479"/>
          </a:xfrm>
          <a:prstGeom prst="bentConnector2">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FFFCA02D-B099-4C7E-83CA-8A71906FCE6C}"/>
              </a:ext>
            </a:extLst>
          </p:cNvPr>
          <p:cNvCxnSpPr>
            <a:cxnSpLocks/>
          </p:cNvCxnSpPr>
          <p:nvPr/>
        </p:nvCxnSpPr>
        <p:spPr>
          <a:xfrm>
            <a:off x="4709160" y="1605407"/>
            <a:ext cx="2119081" cy="301240"/>
          </a:xfrm>
          <a:prstGeom prst="bentConnector2">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7078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Подсеть, удовлетворяющая требованиям</a:t>
            </a:r>
            <a:br>
              <a:rPr lang="en-US" dirty="0"/>
            </a:br>
            <a:r>
              <a:rPr lang="ru-RU" sz="2400"/>
              <a:t>Пример: эффективное разделение на подсети сети IPv4</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00584" y="855419"/>
            <a:ext cx="5040668" cy="3073946"/>
          </a:xfrm>
        </p:spPr>
        <p:txBody>
          <a:bodyPr/>
          <a:lstStyle/>
          <a:p>
            <a:pPr marL="342900" indent="-342900" algn="l" rtl="0">
              <a:buFont typeface="Arial" panose="020B0604020202020204" pitchFamily="34" charset="0"/>
              <a:buChar char="•"/>
            </a:pPr>
            <a:r>
              <a:rPr lang="ru-RU" sz="1600" dirty="0">
                <a:solidFill>
                  <a:srgbClr val="000000"/>
                </a:solidFill>
              </a:rPr>
              <a:t>В этом примере штаб-квартира оператора связи выделила адрес частной сети 172.16.0.0/22 (10 бит в узловой части) для филиала.</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dirty="0">
                <a:solidFill>
                  <a:srgbClr val="000000"/>
                </a:solidFill>
              </a:rPr>
              <a:t>Существует пять сайтов, и поэтому пять </a:t>
            </a:r>
            <a:r>
              <a:rPr lang="ru-RU" sz="1600" dirty="0" err="1">
                <a:solidFill>
                  <a:srgbClr val="000000"/>
                </a:solidFill>
              </a:rPr>
              <a:t>интернет-соединений</a:t>
            </a:r>
            <a:r>
              <a:rPr lang="ru-RU" sz="1600" dirty="0">
                <a:solidFill>
                  <a:srgbClr val="000000"/>
                </a:solidFill>
              </a:rPr>
              <a:t>, что означает, что организация требует 10 подсетей с самой большой подсетью требует 40 адресов.</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dirty="0">
                <a:solidFill>
                  <a:srgbClr val="000000"/>
                </a:solidFill>
              </a:rPr>
              <a:t>Он выделил 10 подсетей с маской подсети /26 (т. е. 255.255.255.192).</a:t>
            </a: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E326F2B6-A5EE-4BC1-9196-BEEE11210114}"/>
              </a:ext>
            </a:extLst>
          </p:cNvPr>
          <p:cNvPicPr>
            <a:picLocks noChangeAspect="1"/>
          </p:cNvPicPr>
          <p:nvPr/>
        </p:nvPicPr>
        <p:blipFill>
          <a:blip r:embed="rId3"/>
          <a:stretch>
            <a:fillRect/>
          </a:stretch>
        </p:blipFill>
        <p:spPr>
          <a:xfrm>
            <a:off x="5600700" y="925762"/>
            <a:ext cx="3031600" cy="1088497"/>
          </a:xfrm>
          <a:prstGeom prst="rect">
            <a:avLst/>
          </a:prstGeom>
        </p:spPr>
      </p:pic>
      <p:pic>
        <p:nvPicPr>
          <p:cNvPr id="5" name="Picture 4">
            <a:extLst>
              <a:ext uri="{FF2B5EF4-FFF2-40B4-BE49-F238E27FC236}">
                <a16:creationId xmlns:a16="http://schemas.microsoft.com/office/drawing/2014/main" id="{A4D967D5-2BEE-4CAF-BF74-C8F6AFDA0F51}"/>
              </a:ext>
            </a:extLst>
          </p:cNvPr>
          <p:cNvPicPr>
            <a:picLocks noChangeAspect="1"/>
          </p:cNvPicPr>
          <p:nvPr/>
        </p:nvPicPr>
        <p:blipFill>
          <a:blip r:embed="rId4"/>
          <a:stretch>
            <a:fillRect/>
          </a:stretch>
        </p:blipFill>
        <p:spPr>
          <a:xfrm>
            <a:off x="5273229" y="2208184"/>
            <a:ext cx="3616498" cy="2406479"/>
          </a:xfrm>
          <a:prstGeom prst="rect">
            <a:avLst/>
          </a:prstGeom>
        </p:spPr>
      </p:pic>
    </p:spTree>
    <p:extLst>
      <p:ext uri="{BB962C8B-B14F-4D97-AF65-F5344CB8AC3E}">
        <p14:creationId xmlns:p14="http://schemas.microsoft.com/office/powerpoint/2010/main" val="2088203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Разделение на подсети на основе требований </a:t>
            </a:r>
            <a:br>
              <a:rPr lang="en-US" dirty="0"/>
            </a:br>
            <a:r>
              <a:rPr lang="ru-RU" sz="2400"/>
              <a:t>Packet Tracer. Разделение на подсети. Сценарий</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rtl="0">
              <a:spcBef>
                <a:spcPts val="0"/>
              </a:spcBef>
            </a:pPr>
            <a:r>
              <a:rPr lang="ru-RU" sz="1600">
                <a:solidFill>
                  <a:srgbClr val="000000"/>
                </a:solidFill>
              </a:rPr>
              <a:t>В этом задании Packet Tracer вы будете делать следующее:</a:t>
            </a:r>
          </a:p>
          <a:p>
            <a:pPr marL="0" indent="0" algn="l">
              <a:spcBef>
                <a:spcPts val="0"/>
              </a:spcBef>
            </a:pPr>
            <a:endParaRPr lang="en-US" sz="1600" dirty="0">
              <a:solidFill>
                <a:srgbClr val="000000"/>
              </a:solidFill>
            </a:endParaRP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Разработка схемы IP-адресации</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Назначение IP-адресов сетевым устройствам и проверка подключения</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898786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ru-RU">
                <a:solidFill>
                  <a:schemeClr val="accent5">
                    <a:lumMod val="40000"/>
                    <a:lumOff val="60000"/>
                  </a:schemeClr>
                </a:solidFill>
              </a:rPr>
              <a:t>11.8 VLSM</a:t>
            </a:r>
            <a:br>
              <a:rPr lang="en-CA" dirty="0">
                <a:solidFill>
                  <a:schemeClr val="accent5">
                    <a:lumMod val="40000"/>
                    <a:lumOff val="60000"/>
                  </a:schemeClr>
                </a:solidFill>
              </a:rPr>
            </a:br>
            <a:endParaRPr lang="en-CA"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616898405"/>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VLSM </a:t>
            </a:r>
            <a:br>
              <a:rPr lang="en-US" dirty="0"/>
            </a:br>
            <a:r>
              <a:rPr lang="ru-RU" sz="2400"/>
              <a:t>Сохранение адресов IPv4</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510709"/>
          </a:xfrm>
        </p:spPr>
        <p:txBody>
          <a:bodyPr/>
          <a:lstStyle/>
          <a:p>
            <a:pPr marL="0" indent="0" algn="l" rtl="0"/>
            <a:r>
              <a:rPr lang="ru-RU" sz="1600">
                <a:solidFill>
                  <a:srgbClr val="000000"/>
                </a:solidFill>
              </a:rPr>
              <a:t>Учитывая топологию, требуется 7 подсетей (то есть четыре локальных сети и три канала WAN), и наибольшее число узлов находится в здании D с 28 узлами.</a:t>
            </a:r>
          </a:p>
          <a:p>
            <a:pPr marL="342900" indent="-342900" algn="l">
              <a:buFont typeface="Arial" panose="020B0604020202020204" pitchFamily="34" charset="0"/>
              <a:buChar char="•"/>
            </a:pPr>
            <a:endParaRPr lang="en-US" sz="1600" dirty="0">
              <a:solidFill>
                <a:srgbClr val="000000"/>
              </a:solidFill>
            </a:endParaRPr>
          </a:p>
          <a:p>
            <a:pPr marL="342900" indent="-342900" algn="l" rtl="0">
              <a:buFont typeface="Arial" panose="020B0604020202020204" pitchFamily="34" charset="0"/>
              <a:buChar char="•"/>
            </a:pPr>
            <a:r>
              <a:rPr lang="ru-RU" sz="1600">
                <a:solidFill>
                  <a:srgbClr val="000000"/>
                </a:solidFill>
              </a:rPr>
              <a:t>Маска /27 предоставляет 8 подсетей по 30 IP-адресам узлов и, следовательно, поддерживает эту топологию.</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3D6B421B-63BE-47B3-B5D3-2A12580CC07D}"/>
              </a:ext>
            </a:extLst>
          </p:cNvPr>
          <p:cNvPicPr>
            <a:picLocks noChangeAspect="1"/>
          </p:cNvPicPr>
          <p:nvPr/>
        </p:nvPicPr>
        <p:blipFill>
          <a:blip r:embed="rId3"/>
          <a:stretch>
            <a:fillRect/>
          </a:stretch>
        </p:blipFill>
        <p:spPr>
          <a:xfrm>
            <a:off x="1730096" y="2771225"/>
            <a:ext cx="5683805" cy="1542972"/>
          </a:xfrm>
          <a:prstGeom prst="rect">
            <a:avLst/>
          </a:prstGeom>
        </p:spPr>
      </p:pic>
    </p:spTree>
    <p:extLst>
      <p:ext uri="{BB962C8B-B14F-4D97-AF65-F5344CB8AC3E}">
        <p14:creationId xmlns:p14="http://schemas.microsoft.com/office/powerpoint/2010/main" val="3774275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VLSM</a:t>
            </a:r>
            <a:br>
              <a:rPr lang="en-US" dirty="0"/>
            </a:br>
            <a:r>
              <a:rPr lang="ru-RU" sz="1600"/>
              <a:t> </a:t>
            </a:r>
            <a:r>
              <a:rPr lang="ru-RU" sz="2400"/>
              <a:t>Сохранение адресов IPv4</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6091377" cy="944845"/>
          </a:xfrm>
        </p:spPr>
        <p:txBody>
          <a:bodyPr/>
          <a:lstStyle/>
          <a:p>
            <a:pPr marL="0" indent="0" algn="l" rtl="0"/>
            <a:r>
              <a:rPr lang="ru-RU" sz="1600">
                <a:solidFill>
                  <a:srgbClr val="000000"/>
                </a:solidFill>
              </a:rPr>
              <a:t>Однако для связи WAN «точка-точка» требуется только два адреса и поэтому теряют по 28 адресов каждый из них в общей сложности 84 неиспользуемых адреса.</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3739215E-8970-45B2-8162-265CF46FAA0E}"/>
              </a:ext>
            </a:extLst>
          </p:cNvPr>
          <p:cNvPicPr>
            <a:picLocks noChangeAspect="1"/>
          </p:cNvPicPr>
          <p:nvPr/>
        </p:nvPicPr>
        <p:blipFill>
          <a:blip r:embed="rId3"/>
          <a:stretch>
            <a:fillRect/>
          </a:stretch>
        </p:blipFill>
        <p:spPr>
          <a:xfrm>
            <a:off x="6632093" y="731837"/>
            <a:ext cx="2221789" cy="944845"/>
          </a:xfrm>
          <a:prstGeom prst="rect">
            <a:avLst/>
          </a:prstGeom>
        </p:spPr>
      </p:pic>
      <p:pic>
        <p:nvPicPr>
          <p:cNvPr id="2" name="Picture 1">
            <a:extLst>
              <a:ext uri="{FF2B5EF4-FFF2-40B4-BE49-F238E27FC236}">
                <a16:creationId xmlns:a16="http://schemas.microsoft.com/office/drawing/2014/main" id="{3D6B421B-63BE-47B3-B5D3-2A12580CC07D}"/>
              </a:ext>
            </a:extLst>
          </p:cNvPr>
          <p:cNvPicPr>
            <a:picLocks noChangeAspect="1"/>
          </p:cNvPicPr>
          <p:nvPr/>
        </p:nvPicPr>
        <p:blipFill>
          <a:blip r:embed="rId4"/>
          <a:stretch>
            <a:fillRect/>
          </a:stretch>
        </p:blipFill>
        <p:spPr>
          <a:xfrm>
            <a:off x="1730097" y="1800264"/>
            <a:ext cx="5683805" cy="1542972"/>
          </a:xfrm>
          <a:prstGeom prst="rect">
            <a:avLst/>
          </a:prstGeom>
        </p:spPr>
      </p:pic>
      <p:sp>
        <p:nvSpPr>
          <p:cNvPr id="6" name="Content Placeholder 3">
            <a:extLst>
              <a:ext uri="{FF2B5EF4-FFF2-40B4-BE49-F238E27FC236}">
                <a16:creationId xmlns:a16="http://schemas.microsoft.com/office/drawing/2014/main" id="{C9D0A209-0C20-474A-8988-82BCE662C636}"/>
              </a:ext>
            </a:extLst>
          </p:cNvPr>
          <p:cNvSpPr txBox="1">
            <a:spLocks/>
          </p:cNvSpPr>
          <p:nvPr/>
        </p:nvSpPr>
        <p:spPr>
          <a:xfrm>
            <a:off x="431971" y="3343237"/>
            <a:ext cx="8280058" cy="1304964"/>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ru-RU" sz="1600">
                <a:solidFill>
                  <a:srgbClr val="000000"/>
                </a:solidFill>
              </a:rPr>
              <a:t>Применение традиционной схемы разделения на подсети по такому сценарию не является эффективным и подразумевает нецелесообразное расходование ресурсов.</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VLSM был разработан, чтобы избежать потери адресов, позволяя нам делить подсеть на подсети.</a:t>
            </a:r>
          </a:p>
        </p:txBody>
      </p:sp>
    </p:spTree>
    <p:extLst>
      <p:ext uri="{BB962C8B-B14F-4D97-AF65-F5344CB8AC3E}">
        <p14:creationId xmlns:p14="http://schemas.microsoft.com/office/powerpoint/2010/main" val="2017126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745AD4C-7A7F-4FE5-B2F2-0DE8D4398B37}"/>
              </a:ext>
            </a:extLst>
          </p:cNvPr>
          <p:cNvPicPr>
            <a:picLocks noChangeAspect="1"/>
          </p:cNvPicPr>
          <p:nvPr/>
        </p:nvPicPr>
        <p:blipFill>
          <a:blip r:embed="rId3"/>
          <a:stretch>
            <a:fillRect/>
          </a:stretch>
        </p:blipFill>
        <p:spPr>
          <a:xfrm>
            <a:off x="4632308" y="3313944"/>
            <a:ext cx="4484235" cy="1438970"/>
          </a:xfrm>
          <a:prstGeom prst="rect">
            <a:avLst/>
          </a:prstGeom>
        </p:spPr>
      </p:pic>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VLSM</a:t>
            </a:r>
            <a:br>
              <a:rPr lang="en-US" dirty="0"/>
            </a:br>
            <a:r>
              <a:rPr lang="ru-RU" sz="2400"/>
              <a:t>VLSM</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00584" y="731837"/>
            <a:ext cx="5633819" cy="2534973"/>
          </a:xfrm>
        </p:spPr>
        <p:txBody>
          <a:bodyPr/>
          <a:lstStyle/>
          <a:p>
            <a:pPr marL="342900" indent="-342900" algn="l" rtl="0">
              <a:buFont typeface="Arial" panose="020B0604020202020204" pitchFamily="34" charset="0"/>
              <a:buChar char="•"/>
            </a:pPr>
            <a:r>
              <a:rPr lang="ru-RU" sz="1600" dirty="0">
                <a:solidFill>
                  <a:srgbClr val="000000"/>
                </a:solidFill>
              </a:rPr>
              <a:t>Левая сторона отображает традиционную схему подсетей (т.е. ту же маску подсети), а правая сторона показывает, как VLSM можно использовать для разделения на подсети одной из подсетей.</a:t>
            </a:r>
          </a:p>
          <a:p>
            <a:pPr marL="342900" indent="-342900" algn="l" rtl="0">
              <a:buFont typeface="Arial" panose="020B0604020202020204" pitchFamily="34" charset="0"/>
              <a:buChar char="•"/>
            </a:pPr>
            <a:r>
              <a:rPr lang="ru-RU" sz="1600" dirty="0">
                <a:solidFill>
                  <a:srgbClr val="000000"/>
                </a:solidFill>
              </a:rPr>
              <a:t>При использовании VLSM всегда начинайте с удовлетворения требований к узлу самой большой подсети и продолжайте создание подсетей до тех пор, пока не будут удовлетворены требования к узлу самой маленькой подсети.</a:t>
            </a:r>
          </a:p>
          <a:p>
            <a:pPr marL="342900" indent="-342900" algn="l" rtl="0">
              <a:buFont typeface="Arial" panose="020B0604020202020204" pitchFamily="34" charset="0"/>
              <a:buChar char="•"/>
            </a:pPr>
            <a:r>
              <a:rPr lang="ru-RU" sz="1600" dirty="0">
                <a:solidFill>
                  <a:srgbClr val="000000"/>
                </a:solidFill>
              </a:rPr>
              <a:t>Полученная топология с  применением VLSM.</a:t>
            </a:r>
          </a:p>
        </p:txBody>
      </p:sp>
      <p:pic>
        <p:nvPicPr>
          <p:cNvPr id="9" name="Picture 8">
            <a:extLst>
              <a:ext uri="{FF2B5EF4-FFF2-40B4-BE49-F238E27FC236}">
                <a16:creationId xmlns:a16="http://schemas.microsoft.com/office/drawing/2014/main" id="{1C165FDB-636B-41FC-BD50-01D67FA8F4AC}"/>
              </a:ext>
            </a:extLst>
          </p:cNvPr>
          <p:cNvPicPr>
            <a:picLocks noChangeAspect="1"/>
          </p:cNvPicPr>
          <p:nvPr/>
        </p:nvPicPr>
        <p:blipFill>
          <a:blip r:embed="rId4"/>
          <a:stretch>
            <a:fillRect/>
          </a:stretch>
        </p:blipFill>
        <p:spPr>
          <a:xfrm>
            <a:off x="5884531" y="941078"/>
            <a:ext cx="3199159" cy="1960964"/>
          </a:xfrm>
          <a:prstGeom prst="rect">
            <a:avLst/>
          </a:prstGeom>
        </p:spPr>
      </p:pic>
    </p:spTree>
    <p:extLst>
      <p:ext uri="{BB962C8B-B14F-4D97-AF65-F5344CB8AC3E}">
        <p14:creationId xmlns:p14="http://schemas.microsoft.com/office/powerpoint/2010/main" val="310865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dirty="0"/>
              <a:t>VLSM </a:t>
            </a:r>
            <a:br>
              <a:rPr lang="en-US" dirty="0"/>
            </a:br>
            <a:r>
              <a:rPr lang="ru-RU" sz="2400" dirty="0"/>
              <a:t>Назначение адресов топологии VLSM</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788446"/>
          </a:xfrm>
        </p:spPr>
        <p:txBody>
          <a:bodyPr/>
          <a:lstStyle/>
          <a:p>
            <a:pPr marL="342900" indent="-342900" algn="l" rtl="0">
              <a:buFont typeface="Arial" panose="020B0604020202020204" pitchFamily="34" charset="0"/>
              <a:buChar char="•"/>
            </a:pPr>
            <a:r>
              <a:rPr lang="ru-RU" sz="1600" dirty="0">
                <a:solidFill>
                  <a:srgbClr val="000000"/>
                </a:solidFill>
              </a:rPr>
              <a:t>Используя подсети VLSM, адресация сетей для  локальных сетей и каналов связи между маршрутизаторами может быть создана без лишних потерь, как показано на схеме логической топологии.</a:t>
            </a:r>
          </a:p>
          <a:p>
            <a:pPr marL="342900" indent="-342900" algn="l">
              <a:buFont typeface="Arial" panose="020B0604020202020204" pitchFamily="34" charset="0"/>
              <a:buChar char="•"/>
            </a:pPr>
            <a:endParaRPr lang="en-CA" sz="1600" dirty="0">
              <a:solidFill>
                <a:srgbClr val="000000"/>
              </a:solidFill>
            </a:endParaRPr>
          </a:p>
        </p:txBody>
      </p:sp>
      <p:pic>
        <p:nvPicPr>
          <p:cNvPr id="2" name="Picture 1">
            <a:extLst>
              <a:ext uri="{FF2B5EF4-FFF2-40B4-BE49-F238E27FC236}">
                <a16:creationId xmlns:a16="http://schemas.microsoft.com/office/drawing/2014/main" id="{682F67DF-F387-422D-A1F1-5FB6AE72223B}"/>
              </a:ext>
            </a:extLst>
          </p:cNvPr>
          <p:cNvPicPr>
            <a:picLocks noChangeAspect="1"/>
          </p:cNvPicPr>
          <p:nvPr/>
        </p:nvPicPr>
        <p:blipFill>
          <a:blip r:embed="rId3"/>
          <a:stretch>
            <a:fillRect/>
          </a:stretch>
        </p:blipFill>
        <p:spPr>
          <a:xfrm>
            <a:off x="984799" y="1700427"/>
            <a:ext cx="7174401" cy="2753604"/>
          </a:xfrm>
          <a:prstGeom prst="rect">
            <a:avLst/>
          </a:prstGeom>
        </p:spPr>
      </p:pic>
    </p:spTree>
    <p:extLst>
      <p:ext uri="{BB962C8B-B14F-4D97-AF65-F5344CB8AC3E}">
        <p14:creationId xmlns:p14="http://schemas.microsoft.com/office/powerpoint/2010/main" val="109721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ru-RU">
                <a:solidFill>
                  <a:schemeClr val="accent5">
                    <a:lumMod val="40000"/>
                    <a:lumOff val="60000"/>
                  </a:schemeClr>
                </a:solidFill>
              </a:rPr>
              <a:t>11.9. Структурированное проектирование</a:t>
            </a:r>
            <a:br>
              <a:rPr lang="en-CA" dirty="0">
                <a:solidFill>
                  <a:schemeClr val="accent5">
                    <a:lumMod val="40000"/>
                    <a:lumOff val="60000"/>
                  </a:schemeClr>
                </a:solidFill>
              </a:rPr>
            </a:br>
            <a:endParaRPr lang="en-CA"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3214535095"/>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Структурированное проектирование </a:t>
            </a:r>
            <a:br>
              <a:rPr lang="en-US" dirty="0"/>
            </a:br>
            <a:r>
              <a:rPr lang="ru-RU" sz="2400"/>
              <a:t>Планирование адресации сети</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rtl="0"/>
            <a:r>
              <a:rPr lang="ru-RU" sz="1600" dirty="0">
                <a:solidFill>
                  <a:srgbClr val="000000"/>
                </a:solidFill>
              </a:rPr>
              <a:t>Планирование IP-сетей имеет решающее значение для разработки масштабируемого решения для корпоративной сети. </a:t>
            </a:r>
          </a:p>
          <a:p>
            <a:pPr marL="342900" indent="-342900" algn="l" rtl="0">
              <a:buFont typeface="Arial" panose="020B0604020202020204" pitchFamily="34" charset="0"/>
              <a:buChar char="•"/>
            </a:pPr>
            <a:r>
              <a:rPr lang="ru-RU" sz="1400" dirty="0">
                <a:solidFill>
                  <a:srgbClr val="000000"/>
                </a:solidFill>
              </a:rPr>
              <a:t>Чтобы разработать схему адресации для сети IPv4, нужно знать, сколько подсетей необходимо, сколько узлов требуется для конкретной подсети, какие устройства являются частью подсети, какие сети используют частные адреса, какие используют общедоступные и многие другие определяющие факторы. </a:t>
            </a:r>
          </a:p>
          <a:p>
            <a:pPr marL="342900" indent="-342900" algn="l">
              <a:buFont typeface="Arial" panose="020B0604020202020204" pitchFamily="34" charset="0"/>
              <a:buChar char="•"/>
            </a:pPr>
            <a:endParaRPr lang="en-CA" sz="1400" dirty="0">
              <a:solidFill>
                <a:srgbClr val="000000"/>
              </a:solidFill>
            </a:endParaRPr>
          </a:p>
          <a:p>
            <a:pPr marL="0" indent="0" algn="l" rtl="0"/>
            <a:r>
              <a:rPr lang="ru-RU" sz="1600" dirty="0">
                <a:solidFill>
                  <a:srgbClr val="000000"/>
                </a:solidFill>
              </a:rPr>
              <a:t>При планировании подсетей необходимо учитывать требования организации к использованию сети и предполагаемую структуру подсетей. </a:t>
            </a:r>
          </a:p>
          <a:p>
            <a:pPr marL="342900" indent="-342900" algn="l" rtl="0">
              <a:buFont typeface="Arial" panose="020B0604020202020204" pitchFamily="34" charset="0"/>
              <a:buChar char="•"/>
            </a:pPr>
            <a:r>
              <a:rPr lang="ru-RU" sz="1400" dirty="0">
                <a:solidFill>
                  <a:srgbClr val="000000"/>
                </a:solidFill>
              </a:rPr>
              <a:t>Выполните исследование требований к сети, изучив всю сеть, чтобы определить, как каждая область будет сегментирована. </a:t>
            </a:r>
          </a:p>
          <a:p>
            <a:pPr marL="342900" indent="-342900" algn="l" rtl="0">
              <a:buFont typeface="Arial" panose="020B0604020202020204" pitchFamily="34" charset="0"/>
              <a:buChar char="•"/>
            </a:pPr>
            <a:r>
              <a:rPr lang="ru-RU" sz="1400" dirty="0">
                <a:solidFill>
                  <a:srgbClr val="000000"/>
                </a:solidFill>
              </a:rPr>
              <a:t>Определите количество доступных адресов узлов и количество необходимых подсетей. </a:t>
            </a:r>
          </a:p>
          <a:p>
            <a:pPr marL="342900" indent="-342900" algn="l" rtl="0">
              <a:buFont typeface="Arial" panose="020B0604020202020204" pitchFamily="34" charset="0"/>
              <a:buChar char="•"/>
            </a:pPr>
            <a:r>
              <a:rPr lang="ru-RU" sz="1400" dirty="0">
                <a:solidFill>
                  <a:srgbClr val="000000"/>
                </a:solidFill>
              </a:rPr>
              <a:t>Определите пулы адресов DHCP и пулы VLAN.</a:t>
            </a:r>
          </a:p>
        </p:txBody>
      </p:sp>
    </p:spTree>
    <p:extLst>
      <p:ext uri="{BB962C8B-B14F-4D97-AF65-F5344CB8AC3E}">
        <p14:creationId xmlns:p14="http://schemas.microsoft.com/office/powerpoint/2010/main" val="2674475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dirty="0"/>
              <a:t>Структурированное проектирование</a:t>
            </a:r>
            <a:br>
              <a:rPr lang="en-US" dirty="0"/>
            </a:br>
            <a:r>
              <a:rPr lang="ru-RU" sz="1600" dirty="0"/>
              <a:t> </a:t>
            </a:r>
            <a:r>
              <a:rPr lang="ru-RU" sz="2400" dirty="0"/>
              <a:t>Назначение адресов устройств</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rtl="0"/>
            <a:r>
              <a:rPr lang="ru-RU" sz="1600" dirty="0">
                <a:solidFill>
                  <a:srgbClr val="000000"/>
                </a:solidFill>
              </a:rPr>
              <a:t>В сети существуют устройства различных типов, которым нужны адреса, включая следующие:</a:t>
            </a:r>
          </a:p>
          <a:p>
            <a:pPr marL="342900" indent="-342900" algn="l" rtl="0">
              <a:buFont typeface="Arial" panose="020B0604020202020204" pitchFamily="34" charset="0"/>
              <a:buChar char="•"/>
            </a:pPr>
            <a:r>
              <a:rPr lang="ru-RU" sz="1400" b="1" dirty="0">
                <a:solidFill>
                  <a:srgbClr val="000000"/>
                </a:solidFill>
              </a:rPr>
              <a:t>Конечные пользователи </a:t>
            </a:r>
            <a:r>
              <a:rPr lang="ru-RU" sz="1400" dirty="0">
                <a:solidFill>
                  <a:srgbClr val="000000"/>
                </a:solidFill>
              </a:rPr>
              <a:t>— большинство из них используют DHCP для уменьшения количества ошибок и нагрузки на персонал службы поддержки сети. Клиенты IPv6 могут получить сведения об адресе с помощью DHCPv6 или SLAAC.</a:t>
            </a:r>
          </a:p>
          <a:p>
            <a:pPr marL="342900" indent="-342900" algn="l" rtl="0">
              <a:buFont typeface="Arial" panose="020B0604020202020204" pitchFamily="34" charset="0"/>
              <a:buChar char="•"/>
            </a:pPr>
            <a:r>
              <a:rPr lang="ru-RU" sz="1400" b="1" dirty="0">
                <a:solidFill>
                  <a:srgbClr val="000000"/>
                </a:solidFill>
              </a:rPr>
              <a:t>Серверы и периферийные устройства</a:t>
            </a:r>
            <a:r>
              <a:rPr lang="ru-RU" sz="1400" dirty="0">
                <a:solidFill>
                  <a:srgbClr val="000000"/>
                </a:solidFill>
              </a:rPr>
              <a:t> - Они должны иметь предсказуемый статический IP-адрес.</a:t>
            </a:r>
            <a:r>
              <a:rPr lang="ru-RU" sz="1400" b="1" dirty="0">
                <a:solidFill>
                  <a:srgbClr val="000000"/>
                </a:solidFill>
              </a:rPr>
              <a:t> </a:t>
            </a:r>
          </a:p>
          <a:p>
            <a:pPr marL="342900" indent="-342900" algn="l" rtl="0">
              <a:buFont typeface="Arial" panose="020B0604020202020204" pitchFamily="34" charset="0"/>
              <a:buChar char="•"/>
            </a:pPr>
            <a:r>
              <a:rPr lang="ru-RU" sz="1400" b="1" dirty="0">
                <a:solidFill>
                  <a:srgbClr val="000000"/>
                </a:solidFill>
              </a:rPr>
              <a:t>Серверы, доступные из Интернета </a:t>
            </a:r>
            <a:r>
              <a:rPr lang="ru-RU" sz="1400" dirty="0">
                <a:solidFill>
                  <a:srgbClr val="000000"/>
                </a:solidFill>
              </a:rPr>
              <a:t>— Серверы должны иметь публичный IPv4 адрес, к которому чаще всего обращаются с помощью NAT. </a:t>
            </a:r>
            <a:r>
              <a:rPr lang="ru-RU" sz="1400" b="1" dirty="0">
                <a:solidFill>
                  <a:srgbClr val="000000"/>
                </a:solidFill>
              </a:rPr>
              <a:t> </a:t>
            </a:r>
          </a:p>
          <a:p>
            <a:pPr marL="342900" indent="-342900" algn="l" rtl="0">
              <a:buFont typeface="Arial" panose="020B0604020202020204" pitchFamily="34" charset="0"/>
              <a:buChar char="•"/>
            </a:pPr>
            <a:r>
              <a:rPr lang="ru-RU" sz="1400" b="1" dirty="0">
                <a:solidFill>
                  <a:srgbClr val="000000"/>
                </a:solidFill>
              </a:rPr>
              <a:t>Промежуточные устройства - </a:t>
            </a:r>
            <a:r>
              <a:rPr lang="ru-RU" sz="1400" dirty="0">
                <a:solidFill>
                  <a:srgbClr val="000000"/>
                </a:solidFill>
              </a:rPr>
              <a:t>Таким устройствам адреса назначаются для управления сетью, ее мониторинга и обеспечения безопасности.</a:t>
            </a:r>
            <a:r>
              <a:rPr lang="ru-RU" sz="1400" b="1" dirty="0">
                <a:solidFill>
                  <a:srgbClr val="000000"/>
                </a:solidFill>
              </a:rPr>
              <a:t> </a:t>
            </a:r>
          </a:p>
          <a:p>
            <a:pPr marL="342900" indent="-342900" algn="l" rtl="0">
              <a:buFont typeface="Arial" panose="020B0604020202020204" pitchFamily="34" charset="0"/>
              <a:buChar char="•"/>
            </a:pPr>
            <a:r>
              <a:rPr lang="ru-RU" sz="1400" b="1" dirty="0">
                <a:solidFill>
                  <a:srgbClr val="000000"/>
                </a:solidFill>
              </a:rPr>
              <a:t>Шлюз -</a:t>
            </a:r>
            <a:r>
              <a:rPr lang="ru-RU" sz="1400" dirty="0">
                <a:solidFill>
                  <a:srgbClr val="000000"/>
                </a:solidFill>
              </a:rPr>
              <a:t> Маршрутизаторы и устройства брандмауэра являются шлюзом для узлов в этой сети. </a:t>
            </a:r>
          </a:p>
          <a:p>
            <a:pPr marL="342900" indent="-342900" algn="l">
              <a:buFont typeface="Arial" panose="020B0604020202020204" pitchFamily="34" charset="0"/>
              <a:buChar char="•"/>
            </a:pPr>
            <a:endParaRPr lang="en-CA" sz="1600" dirty="0">
              <a:solidFill>
                <a:srgbClr val="000000"/>
              </a:solidFill>
            </a:endParaRPr>
          </a:p>
          <a:p>
            <a:pPr marL="0" indent="0" algn="l" rtl="0"/>
            <a:r>
              <a:rPr lang="ru-RU" sz="1600" dirty="0">
                <a:solidFill>
                  <a:srgbClr val="000000"/>
                </a:solidFill>
              </a:rPr>
              <a:t>При проектировании схемы IP-адресации обычно рекомендуется использовать готовый шаблон назначения адресов каждому типу устройств. </a:t>
            </a:r>
          </a:p>
        </p:txBody>
      </p:sp>
    </p:spTree>
    <p:extLst>
      <p:ext uri="{BB962C8B-B14F-4D97-AF65-F5344CB8AC3E}">
        <p14:creationId xmlns:p14="http://schemas.microsoft.com/office/powerpoint/2010/main" val="510327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Структурированный дизайн</a:t>
            </a:r>
            <a:br>
              <a:rPr lang="en-US" dirty="0"/>
            </a:br>
            <a:r>
              <a:rPr lang="ru-RU" sz="2400"/>
              <a:t>Packet Tracer — практика проектирования и внедрения VLSM</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rtl="0">
              <a:spcBef>
                <a:spcPts val="0"/>
              </a:spcBef>
            </a:pPr>
            <a:r>
              <a:rPr lang="ru-RU" sz="1600">
                <a:solidFill>
                  <a:srgbClr val="000000"/>
                </a:solidFill>
              </a:rPr>
              <a:t>В этом задании Packet Tracer вы будете делать следующее:</a:t>
            </a:r>
          </a:p>
          <a:p>
            <a:pPr marL="0" indent="0" algn="l">
              <a:spcBef>
                <a:spcPts val="0"/>
              </a:spcBef>
            </a:pPr>
            <a:endParaRPr lang="en-US" sz="1600" dirty="0">
              <a:solidFill>
                <a:srgbClr val="000000"/>
              </a:solidFill>
            </a:endParaRP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Изучение требований к сети</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Разработка схемы адресации VLSM</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Назначение IP-адресов устройствам и проверка подключения</a:t>
            </a:r>
          </a:p>
          <a:p>
            <a:pPr marL="342900" indent="-342900" algn="l">
              <a:buFont typeface="Arial" panose="020B0604020202020204" pitchFamily="34" charset="0"/>
              <a:buChar char="•"/>
            </a:pPr>
            <a:endParaRPr lang="en-CA" sz="1600" dirty="0">
              <a:solidFill>
                <a:srgbClr val="000000"/>
              </a:solidFill>
            </a:endParaRPr>
          </a:p>
        </p:txBody>
      </p:sp>
    </p:spTree>
    <p:extLst>
      <p:ext uri="{BB962C8B-B14F-4D97-AF65-F5344CB8AC3E}">
        <p14:creationId xmlns:p14="http://schemas.microsoft.com/office/powerpoint/2010/main" val="318658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ru-RU">
                <a:solidFill>
                  <a:schemeClr val="accent5">
                    <a:lumMod val="40000"/>
                    <a:lumOff val="60000"/>
                  </a:schemeClr>
                </a:solidFill>
              </a:rPr>
              <a:t>11.10 Практика и контрольная работа модуля</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9144000" cy="731837"/>
          </a:xfrm>
        </p:spPr>
        <p:txBody>
          <a:bodyPr/>
          <a:lstStyle/>
          <a:p>
            <a:pPr rtl="0"/>
            <a:r>
              <a:rPr lang="ru-RU" sz="1600"/>
              <a:t>Структурированное проектирование </a:t>
            </a:r>
            <a:br>
              <a:rPr lang="en-US" dirty="0"/>
            </a:br>
            <a:r>
              <a:rPr lang="ru-RU" sz="2300"/>
              <a:t> Packet Tracer. Разработка и реализация схемы адресации VLSM</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rtl="0">
              <a:spcBef>
                <a:spcPts val="0"/>
              </a:spcBef>
            </a:pPr>
            <a:r>
              <a:rPr lang="ru-RU" sz="1600">
                <a:solidFill>
                  <a:srgbClr val="000000"/>
                </a:solidFill>
              </a:rPr>
              <a:t>В этом задании Packet Tracer вы будете делать следующее:</a:t>
            </a:r>
          </a:p>
          <a:p>
            <a:pPr marL="0" indent="0" algn="l">
              <a:spcBef>
                <a:spcPts val="0"/>
              </a:spcBef>
            </a:pPr>
            <a:endParaRPr lang="en-US" sz="1600" dirty="0">
              <a:solidFill>
                <a:srgbClr val="000000"/>
              </a:solidFill>
            </a:endParaRP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Разработка схемы IP-адресации VLSM с учетом требований</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Настройка адресации на сетевых устройствах и узлах</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Проверка IP-подключения</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Поиск и устранение неполадок подключения</a:t>
            </a:r>
          </a:p>
        </p:txBody>
      </p:sp>
    </p:spTree>
    <p:extLst>
      <p:ext uri="{BB962C8B-B14F-4D97-AF65-F5344CB8AC3E}">
        <p14:creationId xmlns:p14="http://schemas.microsoft.com/office/powerpoint/2010/main" val="2556431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Структурированное проектирование </a:t>
            </a:r>
            <a:br>
              <a:rPr lang="en-US" dirty="0"/>
            </a:br>
            <a:r>
              <a:rPr lang="ru-RU" sz="2400"/>
              <a:t>Лабораторная работа. Разработка и реализация схемы адресации VLSM</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rtl="0"/>
            <a:r>
              <a:rPr lang="ru-RU" sz="1600">
                <a:solidFill>
                  <a:srgbClr val="000000"/>
                </a:solidFill>
              </a:rPr>
              <a:t>В этой лабораторной работе вы выполните следующие задачи.</a:t>
            </a:r>
          </a:p>
          <a:p>
            <a:pPr marL="0" indent="0" algn="l"/>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Изучение требований к сети</a:t>
            </a:r>
          </a:p>
          <a:p>
            <a:pPr marL="342900" indent="-342900" algn="l" rtl="0">
              <a:buFont typeface="Arial" panose="020B0604020202020204" pitchFamily="34" charset="0"/>
              <a:buChar char="•"/>
            </a:pPr>
            <a:r>
              <a:rPr lang="ru-RU" sz="1600">
                <a:solidFill>
                  <a:srgbClr val="000000"/>
                </a:solidFill>
              </a:rPr>
              <a:t>Разработка схемы адресации VLSM</a:t>
            </a:r>
          </a:p>
          <a:p>
            <a:pPr marL="342900" indent="-342900" algn="l" rtl="0">
              <a:buFont typeface="Arial" panose="020B0604020202020204" pitchFamily="34" charset="0"/>
              <a:buChar char="•"/>
            </a:pPr>
            <a:r>
              <a:rPr lang="ru-RU" sz="1600">
                <a:solidFill>
                  <a:srgbClr val="000000"/>
                </a:solidFill>
              </a:rPr>
              <a:t>Подключение и настройка IPv4-сети</a:t>
            </a:r>
          </a:p>
        </p:txBody>
      </p:sp>
    </p:spTree>
    <p:extLst>
      <p:ext uri="{BB962C8B-B14F-4D97-AF65-F5344CB8AC3E}">
        <p14:creationId xmlns:p14="http://schemas.microsoft.com/office/powerpoint/2010/main" val="1575232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ru-RU" sz="1400">
                <a:latin typeface="Arial" charset="0"/>
              </a:rPr>
              <a:t>Практика и контрольная работа модуля </a:t>
            </a:r>
            <a:br>
              <a:rPr lang="en-US" dirty="0">
                <a:latin typeface="Arial" charset="0"/>
              </a:rPr>
            </a:br>
            <a:r>
              <a:rPr lang="ru-RU">
                <a:latin typeface="Arial" charset="0"/>
              </a:rPr>
              <a:t>Что я изучил в этом модуле?</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182563" indent="-166688" rtl="0">
              <a:spcBef>
                <a:spcPts val="300"/>
              </a:spcBef>
              <a:spcAft>
                <a:spcPts val="300"/>
              </a:spcAft>
              <a:buFont typeface="Arial" panose="020B0604020202020204" pitchFamily="34" charset="0"/>
              <a:buChar char="•"/>
            </a:pPr>
            <a:r>
              <a:rPr lang="ru-RU" sz="1600" dirty="0"/>
              <a:t>Структура IP-адресации состоит из 32-разрядного иерархического сетевого адреса, который идентифицирует сеть и часть узла. </a:t>
            </a:r>
          </a:p>
          <a:p>
            <a:pPr marL="182563" indent="-166688" rtl="0">
              <a:spcBef>
                <a:spcPts val="300"/>
              </a:spcBef>
              <a:spcAft>
                <a:spcPts val="300"/>
              </a:spcAft>
              <a:buFont typeface="Arial" panose="020B0604020202020204" pitchFamily="34" charset="0"/>
              <a:buChar char="•"/>
            </a:pPr>
            <a:r>
              <a:rPr lang="ru-RU" sz="1600" dirty="0"/>
              <a:t>Пакеты IPv4 назначения могут быть одноадресными, широковещательными и многоадресными.</a:t>
            </a:r>
          </a:p>
          <a:p>
            <a:pPr marL="182563" indent="-166688" rtl="0">
              <a:spcBef>
                <a:spcPts val="300"/>
              </a:spcBef>
              <a:spcAft>
                <a:spcPts val="300"/>
              </a:spcAft>
              <a:buFont typeface="Arial" panose="020B0604020202020204" pitchFamily="34" charset="0"/>
              <a:buChar char="•"/>
            </a:pPr>
            <a:r>
              <a:rPr lang="ru-RU" sz="1600" dirty="0"/>
              <a:t>Существуют глобальные маршрутизируемые IP-адреса, назначенные IANA, и есть три диапазона адресов частных IP-сетей, которые не могут быть маршрутизированы глобально, но могут использоваться во всех внутренних частных сетях.</a:t>
            </a:r>
          </a:p>
          <a:p>
            <a:pPr marL="182563" indent="-166688" rtl="0">
              <a:spcBef>
                <a:spcPts val="300"/>
              </a:spcBef>
              <a:spcAft>
                <a:spcPts val="300"/>
              </a:spcAft>
              <a:buFont typeface="Arial" panose="020B0604020202020204" pitchFamily="34" charset="0"/>
              <a:buChar char="•"/>
            </a:pPr>
            <a:r>
              <a:rPr lang="ru-RU" sz="1600" dirty="0"/>
              <a:t>Сокращение крупных широковещательных доменов с помощью подсетей для создания меньших широковещательных доменов, уменьшения общего сетевого трафика и повышения производительности сети. </a:t>
            </a:r>
          </a:p>
          <a:p>
            <a:pPr marL="182563" indent="-166688" rtl="0">
              <a:spcBef>
                <a:spcPts val="300"/>
              </a:spcBef>
              <a:spcAft>
                <a:spcPts val="300"/>
              </a:spcAft>
              <a:buFont typeface="Arial" panose="020B0604020202020204" pitchFamily="34" charset="0"/>
              <a:buChar char="•"/>
            </a:pPr>
            <a:r>
              <a:rPr lang="ru-RU" sz="1600" dirty="0"/>
              <a:t>Для создания IPv4-подсетей мы задействуем один или несколько бит из узловой части в качестве бит сетевой части. </a:t>
            </a:r>
          </a:p>
          <a:p>
            <a:pPr marL="182563" indent="-166688" rtl="0">
              <a:spcBef>
                <a:spcPts val="300"/>
              </a:spcBef>
              <a:spcAft>
                <a:spcPts val="300"/>
              </a:spcAft>
              <a:buFont typeface="Arial" panose="020B0604020202020204" pitchFamily="34" charset="0"/>
              <a:buChar char="•"/>
            </a:pPr>
            <a:r>
              <a:rPr lang="ru-RU" sz="1600" dirty="0"/>
              <a:t>Используйте VLSM для уменьшения количества неиспользуемых адресов узлов в подсети.</a:t>
            </a:r>
          </a:p>
          <a:p>
            <a:pPr marL="173037" indent="-342900">
              <a:spcBef>
                <a:spcPts val="300"/>
              </a:spcBef>
              <a:spcAft>
                <a:spcPts val="300"/>
              </a:spcAft>
              <a:buFont typeface="Arial" panose="020B0604020202020204" pitchFamily="34" charset="0"/>
              <a:buChar char="•"/>
            </a:pPr>
            <a:endParaRPr lang="en-US" sz="1600" dirty="0"/>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ru-RU" sz="1400">
                <a:latin typeface="Arial" charset="0"/>
              </a:rPr>
              <a:t>Практика и контрольная работа модуля </a:t>
            </a:r>
            <a:br>
              <a:rPr lang="en-US" dirty="0">
                <a:latin typeface="Arial" charset="0"/>
              </a:rPr>
            </a:br>
            <a:r>
              <a:rPr lang="ru-RU">
                <a:latin typeface="Arial" charset="0"/>
              </a:rPr>
              <a:t> Что я изучил в этом модуле? (продолжение)</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182563" indent="-166688" rtl="0">
              <a:spcBef>
                <a:spcPts val="300"/>
              </a:spcBef>
              <a:spcAft>
                <a:spcPts val="300"/>
              </a:spcAft>
              <a:buFont typeface="Arial" panose="020B0604020202020204" pitchFamily="34" charset="0"/>
              <a:buChar char="•"/>
            </a:pPr>
            <a:r>
              <a:rPr lang="ru-RU" sz="1600"/>
              <a:t>VLSM позволяет разделить пространство сети на неравные части. Всегда начинайте с обеспечения соответствия требованиям к узлам в крупнейших подсетях. Продолжайте разбиение до тех пор, пока не будут удовлетворены требования к узлам в наименьшей подсети. </a:t>
            </a:r>
          </a:p>
          <a:p>
            <a:pPr marL="182563" indent="-166688" rtl="0">
              <a:spcBef>
                <a:spcPts val="300"/>
              </a:spcBef>
              <a:spcAft>
                <a:spcPts val="300"/>
              </a:spcAft>
              <a:buFont typeface="Arial" panose="020B0604020202020204" pitchFamily="34" charset="0"/>
              <a:buChar char="•"/>
            </a:pPr>
            <a:r>
              <a:rPr lang="ru-RU" sz="1600"/>
              <a:t>При разработке схемы сетевой адресации учитывайте внутренние, DMZ и внешние требования. Используйте согласованную внутреннюю схему IP-адресации с заданным шаблоном распределения адресов для каждого типа устройств.</a:t>
            </a:r>
          </a:p>
        </p:txBody>
      </p:sp>
    </p:spTree>
    <p:custDataLst>
      <p:tags r:id="rId1"/>
    </p:custDataLst>
    <p:extLst>
      <p:ext uri="{BB962C8B-B14F-4D97-AF65-F5344CB8AC3E}">
        <p14:creationId xmlns:p14="http://schemas.microsoft.com/office/powerpoint/2010/main" val="3916308058"/>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r>
              <a:rPr lang="ru-RU" sz="1400" dirty="0">
                <a:latin typeface="Arial" charset="0"/>
              </a:rPr>
              <a:t>Модуль 11: Адресация </a:t>
            </a:r>
            <a:r>
              <a:rPr lang="en-US" sz="1400" dirty="0">
                <a:latin typeface="Arial" charset="0"/>
              </a:rPr>
              <a:t>IPv4</a:t>
            </a:r>
            <a:br>
              <a:rPr lang="en-US" dirty="0">
                <a:latin typeface="Arial" charset="0"/>
              </a:rPr>
            </a:br>
            <a:r>
              <a:rPr lang="ru-RU" dirty="0">
                <a:latin typeface="Arial" charset="0"/>
              </a:rPr>
              <a:t>Новые термины и команды</a:t>
            </a:r>
          </a:p>
        </p:txBody>
      </p:sp>
      <p:graphicFrame>
        <p:nvGraphicFramePr>
          <p:cNvPr id="9" name="Table 9">
            <a:extLst>
              <a:ext uri="{FF2B5EF4-FFF2-40B4-BE49-F238E27FC236}">
                <a16:creationId xmlns:a16="http://schemas.microsoft.com/office/drawing/2014/main" id="{F2480B83-AF5E-4A70-B69B-F1E3A8FAC758}"/>
              </a:ext>
            </a:extLst>
          </p:cNvPr>
          <p:cNvGraphicFramePr>
            <a:graphicFrameLocks noGrp="1"/>
          </p:cNvGraphicFramePr>
          <p:nvPr>
            <p:ph idx="1"/>
            <p:extLst>
              <p:ext uri="{D42A27DB-BD31-4B8C-83A1-F6EECF244321}">
                <p14:modId xmlns:p14="http://schemas.microsoft.com/office/powerpoint/2010/main" val="3603603940"/>
              </p:ext>
            </p:extLst>
          </p:nvPr>
        </p:nvGraphicFramePr>
        <p:xfrm>
          <a:off x="144463" y="798513"/>
          <a:ext cx="8853486" cy="3078480"/>
        </p:xfrm>
        <a:graphic>
          <a:graphicData uri="http://schemas.openxmlformats.org/drawingml/2006/table">
            <a:tbl>
              <a:tblPr firstRow="1" bandRow="1">
                <a:tableStyleId>{F5AB1C69-6EDB-4FF4-983F-18BD219EF322}</a:tableStyleId>
              </a:tblPr>
              <a:tblGrid>
                <a:gridCol w="4426743">
                  <a:extLst>
                    <a:ext uri="{9D8B030D-6E8A-4147-A177-3AD203B41FA5}">
                      <a16:colId xmlns:a16="http://schemas.microsoft.com/office/drawing/2014/main" val="3270854437"/>
                    </a:ext>
                  </a:extLst>
                </a:gridCol>
                <a:gridCol w="4426743">
                  <a:extLst>
                    <a:ext uri="{9D8B030D-6E8A-4147-A177-3AD203B41FA5}">
                      <a16:colId xmlns:a16="http://schemas.microsoft.com/office/drawing/2014/main" val="1988644124"/>
                    </a:ext>
                  </a:extLst>
                </a:gridCol>
              </a:tblGrid>
              <a:tr h="370840">
                <a:tc>
                  <a:txBody>
                    <a:bodyPr/>
                    <a:lstStyle/>
                    <a:p>
                      <a:pPr marL="285750" indent="-285750" rtl="0">
                        <a:buFont typeface="Arial" panose="020B0604020202020204" pitchFamily="34" charset="0"/>
                        <a:buChar char="•"/>
                      </a:pPr>
                      <a:r>
                        <a:rPr lang="ru-RU" b="0">
                          <a:solidFill>
                            <a:srgbClr val="000000"/>
                          </a:solidFill>
                        </a:rPr>
                        <a:t>prefix length</a:t>
                      </a:r>
                    </a:p>
                    <a:p>
                      <a:pPr marL="285750" indent="-285750" rtl="0">
                        <a:buFont typeface="Arial" panose="020B0604020202020204" pitchFamily="34" charset="0"/>
                        <a:buChar char="•"/>
                      </a:pPr>
                      <a:r>
                        <a:rPr lang="ru-RU" b="0">
                          <a:solidFill>
                            <a:srgbClr val="000000"/>
                          </a:solidFill>
                        </a:rPr>
                        <a:t>logical AND</a:t>
                      </a:r>
                    </a:p>
                    <a:p>
                      <a:pPr marL="285750" indent="-285750" rtl="0">
                        <a:buFont typeface="Arial" panose="020B0604020202020204" pitchFamily="34" charset="0"/>
                        <a:buChar char="•"/>
                      </a:pPr>
                      <a:r>
                        <a:rPr lang="ru-RU" b="0">
                          <a:solidFill>
                            <a:srgbClr val="000000"/>
                          </a:solidFill>
                        </a:rPr>
                        <a:t>network address</a:t>
                      </a:r>
                    </a:p>
                    <a:p>
                      <a:pPr marL="285750" indent="-285750" rtl="0">
                        <a:buFont typeface="Arial" panose="020B0604020202020204" pitchFamily="34" charset="0"/>
                        <a:buChar char="•"/>
                      </a:pPr>
                      <a:r>
                        <a:rPr lang="ru-RU" b="0">
                          <a:solidFill>
                            <a:srgbClr val="000000"/>
                          </a:solidFill>
                        </a:rPr>
                        <a:t>broadcast address</a:t>
                      </a:r>
                    </a:p>
                    <a:p>
                      <a:pPr marL="285750" indent="-285750" rtl="0">
                        <a:buFont typeface="Arial" panose="020B0604020202020204" pitchFamily="34" charset="0"/>
                        <a:buChar char="•"/>
                      </a:pPr>
                      <a:r>
                        <a:rPr lang="ru-RU" b="0">
                          <a:solidFill>
                            <a:srgbClr val="000000"/>
                          </a:solidFill>
                        </a:rPr>
                        <a:t>first usable address</a:t>
                      </a:r>
                    </a:p>
                    <a:p>
                      <a:pPr marL="285750" indent="-285750" rtl="0">
                        <a:buFont typeface="Arial" panose="020B0604020202020204" pitchFamily="34" charset="0"/>
                        <a:buChar char="•"/>
                      </a:pPr>
                      <a:r>
                        <a:rPr lang="ru-RU" b="0">
                          <a:solidFill>
                            <a:srgbClr val="000000"/>
                          </a:solidFill>
                        </a:rPr>
                        <a:t>last usable address</a:t>
                      </a:r>
                    </a:p>
                    <a:p>
                      <a:pPr marL="285750" indent="-285750" rtl="0">
                        <a:buFont typeface="Arial" panose="020B0604020202020204" pitchFamily="34" charset="0"/>
                        <a:buChar char="•"/>
                      </a:pPr>
                      <a:r>
                        <a:rPr lang="ru-RU" b="0">
                          <a:solidFill>
                            <a:srgbClr val="000000"/>
                          </a:solidFill>
                        </a:rPr>
                        <a:t>unicast, broadcast, and multicast transmissions</a:t>
                      </a:r>
                    </a:p>
                    <a:p>
                      <a:pPr marL="285750" indent="-285750" rtl="0">
                        <a:buFont typeface="Arial" panose="020B0604020202020204" pitchFamily="34" charset="0"/>
                        <a:buChar char="•"/>
                      </a:pPr>
                      <a:r>
                        <a:rPr lang="ru-RU" b="0">
                          <a:solidFill>
                            <a:srgbClr val="000000"/>
                          </a:solidFill>
                        </a:rPr>
                        <a:t>private addresses</a:t>
                      </a:r>
                    </a:p>
                    <a:p>
                      <a:pPr marL="285750" indent="-285750" rtl="0">
                        <a:buFont typeface="Arial" panose="020B0604020202020204" pitchFamily="34" charset="0"/>
                        <a:buChar char="•"/>
                      </a:pPr>
                      <a:r>
                        <a:rPr lang="ru-RU" b="0">
                          <a:solidFill>
                            <a:srgbClr val="000000"/>
                          </a:solidFill>
                        </a:rPr>
                        <a:t>public addresses</a:t>
                      </a:r>
                    </a:p>
                    <a:p>
                      <a:pPr marL="285750" indent="-285750" rtl="0">
                        <a:buFont typeface="Arial" panose="020B0604020202020204" pitchFamily="34" charset="0"/>
                        <a:buChar char="•"/>
                      </a:pPr>
                      <a:r>
                        <a:rPr lang="ru-RU" b="0">
                          <a:solidFill>
                            <a:srgbClr val="000000"/>
                          </a:solidFill>
                        </a:rPr>
                        <a:t>Network Address Translation (NAT)</a:t>
                      </a:r>
                    </a:p>
                    <a:p>
                      <a:pPr marL="285750" indent="-285750" rtl="0">
                        <a:buFont typeface="Arial" panose="020B0604020202020204" pitchFamily="34" charset="0"/>
                        <a:buChar char="•"/>
                      </a:pPr>
                      <a:r>
                        <a:rPr lang="ru-RU" b="0">
                          <a:solidFill>
                            <a:srgbClr val="000000"/>
                          </a:solidFill>
                        </a:rPr>
                        <a:t>loopback addresses</a:t>
                      </a:r>
                    </a:p>
                    <a:p>
                      <a:pPr marL="285750" indent="-285750" rtl="0">
                        <a:buFont typeface="Arial" panose="020B0604020202020204" pitchFamily="34" charset="0"/>
                        <a:buChar char="•"/>
                      </a:pPr>
                      <a:r>
                        <a:rPr lang="ru-RU" b="0">
                          <a:solidFill>
                            <a:srgbClr val="000000"/>
                          </a:solidFill>
                        </a:rPr>
                        <a:t>Automatic Private IP Addressing (APIPA) addresses</a:t>
                      </a:r>
                    </a:p>
                    <a:p>
                      <a:pPr marL="285750" indent="-285750" rtl="0">
                        <a:buFont typeface="Arial" panose="020B0604020202020204" pitchFamily="34" charset="0"/>
                        <a:buChar char="•"/>
                      </a:pPr>
                      <a:r>
                        <a:rPr lang="ru-RU" b="0">
                          <a:solidFill>
                            <a:srgbClr val="000000"/>
                          </a:solidFill>
                        </a:rPr>
                        <a:t>classful addressing (Class A, B, C, D, and 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ru-RU" b="0" dirty="0" err="1">
                          <a:solidFill>
                            <a:srgbClr val="000000"/>
                          </a:solidFill>
                        </a:rPr>
                        <a:t>Internet</a:t>
                      </a:r>
                      <a:r>
                        <a:rPr lang="ru-RU" b="0" dirty="0">
                          <a:solidFill>
                            <a:srgbClr val="000000"/>
                          </a:solidFill>
                        </a:rPr>
                        <a:t> </a:t>
                      </a:r>
                      <a:r>
                        <a:rPr lang="ru-RU" b="0" dirty="0" err="1">
                          <a:solidFill>
                            <a:srgbClr val="000000"/>
                          </a:solidFill>
                        </a:rPr>
                        <a:t>Assigned</a:t>
                      </a:r>
                      <a:r>
                        <a:rPr lang="ru-RU" b="0" dirty="0">
                          <a:solidFill>
                            <a:srgbClr val="000000"/>
                          </a:solidFill>
                        </a:rPr>
                        <a:t> </a:t>
                      </a:r>
                      <a:r>
                        <a:rPr lang="ru-RU" b="0" dirty="0" err="1">
                          <a:solidFill>
                            <a:srgbClr val="000000"/>
                          </a:solidFill>
                        </a:rPr>
                        <a:t>Numbers</a:t>
                      </a:r>
                      <a:r>
                        <a:rPr lang="ru-RU" b="0" dirty="0">
                          <a:solidFill>
                            <a:srgbClr val="000000"/>
                          </a:solidFill>
                        </a:rPr>
                        <a:t> </a:t>
                      </a:r>
                      <a:r>
                        <a:rPr lang="ru-RU" b="0" dirty="0" err="1">
                          <a:solidFill>
                            <a:srgbClr val="000000"/>
                          </a:solidFill>
                        </a:rPr>
                        <a:t>Authority</a:t>
                      </a:r>
                      <a:r>
                        <a:rPr lang="ru-RU" b="0" dirty="0">
                          <a:solidFill>
                            <a:srgbClr val="000000"/>
                          </a:solidFill>
                        </a:rPr>
                        <a:t> (IANA)</a:t>
                      </a:r>
                    </a:p>
                    <a:p>
                      <a:pPr rtl="0"/>
                      <a:r>
                        <a:rPr lang="ru-RU" b="0" dirty="0" err="1">
                          <a:solidFill>
                            <a:srgbClr val="000000"/>
                          </a:solidFill>
                        </a:rPr>
                        <a:t>Regional</a:t>
                      </a:r>
                      <a:r>
                        <a:rPr lang="ru-RU" b="0" dirty="0">
                          <a:solidFill>
                            <a:srgbClr val="000000"/>
                          </a:solidFill>
                        </a:rPr>
                        <a:t> </a:t>
                      </a:r>
                      <a:r>
                        <a:rPr lang="ru-RU" b="0" dirty="0" err="1">
                          <a:solidFill>
                            <a:srgbClr val="000000"/>
                          </a:solidFill>
                        </a:rPr>
                        <a:t>Internet</a:t>
                      </a:r>
                      <a:r>
                        <a:rPr lang="ru-RU" b="0" dirty="0">
                          <a:solidFill>
                            <a:srgbClr val="000000"/>
                          </a:solidFill>
                        </a:rPr>
                        <a:t> </a:t>
                      </a:r>
                      <a:r>
                        <a:rPr lang="ru-RU" b="0" dirty="0" err="1">
                          <a:solidFill>
                            <a:srgbClr val="000000"/>
                          </a:solidFill>
                        </a:rPr>
                        <a:t>Registries</a:t>
                      </a:r>
                      <a:r>
                        <a:rPr lang="ru-RU" b="0" dirty="0">
                          <a:solidFill>
                            <a:srgbClr val="000000"/>
                          </a:solidFill>
                        </a:rPr>
                        <a:t> (</a:t>
                      </a:r>
                      <a:r>
                        <a:rPr lang="ru-RU" b="0" dirty="0" err="1">
                          <a:solidFill>
                            <a:srgbClr val="000000"/>
                          </a:solidFill>
                        </a:rPr>
                        <a:t>RIRs</a:t>
                      </a:r>
                      <a:r>
                        <a:rPr lang="ru-RU" b="0" dirty="0">
                          <a:solidFill>
                            <a:srgbClr val="000000"/>
                          </a:solidFill>
                        </a:rPr>
                        <a:t>)</a:t>
                      </a:r>
                    </a:p>
                    <a:p>
                      <a:pPr rtl="0"/>
                      <a:r>
                        <a:rPr lang="ru-RU" b="0" dirty="0" err="1">
                          <a:solidFill>
                            <a:srgbClr val="000000"/>
                          </a:solidFill>
                        </a:rPr>
                        <a:t>AfriNIC</a:t>
                      </a:r>
                      <a:r>
                        <a:rPr lang="ru-RU" b="0" dirty="0">
                          <a:solidFill>
                            <a:srgbClr val="000000"/>
                          </a:solidFill>
                        </a:rPr>
                        <a:t>, APNIC, ARIN, LACNIC, </a:t>
                      </a:r>
                      <a:r>
                        <a:rPr lang="ru-RU" b="0" dirty="0" err="1">
                          <a:solidFill>
                            <a:srgbClr val="000000"/>
                          </a:solidFill>
                        </a:rPr>
                        <a:t>and</a:t>
                      </a:r>
                      <a:r>
                        <a:rPr lang="ru-RU" b="0" dirty="0">
                          <a:solidFill>
                            <a:srgbClr val="000000"/>
                          </a:solidFill>
                        </a:rPr>
                        <a:t> RIPE NCC </a:t>
                      </a:r>
                    </a:p>
                    <a:p>
                      <a:pPr rtl="0"/>
                      <a:r>
                        <a:rPr lang="ru-RU" b="0" dirty="0" err="1">
                          <a:solidFill>
                            <a:srgbClr val="000000"/>
                          </a:solidFill>
                        </a:rPr>
                        <a:t>broadcast</a:t>
                      </a:r>
                      <a:r>
                        <a:rPr lang="ru-RU" b="0" dirty="0">
                          <a:solidFill>
                            <a:srgbClr val="000000"/>
                          </a:solidFill>
                        </a:rPr>
                        <a:t> </a:t>
                      </a:r>
                      <a:r>
                        <a:rPr lang="ru-RU" b="0" dirty="0" err="1">
                          <a:solidFill>
                            <a:srgbClr val="000000"/>
                          </a:solidFill>
                        </a:rPr>
                        <a:t>domains</a:t>
                      </a:r>
                      <a:endParaRPr lang="ru-RU" b="0" dirty="0">
                        <a:solidFill>
                          <a:srgbClr val="000000"/>
                        </a:solidFill>
                      </a:endParaRPr>
                    </a:p>
                    <a:p>
                      <a:pPr rtl="0"/>
                      <a:r>
                        <a:rPr lang="ru-RU" b="0" dirty="0" err="1">
                          <a:solidFill>
                            <a:srgbClr val="000000"/>
                          </a:solidFill>
                        </a:rPr>
                        <a:t>subnets</a:t>
                      </a:r>
                      <a:endParaRPr lang="ru-RU" b="0" dirty="0">
                        <a:solidFill>
                          <a:srgbClr val="000000"/>
                        </a:solidFill>
                      </a:endParaRPr>
                    </a:p>
                    <a:p>
                      <a:pPr rtl="0"/>
                      <a:r>
                        <a:rPr lang="ru-RU" b="0" dirty="0" err="1">
                          <a:solidFill>
                            <a:srgbClr val="000000"/>
                          </a:solidFill>
                        </a:rPr>
                        <a:t>octet</a:t>
                      </a:r>
                      <a:r>
                        <a:rPr lang="ru-RU" b="0" dirty="0">
                          <a:solidFill>
                            <a:srgbClr val="000000"/>
                          </a:solidFill>
                        </a:rPr>
                        <a:t> </a:t>
                      </a:r>
                      <a:r>
                        <a:rPr lang="ru-RU" b="0" dirty="0" err="1">
                          <a:solidFill>
                            <a:srgbClr val="000000"/>
                          </a:solidFill>
                        </a:rPr>
                        <a:t>boundary</a:t>
                      </a:r>
                      <a:endParaRPr lang="ru-RU" b="0" dirty="0">
                        <a:solidFill>
                          <a:srgbClr val="000000"/>
                        </a:solidFill>
                      </a:endParaRPr>
                    </a:p>
                    <a:p>
                      <a:pPr rtl="0"/>
                      <a:r>
                        <a:rPr lang="ru-RU" b="0" dirty="0" err="1">
                          <a:solidFill>
                            <a:srgbClr val="000000"/>
                          </a:solidFill>
                        </a:rPr>
                        <a:t>variable-length</a:t>
                      </a:r>
                      <a:r>
                        <a:rPr lang="ru-RU" b="0" dirty="0">
                          <a:solidFill>
                            <a:srgbClr val="000000"/>
                          </a:solidFill>
                        </a:rPr>
                        <a:t> </a:t>
                      </a:r>
                      <a:r>
                        <a:rPr lang="ru-RU" b="0" dirty="0" err="1">
                          <a:solidFill>
                            <a:srgbClr val="000000"/>
                          </a:solidFill>
                        </a:rPr>
                        <a:t>subnet</a:t>
                      </a:r>
                      <a:r>
                        <a:rPr lang="ru-RU" b="0" dirty="0">
                          <a:solidFill>
                            <a:srgbClr val="000000"/>
                          </a:solidFill>
                        </a:rPr>
                        <a:t> </a:t>
                      </a:r>
                      <a:r>
                        <a:rPr lang="ru-RU" b="0" dirty="0" err="1">
                          <a:solidFill>
                            <a:srgbClr val="000000"/>
                          </a:solidFill>
                        </a:rPr>
                        <a:t>mask</a:t>
                      </a:r>
                      <a:r>
                        <a:rPr lang="ru-RU" b="0" dirty="0">
                          <a:solidFill>
                            <a:srgbClr val="000000"/>
                          </a:solidFill>
                        </a:rPr>
                        <a:t> (VLSM) </a:t>
                      </a:r>
                    </a:p>
                    <a:p>
                      <a:endParaRPr lang="en-US" b="0" dirty="0">
                        <a:solidFill>
                          <a:srgbClr val="000000"/>
                        </a:solidFill>
                      </a:endParaRPr>
                    </a:p>
                    <a:p>
                      <a:endParaRPr 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8796709"/>
                  </a:ext>
                </a:extLst>
              </a:tr>
            </a:tbl>
          </a:graphicData>
        </a:graphic>
      </p:graphicFrame>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9D5696-D642-4C0D-A366-B720C39F4783}"/>
              </a:ext>
            </a:extLst>
          </p:cNvPr>
          <p:cNvSpPr txBox="1"/>
          <p:nvPr/>
        </p:nvSpPr>
        <p:spPr>
          <a:xfrm>
            <a:off x="1363436" y="849086"/>
            <a:ext cx="2604407" cy="369332"/>
          </a:xfrm>
          <a:prstGeom prst="rect">
            <a:avLst/>
          </a:prstGeom>
          <a:noFill/>
        </p:spPr>
        <p:txBody>
          <a:bodyPr wrap="square" rtlCol="0">
            <a:spAutoFit/>
          </a:bodyPr>
          <a:lstStyle/>
          <a:p>
            <a:r>
              <a:rPr lang="ru-RU" dirty="0"/>
              <a:t>ДЗ</a:t>
            </a:r>
          </a:p>
        </p:txBody>
      </p:sp>
      <p:sp>
        <p:nvSpPr>
          <p:cNvPr id="3" name="TextBox 2">
            <a:extLst>
              <a:ext uri="{FF2B5EF4-FFF2-40B4-BE49-F238E27FC236}">
                <a16:creationId xmlns:a16="http://schemas.microsoft.com/office/drawing/2014/main" id="{72098782-952D-4164-872A-1FF8FD90E2C2}"/>
              </a:ext>
            </a:extLst>
          </p:cNvPr>
          <p:cNvSpPr txBox="1"/>
          <p:nvPr/>
        </p:nvSpPr>
        <p:spPr>
          <a:xfrm>
            <a:off x="906236" y="1902279"/>
            <a:ext cx="6776357" cy="2308324"/>
          </a:xfrm>
          <a:prstGeom prst="rect">
            <a:avLst/>
          </a:prstGeom>
          <a:noFill/>
        </p:spPr>
        <p:txBody>
          <a:bodyPr wrap="square" rtlCol="0">
            <a:spAutoFit/>
          </a:bodyPr>
          <a:lstStyle/>
          <a:p>
            <a:r>
              <a:rPr lang="ru-RU" dirty="0"/>
              <a:t>Вам потребуется скачать </a:t>
            </a:r>
            <a:r>
              <a:rPr lang="ru-RU" dirty="0" err="1"/>
              <a:t>циско</a:t>
            </a:r>
            <a:r>
              <a:rPr lang="ru-RU" dirty="0"/>
              <a:t> и прислать открытую работающую программу, </a:t>
            </a:r>
          </a:p>
          <a:p>
            <a:endParaRPr lang="ru-RU" dirty="0"/>
          </a:p>
          <a:p>
            <a:r>
              <a:rPr lang="ru-RU" dirty="0"/>
              <a:t>Вам потребуется распределить 127.168 /24 </a:t>
            </a:r>
            <a:r>
              <a:rPr lang="en-US" dirty="0"/>
              <a:t>IP </a:t>
            </a:r>
            <a:r>
              <a:rPr lang="ru-RU" dirty="0"/>
              <a:t>адрес на подсети где 5 зданий с маршрутами и в каждом от 15 до 25 устройств.</a:t>
            </a:r>
          </a:p>
          <a:p>
            <a:endParaRPr lang="ru-RU" dirty="0"/>
          </a:p>
          <a:p>
            <a:r>
              <a:rPr lang="ru-RU" dirty="0"/>
              <a:t>Найдите нужную длину для /* для 20 подсетей и 10 узлов</a:t>
            </a:r>
          </a:p>
        </p:txBody>
      </p:sp>
    </p:spTree>
    <p:extLst>
      <p:ext uri="{BB962C8B-B14F-4D97-AF65-F5344CB8AC3E}">
        <p14:creationId xmlns:p14="http://schemas.microsoft.com/office/powerpoint/2010/main" val="3329065650"/>
      </p:ext>
    </p:extLst>
  </p:cSld>
  <p:clrMapOvr>
    <a:masterClrMapping/>
  </p:clrMapOvr>
  <p:transition spd="med">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11187</TotalTime>
  <Words>4845</Words>
  <Application>Microsoft Office PowerPoint</Application>
  <PresentationFormat>Экран (16:9)</PresentationFormat>
  <Paragraphs>839</Paragraphs>
  <Slides>60</Slides>
  <Notes>59</Notes>
  <HiddenSlides>6</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60</vt:i4>
      </vt:variant>
    </vt:vector>
  </HeadingPairs>
  <TitlesOfParts>
    <vt:vector size="66" baseType="lpstr">
      <vt:lpstr>Arial</vt:lpstr>
      <vt:lpstr>Calibri</vt:lpstr>
      <vt:lpstr>CiscoSans ExtraLight</vt:lpstr>
      <vt:lpstr>Courier New</vt:lpstr>
      <vt:lpstr>Wingdings</vt:lpstr>
      <vt:lpstr>Default Theme</vt:lpstr>
      <vt:lpstr>Модуль 11: Адресация IPv4</vt:lpstr>
      <vt:lpstr>Модуль 11: Рекомендации</vt:lpstr>
      <vt:lpstr>Модуль 11: Рекомендации (Продолжение)</vt:lpstr>
      <vt:lpstr>Модуль 11: Рекомендации (Продолжение)</vt:lpstr>
      <vt:lpstr>Модуль 11: Рекомендации (Продолжение)</vt:lpstr>
      <vt:lpstr>Модуль 11: Рекомендации (Продолжение)</vt:lpstr>
      <vt:lpstr>Модуль 11: Адресация IPv4</vt:lpstr>
      <vt:lpstr>Задачи модуля</vt:lpstr>
      <vt:lpstr>11.1 Структура адреса IPv4 </vt:lpstr>
      <vt:lpstr> Структура адреса IPv4   Сетевая и хостовая часть</vt:lpstr>
      <vt:lpstr>Структура адреса IPv4  Маска подсети</vt:lpstr>
      <vt:lpstr>Структура адреса IPv4   Длина префикса</vt:lpstr>
      <vt:lpstr>Структура адресов IPv4 Определение сети: логическое И</vt:lpstr>
      <vt:lpstr>Структура адреса IPv4  Видео.  Сетевой адрес, адрес хоста и широковещательный адрес</vt:lpstr>
      <vt:lpstr>11.2 Одноадресная, широковещательная и многоадресная рассылка IPv4</vt:lpstr>
      <vt:lpstr>Одноадресная, широковещательная и многоадресная рассылка IPv4  Одноадресная передача</vt:lpstr>
      <vt:lpstr>Одноадресная, широковещательная и многоадресная рассылка IPv4  Широковещательная передача</vt:lpstr>
      <vt:lpstr>Одноадресная, широковещательная и многоадресная рассылка IPv4  Многоадресная передача</vt:lpstr>
      <vt:lpstr>11.3 Типы IPv4 адресов</vt:lpstr>
      <vt:lpstr>Типы IPv4-адресов  Публичные и частные IPv4-адреса</vt:lpstr>
      <vt:lpstr>Типы IPv4 Адреса Маршрутизация в Интернет</vt:lpstr>
      <vt:lpstr>Типы IPv4-адресов  IPv4-адреса специального назначения</vt:lpstr>
      <vt:lpstr>Типы адресов IPv4  Традиционная классовая адресация</vt:lpstr>
      <vt:lpstr>Типы адресов IPv4  Назначение IP-адресов</vt:lpstr>
      <vt:lpstr>11.4 Сегментация сети</vt:lpstr>
      <vt:lpstr>Сегментация сети  Сегментация сети Домены широковещательной рассылки</vt:lpstr>
      <vt:lpstr>Сегментация сети Проблемы с крупными доменами широковещательной рассылки</vt:lpstr>
      <vt:lpstr>Сегментация сети  Причины для разделения на подсети</vt:lpstr>
      <vt:lpstr>11.5 Подсеть сети IPv4</vt:lpstr>
      <vt:lpstr>Разделение на подсети IPv4-сети  Разделение на подсети на границе октетов</vt:lpstr>
      <vt:lpstr>Разделение на подсети IPv4-сети  Разделение на подсети на границе октетов (продолжение)</vt:lpstr>
      <vt:lpstr>Разделение на подсети IPv4-сети  Разделение на подсети на границе октетов</vt:lpstr>
      <vt:lpstr>Разделение сети IPv4 на подсети  Packet Tracer — Разделение IPv4-сети на подсети</vt:lpstr>
      <vt:lpstr>11.6 Подсеть: /16 и /8</vt:lpstr>
      <vt:lpstr>Подсеть /16 и префиксом /8 Создание подсетей с префиксом /16</vt:lpstr>
      <vt:lpstr>Подсеть /16 и префиксом /8 Создание подсетей с префиксом /16</vt:lpstr>
      <vt:lpstr>Подсеть /16 и префиксом /8 Создание подсетей с префиксом /16</vt:lpstr>
      <vt:lpstr>Подсеть: /16 и /8  Лабораторная работа — Вычисление подсетей IPv4</vt:lpstr>
      <vt:lpstr>11.7 Разделение на подсети для соответствия требованиям</vt:lpstr>
      <vt:lpstr>Разделение на подсети для соответствия требованиям Частное и публичное адресное пространство IPv4 подсети</vt:lpstr>
      <vt:lpstr>Подсеть, удовлетворяющая требованиям Минимизация неиспользуемых адресов IPv4 узлов и максимизация подсетей</vt:lpstr>
      <vt:lpstr>Подсеть, удовлетворяющая требованиям Пример: эффективное разделение на подсети сети IPv4</vt:lpstr>
      <vt:lpstr>Разделение на подсети на основе требований  Packet Tracer. Разделение на подсети. Сценарий</vt:lpstr>
      <vt:lpstr>11.8 VLSM </vt:lpstr>
      <vt:lpstr>VLSM  Сохранение адресов IPv4</vt:lpstr>
      <vt:lpstr>VLSM  Сохранение адресов IPv4</vt:lpstr>
      <vt:lpstr>VLSM VLSM</vt:lpstr>
      <vt:lpstr>VLSM  Назначение адресов топологии VLSM</vt:lpstr>
      <vt:lpstr>11.9. Структурированное проектирование </vt:lpstr>
      <vt:lpstr>Структурированное проектирование  Планирование адресации сети</vt:lpstr>
      <vt:lpstr>Структурированное проектирование  Назначение адресов устройств</vt:lpstr>
      <vt:lpstr>Структурированный дизайн Packet Tracer — практика проектирования и внедрения VLSM</vt:lpstr>
      <vt:lpstr>11.10 Практика и контрольная работа модуля</vt:lpstr>
      <vt:lpstr>Структурированное проектирование   Packet Tracer. Разработка и реализация схемы адресации VLSM</vt:lpstr>
      <vt:lpstr>Структурированное проектирование  Лабораторная работа. Разработка и реализация схемы адресации VLSM</vt:lpstr>
      <vt:lpstr>Практика и контрольная работа модуля  Что я изучил в этом модуле?</vt:lpstr>
      <vt:lpstr>Практика и контрольная работа модуля   Что я изучил в этом модуле? (продолжение)</vt:lpstr>
      <vt:lpstr>Модуль 11: Адресация IPv4 Новые термины и команды</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teacher</cp:lastModifiedBy>
  <cp:revision>312</cp:revision>
  <dcterms:created xsi:type="dcterms:W3CDTF">2019-10-18T06:21:22Z</dcterms:created>
  <dcterms:modified xsi:type="dcterms:W3CDTF">2026-09-14T19:18:45Z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