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5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6.xml" ContentType="application/vnd.openxmlformats-officedocument.presentationml.notesSlide+xml"/>
  <Override PartName="/ppt/comments/comment5.xml" ContentType="application/vnd.openxmlformats-officedocument.presentationml.comments+xml"/>
  <Override PartName="/ppt/ink/ink1.xml" ContentType="application/inkml+xml"/>
  <Override PartName="/ppt/notesSlides/notesSlide7.xml" ContentType="application/vnd.openxmlformats-officedocument.presentationml.notesSlide+xml"/>
  <Override PartName="/ppt/ink/ink2.xml" ContentType="application/inkml+xml"/>
  <Override PartName="/ppt/comments/comment6.xml" ContentType="application/vnd.openxmlformats-officedocument.presentationml.comments+xml"/>
  <Override PartName="/ppt/notesSlides/notesSlide8.xml" ContentType="application/vnd.openxmlformats-officedocument.presentationml.notesSlide+xml"/>
  <Override PartName="/ppt/comments/comment7.xml" ContentType="application/vnd.openxmlformats-officedocument.presentationml.comments+xml"/>
  <Override PartName="/ppt/notesSlides/notesSlide9.xml" ContentType="application/vnd.openxmlformats-officedocument.presentationml.notesSlide+xml"/>
  <Override PartName="/ppt/comments/comment8.xml" ContentType="application/vnd.openxmlformats-officedocument.presentationml.comments+xml"/>
  <Override PartName="/ppt/notesSlides/notesSlide10.xml" ContentType="application/vnd.openxmlformats-officedocument.presentationml.notesSlide+xml"/>
  <Override PartName="/ppt/comments/comment9.xml" ContentType="application/vnd.openxmlformats-officedocument.presentationml.comments+xml"/>
  <Override PartName="/ppt/notesSlides/notesSlide11.xml" ContentType="application/vnd.openxmlformats-officedocument.presentationml.notesSlide+xml"/>
  <Override PartName="/ppt/comments/comment10.xml" ContentType="application/vnd.openxmlformats-officedocument.presentationml.comments+xml"/>
  <Override PartName="/ppt/notesSlides/notesSlide12.xml" ContentType="application/vnd.openxmlformats-officedocument.presentationml.notesSlide+xml"/>
  <Override PartName="/ppt/comments/comment11.xml" ContentType="application/vnd.openxmlformats-officedocument.presentationml.comment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6"/>
  </p:notesMasterIdLst>
  <p:sldIdLst>
    <p:sldId id="256" r:id="rId2"/>
    <p:sldId id="317" r:id="rId3"/>
    <p:sldId id="318" r:id="rId4"/>
    <p:sldId id="319" r:id="rId5"/>
    <p:sldId id="320" r:id="rId6"/>
    <p:sldId id="321" r:id="rId7"/>
    <p:sldId id="323" r:id="rId8"/>
    <p:sldId id="324" r:id="rId9"/>
    <p:sldId id="325" r:id="rId10"/>
    <p:sldId id="265" r:id="rId11"/>
    <p:sldId id="326" r:id="rId12"/>
    <p:sldId id="327" r:id="rId13"/>
    <p:sldId id="269" r:id="rId14"/>
    <p:sldId id="267" r:id="rId15"/>
    <p:sldId id="268" r:id="rId16"/>
    <p:sldId id="270" r:id="rId17"/>
    <p:sldId id="328" r:id="rId18"/>
    <p:sldId id="329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330" r:id="rId27"/>
    <p:sldId id="331" r:id="rId28"/>
    <p:sldId id="332" r:id="rId29"/>
    <p:sldId id="333" r:id="rId30"/>
    <p:sldId id="334" r:id="rId31"/>
    <p:sldId id="335" r:id="rId32"/>
    <p:sldId id="336" r:id="rId33"/>
    <p:sldId id="337" r:id="rId34"/>
    <p:sldId id="338" r:id="rId35"/>
    <p:sldId id="278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  <p:sldId id="306" r:id="rId63"/>
    <p:sldId id="307" r:id="rId64"/>
    <p:sldId id="308" r:id="rId65"/>
    <p:sldId id="309" r:id="rId66"/>
    <p:sldId id="310" r:id="rId67"/>
    <p:sldId id="311" r:id="rId68"/>
    <p:sldId id="312" r:id="rId69"/>
    <p:sldId id="313" r:id="rId70"/>
    <p:sldId id="314" r:id="rId71"/>
    <p:sldId id="315" r:id="rId72"/>
    <p:sldId id="316" r:id="rId73"/>
    <p:sldId id="266" r:id="rId74"/>
    <p:sldId id="339" r:id="rId7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len" initials="H" lastIdx="27" clrIdx="0">
    <p:extLst>
      <p:ext uri="{19B8F6BF-5375-455C-9EA6-DF929625EA0E}">
        <p15:presenceInfo xmlns:p15="http://schemas.microsoft.com/office/powerpoint/2012/main" userId="Hel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47886" autoAdjust="0"/>
  </p:normalViewPr>
  <p:slideViewPr>
    <p:cSldViewPr>
      <p:cViewPr varScale="1">
        <p:scale>
          <a:sx n="54" d="100"/>
          <a:sy n="54" d="100"/>
        </p:scale>
        <p:origin x="326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7-01-14T22:26:31.654" idx="13">
    <p:pos x="10" y="10"/>
    <p:text>http://atlas100.ru/catalog/it-sektor/</p:text>
    <p:extLst>
      <p:ext uri="{C676402C-5697-4E1C-873F-D02D1690AC5C}">
        <p15:threadingInfo xmlns:p15="http://schemas.microsoft.com/office/powerpoint/2012/main" timeZoneBias="-180"/>
      </p:ext>
    </p:extLst>
  </p:cm>
  <p:cm authorId="1" dt="2017-01-14T22:28:46.725" idx="14">
    <p:pos x="10" y="146"/>
    <p:text>Сейчас много информации, способов. Но в в большинстве материалов информации слишкоммного (книги таненбаума) слишком детально и сразу. Или люди, пытвющиеся объяснить основы- объясняют их на уровне профессионалов и на языке профессионалов.</p:text>
    <p:extLst>
      <p:ext uri="{C676402C-5697-4E1C-873F-D02D1690AC5C}">
        <p15:threadingInfo xmlns:p15="http://schemas.microsoft.com/office/powerpoint/2012/main" timeZoneBias="-180">
          <p15:parentCm authorId="1" idx="13"/>
        </p15:threadingInfo>
      </p:ext>
    </p:extLst>
  </p:cm>
  <p:cm authorId="1" dt="2017-01-14T22:29:46.638" idx="15">
    <p:pos x="10" y="282"/>
    <p:text>В рамках этого курса я дам вам основы, чтобы в представляли как в общих чертах работают сети. Но затем самим необходимо будет изучать книги, подробно разбирать стандарты и т.д.</p:text>
    <p:extLst>
      <p:ext uri="{C676402C-5697-4E1C-873F-D02D1690AC5C}">
        <p15:threadingInfo xmlns:p15="http://schemas.microsoft.com/office/powerpoint/2012/main" timeZoneBias="-180">
          <p15:parentCm authorId="1" idx="13"/>
        </p15:threadingInfo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7-01-14T23:29:19.537" idx="22">
    <p:pos x="10" y="10"/>
    <p:text>Сейчас у нас будет много теории, но без нее нельзя, как нельзя без алфавита и таблицы умножения.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7-01-14T20:28:17.059" idx="1">
    <p:pos x="5333" y="1058"/>
    <p:text>Например, когда вы открываете окно и кричите на улицу "Привет"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7-01-14T20:28:17.059" idx="1">
    <p:pos x="5333" y="1058"/>
    <p:text>Например, диалог в группе в соц. сети.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7-01-14T22:30:40.806" idx="16">
    <p:pos x="10" y="10"/>
    <p:text>Есть еще и персональные сети. Соединяют как правило 2 ПК, на малом расстоянии 1-2 м. Сети Bluetooth, соединение ПК ad-hock, соединение ПК кабелем кроссовером. Такие сети называются персональные.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7-01-14T21:55:08.100" idx="5">
    <p:pos x="5136" y="2135"/>
    <p:text>Причем пакеты могут идти разными маршрутами</p:text>
    <p:extLst>
      <p:ext uri="{C676402C-5697-4E1C-873F-D02D1690AC5C}">
        <p15:threadingInfo xmlns:p15="http://schemas.microsoft.com/office/powerpoint/2012/main" timeZoneBias="-180"/>
      </p:ext>
    </p:extLst>
  </p:cm>
  <p:cm authorId="1" dt="2017-01-14T21:58:03.524" idx="6">
    <p:pos x="5136" y="2271"/>
    <p:text>Также важным моментом коммутации пакетов является отказоустойчивость, при выходе из строя сегмента сети, пакеты пойдут другим маршрутом.</p:text>
    <p:extLst>
      <p:ext uri="{C676402C-5697-4E1C-873F-D02D1690AC5C}">
        <p15:threadingInfo xmlns:p15="http://schemas.microsoft.com/office/powerpoint/2012/main" timeZoneBias="-180">
          <p15:parentCm authorId="1" idx="5"/>
        </p15:threadingInfo>
      </p:ext>
    </p:extLst>
  </p:cm>
  <p:cm authorId="1" dt="2017-01-14T21:59:27.612" idx="7">
    <p:pos x="5136" y="2407"/>
    <p:text>На каждом промежуточном устройстве для каждого пакета решается задача маршрутизации, куда направить пакет.</p:text>
    <p:extLst>
      <p:ext uri="{C676402C-5697-4E1C-873F-D02D1690AC5C}">
        <p15:threadingInfo xmlns:p15="http://schemas.microsoft.com/office/powerpoint/2012/main" timeZoneBias="-180">
          <p15:parentCm authorId="1" idx="5"/>
        </p15:threadingInfo>
      </p:ext>
    </p:extLst>
  </p:cm>
  <p:cm authorId="1" dt="2017-01-14T22:00:09.371" idx="8">
    <p:pos x="5136" y="2543"/>
    <p:text>В сетях с коммутацией каналов соединение устанавливается один раз и расходов на коммутацию нет.</p:text>
    <p:extLst>
      <p:ext uri="{C676402C-5697-4E1C-873F-D02D1690AC5C}">
        <p15:threadingInfo xmlns:p15="http://schemas.microsoft.com/office/powerpoint/2012/main" timeZoneBias="-180">
          <p15:parentCm authorId="1" idx="5"/>
        </p15:threadingInfo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7-01-14T22:09:11.773" idx="9">
    <p:pos x="5472" y="173"/>
    <p:text>Сейчас мы привыкли, что с любого устройства мы можем выйти в Интернет, просмотреть фильм, документы. Можем подключиться к почте. Более того в современных организациях начальники с планшетов подписывают документы, а системные администраторы настраивают сервера.</p:text>
    <p:extLst>
      <p:ext uri="{C676402C-5697-4E1C-873F-D02D1690AC5C}">
        <p15:threadingInfo xmlns:p15="http://schemas.microsoft.com/office/powerpoint/2012/main" timeZoneBias="-180"/>
      </p:ext>
    </p:extLst>
  </p:cm>
  <p:cm authorId="1" dt="2017-01-14T22:11:24.044" idx="10">
    <p:pos x="5472" y="309"/>
    <p:text>И мы не задумываемся, а как же происходит передача информации между этими устройствами, как они понимают друг друга.</p:text>
    <p:extLst>
      <p:ext uri="{C676402C-5697-4E1C-873F-D02D1690AC5C}">
        <p15:threadingInfo xmlns:p15="http://schemas.microsoft.com/office/powerpoint/2012/main" timeZoneBias="-180">
          <p15:parentCm authorId="1" idx="9"/>
        </p15:threadingInfo>
      </p:ext>
    </p:extLst>
  </p:cm>
  <p:cm authorId="1" dt="2017-01-14T22:12:18.197" idx="11">
    <p:pos x="5472" y="445"/>
    <p:text>Связь не зависит от того. кто производитель устройства, какая на нем стоит ОС.</p:text>
    <p:extLst>
      <p:ext uri="{C676402C-5697-4E1C-873F-D02D1690AC5C}">
        <p15:threadingInfo xmlns:p15="http://schemas.microsoft.com/office/powerpoint/2012/main" timeZoneBias="-180">
          <p15:parentCm authorId="1" idx="9"/>
        </p15:threadingInfo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7-01-14T21:06:21.323" idx="3">
    <p:pos x="4815" y="1083"/>
    <p:text>Содель OSI - разработана международной организацией по стандартам ISO.</p:text>
    <p:extLst>
      <p:ext uri="{C676402C-5697-4E1C-873F-D02D1690AC5C}">
        <p15:threadingInfo xmlns:p15="http://schemas.microsoft.com/office/powerpoint/2012/main" timeZoneBias="-180"/>
      </p:ext>
    </p:extLst>
  </p:cm>
  <p:cm authorId="1" dt="2017-01-14T21:07:39.433" idx="4">
    <p:pos x="4815" y="1219"/>
    <p:text>Стек протоколов TCP/IP разработан по инициативе министерства обороны США</p:text>
    <p:extLst>
      <p:ext uri="{C676402C-5697-4E1C-873F-D02D1690AC5C}">
        <p15:threadingInfo xmlns:p15="http://schemas.microsoft.com/office/powerpoint/2012/main" timeZoneBias="-180">
          <p15:parentCm authorId="1" idx="3"/>
        </p15:threadingInfo>
      </p:ext>
    </p:extLst>
  </p:cm>
  <p:cm authorId="1" dt="2017-01-14T23:39:14.841" idx="27">
    <p:pos x="4815" y="1355"/>
    <p:text>Для представления различий между OSI и TCP/IP можно привести в пример соотношение религии/философии и свода законов</p:text>
    <p:extLst>
      <p:ext uri="{C676402C-5697-4E1C-873F-D02D1690AC5C}">
        <p15:threadingInfo xmlns:p15="http://schemas.microsoft.com/office/powerpoint/2012/main" timeZoneBias="-180">
          <p15:parentCm authorId="1" idx="3"/>
        </p15:threadingInfo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7-01-14T22:35:51.310" idx="17">
    <p:pos x="10" y="10"/>
    <p:text>Каждый уровень решает свою задачу, группу задач</p:text>
    <p:extLst>
      <p:ext uri="{C676402C-5697-4E1C-873F-D02D1690AC5C}">
        <p15:threadingInfo xmlns:p15="http://schemas.microsoft.com/office/powerpoint/2012/main" timeZoneBias="-180"/>
      </p:ext>
    </p:extLst>
  </p:cm>
  <p:cm authorId="1" dt="2017-01-14T22:36:07.166" idx="18">
    <p:pos x="146" y="146"/>
    <p:text>Уровни изолированы друг от друга, таким образом внесение изменений в один из уровней не затронит другие уровни.</p:text>
    <p:extLst>
      <p:ext uri="{C676402C-5697-4E1C-873F-D02D1690AC5C}">
        <p15:threadingInfo xmlns:p15="http://schemas.microsoft.com/office/powerpoint/2012/main" timeZoneBias="-180"/>
      </p:ext>
    </p:extLst>
  </p:cm>
  <p:cm authorId="1" dt="2017-01-14T22:39:37.982" idx="19">
    <p:pos x="146" y="282"/>
    <p:text>Например, вы решили заменить проводную сеть на беспроводную. Для этого вам необходимо только поменять оборудование, которое передает и принимает сигналы, и сетевые карты, которые декодируют сигналы и передают их выше (сетевые карты).</p:text>
    <p:extLst>
      <p:ext uri="{C676402C-5697-4E1C-873F-D02D1690AC5C}">
        <p15:threadingInfo xmlns:p15="http://schemas.microsoft.com/office/powerpoint/2012/main" timeZoneBias="-180">
          <p15:parentCm authorId="1" idx="18"/>
        </p15:threadingInfo>
      </p:ext>
    </p:extLs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7-01-14T22:47:30.887" idx="20">
    <p:pos x="10" y="10"/>
    <p:text>Уровни взаимодействуют через интерфейс напрямую. Пример: пульт от телевизора, команды операционной системы.</p:text>
    <p:extLst>
      <p:ext uri="{C676402C-5697-4E1C-873F-D02D1690AC5C}">
        <p15:threadingInfo xmlns:p15="http://schemas.microsoft.com/office/powerpoint/2012/main" timeZoneBias="-180"/>
      </p:ext>
    </p:extLst>
  </p:cm>
  <p:cm authorId="1" dt="2017-01-14T22:49:16.887" idx="21">
    <p:pos x="10" y="146"/>
    <p:text>Протоколы взаимодействуют виртуально через служебную информацию, добавляемую к передаваемым данным.</p:text>
    <p:extLst>
      <p:ext uri="{C676402C-5697-4E1C-873F-D02D1690AC5C}">
        <p15:threadingInfo xmlns:p15="http://schemas.microsoft.com/office/powerpoint/2012/main" timeZoneBias="-180">
          <p15:parentCm authorId="1" idx="20"/>
        </p15:threadingInfo>
      </p:ext>
    </p:extLs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7-01-14T22:17:15.853" idx="12">
    <p:pos x="10" y="10"/>
    <p:text>Есть стандарты де-юро (приняты уполномоченной на то организацией, напр. ISO), и стандарты де-факто (ставшие стандартами из-за своей популярности (например, английский язык в бизнесе и торговле, microsoft для рабочих станций, linux для серверов)</p:text>
    <p:extLst>
      <p:ext uri="{C676402C-5697-4E1C-873F-D02D1690AC5C}">
        <p15:threadingInfo xmlns:p15="http://schemas.microsoft.com/office/powerpoint/2012/main" timeZoneBias="-180"/>
      </p:ext>
    </p:extLst>
  </p:cm>
  <p:cm authorId="1" dt="2017-01-14T23:32:31.559" idx="23">
    <p:pos x="10" y="146"/>
    <p:text>Стек TCP/IP был разработан для объединения в сеть компьютеров мин. обороны а вдальнейшем и ПК различных мировых университетов для обмена информацией</p:text>
    <p:extLst>
      <p:ext uri="{C676402C-5697-4E1C-873F-D02D1690AC5C}">
        <p15:threadingInfo xmlns:p15="http://schemas.microsoft.com/office/powerpoint/2012/main" timeZoneBias="-180">
          <p15:parentCm authorId="1" idx="12"/>
        </p15:threadingInfo>
      </p:ext>
    </p:extLst>
  </p:cm>
  <p:cm authorId="1" dt="2017-01-14T23:33:32.929" idx="24">
    <p:pos x="10" y="282"/>
    <p:text>С появлением новых технологий передачи данных, пришлось дополнить модель TCP/IP</p:text>
    <p:extLst>
      <p:ext uri="{C676402C-5697-4E1C-873F-D02D1690AC5C}">
        <p15:threadingInfo xmlns:p15="http://schemas.microsoft.com/office/powerpoint/2012/main" timeZoneBias="-180">
          <p15:parentCm authorId="1" idx="12"/>
        </p15:threadingInfo>
      </p:ext>
    </p:extLst>
  </p:cm>
  <p:cm authorId="1" dt="2017-01-14T23:34:06.316" idx="25">
    <p:pos x="10" y="418"/>
    <p:text>Просто стека протоколов недостаточно, необходима модель</p:text>
    <p:extLst>
      <p:ext uri="{C676402C-5697-4E1C-873F-D02D1690AC5C}">
        <p15:threadingInfo xmlns:p15="http://schemas.microsoft.com/office/powerpoint/2012/main" timeZoneBias="-180">
          <p15:parentCm authorId="1" idx="12"/>
        </p15:threadingInfo>
      </p:ext>
    </p:extLst>
  </p:cm>
  <p:cm authorId="1" dt="2017-01-14T23:35:01.932" idx="26">
    <p:pos x="10" y="554"/>
    <p:text>Просто стека протоколов недостаточно, необходима модель</p:text>
    <p:extLst>
      <p:ext uri="{C676402C-5697-4E1C-873F-D02D1690AC5C}">
        <p15:threadingInfo xmlns:p15="http://schemas.microsoft.com/office/powerpoint/2012/main" timeZoneBias="-180">
          <p15:parentCm authorId="1" idx="12"/>
        </p15:threadingInfo>
      </p:ext>
    </p:extLst>
  </p:cm>
</p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36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44008" units="1/cm"/>
          <inkml:channelProperty channel="Y" name="resolution" value="37.76224" units="1/cm"/>
          <inkml:channelProperty channel="T" name="resolution" value="1" units="1/dev"/>
        </inkml:channelProperties>
      </inkml:inkSource>
      <inkml:timestamp xml:id="ts0" timeString="2017-01-15T07:28:34.9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4225 10551 0,'48'0'94,"119"0"-94,96 0 16,95-71-1,0 23-15,0-24 16,24 1-16,-72-25 16,-71 72-16,-24-24 15,-144 48-15,-47-23 16,0 23-1,0 0 1,24 0-16,0 0 16,71 0-16,-24-24 15,73 0-15,46 0 16,-94 0-16,-1-24 16,-71 48-16,-24 0 15,0 0-15,-1 0 94,49 0-94,24 0 16,47 24-16,0 0 15,-47 0-15,-1 0 16,1-24-1,-25 0-15,1 24 16,-48-24 15,23 24-15,49 23-16,-1 1 16,-23-24-16,0 0 15,-25 0-15,1 0 16,-24-24-16,0 23 15,0-23-15,0 24 16,23 0-16,-23 0 16,24-24-16,0 24 15,23 24-15,1-48 16,-1 47-16,1-23 16,0 0-16,47-24 15,-47 0-15,-25 24 16,1 0-16,-24-24 15,24 0-15,0 24 16,23 0-16,1 0 16,-1-24-16,-23 0 15,24 23-15,-1-23 16,1 0-16,-24 24 16,-1-24-16,1 0 15,-24 0 1,0 0-16,-24 24 15,24-24-15,0 0 16,23 0 0,25 0-16,24 0 15,-25 24-15,25-24 16,-25 24-16,-23-24 16,0 0-16,-24 24 15,-24 0 1,47-24-16,1 24 15,0-24-15,0 23 16,23 1-16,-47-24 16,-24 24-16,48 0 15,-24 0 1,0-24-16,-1 24 16,25-24-16,0 71 15,0-71-15,-1 24 16,-23 0-16,0-24 15,0 24-15,0 0 16,24 0 0,-24 0-16,23-1 15,1 25-15,0-24 16,23 24-16,1-24 16,24 23-16,-49-23 15,1 0-15,0 0 16,-1 24-16,1-24 15,0 0-15,24 23 16,-25-23-16,25 24 16,0 0-16,-25-48 15,1 47-15,-24-47 16,24 24-16,-24 24 16,-1-48-16,-23 24 15,24-24-15,0 48 16,0-25-16,0 1 15,24 0-15,23 24 16,-23 0-16,24-1 16,-25 1-16,25 0 15,-24 0-15,-1-1 16,25 1-16,-48 0 16,0-24-16,24 24 15,-25-25 1,25 1-16,-24 0 15,-24 24 1,24-48 0,0 24-16,0 47 15,23-23-15,-47 0 16,72 0-16,-48-1 16,24 1-16,-24 0 15,23 23-15,-23-23 16,24 0-16,-24 0 15,24 47-15,-48-47 16,47 47-16,1-47 16,-24 24-16,24-1 15,-24 1-15,23-24 16,1 47-16,0-23 16,-24-24-16,23 23 15,1 25-15,0-25 16,0-23-16,-25 48 15,25-25-15,0-23 16,0 0-16,-24 23 16,-1-23-16,1-24 15,0 24-15,0-1 16,0 1-16,0-24 16,-24 24-1,24-24-15,-24 0 16,0-1-16,24 1 15,-24 0 1,23 0-16,1 0 16,-24 0-1,24-24 1,0 0 0,0 24-16,-24-1 15,24-23 1,-24 24-16,24-24 94,0 0-94,-1 0 15,25-24-15,0 1 16,-24 23-16,47-48 15,-23 24-15,24-24 16,-1 24-16,25-23 16,-48-1-16,23 24 15,-23-48 1,24 49-16,-49-1 16,1 24-16,-24-24 15,48 0-15,-24 0 16,0 24-1,0-24 1,0 24 0,-24-24-16,23 0 15,1 24 1,0-23-16,24 23 16,-24-24-16,0 0 15,23 0-15,-23 0 16,24 0-16,-24 24 15,0 0 1,-24-24-16,24 24 16,-1-24-16,1 24 15,0-23-15,24 23 16,-24-48-16,24 48 16,-1-24-16,1 0 15,-24 0 1,0 24-16,0-24 15,0 24-15,23 0 16,-23-24 0,0 24-1,-24-23-15,48 23 32,-48-24-17,24 24-15,0 0 16,-1-48-16,1 48 15,0-24 1,0 24-16,-24-24 78,24 24-62,0 0-1,0 0 1,0 0 78,-24-24-79,23 24 17,-23-23-1,0-1 78,-47-24-93,47-24-16,0-47 16,0-48-16</inkml:trace>
  <inkml:trace contextRef="#ctx0" brushRef="#br0" timeOffset="4856.81">18907 9907 0,'-24'0'47,"-48"23"-47,-23 25 16,-1-48-16,-71 24 15,0-24-15,-48 0 16,-24 0-16,-23-72 16,-1 25-16,-23-49 15,-72 25-15,95 23 16,24 0-16,-23 24 16,71 0-16,71 1 15,49 23-15,23-24 16,24 24-16,0 0 15,0 0 1,1-24 0,-25 24-16,0 0 15,-47-24-15,23 24 16,-23 0-16,-1-24 16,1-24-16,47 24 15,0 24-15,0-47 16,1 23-16,23 24 15,0 0-15,-24 0 16,48-24-16,-24 24 16,-24 0-16,25-24 15,-1 24-15,-48-24 16,24 0-16,-23 24 16,23-24-1,0-23-15,1 47 16,-1-24-16,-24 0 15,48 0-15,-23 24 16,23 0-16,0 0 31,0-24-31,0 24 16,-24 0 0,24 0-1,1 0-15,-1 0 16,-24-24-16,0 24 15,0 0 1,1 0-16,23 0 16,0 0-1,0 0 17,0 0-17,0 0 1,0 24-16,1-24 15,23 24 1,-24-24-16,0 48 16,0-48-16,-24 48 15,24-48-15,-23 71 16,-25-71-16,48 72 16,0-72-16,0 0 15,1 24-15,23 0 16,-24-24-1,24 23-15,-24 1 16,0 24-16,0-24 16,0 24-16,0-1 15,0-23-15,24 0 16,0 0-16,-23-24 16,23 48-16,0-24 31,0 0-16,0-1 1,23 25 0,1 0-16,0 0 15,24 47-15,-24-47 16,24 23-16,-48 1 16,47-24-1,-23 23-15,0-71 16,0 48-16,0-24 15,0 24 1,-1-24-16,1 23 16,24 1-16,-24-24 15,0 48-15,0-48 16,0 23-16,23 1 16,-47-24-16,24 0 15,-24 24-15,24-48 16,-24 23-16,24-23 15,-24 24-15,0 0 16,24 0 0,0-24-16,-24 24 15,24 0-15,-1 0 16,1-24-16,-24 47 16,48-47-16,-48 48 15,24-48-15,0 24 16,-24 0-16,24 0 15,-24 23-15,24-47 16,-1 24-16,-23 0 16,24 0-1,-24 0-15,48 0 16,-48 0-16,24 0 16,-24-1-16,24 25 15,-24-24-15,0 0 16,24-24-16,0 24 15,-1 0-15,-23 0 16,24-1 0,-24 1-16,24-24 15,0 24-15,-24 0 16,24 0-16,0 0 16,-24 0-16,24 23 15,0-23-15,-1 0 16,1 0-16,-24 0 15,24 0-15,0-24 16,0 47-16,0-47 16,0 24-16,-1 0 15,1 0-15,-24 0 16,48 0-16,-24 24 16,0-25-16,0 1 15,0-24 1,-24 24-16,47-24 15,-47 24-15,0 0 16,24-24-16,-24 24 16,0 0-1,48-24-15,-48 24 16,24-1 0,-24 1-16,48-24 15,-25 48-15,1-24 16,0 24-16,24-1 15,0-23-15,-24 0 16,23 0-16,-23 0 16,0 0-16,0 0 15,0-24 1,0 24-16,-24-1 16,24 1-1,-24 0 1,23 0-16,1-24 15,0 0 1,-24 24-16,24-24 16,0 0-1,-24 24 1,0 0 0,24-24-16,0 24 15,-24 23 1,24-23-16,-1 24 15,1-24-15,0 0 16,-24 23-16,48-47 16,-48 48-16,24-48 15,-24 24 1,24-24-16,-24 48 16,23-24-1,-23 23 1,24-47-16,-24 24 15,24 0-15,-24 0 16,24 0 0,-24 0-16,24 0 15,-24-1-15,24-23 16,0 48-16,-24-24 16,24-24-1,-24 24-15,0 0 16,23 0-16,1 23 15,0-23 1,0 0-16,-24 0 16,24 0-1,-24 0-15,24 24 16,-24-25 0,24 1-1,0 0-15,-24 0 16,23 0-16,1 0 15,-24 24-15,24-25 16,0 25-16,-24 0 16,48 0-16,-24-1 15,-24-23-15,0 24 16,24-24-16,-24 0 16,23 0-1,-23-1 1,24-23-1,-24 24-15,24 0 16,-24 0 0,0 0-16,24-24 15,0 0-15,0 0 32,-24 24-32,24-24 15,0 0 16,-1 24-15,1-24 15,0 0 1,0 0-1,0 0-16,0 0-15,0 0 16,-1 0-16,25 0 16,-48-24-16,48 0 15,-48 0 1,24 24 0,0 0-1,0-24 1,-1 0-16,1 24 15,0-24-15,0 24 16,-24-23-16,24-1 16,24 0-1,-24-24 17,-1 48-32,1-24 0,0 0 31,-24 0-31,24 24 15,-24-23 17,24 23-17,0-24 1,0 24-16,0 0 16,-1-24-16,1 24 15,0-24 1,0 24-1,24 0-15,-24-24 16,0 24-16,-1 0 16,25-24-1,-24 24 1,0-24-16,0 24 16,0 0-16,0 0 15,-1-23-15,49-1 16,-48 0-1,0 24-15,0 0 32,-24-24-32,23 24 31,1 0-15,0 0-16,0 0 15,0 0-15,0 0 16,0-24-16,0 0 15,-1 24-15,25 0 16,-24-24-16,24 0 16,-24 24-1,0-23-15,-1 23 16,1-24-16,0 24 16,0 0-1,-24-24-15,24 24 16,0 0-1,-24-24 32,24 24-47,0 0 47,-24-24 16,23 24-48,1 0 17,0 0-17,0-24-15,0 24 31,0 0-15,-24-24 0,24 24 62,0 0-47,-1 0 0,-23-24 79,0 1-95,0-25 1,0 0-16</inkml:trace>
  <inkml:trace contextRef="#ctx0" brushRef="#br0" timeOffset="10032.06">11721 16686 0,'24'0'47,"48"-24"-47,-25-23 16,25-1-16,24 0 15,-1-23-15,48-1 16,-23 0-16,-25 1 15,1 47-15,-25-24 16,-23 24 0,0 0-16,-48 1 0,47-25 15,-23 0 1,24 0-16,0-47 16,0-1-16,-1 25 15,1-1-15,-24 24 16,-24 1-16,24 23 15,0-24-15,-24 24 16,23-48 0,1 25-16,0-25 15,-24 0-15,48-23 16,0 0-16,-24 23 16,-1 0-16,-23 25 15,24-25-15,-24 0 16,0 25-16,0-1 15,0 0-15,0 24 16,0 0-16,0-47 16,0 47-16,0-24 15,0 24-15,0-24 16,0 25-16,0-25 16,0 24-16,0-24 15,0 1 1,0-25-16,0 48 0,0-48 15,0 25 1,0 23-16,0-24 0,0 24 16,0 0-1,0 0-15,0 1 16,0-1 0,0 0-1,0-24-15,0 0 16,0 1-16,0-1 15,0-24-15,0 24 16,0 1-16,0-1 16,0 0-16,0 24 15,0 0-15,0-23 16,0 23-16,0 0 16,0 0-1,0 0-15,0-23 16,0 23-1,0 0-15,0 0 16,0-24-16,0 24 16,0-23-16,0 23 15,0-24-15,0 24 16,0 0 0,0 0-16,0 0 15,0 1 1,0-1-16,0-24 15,0 24 1,0-24 0,0 24-16,0-23 15,0 23-15,0 0 16,0 0-16,0 0 16,0 0-1,0-23-15,24 23 16,-24 0-1,0 0-15,0 0 16,24 24-16,24 0 125,-24 0-125,0 0 16,23 0-1,-23 0 1,0 0 0,0 0-1,0 24-15,-24 0 16,24-24-16,-24 24 15,24 0-15,-1-1 16,-23 1-16,24-24 16,-24 48-16,24-48 15,0 24-15,-24 0 16,0 0-16,0 0 16,24-1-1,0 1-15,-24 0 16,0 0-16,24 48 15,0-48-15,-1 47 16,-23-47-16,0 24 16,24 0-1,0-48-15,-24 23 16,0 25-16,24-24 16,-24 0-16,0 0 15,24 24-15,24-25 16,-48 49-1,24-48-15,-1 24 16,1-1-16,0 1 0,0-24 16,0 24-1,0-1-15,0-23 16,23 24-16,-47-24 16,24 0-16,0 24 15,24-1 1,-48-23-16,24 0 15,0 48-15,-24-48 16,47-1-16,-47 49 16,48-24-16,-24-24 15,-24 23-15,48 25 16,-24-48-16,-1 0 16,1 24-16,-24-25 15,24 25-15,0-24 16,0 0-16,0 24 15,0-1-15,-24-23 16,24 24-16,23 47 16,-47-47-16,24 24 15,0-48-15,0 47 16,-24-23 0,48 0-16,-24 0 15,-24-1-15,23-23 16,1 24-16,-24-24 15,24 24-15,24-1 16,-24 1-16,24 24 16,-25-25-16,25 25 15,0 0-15,0 23 16,-25-47-16,25-24 16,-24 47-16,0-23 15,0-48-15,24 48 16,-1-24-1,-47 0-15,24-24 16,-24 23-16,24-23 16,0 24-1,0-24-15,-24 24 16,24 0-16,23-24 16,1 24-1,-24 0 1,0-24 31,24 0-47,23 0 15,1-48-15,23 24 16,1 0 0,-25 0-16,-23-23 15,-24 47-15,0 0 16,0-24-16,0 24 15,0 0-15,-1-48 16,49 24-16,-72 0 16,48 0-16,0-23 15,-1 23-15,-23-24 16,24 0-16,-24 24 16,24-47-16,-48 47 15,71 0-15,-71 0 16,0 0-1,24 24-15,-24-24 16,24 1-16,0-1 16,0-24-1,0 48 1,-24-24 0,47 24-16,-47-24 15,48 0-15,-24 1 31,0 23-31,0-24 16,0 24-16,-24-24 16,47 24-16,-23-24 15,0 0-15,0 24 16,0-24-16,0 24 16,-1-24-16,1 0 15,24 24-15,-24-23 16,0-1-16,24-24 15,-25 24-15,1 24 16,0-24-16,0 24 16,-24-24-16,24 24 15,-24-24-15,24 24 16,-24-23 0,24 23-1,0 0 1,-1-24-1,1 24-15,0 0 16,0 0 0,24-48 15,-24 48-31,0 0 16,-1 0-1,1-24 16,0 24-15,0 0 15,0-24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36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44008" units="1/cm"/>
          <inkml:channelProperty channel="Y" name="resolution" value="37.76224" units="1/cm"/>
          <inkml:channelProperty channel="T" name="resolution" value="1" units="1/dev"/>
        </inkml:channelProperties>
      </inkml:inkSource>
      <inkml:timestamp xml:id="ts0" timeString="2017-01-15T07:29:06.1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14252 8880 0,'0'24'156,"-24"-24"-140,24 24-16,0 0 15,-24-24 1,0 24 0,24-1-1,-24 25 17,24-24-1,0 24 47,0-24-78,0 0 16,0-1-16,0 1 15,0 0 1,0 0-1,0 0 1,0 24-16,0-24 16,0-1-1,0 1-15,24 24 16,-24-24 0,24 0-16,-24 0 15,0 0 1,0-1-16,0 1 15,24 0 1,-24 0 0,24-24-1,-24 24-15,0 0 16,23-24-16,-23 24 16,24 0-16,-24-1 15,24 1 1,0-24-1,-24 24 1,24-24 0,0 24-1,0-24-15,0 24 16,23-24-16,-47 24 16,48-24-16,-24 0 31,0 24-16,24-1-15,-25-23 16,25 0 0,-24 24-16,0-24 15,0 0-15,0 0 16,47 0 0,-47 0-16,24 0 15,-24 0-15,24 0 16,-25 0-1,25 0 1,-24 0-16,0 0 16,0-24-1,0 24 1,0 0-16,-1 0 16,1 0-16,0 0 15,0-23 1,0 23-16,0 0 15,0 0 1,-1 0-16,-23-24 16,48 24-16,-48-24 15,24 24 1,0-24-16,0 24 16,0 0-1,0-24 16,-1 24-15,1 0-16,-24-24 16,24 24-16,-24-24 15,24 24-15,-24-23 16,24 23-16,0-24 16,0 24-1,0 0-15,-1-24 16,1 24-16,0-24 15,0 24-15,-24-24 16,24 24 0,-24-24 93,0 0-109,0 0 16,0-47-16,0 47 15,0 0-15,0-24 16,0 24-16,0 1 16,0-1-16,-24-24 15,24 24-15,0 0 16,-24 0-16,0 0 15,24 1-15,-24-1 16,24 0-16,-47 0 16,23 0-16,0 24 15,0-24-15,0 0 16,0 0 0,0 24-16,1-23 15,-1-1-15,0 24 16,0-24-16,-24 24 15,24 0-15,24-24 16,-47 24 0,47-24-16,-48 24 15,24-24 1,-24 24-16,24-24 16,-23 24-1,-1-24-15,0 1 16,24 23-16,-23 0 15,-1 0-15,24-24 16,0 24-16,0 0 16,-24 0-1,25 0 1,-1 0 0,-24 0-1,0 0-15,24 0 16,0 0-1,1 0 1,-1 0-16,-24 0 16,24 0-1,0 0 1,0 0-16,0 0 16,-23 0-1,47 24-15,-24-24 16,0 0-1,24 47 157,24 25-172,24-48 16</inkml:trace>
  <inkml:trace contextRef="#ctx0" brushRef="#br0" timeOffset="1935.69">16376 8976 0,'0'0'16,"-24"23"-16,0 1 0,24 0 16,-23-24-16,-1 24 15,0-24 1,24 24-16,0 0 15,-24 0 1,24 23-16,-24-23 16,24 0-1,0 0-15,0 0 16,-24-24-16,24 48 16,-24-48-16,24 24 15,0-1-15,0 1 16,0 0-16,0 0 15,24 0 1,-24 24-16,48-24 16,-48 23-16,0-23 15,24 48-15,0-48 16,0 0-16,-24 23 16,23-23-16,-23 0 15,24-24-15,0 24 16,0 0-1,0 0 1,0-24-16,24 23 16,-1 1-16,-23-24 15,0 0 1,48 24-16,-48 0 16,23-24-16,1 0 15,-24 0-15,24 0 125,47 0-125,25-24 16,71-24-16,-24 1 15,0-1-15,-72 24 16,-23 0-16,-24 24 16,-48-24-16,0 1 125,0-25-125,0 0 15,23 0-15,-23 24 16,0-23-16,0-1 16,0 24-16,0-24 15,0 24-15,0 1 16,0-1-16,0 0 15,0-24 1,-23 24-16,23 0 16,-24-23-16,0 23 15,0 0 1,24 0-16,-24 0 16,-24 0-1,24 0 1,1 24-1,-1 0-15,0-24 16,0 24-16,0-23 16,-48-25-16,49 48 15,-25-24-15,0 0 16,-23 0-16,47 0 16,0 0-16,-24 24 15,24-23 1,0-1-16,-23 24 15,23 0-15,0 0 16,-24 0-16,24 0 16,-24 0-16,1 0 15,-1 0-15,24 0 16,0 0 0,0 0-1,0 0-15,1 0 16,-1 0-16,0 0 15,0 0-15,24 24 16,-24-24-16,0 23 16,-24-23-16,48 48 15,-47-48-15,47 24 16,-24 0-16,24 0 16,-24-24-1,24 24 1,-24 0-1,0-1 1,24 1 0,-24-24 31,48 24-1</inkml:trace>
  <inkml:trace contextRef="#ctx0" brushRef="#br0" timeOffset="4424.07">18023 9095 0,'-23'0'94,"-1"24"-94,0 24 15,0-25 1,0 25-16,0-24 16,24 0-1,-24-24 1,24 24 0,0 0-1,0 0-15,-24-24 16,24 47-16,0-23 15,0 0 1,0 0-16,0 0 16,24 24-1,0-25-15,0 25 16,0-24-16,-24 0 16,48 0-16,-48 0 15,24 23-15,23-23 16,-47 0-16,24-24 15,0 24-15,0-24 16,0 0 0,0 24-16,0-24 15,-1 0-15,-23 24 16,48-24-16,-24 0 31,0 0-31,48 0 16,-49 0-16,25 24 15,-24-24-15,0 0 16,0 0 0,0 0 62,-1 0-78,1-24 15,24-24-15,0 24 16,0-24-16,-1 1 16,25-1-16,-24 0 15,-24 48-15,-24-24 16,23 24-16,-23-24 31,0 1-15,0-1-16,0 0 31,0 0-31,0 0 0,0 0 31,0 0-15,-23 24 0,-1-24-1,-24 1-15,48-1 16,-48 0-16,48-24 15,-48 48-15,48-48 16,-47 24-16,47 1 16,-24 23-16,24-24 15,-24 24-15,0 0 16,24-24 0,-24 24-16,0-24 31,0 24-16,1-24 1,-1 24-16,24-24 16,-48 0-1,24 24 17,24-24-17,-24 24 16,0 0-31,1-23 16,-1 23-16,0 0 16,0 0-16,0 0 15,0 0 1,24-24 62,-24 24 0,0 0-78,-23 47 16</inkml:trace>
  <inkml:trace contextRef="#ctx0" brushRef="#br0" timeOffset="22511.14">14872 8403 0,'24'-24'78,"0"24"-62,0-48-16,24 0 16,-1 24-16,-23 1 15,0-25-15,24 48 16,-48-48-16,0 24 15,24 0-15,-24 0 16,0 1 15,0-1-15,0 0-16,0-24 16,0 24-1,0 0 1,0 0-16,0 1 15,0 70 142,24 49-157,0-1 15,-24-47-15,0 0 16,0 0-16,0-1 16,0-23-16,0 0 15,0 0-15,0 0 31,0 0 1,0 0-32,0-1 15,0 25 1,0-24 0,0 0-1,0 0 1,0 0-16,23-48 203</inkml:trace>
  <inkml:trace contextRef="#ctx0" brushRef="#br0" timeOffset="26023.74">13297 9549 0,'0'23'32,"24"1"-32,-1 24 15,-23 0-15,0 23 16,24-23-16,-24 24 16,0-1-16,0-23 15,0 0-15,0 23 16,0-23-16,0-24 15,0 24-15,0 23 16,0-23-16,0 24 16,0-1-16,0 1 15,0 0-15,0-1 16,0-23-16,0 24 16,0-25-16,24 25 15,-24-48-15,0 24 16,0 23-16,0-23 15,0 0-15,0-1 16,0-23-16,0 24 16,0 0-1,0 23-15,0-23 16,0 0-16,0 0 16,0-1-16,0-23 15,0 48-15,0-48 16,0 0-16,0 0 15,0 47-15,0 1 16,0-1-16,-24 1 16,24 0-16,-24-25 15,24 1-15,0 0 16,-23-24-16,-25 0 47,24-24-47,0 0 15,-48 0-15,-23 0 16,-48 0-16,23-24 16,-23 24-16,48-24 15,-49 0-15,73 24 16,-49-24-16,49 24 16,-25 0-16,25 0 15,-25-24-15,49 24 16,-25 0-16,0 0 15,-23 0 1,23 0-16,-47 0 16,-24 0-16,47 48 15,-23-48-15,23 24 16,25 0-16,-1-24 16,24 24-16,24-24 15,-23 0 1,-25 0-16,0 0 15,1 23-15,-25-23 16,49 0-16,-25 24 16,24 0-16,0-24 15,-23 24-15,-1-24 16,-23 0-16,23 0 16,1 0-16,-25 0 15,1 0-15,23 0 16,-24 0-16,1 0 15,-24 0-15,23 0 16,-23 0-16,23 0 16,1 0-16,-1 0 15,1 0-15,23 0 16,1 0-16,-49 0 16,49 0-1,23 0-15,-48 0 16,25-24-16,-1 24 15,24 0-15,1-24 16,-25 24-16,0-24 16,1 24-16,-1 0 15,1 0-15,-1-23 16,-24 23-16,1 0 16,23 0-16,1 0 15,-25 0-15,48 0 16,-47-24-16,23 24 15,25 0-15,-1-24 16,24 24-16,0 0 16,0 0-1,0 0 1,1 0-16,-1 0 31,0 0-15,-24 0-1,0 0 1,24 0 0,1 0-1,-1 0 17,48 24 93</inkml:trace>
  <inkml:trace contextRef="#ctx0" brushRef="#br0" timeOffset="29447.89">13655 9668 0,'0'24'32,"0"0"-32,0 0 15,0 47-15,-24 1 16,0-1-16,24 1 15,0 0-15,-24-25 16,24 25-16,0 0 16,0-25-16,0 1 15,0 0-15,0 0 16,0-1-16,0-23 16,0 24-16,0 0 15,0-1-15,0 25 16,0-48-16,0 24 15,0 23-15,0-23 16,0 24-16,0-25 16,0 25-16,0 0 15,0-25-15,0 25 16,0 0-16,24-49 16,-24 25-16,24 24 15,0-1-15,0-23 16,-24 0-1,24 0-15,-1 23 16,1 49-16,0-49 16,0 25-16,0-1 15,24 25-15,-24-25 16,-1 24-16,1 1 16,0-1-16,-24-23 15,24-1-15,-24 1 16,0 23-16,24 0 15,-24-23-15,24 47 16,-24-47-16,24 47 16,-24-72-16,0 49 15,0-49-15,0 1 16,0 23-16,0 1 16,0-24-16,0-25 15,0 1-15,0 24 16,0-25-16,0 1 15,0 0-15,-24-24 16,0 0-16,24 23 16,0-23-16,0 0 15,0 0-15,-24 24 16,0-24-16,0 47 16,24 1-16,0-24 15,0 23-15,0 1 16,0-24-16,0 23 15,0-23 1,0-24-16,0 47 16,0-47-1,0 24-15,0-24 16,0 0-16,0 24 16,0-1-16,0 25 15,0-24-15,0-1 16,0 1-16,0-24 15,-24 24-15,24 0 16,-23-25 0,23 1 77,-24-24-77,-72 24 0,25 0-16,-1-24 15,-24 24-15,25 0 16,23-24-16,-24 0 16,25 0-16,-25 0 15,48 0 1,0 0-1,-47 0 1,-25-24-16,-71-24 16,24 0-16,-24 1 15,47 23-15,1-24 16,47 24-16,-47-24 16,0 1-16,23-1 15,1-24-15,-1 25 16,25-25-16,-49-24 15,1 25-15,-24-1 16,23-47-16,25 47 16,-48 1-16,23-25 15,25 25-15,-1 47 16,25-24-16,-25 0 16,72 24-16,0 0 15,-23-23-15,23 23 16,-48-24-16,1 0 15,-1-23 1,24 23-16,0 0 16,1 0-16,-25 1 15,48-1-15,24 0 16,-47 24-16,23-23 16,0-1-16,0 0 15,0 0-15,0 1 16,-24-1-16,25 0 15,-25 0-15,24 25 16,0-25-16,0 0 16,0 0-16,-23 1 15,23-25-15,-48-24 16,24 25-16,1-1 16,-1-23-16,24 23 15,-24 24-15,24 1 16,0 47-16,1-24 15,23 0-15,-24 0 16,24 0-16,-24 0 16,0 0-16,0-23 15,0 47 1,24-24-16,-24 24 16,1-24-1,-1 0 1,0 0-16,-24 0 15,48 0 1,-48 1-16,24-1 16,1 24-1,-25 0 79,-24 0-78,-23-48-16,-1 24 15,-95-24-15,120 24 16,-49 1-16,49 23 16,-1 0-16,24-24 15,1 0-15,-1 24 16,24 0-16,-24 0 15,0 0-15,1 0 16,-25-24-16,0 24 16,-23 0-16,23 0 15,25 0-15,23 0 16,-24 0 0,24 0-1,0 0-15,0 0 16,-47 0-16,-1 0 15,24 0-15,1 0 16,-1 0-16,24 0 16,-24 0-16,1 0 15,23 0-15,0 0 16,-24 24-16,24-24 16,-24 24-16,1-24 15,-1 24-15,0-24 16,0 23-16,25-23 15,23 24 1,-24-24 47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44108C-F934-4B61-9C4F-CDB73934E6E3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F27664-BC44-4601-83F0-E109F9C9FC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7004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F27664-BC44-4601-83F0-E109F9C9FC7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4026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F27664-BC44-4601-83F0-E109F9C9FC7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6607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F27664-BC44-4601-83F0-E109F9C9FC7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6013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F27664-BC44-4601-83F0-E109F9C9FC7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4616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F27664-BC44-4601-83F0-E109F9C9FC7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8086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F27664-BC44-4601-83F0-E109F9C9FC7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346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F27664-BC44-4601-83F0-E109F9C9FC7C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9035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ru-RU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78766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F27664-BC44-4601-83F0-E109F9C9FC7C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37980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F27664-BC44-4601-83F0-E109F9C9FC7C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251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F27664-BC44-4601-83F0-E109F9C9FC7C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29546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F27664-BC44-4601-83F0-E109F9C9FC7C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66835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defTabSz="914400">
              <a:buNone/>
            </a:pPr>
            <a:fld id="{DF61EA0F-A667-4B49-8422-0062BC55E249}" type="slidenum">
              <a:rPr lang="en-US" sz="1200" b="0" i="0">
                <a:latin typeface="Calibri"/>
                <a:ea typeface="+mn-ea"/>
                <a:cs typeface="+mn-cs"/>
              </a:rPr>
              <a:t>37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892FBAB-B9D8-4854-8A2F-772918B587E0}" type="slidenum">
              <a:rPr lang="ru-RU" altLang="ru-RU"/>
              <a:pPr eaLnBrk="1" hangingPunct="1"/>
              <a:t>50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8873588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51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0420467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52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703663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53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41161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54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547116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55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503072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56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863250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57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988204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58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8463410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59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04344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60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960378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61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099717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62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160854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63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052312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64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266163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65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424039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66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616149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67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6289443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68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170685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69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86317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70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061529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71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248452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16A67F-1E80-4EA0-A3BE-929A91DB12EE}" type="slidenum">
              <a:rPr lang="ru-RU" altLang="ru-RU"/>
              <a:pPr eaLnBrk="1" hangingPunct="1"/>
              <a:t>72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1053869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ru-RU" smtClean="0"/>
              <a:t>73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6406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31CD7-EC5D-4D19-95E9-84EC202FB7DE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D67FA-96B2-43B6-BD13-F819EC6B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6298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31CD7-EC5D-4D19-95E9-84EC202FB7DE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D67FA-96B2-43B6-BD13-F819EC6B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26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31CD7-EC5D-4D19-95E9-84EC202FB7DE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D67FA-96B2-43B6-BD13-F819EC6B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1801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31CD7-EC5D-4D19-95E9-84EC202FB7DE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D67FA-96B2-43B6-BD13-F819EC6B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0177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31CD7-EC5D-4D19-95E9-84EC202FB7DE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D67FA-96B2-43B6-BD13-F819EC6B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99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31CD7-EC5D-4D19-95E9-84EC202FB7DE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D67FA-96B2-43B6-BD13-F819EC6B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7656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31CD7-EC5D-4D19-95E9-84EC202FB7DE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D67FA-96B2-43B6-BD13-F819EC6B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854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31CD7-EC5D-4D19-95E9-84EC202FB7DE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D67FA-96B2-43B6-BD13-F819EC6B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200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31CD7-EC5D-4D19-95E9-84EC202FB7DE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D67FA-96B2-43B6-BD13-F819EC6B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043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31CD7-EC5D-4D19-95E9-84EC202FB7DE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D67FA-96B2-43B6-BD13-F819EC6B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975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31CD7-EC5D-4D19-95E9-84EC202FB7DE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D67FA-96B2-43B6-BD13-F819EC6B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7861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31CD7-EC5D-4D19-95E9-84EC202FB7DE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D67FA-96B2-43B6-BD13-F819EC6B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3471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6.xml"/><Relationship Id="rId4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Введение в компьютерные сети. Модель </a:t>
            </a:r>
            <a:r>
              <a:rPr lang="en-US" dirty="0"/>
              <a:t>OSI</a:t>
            </a:r>
            <a:r>
              <a:rPr lang="ru-RU" dirty="0"/>
              <a:t>. </a:t>
            </a:r>
            <a:br>
              <a:rPr lang="en-US" dirty="0"/>
            </a:br>
            <a:r>
              <a:rPr lang="ru-RU" dirty="0" err="1"/>
              <a:t>Стэк</a:t>
            </a:r>
            <a:r>
              <a:rPr lang="ru-RU" dirty="0"/>
              <a:t> протоколов </a:t>
            </a:r>
            <a:r>
              <a:rPr lang="en-US" dirty="0"/>
              <a:t>TCP/IP</a:t>
            </a:r>
            <a:r>
              <a:rPr lang="ru-RU" dirty="0"/>
              <a:t>. </a:t>
            </a:r>
            <a:br>
              <a:rPr lang="en-US" dirty="0"/>
            </a:br>
            <a:r>
              <a:rPr lang="ru-RU" dirty="0"/>
              <a:t>Уровень сетевых интерфейсов</a:t>
            </a:r>
            <a:r>
              <a:rPr lang="en-US" dirty="0"/>
              <a:t>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8523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/>
          <p:cNvSpPr/>
          <p:nvPr/>
        </p:nvSpPr>
        <p:spPr>
          <a:xfrm>
            <a:off x="2835784" y="2852936"/>
            <a:ext cx="3456384" cy="223224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данных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449176" y="3284984"/>
            <a:ext cx="2530624" cy="12961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Устройство 1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6148152" y="3284984"/>
            <a:ext cx="2530624" cy="12961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Устройство 2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5114908" y="3789040"/>
            <a:ext cx="504056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4186198" y="3789040"/>
            <a:ext cx="504056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3257488" y="3789040"/>
            <a:ext cx="504056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3339840" y="2410941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Среда передачи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3562" y="4182179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Сигналы (данные)</a:t>
            </a:r>
          </a:p>
        </p:txBody>
      </p:sp>
    </p:spTree>
    <p:extLst>
      <p:ext uri="{BB962C8B-B14F-4D97-AF65-F5344CB8AC3E}">
        <p14:creationId xmlns:p14="http://schemas.microsoft.com/office/powerpoint/2010/main" val="1935711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связи</a:t>
            </a:r>
            <a:r>
              <a:rPr lang="en-US" dirty="0"/>
              <a:t>. Simplex</a:t>
            </a:r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515368" y="4221088"/>
            <a:ext cx="2530624" cy="12961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Устройство 1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6214344" y="4221088"/>
            <a:ext cx="2530624" cy="12961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Устройство 2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5181100" y="4725144"/>
            <a:ext cx="504056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4252390" y="4725144"/>
            <a:ext cx="504056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3323680" y="4725144"/>
            <a:ext cx="504056" cy="288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 стрелкой 11"/>
          <p:cNvCxnSpPr/>
          <p:nvPr/>
        </p:nvCxnSpPr>
        <p:spPr>
          <a:xfrm>
            <a:off x="3323680" y="4509120"/>
            <a:ext cx="253864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98256" y="1553413"/>
            <a:ext cx="62339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Simplex – </a:t>
            </a:r>
            <a:r>
              <a:rPr lang="ru-RU" sz="2400" b="1" dirty="0"/>
              <a:t>односторонняя связь</a:t>
            </a:r>
            <a:r>
              <a:rPr lang="en-US" sz="2400" b="1" dirty="0"/>
              <a:t>.</a:t>
            </a:r>
          </a:p>
          <a:p>
            <a:endParaRPr lang="en-US" sz="2400" b="1" dirty="0"/>
          </a:p>
          <a:p>
            <a:r>
              <a:rPr lang="ru-RU" sz="2400" b="1" dirty="0"/>
              <a:t>Примеры: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Теле- и радиовещание.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Передача данных от спутников </a:t>
            </a:r>
            <a:r>
              <a:rPr lang="en-US" sz="2400" b="1" dirty="0"/>
              <a:t>GPS.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3441524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связи</a:t>
            </a:r>
            <a:r>
              <a:rPr lang="en-US" dirty="0"/>
              <a:t>. Half-duplex</a:t>
            </a:r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491191" y="4130154"/>
            <a:ext cx="1958056" cy="7489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/>
              <a:t>Устройство 1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6012160" y="4159850"/>
            <a:ext cx="1958056" cy="7489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/>
              <a:t>Устройство 2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904263" y="4591109"/>
            <a:ext cx="390010" cy="1664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4332614" y="4591109"/>
            <a:ext cx="390010" cy="1664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3748571" y="4591109"/>
            <a:ext cx="390010" cy="1664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cxnSp>
        <p:nvCxnSpPr>
          <p:cNvPr id="12" name="Прямая со стрелкой 11"/>
          <p:cNvCxnSpPr/>
          <p:nvPr/>
        </p:nvCxnSpPr>
        <p:spPr>
          <a:xfrm>
            <a:off x="3748571" y="4375085"/>
            <a:ext cx="196426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98256" y="1553413"/>
            <a:ext cx="82502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Half-duplex – </a:t>
            </a:r>
            <a:r>
              <a:rPr lang="ru-RU" sz="2400" b="1" dirty="0"/>
              <a:t>двусторонняя связь, но в один момент времени может передавать только одно устройство</a:t>
            </a:r>
            <a:r>
              <a:rPr lang="en-US" sz="2400" b="1" dirty="0"/>
              <a:t>.</a:t>
            </a:r>
          </a:p>
          <a:p>
            <a:endParaRPr lang="en-US" sz="2400" b="1" dirty="0"/>
          </a:p>
          <a:p>
            <a:r>
              <a:rPr lang="ru-RU" sz="2400" b="1" dirty="0"/>
              <a:t>Примеры: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Общение по рации, когда можно либо слушать канал, либо, нажав кнопку, передавать в него.</a:t>
            </a: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1491191" y="5127496"/>
            <a:ext cx="1958056" cy="7489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/>
              <a:t>Устройство 1</a:t>
            </a: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6012160" y="5157192"/>
            <a:ext cx="1958056" cy="7489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/>
              <a:t>Устройство 2</a:t>
            </a:r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5098296" y="5578920"/>
            <a:ext cx="390010" cy="1664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4526647" y="5578920"/>
            <a:ext cx="390010" cy="1664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3942604" y="5578920"/>
            <a:ext cx="390010" cy="1664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cxnSp>
        <p:nvCxnSpPr>
          <p:cNvPr id="19" name="Прямая со стрелкой 18"/>
          <p:cNvCxnSpPr/>
          <p:nvPr/>
        </p:nvCxnSpPr>
        <p:spPr>
          <a:xfrm flipH="1">
            <a:off x="3661775" y="5383197"/>
            <a:ext cx="195184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147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связи</a:t>
            </a:r>
            <a:r>
              <a:rPr lang="en-US" dirty="0"/>
              <a:t>. Full-duplex</a:t>
            </a:r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491191" y="4130154"/>
            <a:ext cx="1958056" cy="12814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/>
              <a:t>Устройство 1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6012160" y="4159850"/>
            <a:ext cx="1958056" cy="12517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/>
              <a:t>Устройство 2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904263" y="4591109"/>
            <a:ext cx="390010" cy="1664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4332614" y="4591109"/>
            <a:ext cx="390010" cy="1664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3748571" y="4591109"/>
            <a:ext cx="390010" cy="1664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cxnSp>
        <p:nvCxnSpPr>
          <p:cNvPr id="12" name="Прямая со стрелкой 11"/>
          <p:cNvCxnSpPr/>
          <p:nvPr/>
        </p:nvCxnSpPr>
        <p:spPr>
          <a:xfrm>
            <a:off x="3748571" y="4375085"/>
            <a:ext cx="196426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98256" y="1553413"/>
            <a:ext cx="82502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Full-duplex – </a:t>
            </a:r>
            <a:r>
              <a:rPr lang="ru-RU" sz="2400" b="1" dirty="0"/>
              <a:t>двусторонняя передача, оба устройства могут одновременно вести передачу</a:t>
            </a:r>
            <a:r>
              <a:rPr lang="en-US" sz="2400" b="1" dirty="0"/>
              <a:t>.</a:t>
            </a:r>
          </a:p>
          <a:p>
            <a:endParaRPr lang="en-US" sz="2400" b="1" dirty="0"/>
          </a:p>
          <a:p>
            <a:r>
              <a:rPr lang="ru-RU" sz="2400" b="1" dirty="0"/>
              <a:t>Примеры: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Разговор по телефону.</a:t>
            </a:r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5144425" y="5245166"/>
            <a:ext cx="390010" cy="1664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4572776" y="5245166"/>
            <a:ext cx="390010" cy="1664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3988733" y="5245166"/>
            <a:ext cx="390010" cy="1664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cxnSp>
        <p:nvCxnSpPr>
          <p:cNvPr id="19" name="Прямая со стрелкой 18"/>
          <p:cNvCxnSpPr/>
          <p:nvPr/>
        </p:nvCxnSpPr>
        <p:spPr>
          <a:xfrm flipH="1">
            <a:off x="3707904" y="5049443"/>
            <a:ext cx="195184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497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связи</a:t>
            </a:r>
            <a:r>
              <a:rPr lang="en-US" dirty="0"/>
              <a:t>. Unicast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779159" y="1536675"/>
            <a:ext cx="8250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Unicast – </a:t>
            </a:r>
            <a:r>
              <a:rPr lang="ru-RU" sz="2400" b="1" dirty="0"/>
              <a:t>передача данных единственному адресату</a:t>
            </a:r>
            <a:r>
              <a:rPr lang="en-US" sz="2400" b="1" dirty="0"/>
              <a:t>.</a:t>
            </a:r>
          </a:p>
          <a:p>
            <a:endParaRPr lang="en-US" sz="2400" b="1" dirty="0"/>
          </a:p>
        </p:txBody>
      </p:sp>
      <p:sp>
        <p:nvSpPr>
          <p:cNvPr id="3" name="Овал 2"/>
          <p:cNvSpPr/>
          <p:nvPr/>
        </p:nvSpPr>
        <p:spPr>
          <a:xfrm>
            <a:off x="2555776" y="3565985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2646112" y="4829525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/>
          <p:cNvSpPr/>
          <p:nvPr/>
        </p:nvSpPr>
        <p:spPr>
          <a:xfrm>
            <a:off x="3779912" y="3212976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/>
          <p:cNvSpPr/>
          <p:nvPr/>
        </p:nvSpPr>
        <p:spPr>
          <a:xfrm>
            <a:off x="6195024" y="4718113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/>
          <p:cNvSpPr/>
          <p:nvPr/>
        </p:nvSpPr>
        <p:spPr>
          <a:xfrm>
            <a:off x="5904148" y="3313957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3" name="Прямая со стрелкой 22"/>
          <p:cNvCxnSpPr>
            <a:endCxn id="22" idx="3"/>
          </p:cNvCxnSpPr>
          <p:nvPr/>
        </p:nvCxnSpPr>
        <p:spPr>
          <a:xfrm flipV="1">
            <a:off x="3150168" y="3744196"/>
            <a:ext cx="2827797" cy="118994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69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связи</a:t>
            </a:r>
            <a:r>
              <a:rPr lang="en-US" dirty="0"/>
              <a:t>. Broadcast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779159" y="1536675"/>
            <a:ext cx="8250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Broadcast – </a:t>
            </a:r>
            <a:r>
              <a:rPr lang="ru-RU" sz="2400" b="1" dirty="0"/>
              <a:t>широковещательная передача данных всем адресатам</a:t>
            </a:r>
            <a:r>
              <a:rPr lang="en-US" sz="2400" b="1" dirty="0"/>
              <a:t>.</a:t>
            </a:r>
          </a:p>
          <a:p>
            <a:endParaRPr lang="en-US" sz="2400" b="1" dirty="0"/>
          </a:p>
        </p:txBody>
      </p:sp>
      <p:sp>
        <p:nvSpPr>
          <p:cNvPr id="3" name="Овал 2"/>
          <p:cNvSpPr/>
          <p:nvPr/>
        </p:nvSpPr>
        <p:spPr>
          <a:xfrm>
            <a:off x="2555776" y="3565985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2646112" y="4829525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/>
          <p:cNvSpPr/>
          <p:nvPr/>
        </p:nvSpPr>
        <p:spPr>
          <a:xfrm>
            <a:off x="3779912" y="3212976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/>
          <p:cNvSpPr/>
          <p:nvPr/>
        </p:nvSpPr>
        <p:spPr>
          <a:xfrm>
            <a:off x="6195024" y="4718113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/>
          <p:cNvSpPr/>
          <p:nvPr/>
        </p:nvSpPr>
        <p:spPr>
          <a:xfrm>
            <a:off x="5904148" y="3313957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3" name="Прямая со стрелкой 22"/>
          <p:cNvCxnSpPr>
            <a:stCxn id="15" idx="7"/>
            <a:endCxn id="22" idx="3"/>
          </p:cNvCxnSpPr>
          <p:nvPr/>
        </p:nvCxnSpPr>
        <p:spPr>
          <a:xfrm flipV="1">
            <a:off x="3076351" y="3744196"/>
            <a:ext cx="2901614" cy="115914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>
            <a:stCxn id="15" idx="6"/>
          </p:cNvCxnSpPr>
          <p:nvPr/>
        </p:nvCxnSpPr>
        <p:spPr>
          <a:xfrm flipV="1">
            <a:off x="3150168" y="5006030"/>
            <a:ext cx="3034078" cy="7552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stCxn id="15" idx="0"/>
            <a:endCxn id="20" idx="3"/>
          </p:cNvCxnSpPr>
          <p:nvPr/>
        </p:nvCxnSpPr>
        <p:spPr>
          <a:xfrm flipV="1">
            <a:off x="2898140" y="3643215"/>
            <a:ext cx="955589" cy="118631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>
            <a:stCxn id="15" idx="1"/>
            <a:endCxn id="3" idx="4"/>
          </p:cNvCxnSpPr>
          <p:nvPr/>
        </p:nvCxnSpPr>
        <p:spPr>
          <a:xfrm flipV="1">
            <a:off x="2719929" y="4070041"/>
            <a:ext cx="87875" cy="83330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890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связи</a:t>
            </a:r>
            <a:r>
              <a:rPr lang="en-US" dirty="0"/>
              <a:t>. Multicast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779159" y="1536675"/>
            <a:ext cx="8250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Multicast –</a:t>
            </a:r>
            <a:r>
              <a:rPr lang="ru-RU" sz="2400" b="1" dirty="0"/>
              <a:t> передача данных  группе адресатов</a:t>
            </a:r>
            <a:r>
              <a:rPr lang="en-US" sz="2400" b="1" dirty="0"/>
              <a:t>.</a:t>
            </a:r>
          </a:p>
          <a:p>
            <a:endParaRPr lang="en-US" sz="2400" b="1" dirty="0"/>
          </a:p>
        </p:txBody>
      </p:sp>
      <p:sp>
        <p:nvSpPr>
          <p:cNvPr id="3" name="Овал 2"/>
          <p:cNvSpPr/>
          <p:nvPr/>
        </p:nvSpPr>
        <p:spPr>
          <a:xfrm>
            <a:off x="2555776" y="3565985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2646112" y="4829525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/>
          <p:cNvSpPr/>
          <p:nvPr/>
        </p:nvSpPr>
        <p:spPr>
          <a:xfrm>
            <a:off x="3779912" y="3212976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/>
          <p:cNvSpPr/>
          <p:nvPr/>
        </p:nvSpPr>
        <p:spPr>
          <a:xfrm>
            <a:off x="6195024" y="4718113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/>
          <p:cNvSpPr/>
          <p:nvPr/>
        </p:nvSpPr>
        <p:spPr>
          <a:xfrm>
            <a:off x="5904148" y="3313957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3" name="Прямая со стрелкой 22"/>
          <p:cNvCxnSpPr>
            <a:stCxn id="15" idx="7"/>
            <a:endCxn id="22" idx="3"/>
          </p:cNvCxnSpPr>
          <p:nvPr/>
        </p:nvCxnSpPr>
        <p:spPr>
          <a:xfrm flipV="1">
            <a:off x="3076351" y="3744196"/>
            <a:ext cx="2901614" cy="115914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>
            <a:stCxn id="15" idx="1"/>
            <a:endCxn id="3" idx="4"/>
          </p:cNvCxnSpPr>
          <p:nvPr/>
        </p:nvCxnSpPr>
        <p:spPr>
          <a:xfrm flipV="1">
            <a:off x="2719929" y="4070041"/>
            <a:ext cx="87875" cy="83330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409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Виды сетей в зависимости от географического охвата.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512" y="1536675"/>
            <a:ext cx="885698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LAN (Local area network)</a:t>
            </a:r>
            <a:r>
              <a:rPr lang="en-US" sz="2400" b="1" dirty="0"/>
              <a:t> –</a:t>
            </a:r>
            <a:r>
              <a:rPr lang="ru-RU" sz="2400" b="1" dirty="0"/>
              <a:t> локальная сеть, объединяет небольшое количество устройств на ограниченной территории (до  нескольких сотен метров)</a:t>
            </a:r>
            <a:r>
              <a:rPr lang="en-US" sz="2400" b="1" dirty="0"/>
              <a:t>.</a:t>
            </a:r>
            <a:endParaRPr lang="ru-RU" sz="2400" b="1" dirty="0"/>
          </a:p>
          <a:p>
            <a:r>
              <a:rPr lang="en-US" sz="2400" b="1" u="sng" dirty="0"/>
              <a:t>MAN (Metropolitan Area Network)</a:t>
            </a:r>
            <a:r>
              <a:rPr lang="en-US" sz="2400" b="1" dirty="0"/>
              <a:t> – </a:t>
            </a:r>
            <a:r>
              <a:rPr lang="ru-RU" sz="2400" b="1" dirty="0"/>
              <a:t>городская сеть, объединяет большое количество устройств в пределах города (обычно до 50 км).</a:t>
            </a:r>
          </a:p>
          <a:p>
            <a:r>
              <a:rPr lang="en-US" sz="2400" b="1" u="sng" dirty="0"/>
              <a:t>WAN (Wide Area Network) </a:t>
            </a:r>
            <a:r>
              <a:rPr lang="en-US" sz="2400" b="1" dirty="0"/>
              <a:t>– </a:t>
            </a:r>
            <a:r>
              <a:rPr lang="ru-RU" sz="2400" b="1" dirty="0"/>
              <a:t>глобальная сеть, объединяет большое кол-во устройств по всему миру.</a:t>
            </a:r>
          </a:p>
          <a:p>
            <a:endParaRPr lang="en-US" sz="2400" b="1" dirty="0"/>
          </a:p>
          <a:p>
            <a:endParaRPr lang="en-US" sz="2400" b="1" dirty="0"/>
          </a:p>
        </p:txBody>
      </p:sp>
      <p:pic>
        <p:nvPicPr>
          <p:cNvPr id="1026" name="Picture 2" descr="http://www.intuit.ru/EDI/14_11_15_211/1447507731-7301/tutorial/161/objects/1/files/01_0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581128"/>
            <a:ext cx="6696744" cy="212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6414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Протяженность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2692129" y="6356357"/>
            <a:ext cx="3365771" cy="36512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78600" y="6356356"/>
            <a:ext cx="2457450" cy="365125"/>
          </a:xfrm>
        </p:spPr>
        <p:txBody>
          <a:bodyPr/>
          <a:lstStyle/>
          <a:p>
            <a:fld id="{9860EDB8-5305-433F-BE41-D7A86D811DB3}" type="slidenum">
              <a:rPr lang="ru-RU" smtClean="0"/>
              <a:t>10</a:t>
            </a:fld>
            <a:endParaRPr lang="ru-RU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831173"/>
              </p:ext>
            </p:extLst>
          </p:nvPr>
        </p:nvGraphicFramePr>
        <p:xfrm>
          <a:off x="320203" y="1823699"/>
          <a:ext cx="5737697" cy="3287078"/>
        </p:xfrm>
        <a:graphic>
          <a:graphicData uri="http://schemas.openxmlformats.org/drawingml/2006/table">
            <a:tbl>
              <a:tblPr/>
              <a:tblGrid>
                <a:gridCol w="1628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6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2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charset="0"/>
                        </a:rPr>
                        <a:t>Название</a:t>
                      </a:r>
                    </a:p>
                  </a:txBody>
                  <a:tcPr marL="68580" marR="6858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charset="0"/>
                        </a:rPr>
                        <a:t>Протяженность</a:t>
                      </a:r>
                    </a:p>
                  </a:txBody>
                  <a:tcPr marL="68580" marR="6858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charset="0"/>
                        </a:rPr>
                        <a:t>Расположение</a:t>
                      </a:r>
                    </a:p>
                  </a:txBody>
                  <a:tcPr marL="68580" marR="6858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Персональная</a:t>
                      </a:r>
                    </a:p>
                  </a:txBody>
                  <a:tcPr marL="68580" marR="685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 м</a:t>
                      </a:r>
                    </a:p>
                  </a:txBody>
                  <a:tcPr marL="68580" marR="685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На столе</a:t>
                      </a:r>
                    </a:p>
                  </a:txBody>
                  <a:tcPr marL="68580" marR="685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Локальная</a:t>
                      </a:r>
                    </a:p>
                  </a:txBody>
                  <a:tcPr marL="68580" marR="685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10 м – 1 км</a:t>
                      </a:r>
                    </a:p>
                  </a:txBody>
                  <a:tcPr marL="68580" marR="685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Комната, здание, кампус</a:t>
                      </a:r>
                    </a:p>
                  </a:txBody>
                  <a:tcPr marL="68580" marR="685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Муниципальная</a:t>
                      </a:r>
                    </a:p>
                  </a:txBody>
                  <a:tcPr marL="68580" marR="685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10 км</a:t>
                      </a:r>
                    </a:p>
                  </a:txBody>
                  <a:tcPr marL="68580" marR="685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Город</a:t>
                      </a:r>
                    </a:p>
                  </a:txBody>
                  <a:tcPr marL="68580" marR="685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Глобальная</a:t>
                      </a:r>
                    </a:p>
                  </a:txBody>
                  <a:tcPr marL="68580" marR="685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100 – 1000 км</a:t>
                      </a:r>
                    </a:p>
                  </a:txBody>
                  <a:tcPr marL="68580" marR="685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Страна, континент</a:t>
                      </a:r>
                    </a:p>
                  </a:txBody>
                  <a:tcPr marL="68580" marR="685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Объединение сетей</a:t>
                      </a:r>
                    </a:p>
                  </a:txBody>
                  <a:tcPr marL="68580" marR="685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10 000 км</a:t>
                      </a:r>
                    </a:p>
                  </a:txBody>
                  <a:tcPr marL="68580" marR="685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Весь мир</a:t>
                      </a:r>
                    </a:p>
                  </a:txBody>
                  <a:tcPr marL="68580" marR="685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306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Виды коммутации. Коммутация каналов.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911024" y="3532708"/>
            <a:ext cx="648072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/>
              <a:t>А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1991144" y="5181742"/>
            <a:ext cx="648072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/>
              <a:t>Б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3791344" y="5980980"/>
            <a:ext cx="648072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/>
              <a:t>В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563652" y="4782846"/>
            <a:ext cx="648072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/>
              <a:t>Г</a:t>
            </a: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6887688" y="3316684"/>
            <a:ext cx="648072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/>
              <a:t>Д</a:t>
            </a:r>
          </a:p>
        </p:txBody>
      </p:sp>
      <p:sp>
        <p:nvSpPr>
          <p:cNvPr id="5" name="Овал 4"/>
          <p:cNvSpPr/>
          <p:nvPr/>
        </p:nvSpPr>
        <p:spPr>
          <a:xfrm>
            <a:off x="3215280" y="3522283"/>
            <a:ext cx="432048" cy="4166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3431304" y="4613962"/>
            <a:ext cx="432048" cy="4166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4321688" y="5019862"/>
            <a:ext cx="432048" cy="4166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4367408" y="3031228"/>
            <a:ext cx="432048" cy="4166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5591544" y="5181742"/>
            <a:ext cx="432048" cy="4166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единительная линия 14"/>
          <p:cNvCxnSpPr>
            <a:stCxn id="4" idx="3"/>
            <a:endCxn id="5" idx="2"/>
          </p:cNvCxnSpPr>
          <p:nvPr/>
        </p:nvCxnSpPr>
        <p:spPr>
          <a:xfrm flipV="1">
            <a:off x="1559096" y="3730591"/>
            <a:ext cx="1656184" cy="181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6" idx="3"/>
            <a:endCxn id="11" idx="3"/>
          </p:cNvCxnSpPr>
          <p:nvPr/>
        </p:nvCxnSpPr>
        <p:spPr>
          <a:xfrm flipV="1">
            <a:off x="2639216" y="4969566"/>
            <a:ext cx="855360" cy="42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stCxn id="7" idx="0"/>
            <a:endCxn id="12" idx="4"/>
          </p:cNvCxnSpPr>
          <p:nvPr/>
        </p:nvCxnSpPr>
        <p:spPr>
          <a:xfrm flipV="1">
            <a:off x="4115380" y="5436478"/>
            <a:ext cx="422332" cy="5445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8" idx="1"/>
            <a:endCxn id="14" idx="6"/>
          </p:cNvCxnSpPr>
          <p:nvPr/>
        </p:nvCxnSpPr>
        <p:spPr>
          <a:xfrm flipH="1">
            <a:off x="6023592" y="4998870"/>
            <a:ext cx="540060" cy="3911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9" idx="1"/>
            <a:endCxn id="13" idx="6"/>
          </p:cNvCxnSpPr>
          <p:nvPr/>
        </p:nvCxnSpPr>
        <p:spPr>
          <a:xfrm flipH="1" flipV="1">
            <a:off x="4799456" y="3239536"/>
            <a:ext cx="2088232" cy="2931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32" idx="4"/>
            <a:endCxn id="12" idx="0"/>
          </p:cNvCxnSpPr>
          <p:nvPr/>
        </p:nvCxnSpPr>
        <p:spPr>
          <a:xfrm flipH="1">
            <a:off x="4537712" y="4349672"/>
            <a:ext cx="250312" cy="67019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Овал 31"/>
          <p:cNvSpPr/>
          <p:nvPr/>
        </p:nvSpPr>
        <p:spPr>
          <a:xfrm>
            <a:off x="4572000" y="3933056"/>
            <a:ext cx="432048" cy="4166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5" name="Прямая соединительная линия 34"/>
          <p:cNvCxnSpPr>
            <a:endCxn id="32" idx="5"/>
          </p:cNvCxnSpPr>
          <p:nvPr/>
        </p:nvCxnSpPr>
        <p:spPr>
          <a:xfrm flipH="1" flipV="1">
            <a:off x="4940776" y="4288660"/>
            <a:ext cx="801068" cy="9395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stCxn id="13" idx="4"/>
            <a:endCxn id="32" idx="0"/>
          </p:cNvCxnSpPr>
          <p:nvPr/>
        </p:nvCxnSpPr>
        <p:spPr>
          <a:xfrm>
            <a:off x="4583432" y="3447844"/>
            <a:ext cx="204592" cy="48521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/>
          <p:cNvCxnSpPr>
            <a:stCxn id="32" idx="3"/>
            <a:endCxn id="11" idx="7"/>
          </p:cNvCxnSpPr>
          <p:nvPr/>
        </p:nvCxnSpPr>
        <p:spPr>
          <a:xfrm flipH="1">
            <a:off x="3800080" y="4288660"/>
            <a:ext cx="835192" cy="3863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/>
          <p:cNvCxnSpPr>
            <a:stCxn id="32" idx="2"/>
            <a:endCxn id="5" idx="6"/>
          </p:cNvCxnSpPr>
          <p:nvPr/>
        </p:nvCxnSpPr>
        <p:spPr>
          <a:xfrm flipH="1" flipV="1">
            <a:off x="3647328" y="3730591"/>
            <a:ext cx="924672" cy="41077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26332" y="1636924"/>
            <a:ext cx="82941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В сети с коммутацией каналов между двумя конечными устройствами устанавливается физический канал.</a:t>
            </a:r>
          </a:p>
          <a:p>
            <a:r>
              <a:rPr lang="ru-RU" sz="2400" b="1" dirty="0"/>
              <a:t>Пример: телефонная сеть.</a:t>
            </a:r>
            <a:endParaRPr lang="en-US" sz="2400" b="1" dirty="0"/>
          </a:p>
          <a:p>
            <a:endParaRPr lang="en-US" sz="24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Рукописный ввод 2"/>
              <p14:cNvContentPartPr/>
              <p14:nvPr/>
            </p14:nvContentPartPr>
            <p14:xfrm>
              <a:off x="1521000" y="3248280"/>
              <a:ext cx="5285880" cy="2759040"/>
            </p14:xfrm>
          </p:contentPart>
        </mc:Choice>
        <mc:Fallback xmlns="">
          <p:pic>
            <p:nvPicPr>
              <p:cNvPr id="3" name="Рукописный ввод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11640" y="3238920"/>
                <a:ext cx="5304600" cy="277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9192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Виды коммутации. Коммутация пакетов.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575616" y="4213372"/>
            <a:ext cx="648072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/>
              <a:t>А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920816" y="4352952"/>
            <a:ext cx="648072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/>
              <a:t>Б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462432" y="5611305"/>
            <a:ext cx="648072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/>
              <a:t>Г</a:t>
            </a: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6887688" y="3319260"/>
            <a:ext cx="648072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/>
              <a:t>Д</a:t>
            </a:r>
          </a:p>
        </p:txBody>
      </p:sp>
      <p:sp>
        <p:nvSpPr>
          <p:cNvPr id="5" name="Овал 4"/>
          <p:cNvSpPr/>
          <p:nvPr/>
        </p:nvSpPr>
        <p:spPr>
          <a:xfrm>
            <a:off x="3168904" y="4221088"/>
            <a:ext cx="432048" cy="4166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6246408" y="4368384"/>
            <a:ext cx="432048" cy="4166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4572000" y="3326976"/>
            <a:ext cx="432048" cy="4166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4753736" y="5611305"/>
            <a:ext cx="432048" cy="4166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единительная линия 14"/>
          <p:cNvCxnSpPr>
            <a:stCxn id="4" idx="3"/>
            <a:endCxn id="5" idx="2"/>
          </p:cNvCxnSpPr>
          <p:nvPr/>
        </p:nvCxnSpPr>
        <p:spPr>
          <a:xfrm>
            <a:off x="2223688" y="4429396"/>
            <a:ext cx="9452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6" idx="1"/>
            <a:endCxn id="11" idx="6"/>
          </p:cNvCxnSpPr>
          <p:nvPr/>
        </p:nvCxnSpPr>
        <p:spPr>
          <a:xfrm flipH="1">
            <a:off x="6678456" y="4568976"/>
            <a:ext cx="1242360" cy="77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8" idx="1"/>
            <a:endCxn id="14" idx="6"/>
          </p:cNvCxnSpPr>
          <p:nvPr/>
        </p:nvCxnSpPr>
        <p:spPr>
          <a:xfrm flipH="1" flipV="1">
            <a:off x="5185784" y="5819613"/>
            <a:ext cx="1276648" cy="77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9" idx="1"/>
            <a:endCxn id="13" idx="6"/>
          </p:cNvCxnSpPr>
          <p:nvPr/>
        </p:nvCxnSpPr>
        <p:spPr>
          <a:xfrm flipH="1">
            <a:off x="5004048" y="3535284"/>
            <a:ext cx="1883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Овал 31"/>
          <p:cNvSpPr/>
          <p:nvPr/>
        </p:nvSpPr>
        <p:spPr>
          <a:xfrm>
            <a:off x="4572000" y="4221088"/>
            <a:ext cx="432048" cy="4166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5" name="Прямая соединительная линия 34"/>
          <p:cNvCxnSpPr>
            <a:stCxn id="14" idx="0"/>
            <a:endCxn id="32" idx="5"/>
          </p:cNvCxnSpPr>
          <p:nvPr/>
        </p:nvCxnSpPr>
        <p:spPr>
          <a:xfrm flipH="1" flipV="1">
            <a:off x="4940776" y="4576692"/>
            <a:ext cx="28984" cy="103461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stCxn id="13" idx="4"/>
            <a:endCxn id="32" idx="0"/>
          </p:cNvCxnSpPr>
          <p:nvPr/>
        </p:nvCxnSpPr>
        <p:spPr>
          <a:xfrm>
            <a:off x="4788024" y="3743592"/>
            <a:ext cx="0" cy="47749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/>
          <p:cNvCxnSpPr>
            <a:stCxn id="32" idx="3"/>
            <a:endCxn id="11" idx="2"/>
          </p:cNvCxnSpPr>
          <p:nvPr/>
        </p:nvCxnSpPr>
        <p:spPr>
          <a:xfrm>
            <a:off x="4635272" y="4576692"/>
            <a:ext cx="161113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/>
          <p:cNvCxnSpPr>
            <a:stCxn id="32" idx="2"/>
            <a:endCxn id="5" idx="6"/>
          </p:cNvCxnSpPr>
          <p:nvPr/>
        </p:nvCxnSpPr>
        <p:spPr>
          <a:xfrm flipH="1">
            <a:off x="3600952" y="4429396"/>
            <a:ext cx="97104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06666" y="1626284"/>
            <a:ext cx="82941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В сети с коммутацией пакетов информация от каждого устройства делится на небольшие пакеты и эти пакеты передаются по одним и тем же физическим каналам.</a:t>
            </a:r>
          </a:p>
          <a:p>
            <a:r>
              <a:rPr lang="ru-RU" sz="2400" b="1" dirty="0"/>
              <a:t>Пример: компьютерные сети.</a:t>
            </a:r>
            <a:endParaRPr lang="en-US" sz="2400" b="1" dirty="0"/>
          </a:p>
          <a:p>
            <a:endParaRPr lang="en-US" sz="2400" b="1" dirty="0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5479283" y="3326976"/>
            <a:ext cx="207288" cy="10974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Скругленный прямоугольник 48"/>
          <p:cNvSpPr/>
          <p:nvPr/>
        </p:nvSpPr>
        <p:spPr>
          <a:xfrm>
            <a:off x="5824108" y="3322500"/>
            <a:ext cx="207288" cy="1097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Скругленный прямоугольник 49"/>
          <p:cNvSpPr/>
          <p:nvPr/>
        </p:nvSpPr>
        <p:spPr>
          <a:xfrm>
            <a:off x="6142764" y="3326976"/>
            <a:ext cx="207288" cy="1097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Скругленный прямоугольник 50"/>
          <p:cNvSpPr/>
          <p:nvPr/>
        </p:nvSpPr>
        <p:spPr>
          <a:xfrm>
            <a:off x="6493864" y="3326976"/>
            <a:ext cx="207288" cy="1097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Скругленный прямоугольник 51"/>
          <p:cNvSpPr/>
          <p:nvPr/>
        </p:nvSpPr>
        <p:spPr>
          <a:xfrm>
            <a:off x="5106821" y="3321390"/>
            <a:ext cx="207288" cy="10974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Скругленный прямоугольник 52"/>
          <p:cNvSpPr/>
          <p:nvPr/>
        </p:nvSpPr>
        <p:spPr>
          <a:xfrm>
            <a:off x="4341651" y="4126619"/>
            <a:ext cx="207288" cy="10974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Скругленный прямоугольник 53"/>
          <p:cNvSpPr/>
          <p:nvPr/>
        </p:nvSpPr>
        <p:spPr>
          <a:xfrm>
            <a:off x="4341651" y="3987738"/>
            <a:ext cx="207288" cy="1097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Скругленный прямоугольник 54"/>
          <p:cNvSpPr/>
          <p:nvPr/>
        </p:nvSpPr>
        <p:spPr>
          <a:xfrm>
            <a:off x="4341651" y="3839293"/>
            <a:ext cx="207288" cy="1097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Скругленный прямоугольник 55"/>
          <p:cNvSpPr/>
          <p:nvPr/>
        </p:nvSpPr>
        <p:spPr>
          <a:xfrm>
            <a:off x="4341651" y="3696438"/>
            <a:ext cx="207288" cy="1097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Скругленный прямоугольник 56"/>
          <p:cNvSpPr/>
          <p:nvPr/>
        </p:nvSpPr>
        <p:spPr>
          <a:xfrm>
            <a:off x="4341651" y="4265500"/>
            <a:ext cx="207288" cy="10974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Скругленный прямоугольник 57"/>
          <p:cNvSpPr/>
          <p:nvPr/>
        </p:nvSpPr>
        <p:spPr>
          <a:xfrm>
            <a:off x="3933996" y="4243212"/>
            <a:ext cx="207288" cy="10974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Скругленный прямоугольник 58"/>
          <p:cNvSpPr/>
          <p:nvPr/>
        </p:nvSpPr>
        <p:spPr>
          <a:xfrm>
            <a:off x="3658984" y="4243212"/>
            <a:ext cx="207288" cy="10974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Скругленный прямоугольник 59"/>
          <p:cNvSpPr/>
          <p:nvPr/>
        </p:nvSpPr>
        <p:spPr>
          <a:xfrm>
            <a:off x="5543048" y="4396531"/>
            <a:ext cx="207288" cy="1097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Скругленный прямоугольник 60"/>
          <p:cNvSpPr/>
          <p:nvPr/>
        </p:nvSpPr>
        <p:spPr>
          <a:xfrm>
            <a:off x="5878384" y="4396531"/>
            <a:ext cx="207288" cy="1097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Скругленный прямоугольник 61"/>
          <p:cNvSpPr/>
          <p:nvPr/>
        </p:nvSpPr>
        <p:spPr>
          <a:xfrm>
            <a:off x="4650092" y="5035442"/>
            <a:ext cx="207288" cy="1097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Скругленный прямоугольник 62"/>
          <p:cNvSpPr/>
          <p:nvPr/>
        </p:nvSpPr>
        <p:spPr>
          <a:xfrm>
            <a:off x="5738580" y="5677411"/>
            <a:ext cx="207288" cy="1097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Скругленный прямоугольник 63"/>
          <p:cNvSpPr/>
          <p:nvPr/>
        </p:nvSpPr>
        <p:spPr>
          <a:xfrm>
            <a:off x="2712396" y="4266514"/>
            <a:ext cx="207288" cy="10974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Скругленный прямоугольник 64"/>
          <p:cNvSpPr/>
          <p:nvPr/>
        </p:nvSpPr>
        <p:spPr>
          <a:xfrm>
            <a:off x="2437384" y="4266514"/>
            <a:ext cx="207288" cy="10974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Скругленный прямоугольник 65"/>
          <p:cNvSpPr/>
          <p:nvPr/>
        </p:nvSpPr>
        <p:spPr>
          <a:xfrm>
            <a:off x="6993136" y="4396526"/>
            <a:ext cx="207288" cy="1097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Скругленный прямоугольник 66"/>
          <p:cNvSpPr/>
          <p:nvPr/>
        </p:nvSpPr>
        <p:spPr>
          <a:xfrm>
            <a:off x="7328472" y="4396526"/>
            <a:ext cx="207288" cy="1097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8" name="Прямая соединительная линия 67"/>
          <p:cNvCxnSpPr>
            <a:stCxn id="14" idx="2"/>
            <a:endCxn id="5" idx="4"/>
          </p:cNvCxnSpPr>
          <p:nvPr/>
        </p:nvCxnSpPr>
        <p:spPr>
          <a:xfrm flipH="1" flipV="1">
            <a:off x="3384928" y="4637704"/>
            <a:ext cx="1368808" cy="118190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единительная линия 70"/>
          <p:cNvCxnSpPr>
            <a:stCxn id="14" idx="7"/>
            <a:endCxn id="11" idx="3"/>
          </p:cNvCxnSpPr>
          <p:nvPr/>
        </p:nvCxnSpPr>
        <p:spPr>
          <a:xfrm flipV="1">
            <a:off x="5122512" y="4723988"/>
            <a:ext cx="1187168" cy="94832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единительная линия 73"/>
          <p:cNvCxnSpPr>
            <a:stCxn id="11" idx="1"/>
            <a:endCxn id="13" idx="5"/>
          </p:cNvCxnSpPr>
          <p:nvPr/>
        </p:nvCxnSpPr>
        <p:spPr>
          <a:xfrm flipH="1" flipV="1">
            <a:off x="4940776" y="3682580"/>
            <a:ext cx="1368904" cy="74681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/>
          <p:cNvCxnSpPr>
            <a:stCxn id="5" idx="0"/>
            <a:endCxn id="13" idx="2"/>
          </p:cNvCxnSpPr>
          <p:nvPr/>
        </p:nvCxnSpPr>
        <p:spPr>
          <a:xfrm flipV="1">
            <a:off x="3384928" y="3535284"/>
            <a:ext cx="1187072" cy="6858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Рукописный ввод 6"/>
              <p14:cNvContentPartPr/>
              <p14:nvPr/>
            </p14:nvContentPartPr>
            <p14:xfrm>
              <a:off x="2234520" y="2827440"/>
              <a:ext cx="4589280" cy="3016800"/>
            </p14:xfrm>
          </p:contentPart>
        </mc:Choice>
        <mc:Fallback xmlns="">
          <p:pic>
            <p:nvPicPr>
              <p:cNvPr id="7" name="Рукописный ввод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25160" y="2818080"/>
                <a:ext cx="4608000" cy="303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8894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Абстракции для описания сетевого взаимодействия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3328" y="1776987"/>
            <a:ext cx="5558138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>
                <a:solidFill>
                  <a:schemeClr val="tx1"/>
                </a:solidFill>
              </a:rPr>
              <a:t>Сложности построения сетей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Многообразие оборудования и программного обеспечения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Надёжность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Развитие сети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Распределение ресурсов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Качество обслуживания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Безопасность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>
                <a:solidFill>
                  <a:schemeClr val="tx1"/>
                </a:solidFill>
              </a:rPr>
              <a:t>Решение: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Декомпозиция на отдельные подзадачи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Шаблон «Уровни»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Ввод единых </a:t>
            </a:r>
            <a:r>
              <a:rPr lang="ru-RU" sz="2000" dirty="0" err="1"/>
              <a:t>стантартов</a:t>
            </a:r>
            <a:r>
              <a:rPr lang="ru-RU" sz="2000" dirty="0"/>
              <a:t> (</a:t>
            </a:r>
            <a:r>
              <a:rPr lang="en-US" sz="2000" dirty="0"/>
              <a:t>OSI, TCP/IP)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78600" y="6356356"/>
            <a:ext cx="2457450" cy="365125"/>
          </a:xfrm>
        </p:spPr>
        <p:txBody>
          <a:bodyPr/>
          <a:lstStyle/>
          <a:p>
            <a:fld id="{9860EDB8-5305-433F-BE41-D7A86D811DB3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7424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Стандарты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3328" y="1776987"/>
            <a:ext cx="7935096" cy="435133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400" dirty="0">
                <a:solidFill>
                  <a:schemeClr val="tx1"/>
                </a:solidFill>
              </a:rPr>
              <a:t>На раннем этапе развития сетей (60-70 годы) стандартизации не было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400" dirty="0">
                <a:solidFill>
                  <a:schemeClr val="tx1"/>
                </a:solidFill>
              </a:rPr>
              <a:t>Оборудование разных производителей не могло взаимодействовать по сети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Несовместимость сетевого оборудования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Несовместимость программного обеспечения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Разные протоколы</a:t>
            </a:r>
          </a:p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400" dirty="0">
                <a:solidFill>
                  <a:prstClr val="black"/>
                </a:solidFill>
              </a:rPr>
              <a:t>Решение - стандарты</a:t>
            </a:r>
          </a:p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ru-RU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701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2352" y="260648"/>
            <a:ext cx="8579296" cy="792088"/>
          </a:xfrm>
        </p:spPr>
        <p:txBody>
          <a:bodyPr>
            <a:normAutofit fontScale="90000"/>
          </a:bodyPr>
          <a:lstStyle/>
          <a:p>
            <a:br>
              <a:rPr lang="ru-RU" dirty="0"/>
            </a:br>
            <a:r>
              <a:rPr lang="ru-RU" dirty="0"/>
              <a:t>Эталонные модели организации сетей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428" y="1555181"/>
            <a:ext cx="8367144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400" dirty="0">
                <a:solidFill>
                  <a:schemeClr val="tx1"/>
                </a:solidFill>
              </a:rPr>
              <a:t>Модель взаимодействия открытых систем </a:t>
            </a:r>
            <a:r>
              <a:rPr lang="en-US" sz="2400" dirty="0">
                <a:solidFill>
                  <a:schemeClr val="tx1"/>
                </a:solidFill>
              </a:rPr>
              <a:t>(ISO OSI)</a:t>
            </a:r>
            <a:endParaRPr lang="ru-RU" sz="2400" dirty="0">
              <a:solidFill>
                <a:schemeClr val="tx1"/>
              </a:solidFill>
            </a:endParaRP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Юридический стандарт международной организации стандартизации </a:t>
            </a:r>
            <a:r>
              <a:rPr lang="en-US" sz="2000" dirty="0">
                <a:solidFill>
                  <a:schemeClr val="tx1"/>
                </a:solidFill>
              </a:rPr>
              <a:t>ISO</a:t>
            </a:r>
            <a:endParaRPr lang="ru-RU" sz="2000" dirty="0">
              <a:solidFill>
                <a:schemeClr val="tx1"/>
              </a:solidFill>
            </a:endParaRP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7 </a:t>
            </a:r>
            <a:r>
              <a:rPr lang="ru-RU" sz="2000" dirty="0">
                <a:solidFill>
                  <a:schemeClr val="tx1"/>
                </a:solidFill>
              </a:rPr>
              <a:t>уровней, протоколы не входят в модель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Хорошая теоретическая проработка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На практике не используется</a:t>
            </a:r>
          </a:p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400" dirty="0">
                <a:solidFill>
                  <a:prstClr val="black"/>
                </a:solidFill>
              </a:rPr>
              <a:t>Модель </a:t>
            </a:r>
            <a:r>
              <a:rPr lang="en-US" sz="2400" dirty="0">
                <a:solidFill>
                  <a:prstClr val="black"/>
                </a:solidFill>
              </a:rPr>
              <a:t>TCP/IP</a:t>
            </a:r>
            <a:endParaRPr lang="ru-RU" sz="2400" dirty="0">
              <a:solidFill>
                <a:prstClr val="black"/>
              </a:solidFill>
            </a:endParaRP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Фактический стандарт на основе популярного стека протоколов </a:t>
            </a:r>
            <a:r>
              <a:rPr lang="en-US" sz="2000" dirty="0">
                <a:solidFill>
                  <a:prstClr val="black"/>
                </a:solidFill>
              </a:rPr>
              <a:t>TCP/IP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4 </a:t>
            </a:r>
            <a:r>
              <a:rPr lang="ru-RU" sz="2000" dirty="0">
                <a:solidFill>
                  <a:prstClr val="black"/>
                </a:solidFill>
              </a:rPr>
              <a:t>уровня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Протоколы </a:t>
            </a:r>
            <a:r>
              <a:rPr lang="en-US" sz="2000" dirty="0">
                <a:solidFill>
                  <a:prstClr val="black"/>
                </a:solidFill>
              </a:rPr>
              <a:t>TCP/IP</a:t>
            </a:r>
            <a:r>
              <a:rPr lang="ru-RU" sz="2000" dirty="0">
                <a:solidFill>
                  <a:prstClr val="black"/>
                </a:solidFill>
              </a:rPr>
              <a:t> широко используются на практике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Основа интернет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78600" y="6356356"/>
            <a:ext cx="2457450" cy="365125"/>
          </a:xfrm>
        </p:spPr>
        <p:txBody>
          <a:bodyPr/>
          <a:lstStyle/>
          <a:p>
            <a:fld id="{9860EDB8-5305-433F-BE41-D7A86D811DB3}" type="slidenum">
              <a:rPr lang="ru-RU" smtClean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7805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Декомпозиция: шаблон «Уровни»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2692129" y="6356357"/>
            <a:ext cx="3365771" cy="36512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78600" y="6356356"/>
            <a:ext cx="2457450" cy="365125"/>
          </a:xfrm>
        </p:spPr>
        <p:txBody>
          <a:bodyPr/>
          <a:lstStyle/>
          <a:p>
            <a:fld id="{9860EDB8-5305-433F-BE41-D7A86D811DB3}" type="slidenum">
              <a:rPr lang="ru-RU" smtClean="0"/>
              <a:t>16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837010" y="2057401"/>
            <a:ext cx="1241822" cy="4429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u-RU" dirty="0">
                <a:solidFill>
                  <a:schemeClr val="tx1"/>
                </a:solidFill>
              </a:rPr>
              <a:t>Уровень 4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837010" y="3933825"/>
            <a:ext cx="1241822" cy="431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u-RU" dirty="0">
                <a:solidFill>
                  <a:schemeClr val="tx1"/>
                </a:solidFill>
              </a:rPr>
              <a:t>Уровень 2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837010" y="2989264"/>
            <a:ext cx="1241822" cy="4397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u-RU" dirty="0">
                <a:solidFill>
                  <a:schemeClr val="tx1"/>
                </a:solidFill>
              </a:rPr>
              <a:t>Уровень 3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837010" y="4868863"/>
            <a:ext cx="1241822" cy="431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u-RU" dirty="0">
                <a:solidFill>
                  <a:schemeClr val="tx1"/>
                </a:solidFill>
              </a:rPr>
              <a:t>Уровень 1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837010" y="5805488"/>
            <a:ext cx="4860131" cy="576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u-RU" dirty="0">
                <a:solidFill>
                  <a:schemeClr val="tx1"/>
                </a:solidFill>
              </a:rPr>
              <a:t>Среда передачи данных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4448176" y="4868863"/>
            <a:ext cx="1241822" cy="431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u-RU" dirty="0">
                <a:solidFill>
                  <a:schemeClr val="tx1"/>
                </a:solidFill>
              </a:rPr>
              <a:t>Уровень 1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4448176" y="3933825"/>
            <a:ext cx="1241822" cy="431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u-RU" dirty="0">
                <a:solidFill>
                  <a:schemeClr val="tx1"/>
                </a:solidFill>
              </a:rPr>
              <a:t>Уровень 2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4450557" y="3008314"/>
            <a:ext cx="1241822" cy="420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u-RU" dirty="0">
                <a:solidFill>
                  <a:schemeClr val="tx1"/>
                </a:solidFill>
              </a:rPr>
              <a:t>Уровень 3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4455319" y="2062163"/>
            <a:ext cx="1241822" cy="4302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u-RU" dirty="0">
                <a:solidFill>
                  <a:schemeClr val="tx1"/>
                </a:solidFill>
              </a:rPr>
              <a:t>Уровень 4</a:t>
            </a:r>
          </a:p>
        </p:txBody>
      </p:sp>
      <p:cxnSp>
        <p:nvCxnSpPr>
          <p:cNvPr id="16" name="Прямая со стрелкой 15"/>
          <p:cNvCxnSpPr>
            <a:stCxn id="7" idx="2"/>
            <a:endCxn id="9" idx="0"/>
          </p:cNvCxnSpPr>
          <p:nvPr/>
        </p:nvCxnSpPr>
        <p:spPr>
          <a:xfrm>
            <a:off x="1457325" y="2500313"/>
            <a:ext cx="0" cy="48895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>
            <a:off x="1431131" y="3443289"/>
            <a:ext cx="0" cy="49053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>
            <a:off x="1431131" y="4379913"/>
            <a:ext cx="0" cy="48895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>
            <a:off x="5049441" y="4365625"/>
            <a:ext cx="0" cy="48895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>
            <a:off x="5049441" y="3429000"/>
            <a:ext cx="0" cy="48895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>
            <a:off x="5049441" y="2492375"/>
            <a:ext cx="0" cy="48895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5049441" y="5316538"/>
            <a:ext cx="0" cy="48895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>
            <a:off x="1431131" y="5300663"/>
            <a:ext cx="0" cy="48895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505668" y="1484313"/>
            <a:ext cx="18509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Verdana" panose="020B0604030504040204" pitchFamily="34" charset="0"/>
              </a:rPr>
              <a:t>Компьютер 1</a:t>
            </a:r>
          </a:p>
        </p:txBody>
      </p:sp>
      <p:sp>
        <p:nvSpPr>
          <p:cNvPr id="25" name="TextBox 35"/>
          <p:cNvSpPr txBox="1">
            <a:spLocks noChangeArrowheads="1"/>
          </p:cNvSpPr>
          <p:nvPr/>
        </p:nvSpPr>
        <p:spPr bwMode="auto">
          <a:xfrm>
            <a:off x="4182542" y="1476931"/>
            <a:ext cx="17873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Verdana" panose="020B0604030504040204" pitchFamily="34" charset="0"/>
              </a:rPr>
              <a:t>Компьютер 2</a:t>
            </a:r>
          </a:p>
        </p:txBody>
      </p:sp>
    </p:spTree>
    <p:extLst>
      <p:ext uri="{BB962C8B-B14F-4D97-AF65-F5344CB8AC3E}">
        <p14:creationId xmlns:p14="http://schemas.microsoft.com/office/powerpoint/2010/main" val="2551329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Базовые понятия для каждого уровня</a:t>
            </a:r>
          </a:p>
        </p:txBody>
      </p:sp>
      <p:sp>
        <p:nvSpPr>
          <p:cNvPr id="4" name="Объект 2"/>
          <p:cNvSpPr>
            <a:spLocks noGrp="1"/>
          </p:cNvSpPr>
          <p:nvPr>
            <p:ph idx="1"/>
          </p:nvPr>
        </p:nvSpPr>
        <p:spPr>
          <a:xfrm>
            <a:off x="604437" y="1776987"/>
            <a:ext cx="7410851" cy="435133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b="1" dirty="0">
                <a:solidFill>
                  <a:schemeClr val="tx1"/>
                </a:solidFill>
              </a:rPr>
              <a:t>Сервис</a:t>
            </a:r>
            <a:r>
              <a:rPr lang="ru-RU" sz="2400" dirty="0">
                <a:solidFill>
                  <a:schemeClr val="tx1"/>
                </a:solidFill>
              </a:rPr>
              <a:t> – описывает какие функции реализует уровень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400" b="1" dirty="0">
                <a:solidFill>
                  <a:schemeClr val="tx1"/>
                </a:solidFill>
              </a:rPr>
              <a:t>Интерфейс </a:t>
            </a:r>
            <a:r>
              <a:rPr lang="ru-RU" sz="2400" dirty="0">
                <a:solidFill>
                  <a:schemeClr val="tx1"/>
                </a:solidFill>
              </a:rPr>
              <a:t>– набор примитивных операций, которые нижний уровень предоставляет верхнему</a:t>
            </a:r>
            <a:endParaRPr lang="ru-RU" sz="2400" b="1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400" b="1" dirty="0">
                <a:solidFill>
                  <a:schemeClr val="tx1"/>
                </a:solidFill>
              </a:rPr>
              <a:t>Протокол </a:t>
            </a:r>
            <a:r>
              <a:rPr lang="ru-RU" sz="2400" dirty="0">
                <a:solidFill>
                  <a:schemeClr val="tx1"/>
                </a:solidFill>
              </a:rPr>
              <a:t>– правила и соглашения, используемые для связи уровня </a:t>
            </a:r>
            <a:r>
              <a:rPr lang="en-US" sz="2400" dirty="0">
                <a:solidFill>
                  <a:schemeClr val="tx1"/>
                </a:solidFill>
              </a:rPr>
              <a:t>N</a:t>
            </a:r>
            <a:r>
              <a:rPr lang="ru-RU" sz="2400" dirty="0">
                <a:solidFill>
                  <a:schemeClr val="tx1"/>
                </a:solidFill>
              </a:rPr>
              <a:t> одного компьютера с уровнем </a:t>
            </a:r>
            <a:r>
              <a:rPr lang="en-US" sz="2400" dirty="0">
                <a:solidFill>
                  <a:schemeClr val="tx1"/>
                </a:solidFill>
              </a:rPr>
              <a:t>N</a:t>
            </a:r>
            <a:r>
              <a:rPr lang="ru-RU" sz="2400" dirty="0">
                <a:solidFill>
                  <a:schemeClr val="tx1"/>
                </a:solidFill>
              </a:rPr>
              <a:t> другого компьютера</a:t>
            </a:r>
            <a:endParaRPr lang="ru-RU" sz="2400" b="1" dirty="0">
              <a:solidFill>
                <a:schemeClr val="tx1"/>
              </a:solidFill>
            </a:endParaRPr>
          </a:p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16013" y="5203827"/>
            <a:ext cx="1655762" cy="431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u-RU" dirty="0">
                <a:solidFill>
                  <a:schemeClr val="tx1"/>
                </a:solidFill>
              </a:rPr>
              <a:t>Уровень </a:t>
            </a:r>
            <a:r>
              <a:rPr lang="en-US" dirty="0">
                <a:solidFill>
                  <a:schemeClr val="tx1"/>
                </a:solidFill>
              </a:rPr>
              <a:t>N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930900" y="5203827"/>
            <a:ext cx="1655763" cy="431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u-RU" dirty="0">
                <a:solidFill>
                  <a:schemeClr val="tx1"/>
                </a:solidFill>
              </a:rPr>
              <a:t>Уровень </a:t>
            </a:r>
            <a:r>
              <a:rPr lang="en-US" dirty="0">
                <a:solidFill>
                  <a:schemeClr val="tx1"/>
                </a:solidFill>
              </a:rPr>
              <a:t>N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7" name="Прямая со стрелкой 6"/>
          <p:cNvCxnSpPr/>
          <p:nvPr/>
        </p:nvCxnSpPr>
        <p:spPr>
          <a:xfrm>
            <a:off x="1908175" y="4713290"/>
            <a:ext cx="0" cy="49053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>
            <a:off x="1908175" y="5649915"/>
            <a:ext cx="0" cy="48895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>
            <a:off x="6732588" y="5635627"/>
            <a:ext cx="0" cy="48895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>
            <a:off x="6732588" y="4699002"/>
            <a:ext cx="0" cy="48895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flipV="1">
            <a:off x="2771775" y="5418140"/>
            <a:ext cx="3168650" cy="1587"/>
          </a:xfrm>
          <a:prstGeom prst="straightConnector1">
            <a:avLst/>
          </a:prstGeom>
          <a:ln w="12700">
            <a:solidFill>
              <a:schemeClr val="tx1"/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37"/>
          <p:cNvSpPr txBox="1">
            <a:spLocks noChangeArrowheads="1"/>
          </p:cNvSpPr>
          <p:nvPr/>
        </p:nvSpPr>
        <p:spPr bwMode="auto">
          <a:xfrm>
            <a:off x="3276600" y="5049840"/>
            <a:ext cx="23034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Протокол уровня </a:t>
            </a:r>
            <a:r>
              <a:rPr lang="en-US" altLang="ru-RU" sz="1800" dirty="0"/>
              <a:t>N</a:t>
            </a:r>
            <a:endParaRPr lang="ru-RU" altLang="ru-RU" sz="1800" dirty="0"/>
          </a:p>
        </p:txBody>
      </p:sp>
      <p:sp>
        <p:nvSpPr>
          <p:cNvPr id="13" name="TextBox 37"/>
          <p:cNvSpPr txBox="1">
            <a:spLocks noChangeArrowheads="1"/>
          </p:cNvSpPr>
          <p:nvPr/>
        </p:nvSpPr>
        <p:spPr bwMode="auto">
          <a:xfrm>
            <a:off x="6288087" y="4541621"/>
            <a:ext cx="23034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Интерфейс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уровня </a:t>
            </a:r>
            <a:r>
              <a:rPr lang="en-US" altLang="ru-RU" sz="1800" dirty="0"/>
              <a:t>N</a:t>
            </a:r>
            <a:endParaRPr lang="ru-RU" altLang="ru-RU" sz="1800" dirty="0"/>
          </a:p>
        </p:txBody>
      </p:sp>
      <p:sp>
        <p:nvSpPr>
          <p:cNvPr id="14" name="TextBox 37"/>
          <p:cNvSpPr txBox="1">
            <a:spLocks noChangeArrowheads="1"/>
          </p:cNvSpPr>
          <p:nvPr/>
        </p:nvSpPr>
        <p:spPr bwMode="auto">
          <a:xfrm>
            <a:off x="6338752" y="5698783"/>
            <a:ext cx="23034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Интерфейс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уровня </a:t>
            </a:r>
            <a:r>
              <a:rPr lang="en-US" altLang="ru-RU" sz="1800" dirty="0"/>
              <a:t>N</a:t>
            </a:r>
            <a:r>
              <a:rPr lang="ru-RU" altLang="ru-RU" sz="1800" dirty="0"/>
              <a:t> - 1</a:t>
            </a:r>
          </a:p>
        </p:txBody>
      </p:sp>
    </p:spTree>
    <p:extLst>
      <p:ext uri="{BB962C8B-B14F-4D97-AF65-F5344CB8AC3E}">
        <p14:creationId xmlns:p14="http://schemas.microsoft.com/office/powerpoint/2010/main" val="3354803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Базовые понятия для каждого уровня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67042" y="4379238"/>
            <a:ext cx="1655762" cy="431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u-RU" dirty="0">
                <a:solidFill>
                  <a:schemeClr val="tx1"/>
                </a:solidFill>
              </a:rPr>
              <a:t>Уровень </a:t>
            </a:r>
            <a:r>
              <a:rPr lang="en-US" dirty="0">
                <a:solidFill>
                  <a:schemeClr val="tx1"/>
                </a:solidFill>
              </a:rPr>
              <a:t>N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981929" y="4379238"/>
            <a:ext cx="1655763" cy="431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ru-RU" dirty="0">
                <a:solidFill>
                  <a:schemeClr val="tx1"/>
                </a:solidFill>
              </a:rPr>
              <a:t>Уровень </a:t>
            </a:r>
            <a:r>
              <a:rPr lang="en-US" dirty="0">
                <a:solidFill>
                  <a:schemeClr val="tx1"/>
                </a:solidFill>
              </a:rPr>
              <a:t>N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7" name="Прямая со стрелкой 6"/>
          <p:cNvCxnSpPr/>
          <p:nvPr/>
        </p:nvCxnSpPr>
        <p:spPr>
          <a:xfrm>
            <a:off x="1959204" y="3888701"/>
            <a:ext cx="0" cy="49053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>
            <a:off x="1959204" y="4825326"/>
            <a:ext cx="0" cy="48895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>
            <a:off x="6783617" y="4811038"/>
            <a:ext cx="0" cy="48895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>
            <a:off x="6783617" y="3874413"/>
            <a:ext cx="0" cy="48895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flipV="1">
            <a:off x="2822804" y="4593551"/>
            <a:ext cx="3168650" cy="1587"/>
          </a:xfrm>
          <a:prstGeom prst="straightConnector1">
            <a:avLst/>
          </a:prstGeom>
          <a:ln w="12700">
            <a:solidFill>
              <a:schemeClr val="tx1"/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37"/>
          <p:cNvSpPr txBox="1">
            <a:spLocks noChangeArrowheads="1"/>
          </p:cNvSpPr>
          <p:nvPr/>
        </p:nvSpPr>
        <p:spPr bwMode="auto">
          <a:xfrm>
            <a:off x="3327629" y="4225251"/>
            <a:ext cx="23034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Протокол уровня </a:t>
            </a:r>
            <a:r>
              <a:rPr lang="en-US" altLang="ru-RU" sz="1800" dirty="0"/>
              <a:t>N</a:t>
            </a:r>
            <a:endParaRPr lang="ru-RU" altLang="ru-RU" sz="1800" dirty="0"/>
          </a:p>
        </p:txBody>
      </p:sp>
      <p:sp>
        <p:nvSpPr>
          <p:cNvPr id="13" name="TextBox 37"/>
          <p:cNvSpPr txBox="1">
            <a:spLocks noChangeArrowheads="1"/>
          </p:cNvSpPr>
          <p:nvPr/>
        </p:nvSpPr>
        <p:spPr bwMode="auto">
          <a:xfrm>
            <a:off x="6339116" y="3717032"/>
            <a:ext cx="23034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Интерфейс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уровня </a:t>
            </a:r>
            <a:r>
              <a:rPr lang="en-US" altLang="ru-RU" sz="1800" dirty="0"/>
              <a:t>N</a:t>
            </a:r>
            <a:endParaRPr lang="ru-RU" altLang="ru-RU" sz="1800" dirty="0"/>
          </a:p>
        </p:txBody>
      </p:sp>
      <p:sp>
        <p:nvSpPr>
          <p:cNvPr id="14" name="TextBox 37"/>
          <p:cNvSpPr txBox="1">
            <a:spLocks noChangeArrowheads="1"/>
          </p:cNvSpPr>
          <p:nvPr/>
        </p:nvSpPr>
        <p:spPr bwMode="auto">
          <a:xfrm>
            <a:off x="6389781" y="4874194"/>
            <a:ext cx="23034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Интерфейс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уровня </a:t>
            </a:r>
            <a:r>
              <a:rPr lang="en-US" altLang="ru-RU" sz="1800" dirty="0"/>
              <a:t>N</a:t>
            </a:r>
            <a:r>
              <a:rPr lang="ru-RU" altLang="ru-RU" sz="1800" dirty="0"/>
              <a:t> - 1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1043608" y="2010054"/>
            <a:ext cx="676875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b="1" u="sng" dirty="0"/>
              <a:t>Сервис</a:t>
            </a:r>
            <a:r>
              <a:rPr lang="ru-RU" sz="2400" dirty="0"/>
              <a:t> – что делает уровень</a:t>
            </a:r>
            <a:endParaRPr lang="en-US" sz="2400" dirty="0"/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b="1" u="sng" dirty="0"/>
              <a:t>Протокол</a:t>
            </a:r>
            <a:r>
              <a:rPr lang="ru-RU" sz="2400" dirty="0"/>
              <a:t> – как уровень это делает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b="1" u="sng" dirty="0"/>
              <a:t>Интерфейс</a:t>
            </a:r>
            <a:r>
              <a:rPr lang="ru-RU" sz="2400" dirty="0"/>
              <a:t> – как получить доступ к сервису уровня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46815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Инкапсуляция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3328" y="1776987"/>
            <a:ext cx="5558138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>
                <a:solidFill>
                  <a:schemeClr val="tx1"/>
                </a:solidFill>
              </a:rPr>
              <a:t>Инкапсуляция: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Включение сообщения вышестоящего уровня в сообщение нижестоящего уровня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Сообщение: заголовок + данные + </a:t>
            </a:r>
            <a:r>
              <a:rPr lang="ru-RU" sz="2000" dirty="0" err="1">
                <a:solidFill>
                  <a:schemeClr val="tx1"/>
                </a:solidFill>
              </a:rPr>
              <a:t>концевик</a:t>
            </a:r>
            <a:endParaRPr lang="ru-RU" sz="2000" dirty="0">
              <a:solidFill>
                <a:schemeClr val="tx1"/>
              </a:solidFill>
            </a:endParaRPr>
          </a:p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2692129" y="6356357"/>
            <a:ext cx="3365771" cy="365125"/>
          </a:xfrm>
        </p:spPr>
        <p:txBody>
          <a:bodyPr/>
          <a:lstStyle/>
          <a:p>
            <a:r>
              <a:rPr lang="ru-RU" dirty="0"/>
              <a:t>Сети и системы телекоммуникаций. Основы организации компьютерных сетей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78600" y="6356356"/>
            <a:ext cx="2457450" cy="365125"/>
          </a:xfrm>
        </p:spPr>
        <p:txBody>
          <a:bodyPr/>
          <a:lstStyle/>
          <a:p>
            <a:fld id="{9860EDB8-5305-433F-BE41-D7A86D811DB3}" type="slidenum">
              <a:rPr lang="ru-RU" smtClean="0"/>
              <a:t>19</a:t>
            </a:fld>
            <a:endParaRPr lang="ru-RU" dirty="0"/>
          </a:p>
        </p:txBody>
      </p:sp>
      <p:cxnSp>
        <p:nvCxnSpPr>
          <p:cNvPr id="40" name="Прямая соединительная линия 39"/>
          <p:cNvCxnSpPr/>
          <p:nvPr/>
        </p:nvCxnSpPr>
        <p:spPr>
          <a:xfrm>
            <a:off x="302421" y="3932238"/>
            <a:ext cx="6326981" cy="317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16"/>
          <p:cNvSpPr txBox="1">
            <a:spLocks noChangeArrowheads="1"/>
          </p:cNvSpPr>
          <p:nvPr/>
        </p:nvSpPr>
        <p:spPr bwMode="auto">
          <a:xfrm>
            <a:off x="5868988" y="3355975"/>
            <a:ext cx="9179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Уровень 3</a:t>
            </a:r>
          </a:p>
        </p:txBody>
      </p:sp>
      <p:cxnSp>
        <p:nvCxnSpPr>
          <p:cNvPr id="42" name="Прямая соединительная линия 41"/>
          <p:cNvCxnSpPr/>
          <p:nvPr/>
        </p:nvCxnSpPr>
        <p:spPr>
          <a:xfrm>
            <a:off x="296069" y="4646616"/>
            <a:ext cx="6326981" cy="317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16"/>
          <p:cNvSpPr txBox="1">
            <a:spLocks noChangeArrowheads="1"/>
          </p:cNvSpPr>
          <p:nvPr/>
        </p:nvSpPr>
        <p:spPr bwMode="auto">
          <a:xfrm>
            <a:off x="5913438" y="4070352"/>
            <a:ext cx="9179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Уровень 2</a:t>
            </a:r>
          </a:p>
        </p:txBody>
      </p:sp>
      <p:cxnSp>
        <p:nvCxnSpPr>
          <p:cNvPr id="44" name="Прямая соединительная линия 43"/>
          <p:cNvCxnSpPr/>
          <p:nvPr/>
        </p:nvCxnSpPr>
        <p:spPr>
          <a:xfrm>
            <a:off x="296069" y="5423962"/>
            <a:ext cx="6326981" cy="317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16"/>
          <p:cNvSpPr txBox="1">
            <a:spLocks noChangeArrowheads="1"/>
          </p:cNvSpPr>
          <p:nvPr/>
        </p:nvSpPr>
        <p:spPr bwMode="auto">
          <a:xfrm>
            <a:off x="5913438" y="4847698"/>
            <a:ext cx="9179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Уровень 1</a:t>
            </a:r>
          </a:p>
        </p:txBody>
      </p:sp>
      <p:sp>
        <p:nvSpPr>
          <p:cNvPr id="46" name="Прямоугольник 45"/>
          <p:cNvSpPr/>
          <p:nvPr/>
        </p:nvSpPr>
        <p:spPr>
          <a:xfrm>
            <a:off x="1187450" y="3513667"/>
            <a:ext cx="438150" cy="2121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5" name="Прямая соединительная линия 64"/>
          <p:cNvCxnSpPr>
            <a:stCxn id="3" idx="2"/>
          </p:cNvCxnSpPr>
          <p:nvPr/>
        </p:nvCxnSpPr>
        <p:spPr>
          <a:xfrm flipV="1">
            <a:off x="3232398" y="3436621"/>
            <a:ext cx="2293" cy="269170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971550" y="5696170"/>
            <a:ext cx="12890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Компьютер 1</a:t>
            </a:r>
          </a:p>
        </p:txBody>
      </p:sp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4467237" y="5696810"/>
            <a:ext cx="12890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Компьютер 2</a:t>
            </a:r>
          </a:p>
        </p:txBody>
      </p:sp>
    </p:spTree>
    <p:extLst>
      <p:ext uri="{BB962C8B-B14F-4D97-AF65-F5344CB8AC3E}">
        <p14:creationId xmlns:p14="http://schemas.microsoft.com/office/powerpoint/2010/main" val="3511563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Инкапсуляция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3328" y="1776987"/>
            <a:ext cx="5558138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>
                <a:solidFill>
                  <a:schemeClr val="tx1"/>
                </a:solidFill>
              </a:rPr>
              <a:t>Инкапсуляция: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Включение сообщения вышестоящего уровня в сообщение нижестоящего уровня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Сообщение: заголовок + данные + </a:t>
            </a:r>
            <a:r>
              <a:rPr lang="ru-RU" sz="2000" dirty="0" err="1">
                <a:solidFill>
                  <a:schemeClr val="tx1"/>
                </a:solidFill>
              </a:rPr>
              <a:t>концевик</a:t>
            </a:r>
            <a:endParaRPr lang="ru-RU" sz="2000" dirty="0">
              <a:solidFill>
                <a:schemeClr val="tx1"/>
              </a:solidFill>
            </a:endParaRPr>
          </a:p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2692129" y="6356357"/>
            <a:ext cx="3365771" cy="365125"/>
          </a:xfrm>
        </p:spPr>
        <p:txBody>
          <a:bodyPr/>
          <a:lstStyle/>
          <a:p>
            <a:r>
              <a:rPr lang="ru-RU" dirty="0"/>
              <a:t>Сети и системы телекоммуникаций. Основы организации компьютерных сетей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78600" y="6356356"/>
            <a:ext cx="2457450" cy="365125"/>
          </a:xfrm>
        </p:spPr>
        <p:txBody>
          <a:bodyPr/>
          <a:lstStyle/>
          <a:p>
            <a:fld id="{9860EDB8-5305-433F-BE41-D7A86D811DB3}" type="slidenum">
              <a:rPr lang="ru-RU" smtClean="0"/>
              <a:t>20</a:t>
            </a:fld>
            <a:endParaRPr lang="ru-RU" dirty="0"/>
          </a:p>
        </p:txBody>
      </p:sp>
      <p:cxnSp>
        <p:nvCxnSpPr>
          <p:cNvPr id="40" name="Прямая соединительная линия 39"/>
          <p:cNvCxnSpPr/>
          <p:nvPr/>
        </p:nvCxnSpPr>
        <p:spPr>
          <a:xfrm>
            <a:off x="302421" y="3932238"/>
            <a:ext cx="6326981" cy="317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16"/>
          <p:cNvSpPr txBox="1">
            <a:spLocks noChangeArrowheads="1"/>
          </p:cNvSpPr>
          <p:nvPr/>
        </p:nvSpPr>
        <p:spPr bwMode="auto">
          <a:xfrm>
            <a:off x="5868988" y="3355975"/>
            <a:ext cx="9179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Уровень 3</a:t>
            </a:r>
          </a:p>
        </p:txBody>
      </p:sp>
      <p:cxnSp>
        <p:nvCxnSpPr>
          <p:cNvPr id="42" name="Прямая соединительная линия 41"/>
          <p:cNvCxnSpPr/>
          <p:nvPr/>
        </p:nvCxnSpPr>
        <p:spPr>
          <a:xfrm>
            <a:off x="296069" y="4646616"/>
            <a:ext cx="6326981" cy="317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16"/>
          <p:cNvSpPr txBox="1">
            <a:spLocks noChangeArrowheads="1"/>
          </p:cNvSpPr>
          <p:nvPr/>
        </p:nvSpPr>
        <p:spPr bwMode="auto">
          <a:xfrm>
            <a:off x="5913438" y="4070352"/>
            <a:ext cx="9179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Уровень 2</a:t>
            </a:r>
          </a:p>
        </p:txBody>
      </p:sp>
      <p:cxnSp>
        <p:nvCxnSpPr>
          <p:cNvPr id="44" name="Прямая соединительная линия 43"/>
          <p:cNvCxnSpPr/>
          <p:nvPr/>
        </p:nvCxnSpPr>
        <p:spPr>
          <a:xfrm>
            <a:off x="296069" y="5423962"/>
            <a:ext cx="6326981" cy="317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16"/>
          <p:cNvSpPr txBox="1">
            <a:spLocks noChangeArrowheads="1"/>
          </p:cNvSpPr>
          <p:nvPr/>
        </p:nvSpPr>
        <p:spPr bwMode="auto">
          <a:xfrm>
            <a:off x="5913438" y="4847698"/>
            <a:ext cx="9179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Уровень 1</a:t>
            </a:r>
          </a:p>
        </p:txBody>
      </p:sp>
      <p:sp>
        <p:nvSpPr>
          <p:cNvPr id="47" name="Прямоугольник 46"/>
          <p:cNvSpPr/>
          <p:nvPr/>
        </p:nvSpPr>
        <p:spPr>
          <a:xfrm>
            <a:off x="901700" y="4179909"/>
            <a:ext cx="285750" cy="2121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рямоугольник 48"/>
          <p:cNvSpPr/>
          <p:nvPr/>
        </p:nvSpPr>
        <p:spPr>
          <a:xfrm>
            <a:off x="730154" y="4179909"/>
            <a:ext cx="171450" cy="21219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Прямоугольник 57"/>
          <p:cNvSpPr/>
          <p:nvPr/>
        </p:nvSpPr>
        <p:spPr>
          <a:xfrm>
            <a:off x="1625600" y="4179909"/>
            <a:ext cx="285750" cy="2121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1454054" y="4179909"/>
            <a:ext cx="171450" cy="21219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 flipV="1">
            <a:off x="3232398" y="3436621"/>
            <a:ext cx="2293" cy="269170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971550" y="5696170"/>
            <a:ext cx="12890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Компьютер 1</a:t>
            </a:r>
          </a:p>
        </p:txBody>
      </p:sp>
      <p:sp>
        <p:nvSpPr>
          <p:cNvPr id="18" name="TextBox 16"/>
          <p:cNvSpPr txBox="1">
            <a:spLocks noChangeArrowheads="1"/>
          </p:cNvSpPr>
          <p:nvPr/>
        </p:nvSpPr>
        <p:spPr bwMode="auto">
          <a:xfrm>
            <a:off x="4467237" y="5696810"/>
            <a:ext cx="12890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Компьютер 2</a:t>
            </a:r>
          </a:p>
        </p:txBody>
      </p:sp>
    </p:spTree>
    <p:extLst>
      <p:ext uri="{BB962C8B-B14F-4D97-AF65-F5344CB8AC3E}">
        <p14:creationId xmlns:p14="http://schemas.microsoft.com/office/powerpoint/2010/main" val="3788522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Инкапсуляция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3328" y="1776987"/>
            <a:ext cx="5558138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>
                <a:solidFill>
                  <a:schemeClr val="tx1"/>
                </a:solidFill>
              </a:rPr>
              <a:t>Инкапсуляция: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Включение сообщения вышестоящего уровня в сообщение нижестоящего уровня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Сообщение: заголовок + данные + </a:t>
            </a:r>
            <a:r>
              <a:rPr lang="ru-RU" sz="2000" dirty="0" err="1">
                <a:solidFill>
                  <a:schemeClr val="tx1"/>
                </a:solidFill>
              </a:rPr>
              <a:t>концевик</a:t>
            </a:r>
            <a:endParaRPr lang="ru-RU" sz="2000" dirty="0">
              <a:solidFill>
                <a:schemeClr val="tx1"/>
              </a:solidFill>
            </a:endParaRPr>
          </a:p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2692129" y="6356357"/>
            <a:ext cx="3365771" cy="365125"/>
          </a:xfrm>
        </p:spPr>
        <p:txBody>
          <a:bodyPr/>
          <a:lstStyle/>
          <a:p>
            <a:r>
              <a:rPr lang="ru-RU" dirty="0"/>
              <a:t>Сети и системы телекоммуникаций. Основы организации компьютерных сетей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78600" y="6356356"/>
            <a:ext cx="2457450" cy="365125"/>
          </a:xfrm>
        </p:spPr>
        <p:txBody>
          <a:bodyPr/>
          <a:lstStyle/>
          <a:p>
            <a:fld id="{9860EDB8-5305-433F-BE41-D7A86D811DB3}" type="slidenum">
              <a:rPr lang="ru-RU" smtClean="0"/>
              <a:t>21</a:t>
            </a:fld>
            <a:endParaRPr lang="ru-RU" dirty="0"/>
          </a:p>
        </p:txBody>
      </p:sp>
      <p:cxnSp>
        <p:nvCxnSpPr>
          <p:cNvPr id="40" name="Прямая соединительная линия 39"/>
          <p:cNvCxnSpPr/>
          <p:nvPr/>
        </p:nvCxnSpPr>
        <p:spPr>
          <a:xfrm>
            <a:off x="302421" y="3932238"/>
            <a:ext cx="6326981" cy="317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16"/>
          <p:cNvSpPr txBox="1">
            <a:spLocks noChangeArrowheads="1"/>
          </p:cNvSpPr>
          <p:nvPr/>
        </p:nvSpPr>
        <p:spPr bwMode="auto">
          <a:xfrm>
            <a:off x="5868988" y="3355975"/>
            <a:ext cx="9179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Уровень 3</a:t>
            </a:r>
          </a:p>
        </p:txBody>
      </p:sp>
      <p:cxnSp>
        <p:nvCxnSpPr>
          <p:cNvPr id="42" name="Прямая соединительная линия 41"/>
          <p:cNvCxnSpPr/>
          <p:nvPr/>
        </p:nvCxnSpPr>
        <p:spPr>
          <a:xfrm>
            <a:off x="296069" y="4646616"/>
            <a:ext cx="6326981" cy="317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16"/>
          <p:cNvSpPr txBox="1">
            <a:spLocks noChangeArrowheads="1"/>
          </p:cNvSpPr>
          <p:nvPr/>
        </p:nvSpPr>
        <p:spPr bwMode="auto">
          <a:xfrm>
            <a:off x="5913438" y="4070352"/>
            <a:ext cx="9179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Уровень 2</a:t>
            </a:r>
          </a:p>
        </p:txBody>
      </p:sp>
      <p:cxnSp>
        <p:nvCxnSpPr>
          <p:cNvPr id="44" name="Прямая соединительная линия 43"/>
          <p:cNvCxnSpPr/>
          <p:nvPr/>
        </p:nvCxnSpPr>
        <p:spPr>
          <a:xfrm>
            <a:off x="296069" y="5423962"/>
            <a:ext cx="6326981" cy="317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16"/>
          <p:cNvSpPr txBox="1">
            <a:spLocks noChangeArrowheads="1"/>
          </p:cNvSpPr>
          <p:nvPr/>
        </p:nvSpPr>
        <p:spPr bwMode="auto">
          <a:xfrm>
            <a:off x="5913438" y="4847698"/>
            <a:ext cx="9179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Уровень 1</a:t>
            </a:r>
          </a:p>
        </p:txBody>
      </p:sp>
      <p:sp>
        <p:nvSpPr>
          <p:cNvPr id="51" name="Прямоугольник 50"/>
          <p:cNvSpPr/>
          <p:nvPr/>
        </p:nvSpPr>
        <p:spPr>
          <a:xfrm>
            <a:off x="812799" y="4959165"/>
            <a:ext cx="285750" cy="2121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Прямоугольник 52"/>
          <p:cNvSpPr/>
          <p:nvPr/>
        </p:nvSpPr>
        <p:spPr>
          <a:xfrm>
            <a:off x="641253" y="4959165"/>
            <a:ext cx="171450" cy="21219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Прямоугольник 54"/>
          <p:cNvSpPr/>
          <p:nvPr/>
        </p:nvSpPr>
        <p:spPr>
          <a:xfrm>
            <a:off x="469803" y="4959165"/>
            <a:ext cx="171450" cy="2121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Прямоугольник 59"/>
          <p:cNvSpPr/>
          <p:nvPr/>
        </p:nvSpPr>
        <p:spPr>
          <a:xfrm>
            <a:off x="1105896" y="4959165"/>
            <a:ext cx="60321" cy="2121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Прямоугольник 60"/>
          <p:cNvSpPr/>
          <p:nvPr/>
        </p:nvSpPr>
        <p:spPr>
          <a:xfrm>
            <a:off x="1880789" y="4954080"/>
            <a:ext cx="285750" cy="2121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Прямоугольник 61"/>
          <p:cNvSpPr/>
          <p:nvPr/>
        </p:nvSpPr>
        <p:spPr>
          <a:xfrm>
            <a:off x="1709243" y="4954080"/>
            <a:ext cx="171450" cy="21219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рямоугольник 62"/>
          <p:cNvSpPr/>
          <p:nvPr/>
        </p:nvSpPr>
        <p:spPr>
          <a:xfrm>
            <a:off x="1537793" y="4954080"/>
            <a:ext cx="171450" cy="2121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Прямоугольник 63"/>
          <p:cNvSpPr/>
          <p:nvPr/>
        </p:nvSpPr>
        <p:spPr>
          <a:xfrm>
            <a:off x="2173886" y="4954080"/>
            <a:ext cx="60321" cy="2121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 flipV="1">
            <a:off x="3232398" y="3436621"/>
            <a:ext cx="2293" cy="269170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16"/>
          <p:cNvSpPr txBox="1">
            <a:spLocks noChangeArrowheads="1"/>
          </p:cNvSpPr>
          <p:nvPr/>
        </p:nvSpPr>
        <p:spPr bwMode="auto">
          <a:xfrm>
            <a:off x="971550" y="5696170"/>
            <a:ext cx="12890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Компьютер 1</a:t>
            </a:r>
          </a:p>
        </p:txBody>
      </p:sp>
      <p:sp>
        <p:nvSpPr>
          <p:cNvPr id="22" name="TextBox 16"/>
          <p:cNvSpPr txBox="1">
            <a:spLocks noChangeArrowheads="1"/>
          </p:cNvSpPr>
          <p:nvPr/>
        </p:nvSpPr>
        <p:spPr bwMode="auto">
          <a:xfrm>
            <a:off x="4467237" y="5696810"/>
            <a:ext cx="12890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Компьютер 2</a:t>
            </a:r>
          </a:p>
        </p:txBody>
      </p:sp>
    </p:spTree>
    <p:extLst>
      <p:ext uri="{BB962C8B-B14F-4D97-AF65-F5344CB8AC3E}">
        <p14:creationId xmlns:p14="http://schemas.microsoft.com/office/powerpoint/2010/main" val="20722643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Инкапсуляция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3328" y="1776987"/>
            <a:ext cx="5558138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>
                <a:solidFill>
                  <a:schemeClr val="tx1"/>
                </a:solidFill>
              </a:rPr>
              <a:t>Инкапсуляция: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Включение сообщения вышестоящего уровня в сообщение нижестоящего уровня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Сообщение: заголовок + данные + </a:t>
            </a:r>
            <a:r>
              <a:rPr lang="ru-RU" sz="2000" dirty="0" err="1">
                <a:solidFill>
                  <a:schemeClr val="tx1"/>
                </a:solidFill>
              </a:rPr>
              <a:t>концевик</a:t>
            </a:r>
            <a:endParaRPr lang="ru-RU" sz="2000" dirty="0">
              <a:solidFill>
                <a:schemeClr val="tx1"/>
              </a:solidFill>
            </a:endParaRPr>
          </a:p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2692129" y="6356357"/>
            <a:ext cx="3365771" cy="365125"/>
          </a:xfrm>
        </p:spPr>
        <p:txBody>
          <a:bodyPr/>
          <a:lstStyle/>
          <a:p>
            <a:r>
              <a:rPr lang="ru-RU" dirty="0"/>
              <a:t>Сети и системы телекоммуникаций. Основы организации компьютерных сетей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78600" y="6356356"/>
            <a:ext cx="2457450" cy="365125"/>
          </a:xfrm>
        </p:spPr>
        <p:txBody>
          <a:bodyPr/>
          <a:lstStyle/>
          <a:p>
            <a:fld id="{9860EDB8-5305-433F-BE41-D7A86D811DB3}" type="slidenum">
              <a:rPr lang="ru-RU" smtClean="0"/>
              <a:t>22</a:t>
            </a:fld>
            <a:endParaRPr lang="ru-RU" dirty="0"/>
          </a:p>
        </p:txBody>
      </p:sp>
      <p:cxnSp>
        <p:nvCxnSpPr>
          <p:cNvPr id="40" name="Прямая соединительная линия 39"/>
          <p:cNvCxnSpPr/>
          <p:nvPr/>
        </p:nvCxnSpPr>
        <p:spPr>
          <a:xfrm>
            <a:off x="302421" y="3932238"/>
            <a:ext cx="6326981" cy="317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16"/>
          <p:cNvSpPr txBox="1">
            <a:spLocks noChangeArrowheads="1"/>
          </p:cNvSpPr>
          <p:nvPr/>
        </p:nvSpPr>
        <p:spPr bwMode="auto">
          <a:xfrm>
            <a:off x="5868988" y="3355975"/>
            <a:ext cx="9179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Уровень 3</a:t>
            </a:r>
          </a:p>
        </p:txBody>
      </p:sp>
      <p:cxnSp>
        <p:nvCxnSpPr>
          <p:cNvPr id="42" name="Прямая соединительная линия 41"/>
          <p:cNvCxnSpPr/>
          <p:nvPr/>
        </p:nvCxnSpPr>
        <p:spPr>
          <a:xfrm>
            <a:off x="296069" y="4646616"/>
            <a:ext cx="6326981" cy="317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16"/>
          <p:cNvSpPr txBox="1">
            <a:spLocks noChangeArrowheads="1"/>
          </p:cNvSpPr>
          <p:nvPr/>
        </p:nvSpPr>
        <p:spPr bwMode="auto">
          <a:xfrm>
            <a:off x="5913438" y="4070352"/>
            <a:ext cx="9179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Уровень 2</a:t>
            </a:r>
          </a:p>
        </p:txBody>
      </p:sp>
      <p:cxnSp>
        <p:nvCxnSpPr>
          <p:cNvPr id="44" name="Прямая соединительная линия 43"/>
          <p:cNvCxnSpPr/>
          <p:nvPr/>
        </p:nvCxnSpPr>
        <p:spPr>
          <a:xfrm>
            <a:off x="296069" y="5423962"/>
            <a:ext cx="6326981" cy="317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16"/>
          <p:cNvSpPr txBox="1">
            <a:spLocks noChangeArrowheads="1"/>
          </p:cNvSpPr>
          <p:nvPr/>
        </p:nvSpPr>
        <p:spPr bwMode="auto">
          <a:xfrm>
            <a:off x="5913438" y="4847698"/>
            <a:ext cx="9179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Уровень 1</a:t>
            </a:r>
          </a:p>
        </p:txBody>
      </p:sp>
      <p:sp>
        <p:nvSpPr>
          <p:cNvPr id="51" name="Прямоугольник 50"/>
          <p:cNvSpPr/>
          <p:nvPr/>
        </p:nvSpPr>
        <p:spPr>
          <a:xfrm>
            <a:off x="3984624" y="4959165"/>
            <a:ext cx="285750" cy="2121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Прямоугольник 52"/>
          <p:cNvSpPr/>
          <p:nvPr/>
        </p:nvSpPr>
        <p:spPr>
          <a:xfrm>
            <a:off x="3813078" y="4959165"/>
            <a:ext cx="171450" cy="21219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Прямоугольник 54"/>
          <p:cNvSpPr/>
          <p:nvPr/>
        </p:nvSpPr>
        <p:spPr>
          <a:xfrm>
            <a:off x="3641628" y="4959165"/>
            <a:ext cx="171450" cy="2121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Прямоугольник 59"/>
          <p:cNvSpPr/>
          <p:nvPr/>
        </p:nvSpPr>
        <p:spPr>
          <a:xfrm>
            <a:off x="4277721" y="4959165"/>
            <a:ext cx="60321" cy="2121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Прямоугольник 60"/>
          <p:cNvSpPr/>
          <p:nvPr/>
        </p:nvSpPr>
        <p:spPr>
          <a:xfrm>
            <a:off x="5052614" y="4954080"/>
            <a:ext cx="285750" cy="2121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Прямоугольник 61"/>
          <p:cNvSpPr/>
          <p:nvPr/>
        </p:nvSpPr>
        <p:spPr>
          <a:xfrm>
            <a:off x="4881068" y="4954080"/>
            <a:ext cx="171450" cy="21219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рямоугольник 62"/>
          <p:cNvSpPr/>
          <p:nvPr/>
        </p:nvSpPr>
        <p:spPr>
          <a:xfrm>
            <a:off x="4709618" y="4954080"/>
            <a:ext cx="171450" cy="2121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Прямоугольник 63"/>
          <p:cNvSpPr/>
          <p:nvPr/>
        </p:nvSpPr>
        <p:spPr>
          <a:xfrm>
            <a:off x="5345711" y="4954080"/>
            <a:ext cx="60321" cy="2121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 flipV="1">
            <a:off x="3232398" y="3436621"/>
            <a:ext cx="2293" cy="269170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16"/>
          <p:cNvSpPr txBox="1">
            <a:spLocks noChangeArrowheads="1"/>
          </p:cNvSpPr>
          <p:nvPr/>
        </p:nvSpPr>
        <p:spPr bwMode="auto">
          <a:xfrm>
            <a:off x="971550" y="5696170"/>
            <a:ext cx="12890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Компьютер 1</a:t>
            </a:r>
          </a:p>
        </p:txBody>
      </p:sp>
      <p:sp>
        <p:nvSpPr>
          <p:cNvPr id="22" name="TextBox 16"/>
          <p:cNvSpPr txBox="1">
            <a:spLocks noChangeArrowheads="1"/>
          </p:cNvSpPr>
          <p:nvPr/>
        </p:nvSpPr>
        <p:spPr bwMode="auto">
          <a:xfrm>
            <a:off x="4467237" y="5696810"/>
            <a:ext cx="12890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Компьютер 2</a:t>
            </a:r>
          </a:p>
        </p:txBody>
      </p:sp>
    </p:spTree>
    <p:extLst>
      <p:ext uri="{BB962C8B-B14F-4D97-AF65-F5344CB8AC3E}">
        <p14:creationId xmlns:p14="http://schemas.microsoft.com/office/powerpoint/2010/main" val="29402466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Инкапсуляция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3328" y="1776987"/>
            <a:ext cx="5558138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>
                <a:solidFill>
                  <a:schemeClr val="tx1"/>
                </a:solidFill>
              </a:rPr>
              <a:t>Инкапсуляция: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Включение сообщения вышестоящего уровня в сообщение нижестоящего уровня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Сообщение: заголовок + данные + </a:t>
            </a:r>
            <a:r>
              <a:rPr lang="ru-RU" sz="2000" dirty="0" err="1">
                <a:solidFill>
                  <a:schemeClr val="tx1"/>
                </a:solidFill>
              </a:rPr>
              <a:t>концевик</a:t>
            </a:r>
            <a:endParaRPr lang="ru-RU" sz="2000" dirty="0">
              <a:solidFill>
                <a:schemeClr val="tx1"/>
              </a:solidFill>
            </a:endParaRPr>
          </a:p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2692129" y="6356357"/>
            <a:ext cx="3365771" cy="365125"/>
          </a:xfrm>
        </p:spPr>
        <p:txBody>
          <a:bodyPr/>
          <a:lstStyle/>
          <a:p>
            <a:r>
              <a:rPr lang="ru-RU" dirty="0"/>
              <a:t>Сети и системы телекоммуникаций. Основы организации компьютерных сетей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78600" y="6356356"/>
            <a:ext cx="2457450" cy="365125"/>
          </a:xfrm>
        </p:spPr>
        <p:txBody>
          <a:bodyPr/>
          <a:lstStyle/>
          <a:p>
            <a:fld id="{9860EDB8-5305-433F-BE41-D7A86D811DB3}" type="slidenum">
              <a:rPr lang="ru-RU" smtClean="0"/>
              <a:t>23</a:t>
            </a:fld>
            <a:endParaRPr lang="ru-RU" dirty="0"/>
          </a:p>
        </p:txBody>
      </p:sp>
      <p:cxnSp>
        <p:nvCxnSpPr>
          <p:cNvPr id="40" name="Прямая соединительная линия 39"/>
          <p:cNvCxnSpPr/>
          <p:nvPr/>
        </p:nvCxnSpPr>
        <p:spPr>
          <a:xfrm>
            <a:off x="302421" y="3932238"/>
            <a:ext cx="6326981" cy="317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16"/>
          <p:cNvSpPr txBox="1">
            <a:spLocks noChangeArrowheads="1"/>
          </p:cNvSpPr>
          <p:nvPr/>
        </p:nvSpPr>
        <p:spPr bwMode="auto">
          <a:xfrm>
            <a:off x="5868988" y="3355975"/>
            <a:ext cx="9179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Уровень 3</a:t>
            </a:r>
          </a:p>
        </p:txBody>
      </p:sp>
      <p:cxnSp>
        <p:nvCxnSpPr>
          <p:cNvPr id="42" name="Прямая соединительная линия 41"/>
          <p:cNvCxnSpPr/>
          <p:nvPr/>
        </p:nvCxnSpPr>
        <p:spPr>
          <a:xfrm>
            <a:off x="296069" y="4646616"/>
            <a:ext cx="6326981" cy="317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16"/>
          <p:cNvSpPr txBox="1">
            <a:spLocks noChangeArrowheads="1"/>
          </p:cNvSpPr>
          <p:nvPr/>
        </p:nvSpPr>
        <p:spPr bwMode="auto">
          <a:xfrm>
            <a:off x="5913438" y="4070352"/>
            <a:ext cx="9179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Уровень 2</a:t>
            </a:r>
          </a:p>
        </p:txBody>
      </p:sp>
      <p:cxnSp>
        <p:nvCxnSpPr>
          <p:cNvPr id="44" name="Прямая соединительная линия 43"/>
          <p:cNvCxnSpPr/>
          <p:nvPr/>
        </p:nvCxnSpPr>
        <p:spPr>
          <a:xfrm>
            <a:off x="296069" y="5423962"/>
            <a:ext cx="6326981" cy="317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16"/>
          <p:cNvSpPr txBox="1">
            <a:spLocks noChangeArrowheads="1"/>
          </p:cNvSpPr>
          <p:nvPr/>
        </p:nvSpPr>
        <p:spPr bwMode="auto">
          <a:xfrm>
            <a:off x="5913438" y="4847698"/>
            <a:ext cx="9179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Уровень 1</a:t>
            </a:r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 flipV="1">
            <a:off x="3232398" y="3436621"/>
            <a:ext cx="2293" cy="269170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4137819" y="4179909"/>
            <a:ext cx="285750" cy="2121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3966273" y="4179909"/>
            <a:ext cx="171450" cy="21219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4861719" y="4179909"/>
            <a:ext cx="285750" cy="2121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4690173" y="4179909"/>
            <a:ext cx="171450" cy="21219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971550" y="5696170"/>
            <a:ext cx="12890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Компьютер 1</a:t>
            </a:r>
          </a:p>
        </p:txBody>
      </p:sp>
      <p:sp>
        <p:nvSpPr>
          <p:cNvPr id="18" name="TextBox 16"/>
          <p:cNvSpPr txBox="1">
            <a:spLocks noChangeArrowheads="1"/>
          </p:cNvSpPr>
          <p:nvPr/>
        </p:nvSpPr>
        <p:spPr bwMode="auto">
          <a:xfrm>
            <a:off x="4467237" y="5696810"/>
            <a:ext cx="12890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Компьютер 2</a:t>
            </a:r>
          </a:p>
        </p:txBody>
      </p:sp>
    </p:spTree>
    <p:extLst>
      <p:ext uri="{BB962C8B-B14F-4D97-AF65-F5344CB8AC3E}">
        <p14:creationId xmlns:p14="http://schemas.microsoft.com/office/powerpoint/2010/main" val="27267988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Инкапсуляция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3328" y="1776987"/>
            <a:ext cx="5558138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>
                <a:solidFill>
                  <a:schemeClr val="tx1"/>
                </a:solidFill>
              </a:rPr>
              <a:t>Инкапсуляция: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Включение сообщения вышестоящего уровня в сообщение нижестоящего уровня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Сообщение: заголовок + данные + </a:t>
            </a:r>
            <a:r>
              <a:rPr lang="ru-RU" sz="2000" dirty="0" err="1">
                <a:solidFill>
                  <a:schemeClr val="tx1"/>
                </a:solidFill>
              </a:rPr>
              <a:t>концевик</a:t>
            </a:r>
            <a:endParaRPr lang="ru-RU" sz="2000" dirty="0">
              <a:solidFill>
                <a:schemeClr val="tx1"/>
              </a:solidFill>
            </a:endParaRPr>
          </a:p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2692129" y="6356357"/>
            <a:ext cx="3365771" cy="365125"/>
          </a:xfrm>
        </p:spPr>
        <p:txBody>
          <a:bodyPr/>
          <a:lstStyle/>
          <a:p>
            <a:r>
              <a:rPr lang="ru-RU" dirty="0"/>
              <a:t>Сети и системы телекоммуникаций. Основы организации компьютерных сетей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78600" y="6356356"/>
            <a:ext cx="2457450" cy="365125"/>
          </a:xfrm>
        </p:spPr>
        <p:txBody>
          <a:bodyPr/>
          <a:lstStyle/>
          <a:p>
            <a:fld id="{9860EDB8-5305-433F-BE41-D7A86D811DB3}" type="slidenum">
              <a:rPr lang="ru-RU" smtClean="0"/>
              <a:t>24</a:t>
            </a:fld>
            <a:endParaRPr lang="ru-RU" dirty="0"/>
          </a:p>
        </p:txBody>
      </p:sp>
      <p:cxnSp>
        <p:nvCxnSpPr>
          <p:cNvPr id="40" name="Прямая соединительная линия 39"/>
          <p:cNvCxnSpPr/>
          <p:nvPr/>
        </p:nvCxnSpPr>
        <p:spPr>
          <a:xfrm>
            <a:off x="302421" y="3932238"/>
            <a:ext cx="6326981" cy="317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16"/>
          <p:cNvSpPr txBox="1">
            <a:spLocks noChangeArrowheads="1"/>
          </p:cNvSpPr>
          <p:nvPr/>
        </p:nvSpPr>
        <p:spPr bwMode="auto">
          <a:xfrm>
            <a:off x="5868988" y="3355975"/>
            <a:ext cx="9179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Уровень 3</a:t>
            </a:r>
          </a:p>
        </p:txBody>
      </p:sp>
      <p:cxnSp>
        <p:nvCxnSpPr>
          <p:cNvPr id="42" name="Прямая соединительная линия 41"/>
          <p:cNvCxnSpPr/>
          <p:nvPr/>
        </p:nvCxnSpPr>
        <p:spPr>
          <a:xfrm>
            <a:off x="296069" y="4646616"/>
            <a:ext cx="6326981" cy="317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16"/>
          <p:cNvSpPr txBox="1">
            <a:spLocks noChangeArrowheads="1"/>
          </p:cNvSpPr>
          <p:nvPr/>
        </p:nvSpPr>
        <p:spPr bwMode="auto">
          <a:xfrm>
            <a:off x="5913438" y="4070352"/>
            <a:ext cx="9179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Уровень 2</a:t>
            </a:r>
          </a:p>
        </p:txBody>
      </p:sp>
      <p:cxnSp>
        <p:nvCxnSpPr>
          <p:cNvPr id="44" name="Прямая соединительная линия 43"/>
          <p:cNvCxnSpPr/>
          <p:nvPr/>
        </p:nvCxnSpPr>
        <p:spPr>
          <a:xfrm>
            <a:off x="296069" y="5423962"/>
            <a:ext cx="6326981" cy="317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16"/>
          <p:cNvSpPr txBox="1">
            <a:spLocks noChangeArrowheads="1"/>
          </p:cNvSpPr>
          <p:nvPr/>
        </p:nvSpPr>
        <p:spPr bwMode="auto">
          <a:xfrm>
            <a:off x="5913438" y="4847698"/>
            <a:ext cx="9179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Уровень 1</a:t>
            </a:r>
          </a:p>
        </p:txBody>
      </p:sp>
      <p:sp>
        <p:nvSpPr>
          <p:cNvPr id="46" name="Прямоугольник 45"/>
          <p:cNvSpPr/>
          <p:nvPr/>
        </p:nvSpPr>
        <p:spPr>
          <a:xfrm>
            <a:off x="4459288" y="3513667"/>
            <a:ext cx="438150" cy="2121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5" name="Прямая соединительная линия 64"/>
          <p:cNvCxnSpPr>
            <a:stCxn id="3" idx="2"/>
          </p:cNvCxnSpPr>
          <p:nvPr/>
        </p:nvCxnSpPr>
        <p:spPr>
          <a:xfrm flipV="1">
            <a:off x="3232398" y="3436621"/>
            <a:ext cx="2293" cy="269170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971550" y="5696170"/>
            <a:ext cx="12890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Компьютер 1</a:t>
            </a:r>
          </a:p>
        </p:txBody>
      </p:sp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4467237" y="5696810"/>
            <a:ext cx="12890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/>
              <a:t>Компьютер 2</a:t>
            </a:r>
          </a:p>
        </p:txBody>
      </p:sp>
    </p:spTree>
    <p:extLst>
      <p:ext uri="{BB962C8B-B14F-4D97-AF65-F5344CB8AC3E}">
        <p14:creationId xmlns:p14="http://schemas.microsoft.com/office/powerpoint/2010/main" val="37475432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1143000"/>
          </a:xfrm>
        </p:spPr>
        <p:txBody>
          <a:bodyPr/>
          <a:lstStyle/>
          <a:p>
            <a:r>
              <a:rPr lang="ru-RU" dirty="0"/>
              <a:t>Модель </a:t>
            </a:r>
            <a:r>
              <a:rPr lang="en-US" dirty="0"/>
              <a:t>OSI </a:t>
            </a:r>
            <a:r>
              <a:rPr lang="ru-RU" dirty="0"/>
              <a:t>и </a:t>
            </a:r>
            <a:r>
              <a:rPr lang="en-US" dirty="0"/>
              <a:t>TCP/IP</a:t>
            </a: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2692129" y="6356357"/>
            <a:ext cx="3365771" cy="365125"/>
          </a:xfrm>
        </p:spPr>
        <p:txBody>
          <a:bodyPr/>
          <a:lstStyle/>
          <a:p>
            <a:r>
              <a:rPr lang="ru-RU" dirty="0"/>
              <a:t>Сети и системы телекоммуникаций. Модель и стек протоколов </a:t>
            </a:r>
            <a:r>
              <a:rPr lang="en-US" dirty="0"/>
              <a:t>TCP/IP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78600" y="6356356"/>
            <a:ext cx="2457450" cy="365125"/>
          </a:xfrm>
        </p:spPr>
        <p:txBody>
          <a:bodyPr/>
          <a:lstStyle/>
          <a:p>
            <a:fld id="{9860EDB8-5305-433F-BE41-D7A86D811DB3}" type="slidenum">
              <a:rPr lang="ru-RU" smtClean="0"/>
              <a:t>25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771800" y="2149006"/>
            <a:ext cx="1892290" cy="4429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1400" b="1" dirty="0">
                <a:latin typeface="Verdana" panose="020B0604030504040204" pitchFamily="34" charset="0"/>
              </a:rPr>
              <a:t>Прикладной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771800" y="2591918"/>
            <a:ext cx="1892290" cy="4429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1400" b="1" dirty="0">
                <a:latin typeface="Verdana" panose="020B0604030504040204" pitchFamily="34" charset="0"/>
              </a:rPr>
              <a:t>Представления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2771800" y="3034830"/>
            <a:ext cx="1892290" cy="4206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1400" b="1" dirty="0">
                <a:latin typeface="Verdana" panose="020B0604030504040204" pitchFamily="34" charset="0"/>
              </a:rPr>
              <a:t>Сеансовый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2771800" y="3455518"/>
            <a:ext cx="1892290" cy="4429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1400" b="1" dirty="0">
                <a:latin typeface="Verdana" panose="020B0604030504040204" pitchFamily="34" charset="0"/>
              </a:rPr>
              <a:t>Транспортный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2771800" y="3898430"/>
            <a:ext cx="1892290" cy="433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1400" b="1" dirty="0">
                <a:latin typeface="Verdana" panose="020B0604030504040204" pitchFamily="34" charset="0"/>
              </a:rPr>
              <a:t>Сетевой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2771800" y="4765206"/>
            <a:ext cx="1892290" cy="4429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1400" b="1" dirty="0">
                <a:latin typeface="Verdana" panose="020B0604030504040204" pitchFamily="34" charset="0"/>
              </a:rPr>
              <a:t>Физический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4716017" y="2149005"/>
            <a:ext cx="1851164" cy="13065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1400" b="1" dirty="0">
                <a:latin typeface="Verdana" panose="020B0604030504040204" pitchFamily="34" charset="0"/>
              </a:rPr>
              <a:t>Прикладной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4716017" y="3455517"/>
            <a:ext cx="1851164" cy="4429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1400" b="1" dirty="0">
                <a:latin typeface="Verdana" panose="020B0604030504040204" pitchFamily="34" charset="0"/>
              </a:rPr>
              <a:t>Транспортный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4716017" y="3898429"/>
            <a:ext cx="1851163" cy="433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1400" b="1" dirty="0">
                <a:latin typeface="Verdana" panose="020B0604030504040204" pitchFamily="34" charset="0"/>
              </a:rPr>
              <a:t>Интернет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2772932" y="4331819"/>
            <a:ext cx="1891158" cy="420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1400" b="1" dirty="0">
                <a:latin typeface="Verdana" panose="020B0604030504040204" pitchFamily="34" charset="0"/>
              </a:rPr>
              <a:t>Канальный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4716016" y="4334993"/>
            <a:ext cx="1851163" cy="8604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1400" b="1" dirty="0">
                <a:latin typeface="Verdana" panose="020B0604030504040204" pitchFamily="34" charset="0"/>
              </a:rPr>
              <a:t>Сетевых интерфейсов</a:t>
            </a:r>
          </a:p>
        </p:txBody>
      </p:sp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2847074" y="1422316"/>
            <a:ext cx="13144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Verdana" panose="020B0604030504040204" pitchFamily="34" charset="0"/>
              </a:rPr>
              <a:t>Модель </a:t>
            </a:r>
            <a:r>
              <a:rPr lang="en-US" altLang="ru-RU" sz="1800" dirty="0">
                <a:latin typeface="Verdana" panose="020B0604030504040204" pitchFamily="34" charset="0"/>
              </a:rPr>
              <a:t>OSI</a:t>
            </a:r>
            <a:endParaRPr lang="ru-RU" altLang="ru-RU" sz="1800" dirty="0">
              <a:latin typeface="Verdana" panose="020B0604030504040204" pitchFamily="34" charset="0"/>
            </a:endParaRPr>
          </a:p>
        </p:txBody>
      </p:sp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5024130" y="1422317"/>
            <a:ext cx="15430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Verdana" panose="020B0604030504040204" pitchFamily="34" charset="0"/>
              </a:rPr>
              <a:t>Модель </a:t>
            </a:r>
            <a:r>
              <a:rPr lang="en-US" altLang="ru-RU" sz="1800" dirty="0">
                <a:latin typeface="Verdana" panose="020B0604030504040204" pitchFamily="34" charset="0"/>
              </a:rPr>
              <a:t>TCP/IP</a:t>
            </a:r>
            <a:endParaRPr lang="ru-RU" altLang="ru-RU" sz="1800" dirty="0">
              <a:latin typeface="Verdana" panose="020B060403050404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-188191" y="1999028"/>
            <a:ext cx="28803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dirty="0"/>
              <a:t>Модель OSI определяет: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Какие уровни должны быть в сети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Какие функции должны выполняться на каждом уровне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79512" y="3724185"/>
            <a:ext cx="237626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1600" dirty="0"/>
              <a:t>Модель OSI используется в качестве «общего языка» для описания разных сетей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6619108" y="2075303"/>
            <a:ext cx="241694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Модель </a:t>
            </a:r>
            <a:r>
              <a:rPr lang="en-US" sz="1600" dirty="0"/>
              <a:t>TCP/IP </a:t>
            </a:r>
            <a:r>
              <a:rPr lang="ru-RU" sz="1600" dirty="0"/>
              <a:t>описывает, как нужно строить сети на основе разных технологий, чтобы в них работал стек </a:t>
            </a:r>
            <a:r>
              <a:rPr lang="en-US" sz="1600" dirty="0"/>
              <a:t>TCP/IP</a:t>
            </a:r>
            <a:endParaRPr lang="ru-RU" sz="1600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6335353" y="3733705"/>
            <a:ext cx="29844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dirty="0"/>
              <a:t>TCP/IP – протоколы, основа Интернет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6411778" y="4395820"/>
            <a:ext cx="279109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dirty="0"/>
              <a:t>Протоколы широко применяются.</a:t>
            </a:r>
          </a:p>
          <a:p>
            <a:pPr marL="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dirty="0"/>
              <a:t>Ограниченная модель, подходит только для описания сетей на основе стека </a:t>
            </a:r>
            <a:r>
              <a:rPr lang="en-US" sz="1600" dirty="0"/>
              <a:t>TCP/IP</a:t>
            </a:r>
            <a:endParaRPr lang="ru-RU" sz="1600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-81849" y="4831099"/>
            <a:ext cx="28536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dirty="0"/>
              <a:t>Хорошая теоретическая проработка</a:t>
            </a:r>
          </a:p>
        </p:txBody>
      </p:sp>
    </p:spTree>
    <p:extLst>
      <p:ext uri="{BB962C8B-B14F-4D97-AF65-F5344CB8AC3E}">
        <p14:creationId xmlns:p14="http://schemas.microsoft.com/office/powerpoint/2010/main" val="29422700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Физический уровень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827584" y="1628800"/>
            <a:ext cx="7128792" cy="1774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400" dirty="0"/>
              <a:t>Передача битов по физическому каналу связи</a:t>
            </a:r>
            <a:endParaRPr lang="en-US" sz="2400" dirty="0"/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400" dirty="0"/>
              <a:t>Не вникает в смысл передаваемой информации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400" b="1" u="sng" dirty="0"/>
              <a:t>Задача:</a:t>
            </a:r>
            <a:r>
              <a:rPr lang="ru-RU" sz="2400" dirty="0"/>
              <a:t> Как представить биты информации в виде сигналов, передаваемых по среде</a:t>
            </a:r>
          </a:p>
        </p:txBody>
      </p:sp>
    </p:spTree>
    <p:extLst>
      <p:ext uri="{BB962C8B-B14F-4D97-AF65-F5344CB8AC3E}">
        <p14:creationId xmlns:p14="http://schemas.microsoft.com/office/powerpoint/2010/main" val="38792701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Канальный уровень</a:t>
            </a:r>
          </a:p>
        </p:txBody>
      </p:sp>
      <p:sp>
        <p:nvSpPr>
          <p:cNvPr id="5" name="Объект 2"/>
          <p:cNvSpPr>
            <a:spLocks noGrp="1"/>
          </p:cNvSpPr>
          <p:nvPr>
            <p:ph idx="1"/>
          </p:nvPr>
        </p:nvSpPr>
        <p:spPr>
          <a:xfrm>
            <a:off x="755576" y="1628800"/>
            <a:ext cx="7410851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400" dirty="0">
                <a:solidFill>
                  <a:schemeClr val="tx1"/>
                </a:solidFill>
              </a:rPr>
              <a:t>Передача сообщений по каналу связи</a:t>
            </a:r>
          </a:p>
          <a:p>
            <a:pPr marL="6223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Определение начала/конца сообщения в потоке бит</a:t>
            </a:r>
          </a:p>
          <a:p>
            <a:pPr lvl="0" fontAlgn="base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altLang="ru-RU" sz="2400" dirty="0">
                <a:solidFill>
                  <a:schemeClr val="tx1"/>
                </a:solidFill>
              </a:rPr>
              <a:t>Обнаружение и коррекция ошибок</a:t>
            </a:r>
          </a:p>
          <a:p>
            <a:pPr lvl="0" fontAlgn="base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altLang="ru-RU" sz="2400" dirty="0">
                <a:solidFill>
                  <a:schemeClr val="tx1"/>
                </a:solidFill>
              </a:rPr>
              <a:t>В широковещательной сети:</a:t>
            </a:r>
          </a:p>
          <a:p>
            <a:pPr marL="622300" lvl="1" indent="-34290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000" dirty="0">
                <a:solidFill>
                  <a:schemeClr val="tx1"/>
                </a:solidFill>
              </a:rPr>
              <a:t>Управление доступом к среде передачи данных</a:t>
            </a:r>
          </a:p>
          <a:p>
            <a:pPr marL="622300" lvl="1" indent="-34290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000" dirty="0">
                <a:solidFill>
                  <a:schemeClr val="tx1"/>
                </a:solidFill>
              </a:rPr>
              <a:t>Физическая адресация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8417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Транспортный уровень</a:t>
            </a:r>
          </a:p>
        </p:txBody>
      </p:sp>
      <p:sp>
        <p:nvSpPr>
          <p:cNvPr id="6" name="Объект 2"/>
          <p:cNvSpPr>
            <a:spLocks noGrp="1"/>
          </p:cNvSpPr>
          <p:nvPr>
            <p:ph idx="1"/>
          </p:nvPr>
        </p:nvSpPr>
        <p:spPr>
          <a:xfrm>
            <a:off x="604437" y="1776987"/>
            <a:ext cx="7410851" cy="4351338"/>
          </a:xfrm>
        </p:spPr>
        <p:txBody>
          <a:bodyPr>
            <a:normAutofit/>
          </a:bodyPr>
          <a:lstStyle/>
          <a:p>
            <a:pPr fontAlgn="base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altLang="ru-RU" sz="2400" dirty="0">
                <a:solidFill>
                  <a:schemeClr val="tx1"/>
                </a:solidFill>
              </a:rPr>
              <a:t>Обеспечивает передачу данных между </a:t>
            </a:r>
            <a:r>
              <a:rPr lang="ru-RU" altLang="ru-RU" sz="2400" b="1" dirty="0">
                <a:solidFill>
                  <a:schemeClr val="tx1"/>
                </a:solidFill>
              </a:rPr>
              <a:t>процессами</a:t>
            </a:r>
            <a:r>
              <a:rPr lang="ru-RU" altLang="ru-RU" sz="2400" dirty="0">
                <a:solidFill>
                  <a:schemeClr val="tx1"/>
                </a:solidFill>
              </a:rPr>
              <a:t> на хостах </a:t>
            </a:r>
          </a:p>
          <a:p>
            <a:pPr fontAlgn="base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altLang="ru-RU" sz="2400" dirty="0">
                <a:solidFill>
                  <a:schemeClr val="tx1"/>
                </a:solidFill>
              </a:rPr>
              <a:t>Управление надежностью:</a:t>
            </a:r>
          </a:p>
          <a:p>
            <a:pPr marL="622300" lvl="1" indent="-34290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000" dirty="0">
                <a:solidFill>
                  <a:schemeClr val="tx1"/>
                </a:solidFill>
              </a:rPr>
              <a:t>Может предоставлять надежность выше, чем у сети</a:t>
            </a:r>
          </a:p>
          <a:p>
            <a:pPr marL="622300" lvl="1" indent="-34290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000" dirty="0">
                <a:solidFill>
                  <a:schemeClr val="tx1"/>
                </a:solidFill>
              </a:rPr>
              <a:t>Наиболее популярный сервис – защищенный от ошибок канал с гарантированным порядком следования сообщений </a:t>
            </a:r>
          </a:p>
          <a:p>
            <a:pPr marL="0" lvl="1" indent="0" fontAlgn="base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-RU" altLang="ru-RU" sz="2400" b="1" dirty="0">
                <a:solidFill>
                  <a:schemeClr val="tx1"/>
                </a:solidFill>
              </a:rPr>
              <a:t>Сквозной</a:t>
            </a:r>
            <a:r>
              <a:rPr lang="ru-RU" altLang="ru-RU" sz="2400" dirty="0">
                <a:solidFill>
                  <a:schemeClr val="tx1"/>
                </a:solidFill>
              </a:rPr>
              <a:t> уровень </a:t>
            </a:r>
          </a:p>
          <a:p>
            <a:pPr marL="622300" lvl="1" indent="-34290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000" dirty="0">
                <a:solidFill>
                  <a:schemeClr val="tx1"/>
                </a:solidFill>
              </a:rPr>
              <a:t>Сообщения доставляются от источника адресату</a:t>
            </a:r>
          </a:p>
          <a:p>
            <a:pPr marL="622300" lvl="1" indent="-34290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000" dirty="0">
                <a:solidFill>
                  <a:schemeClr val="tx1"/>
                </a:solidFill>
              </a:rPr>
              <a:t>Предыдущие уровни используют принцип </a:t>
            </a:r>
            <a:r>
              <a:rPr lang="ru-RU" altLang="ru-RU" sz="2000" b="1" dirty="0">
                <a:solidFill>
                  <a:schemeClr val="tx1"/>
                </a:solidFill>
              </a:rPr>
              <a:t>звеньев цепи</a:t>
            </a:r>
            <a:endParaRPr lang="ru-RU" altLang="ru-RU" sz="2000" dirty="0">
              <a:solidFill>
                <a:schemeClr val="tx1"/>
              </a:solidFill>
            </a:endParaRPr>
          </a:p>
          <a:p>
            <a:pPr marL="622300" lvl="1" indent="-34290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ru-RU" altLang="ru-RU" sz="2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01553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Сетевой уровень</a:t>
            </a:r>
          </a:p>
        </p:txBody>
      </p:sp>
      <p:sp>
        <p:nvSpPr>
          <p:cNvPr id="5" name="Объект 2"/>
          <p:cNvSpPr>
            <a:spLocks noGrp="1"/>
          </p:cNvSpPr>
          <p:nvPr>
            <p:ph idx="1"/>
          </p:nvPr>
        </p:nvSpPr>
        <p:spPr>
          <a:xfrm>
            <a:off x="604437" y="1776987"/>
            <a:ext cx="7410851" cy="4351338"/>
          </a:xfrm>
        </p:spPr>
        <p:txBody>
          <a:bodyPr>
            <a:normAutofit/>
          </a:bodyPr>
          <a:lstStyle/>
          <a:p>
            <a:pPr fontAlgn="base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altLang="ru-RU" sz="2400" dirty="0">
                <a:solidFill>
                  <a:schemeClr val="tx1"/>
                </a:solidFill>
              </a:rPr>
              <a:t>Объединяет сети, построенные на основе разных технологий</a:t>
            </a:r>
          </a:p>
          <a:p>
            <a:pPr lvl="0" fontAlgn="base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altLang="ru-RU" sz="2400" dirty="0">
                <a:solidFill>
                  <a:schemeClr val="tx1"/>
                </a:solidFill>
              </a:rPr>
              <a:t>Задачи:</a:t>
            </a:r>
          </a:p>
          <a:p>
            <a:pPr marL="622300" lvl="1" indent="-34290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000" dirty="0">
                <a:solidFill>
                  <a:schemeClr val="tx1"/>
                </a:solidFill>
              </a:rPr>
              <a:t>Создание составной сети, согласование различий в сетях</a:t>
            </a:r>
          </a:p>
          <a:p>
            <a:pPr marL="622300" lvl="1" indent="-34290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000" dirty="0">
                <a:solidFill>
                  <a:schemeClr val="tx1"/>
                </a:solidFill>
              </a:rPr>
              <a:t>Адресация (сетевые или глобальные адреса)</a:t>
            </a:r>
          </a:p>
          <a:p>
            <a:pPr marL="622300" lvl="1" indent="-34290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000" dirty="0">
                <a:solidFill>
                  <a:schemeClr val="tx1"/>
                </a:solidFill>
              </a:rPr>
              <a:t>Определение маршрута пересылки пакетов в составной сети (маршрутизация)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0823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Сеансовый уровень</a:t>
            </a:r>
          </a:p>
        </p:txBody>
      </p:sp>
      <p:sp>
        <p:nvSpPr>
          <p:cNvPr id="6" name="Объект 2"/>
          <p:cNvSpPr>
            <a:spLocks noGrp="1"/>
          </p:cNvSpPr>
          <p:nvPr>
            <p:ph idx="1"/>
          </p:nvPr>
        </p:nvSpPr>
        <p:spPr>
          <a:xfrm>
            <a:off x="866574" y="1556792"/>
            <a:ext cx="7410851" cy="4351338"/>
          </a:xfrm>
        </p:spPr>
        <p:txBody>
          <a:bodyPr>
            <a:normAutofit/>
          </a:bodyPr>
          <a:lstStyle/>
          <a:p>
            <a:pPr fontAlgn="base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altLang="ru-RU" sz="2400" dirty="0">
                <a:solidFill>
                  <a:schemeClr val="tx1"/>
                </a:solidFill>
              </a:rPr>
              <a:t>Позволяет устанавливать сеансы связи</a:t>
            </a:r>
          </a:p>
          <a:p>
            <a:pPr fontAlgn="base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altLang="ru-RU" sz="2400" dirty="0">
                <a:solidFill>
                  <a:schemeClr val="tx1"/>
                </a:solidFill>
              </a:rPr>
              <a:t>Задачи:</a:t>
            </a:r>
          </a:p>
          <a:p>
            <a:pPr marL="622300" lvl="1" indent="-34290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000" dirty="0">
                <a:solidFill>
                  <a:schemeClr val="tx1"/>
                </a:solidFill>
              </a:rPr>
              <a:t>Управление диалогом (очерёдность передачи сообщений)</a:t>
            </a:r>
          </a:p>
          <a:p>
            <a:pPr marL="622300" lvl="1" indent="-34290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000" dirty="0">
                <a:solidFill>
                  <a:schemeClr val="tx1"/>
                </a:solidFill>
              </a:rPr>
              <a:t>Управление маркерами (предотвращение одновременного выполнения критичной операции)</a:t>
            </a:r>
          </a:p>
          <a:p>
            <a:pPr marL="622300" lvl="1" indent="-34290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000" dirty="0">
                <a:solidFill>
                  <a:schemeClr val="tx1"/>
                </a:solidFill>
              </a:rPr>
              <a:t>Синхронизация (метки в сообщениях для возобновления передачи в случае сбоя)</a:t>
            </a:r>
          </a:p>
          <a:p>
            <a:pPr marL="622300" lvl="1" indent="-34290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ru-RU" altLang="ru-RU" sz="2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9834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Уровень представления</a:t>
            </a:r>
          </a:p>
        </p:txBody>
      </p:sp>
      <p:sp>
        <p:nvSpPr>
          <p:cNvPr id="5" name="Объект 2"/>
          <p:cNvSpPr>
            <a:spLocks noGrp="1"/>
          </p:cNvSpPr>
          <p:nvPr>
            <p:ph idx="1"/>
          </p:nvPr>
        </p:nvSpPr>
        <p:spPr>
          <a:xfrm>
            <a:off x="755576" y="1556792"/>
            <a:ext cx="7410851" cy="4351338"/>
          </a:xfrm>
        </p:spPr>
        <p:txBody>
          <a:bodyPr>
            <a:normAutofit/>
          </a:bodyPr>
          <a:lstStyle/>
          <a:p>
            <a:pPr fontAlgn="base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altLang="ru-RU" sz="2400" dirty="0">
                <a:solidFill>
                  <a:schemeClr val="tx1"/>
                </a:solidFill>
              </a:rPr>
              <a:t>Обеспечивает согласование синтаксиса и семантики передаваемых данных</a:t>
            </a:r>
          </a:p>
          <a:p>
            <a:pPr marL="622300" lvl="1" indent="-34290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000" dirty="0">
                <a:solidFill>
                  <a:schemeClr val="tx1"/>
                </a:solidFill>
              </a:rPr>
              <a:t>Форматы представления символов</a:t>
            </a:r>
          </a:p>
          <a:p>
            <a:pPr marL="622300" lvl="1" indent="-34290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000" dirty="0">
                <a:solidFill>
                  <a:schemeClr val="tx1"/>
                </a:solidFill>
              </a:rPr>
              <a:t>Форматы чисел</a:t>
            </a:r>
          </a:p>
          <a:p>
            <a:pPr fontAlgn="base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altLang="ru-RU" sz="2400" dirty="0">
                <a:solidFill>
                  <a:schemeClr val="tx1"/>
                </a:solidFill>
              </a:rPr>
              <a:t>Шифрование и дешифрование</a:t>
            </a:r>
          </a:p>
          <a:p>
            <a:pPr fontAlgn="base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altLang="ru-RU" sz="2400" dirty="0">
                <a:solidFill>
                  <a:schemeClr val="tx1"/>
                </a:solidFill>
              </a:rPr>
              <a:t>Пример:</a:t>
            </a:r>
          </a:p>
          <a:p>
            <a:pPr marL="622300" lvl="1" indent="-34290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000" dirty="0" err="1">
                <a:solidFill>
                  <a:schemeClr val="tx1"/>
                </a:solidFill>
              </a:rPr>
              <a:t>Transport</a:t>
            </a:r>
            <a:r>
              <a:rPr lang="ru-RU" altLang="ru-RU" sz="2000" dirty="0">
                <a:solidFill>
                  <a:schemeClr val="tx1"/>
                </a:solidFill>
              </a:rPr>
              <a:t> </a:t>
            </a:r>
            <a:r>
              <a:rPr lang="ru-RU" altLang="ru-RU" sz="2000" dirty="0" err="1">
                <a:solidFill>
                  <a:schemeClr val="tx1"/>
                </a:solidFill>
              </a:rPr>
              <a:t>Layer</a:t>
            </a:r>
            <a:r>
              <a:rPr lang="ru-RU" altLang="ru-RU" sz="2000" dirty="0">
                <a:solidFill>
                  <a:schemeClr val="tx1"/>
                </a:solidFill>
              </a:rPr>
              <a:t> </a:t>
            </a:r>
            <a:r>
              <a:rPr lang="ru-RU" altLang="ru-RU" sz="2000" dirty="0" err="1">
                <a:solidFill>
                  <a:schemeClr val="tx1"/>
                </a:solidFill>
              </a:rPr>
              <a:t>Security</a:t>
            </a:r>
            <a:r>
              <a:rPr lang="ru-RU" altLang="ru-RU" sz="2000" dirty="0">
                <a:solidFill>
                  <a:schemeClr val="tx1"/>
                </a:solidFill>
              </a:rPr>
              <a:t> (TLS) / </a:t>
            </a:r>
            <a:r>
              <a:rPr lang="ru-RU" altLang="ru-RU" sz="2000" dirty="0" err="1">
                <a:solidFill>
                  <a:schemeClr val="tx1"/>
                </a:solidFill>
              </a:rPr>
              <a:t>Secure</a:t>
            </a:r>
            <a:r>
              <a:rPr lang="ru-RU" altLang="ru-RU" sz="2000" dirty="0">
                <a:solidFill>
                  <a:schemeClr val="tx1"/>
                </a:solidFill>
              </a:rPr>
              <a:t> </a:t>
            </a:r>
            <a:r>
              <a:rPr lang="ru-RU" altLang="ru-RU" sz="2000" dirty="0" err="1">
                <a:solidFill>
                  <a:schemeClr val="tx1"/>
                </a:solidFill>
              </a:rPr>
              <a:t>Sockets</a:t>
            </a:r>
            <a:r>
              <a:rPr lang="ru-RU" altLang="ru-RU" sz="2000" dirty="0">
                <a:solidFill>
                  <a:schemeClr val="tx1"/>
                </a:solidFill>
              </a:rPr>
              <a:t> </a:t>
            </a:r>
            <a:r>
              <a:rPr lang="ru-RU" altLang="ru-RU" sz="2000" dirty="0" err="1">
                <a:solidFill>
                  <a:schemeClr val="tx1"/>
                </a:solidFill>
              </a:rPr>
              <a:t>Layer</a:t>
            </a:r>
            <a:r>
              <a:rPr lang="ru-RU" altLang="ru-RU" sz="2000" dirty="0">
                <a:solidFill>
                  <a:schemeClr val="tx1"/>
                </a:solidFill>
              </a:rPr>
              <a:t> (SSL)</a:t>
            </a:r>
          </a:p>
          <a:p>
            <a:pPr marL="622300" lvl="1" indent="-34290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ru-RU" altLang="ru-RU" sz="2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0238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Прикладной уровень</a:t>
            </a:r>
          </a:p>
        </p:txBody>
      </p:sp>
      <p:sp>
        <p:nvSpPr>
          <p:cNvPr id="6" name="Объект 2"/>
          <p:cNvSpPr>
            <a:spLocks noGrp="1"/>
          </p:cNvSpPr>
          <p:nvPr>
            <p:ph idx="1"/>
          </p:nvPr>
        </p:nvSpPr>
        <p:spPr>
          <a:xfrm>
            <a:off x="604437" y="1776987"/>
            <a:ext cx="7410851" cy="4351338"/>
          </a:xfrm>
        </p:spPr>
        <p:txBody>
          <a:bodyPr>
            <a:normAutofit/>
          </a:bodyPr>
          <a:lstStyle/>
          <a:p>
            <a:pPr fontAlgn="base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altLang="ru-RU" sz="2400" dirty="0">
                <a:solidFill>
                  <a:schemeClr val="tx1"/>
                </a:solidFill>
              </a:rPr>
              <a:t>Набор приложений, полезных пользователям:</a:t>
            </a:r>
          </a:p>
          <a:p>
            <a:pPr marL="622300" lvl="1" indent="-34290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000" dirty="0">
                <a:solidFill>
                  <a:schemeClr val="tx1"/>
                </a:solidFill>
              </a:rPr>
              <a:t>Гипертекстовые </a:t>
            </a:r>
            <a:r>
              <a:rPr lang="ru-RU" altLang="ru-RU" sz="2000" dirty="0" err="1">
                <a:solidFill>
                  <a:schemeClr val="tx1"/>
                </a:solidFill>
              </a:rPr>
              <a:t>Web</a:t>
            </a:r>
            <a:r>
              <a:rPr lang="ru-RU" altLang="ru-RU" sz="2000" dirty="0">
                <a:solidFill>
                  <a:schemeClr val="tx1"/>
                </a:solidFill>
              </a:rPr>
              <a:t>-страницы</a:t>
            </a:r>
          </a:p>
          <a:p>
            <a:pPr marL="622300" lvl="1" indent="-34290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000" dirty="0">
                <a:solidFill>
                  <a:schemeClr val="tx1"/>
                </a:solidFill>
              </a:rPr>
              <a:t>Социальные сети</a:t>
            </a:r>
          </a:p>
          <a:p>
            <a:pPr marL="622300" lvl="1" indent="-34290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000" dirty="0">
                <a:solidFill>
                  <a:schemeClr val="tx1"/>
                </a:solidFill>
              </a:rPr>
              <a:t>Видео и аудио связь</a:t>
            </a:r>
          </a:p>
          <a:p>
            <a:pPr marL="622300" lvl="1" indent="-34290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000" dirty="0">
                <a:solidFill>
                  <a:schemeClr val="tx1"/>
                </a:solidFill>
              </a:rPr>
              <a:t>Электронная почта</a:t>
            </a:r>
          </a:p>
          <a:p>
            <a:pPr marL="622300" lvl="1" indent="-34290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000" dirty="0">
                <a:solidFill>
                  <a:schemeClr val="tx1"/>
                </a:solidFill>
              </a:rPr>
              <a:t>Доступ к разделяемым файлам</a:t>
            </a:r>
          </a:p>
          <a:p>
            <a:pPr marL="622300" lvl="1" indent="-34290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000" dirty="0">
                <a:solidFill>
                  <a:schemeClr val="tx1"/>
                </a:solidFill>
              </a:rPr>
              <a:t>и многое другое</a:t>
            </a:r>
          </a:p>
          <a:p>
            <a:pPr marL="622300" lvl="1" indent="-34290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ru-RU" altLang="ru-RU" sz="2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5522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Единицы передаваемых данных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8148"/>
              </p:ext>
            </p:extLst>
          </p:nvPr>
        </p:nvGraphicFramePr>
        <p:xfrm>
          <a:off x="609600" y="1600200"/>
          <a:ext cx="8229600" cy="4897755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Уровень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Название единицы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Прикладной</a:t>
                      </a:r>
                      <a:r>
                        <a:rPr kumimoji="0" lang="en-US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(Application)</a:t>
                      </a:r>
                      <a:endParaRPr kumimoji="0" lang="ru-RU" altLang="ru-RU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Сообщение</a:t>
                      </a:r>
                      <a:r>
                        <a:rPr kumimoji="0" lang="en-US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(PDU)</a:t>
                      </a:r>
                      <a:endParaRPr kumimoji="0" lang="ru-RU" altLang="ru-RU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Представления</a:t>
                      </a:r>
                      <a:r>
                        <a:rPr kumimoji="0" lang="en-US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(Presentation)</a:t>
                      </a:r>
                      <a:endParaRPr kumimoji="0" lang="ru-RU" altLang="ru-RU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Сообщение</a:t>
                      </a:r>
                      <a:r>
                        <a:rPr kumimoji="0" lang="en-US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(PDU)</a:t>
                      </a:r>
                      <a:endParaRPr kumimoji="0" lang="ru-RU" altLang="ru-RU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Сеансовый</a:t>
                      </a:r>
                      <a:r>
                        <a:rPr kumimoji="0" lang="en-US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(Session)</a:t>
                      </a:r>
                      <a:endParaRPr kumimoji="0" lang="ru-RU" altLang="ru-RU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Сообщение</a:t>
                      </a:r>
                      <a:r>
                        <a:rPr kumimoji="0" lang="en-US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  </a:t>
                      </a:r>
                      <a:r>
                        <a:rPr kumimoji="0" lang="en-US" alt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(PDU)</a:t>
                      </a:r>
                      <a:endParaRPr kumimoji="0" lang="ru-RU" altLang="ru-RU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Транспортный</a:t>
                      </a:r>
                      <a:r>
                        <a:rPr kumimoji="0" lang="en-US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0" lang="en-US" altLang="ru-RU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Transpot</a:t>
                      </a:r>
                      <a:r>
                        <a:rPr kumimoji="0" lang="en-US" alt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kumimoji="0" lang="ru-RU" altLang="ru-RU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Сегмент/Дейтаграмма</a:t>
                      </a:r>
                      <a:r>
                        <a:rPr kumimoji="0" lang="en-US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(segment/datagram)</a:t>
                      </a:r>
                      <a:endParaRPr kumimoji="0" lang="ru-RU" altLang="ru-RU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Сетевой</a:t>
                      </a:r>
                      <a:r>
                        <a:rPr kumimoji="0" lang="en-US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(Networking)</a:t>
                      </a:r>
                      <a:endParaRPr kumimoji="0" lang="ru-RU" altLang="ru-RU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Пакет</a:t>
                      </a:r>
                      <a:r>
                        <a:rPr kumimoji="0" lang="en-US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(Packet)</a:t>
                      </a:r>
                      <a:endParaRPr kumimoji="0" lang="ru-RU" altLang="ru-RU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5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Канальный</a:t>
                      </a:r>
                      <a:r>
                        <a:rPr kumimoji="0" lang="en-US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(Data Link)</a:t>
                      </a:r>
                      <a:endParaRPr kumimoji="0" lang="ru-RU" altLang="ru-RU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Кадр</a:t>
                      </a:r>
                      <a:r>
                        <a:rPr kumimoji="0" lang="en-US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(Frame)</a:t>
                      </a:r>
                      <a:endParaRPr kumimoji="0" lang="ru-RU" altLang="ru-RU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5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Физический</a:t>
                      </a:r>
                      <a:r>
                        <a:rPr kumimoji="0" lang="en-US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(Physical)</a:t>
                      </a:r>
                      <a:endParaRPr kumimoji="0" lang="ru-RU" altLang="ru-RU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Бит </a:t>
                      </a:r>
                      <a:r>
                        <a:rPr kumimoji="0" lang="ru-RU" alt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0" lang="en-US" alt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Bit</a:t>
                      </a:r>
                      <a:r>
                        <a:rPr kumimoji="0" lang="ru-RU" alt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4668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Сетевое оборудование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609600" y="1600200"/>
          <a:ext cx="8229600" cy="2517829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40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Уровень модели </a:t>
                      </a:r>
                      <a:r>
                        <a:rPr kumimoji="0" lang="en-US" alt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OSI</a:t>
                      </a:r>
                      <a:endParaRPr kumimoji="0" lang="ru-RU" altLang="ru-RU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Оборудование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09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Сетевой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Маршрутизатор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8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Канальный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Коммутатор, точка доступа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40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Физический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Концентратор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86503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Пятиуровневая модель «</a:t>
            </a:r>
            <a:r>
              <a:rPr lang="en-US" dirty="0"/>
              <a:t>OSI + TCP/IP</a:t>
            </a:r>
            <a:r>
              <a:rPr lang="ru-RU" dirty="0"/>
              <a:t>»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78600" y="6356356"/>
            <a:ext cx="2457450" cy="365125"/>
          </a:xfrm>
        </p:spPr>
        <p:txBody>
          <a:bodyPr/>
          <a:lstStyle/>
          <a:p>
            <a:fld id="{9860EDB8-5305-433F-BE41-D7A86D811DB3}" type="slidenum">
              <a:rPr lang="ru-RU" smtClean="0"/>
              <a:t>35</a:t>
            </a:fld>
            <a:endParaRPr lang="ru-RU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2619375" y="4303713"/>
            <a:ext cx="3033942" cy="4429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>
                <a:latin typeface="Verdana" panose="020B0604030504040204" pitchFamily="34" charset="0"/>
              </a:rPr>
              <a:t>Физический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2620566" y="2565401"/>
            <a:ext cx="3031554" cy="44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>
                <a:latin typeface="Verdana" panose="020B0604030504040204" pitchFamily="34" charset="0"/>
              </a:rPr>
              <a:t>Прикладной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2619375" y="3006726"/>
            <a:ext cx="3033942" cy="4429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dirty="0">
                <a:latin typeface="Verdana" panose="020B0604030504040204" pitchFamily="34" charset="0"/>
              </a:rPr>
              <a:t>Транспортный</a:t>
            </a:r>
          </a:p>
        </p:txBody>
      </p:sp>
      <p:sp>
        <p:nvSpPr>
          <p:cNvPr id="23" name="Прямоугольник 22"/>
          <p:cNvSpPr/>
          <p:nvPr/>
        </p:nvSpPr>
        <p:spPr>
          <a:xfrm>
            <a:off x="2620566" y="3449639"/>
            <a:ext cx="3031554" cy="4333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dirty="0">
                <a:latin typeface="Verdana" panose="020B0604030504040204" pitchFamily="34" charset="0"/>
              </a:rPr>
              <a:t>Сетевой</a:t>
            </a:r>
          </a:p>
        </p:txBody>
      </p:sp>
      <p:sp>
        <p:nvSpPr>
          <p:cNvPr id="24" name="Прямоугольник 23"/>
          <p:cNvSpPr/>
          <p:nvPr/>
        </p:nvSpPr>
        <p:spPr>
          <a:xfrm>
            <a:off x="2620566" y="3883025"/>
            <a:ext cx="3031554" cy="4206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dirty="0">
                <a:latin typeface="Verdana" panose="020B0604030504040204" pitchFamily="34" charset="0"/>
              </a:rPr>
              <a:t>Канальный</a:t>
            </a:r>
          </a:p>
        </p:txBody>
      </p:sp>
    </p:spTree>
    <p:extLst>
      <p:ext uri="{BB962C8B-B14F-4D97-AF65-F5344CB8AC3E}">
        <p14:creationId xmlns:p14="http://schemas.microsoft.com/office/powerpoint/2010/main" val="6448485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Стек протоколов </a:t>
            </a:r>
            <a:r>
              <a:rPr lang="en-US" dirty="0"/>
              <a:t>TCP/IP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2692129" y="6356357"/>
            <a:ext cx="3365771" cy="365125"/>
          </a:xfrm>
        </p:spPr>
        <p:txBody>
          <a:bodyPr/>
          <a:lstStyle/>
          <a:p>
            <a:r>
              <a:rPr lang="ru-RU" dirty="0"/>
              <a:t>Сети и системы телекоммуникаций. Модель и стек протоколов </a:t>
            </a:r>
            <a:r>
              <a:rPr lang="en-US" dirty="0"/>
              <a:t>TCP/IP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78600" y="6356356"/>
            <a:ext cx="2457450" cy="365125"/>
          </a:xfrm>
        </p:spPr>
        <p:txBody>
          <a:bodyPr/>
          <a:lstStyle/>
          <a:p>
            <a:fld id="{9860EDB8-5305-433F-BE41-D7A86D811DB3}" type="slidenum">
              <a:rPr lang="ru-RU" smtClean="0"/>
              <a:t>36</a:t>
            </a:fld>
            <a:endParaRPr lang="ru-RU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486025" y="2200954"/>
            <a:ext cx="3943350" cy="3429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2657475" y="5020354"/>
            <a:ext cx="12573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ru-RU" sz="1800">
                <a:latin typeface="Verdana" panose="020B0604030504040204" pitchFamily="34" charset="0"/>
              </a:rPr>
              <a:t>Ethernet</a:t>
            </a:r>
            <a:endParaRPr lang="ru-RU" altLang="ru-RU" sz="1800">
              <a:latin typeface="Verdana" panose="020B0604030504040204" pitchFamily="34" charset="0"/>
            </a:endParaRPr>
          </a:p>
        </p:txBody>
      </p:sp>
      <p:sp>
        <p:nvSpPr>
          <p:cNvPr id="9" name="Rectangle 15"/>
          <p:cNvSpPr>
            <a:spLocks noChangeArrowheads="1"/>
          </p:cNvSpPr>
          <p:nvPr/>
        </p:nvSpPr>
        <p:spPr bwMode="auto">
          <a:xfrm>
            <a:off x="3971925" y="5020354"/>
            <a:ext cx="12573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ru-RU" sz="1800">
                <a:latin typeface="Verdana" panose="020B0604030504040204" pitchFamily="34" charset="0"/>
              </a:rPr>
              <a:t>Wi</a:t>
            </a:r>
            <a:r>
              <a:rPr lang="ru-RU" altLang="ru-RU" sz="1800">
                <a:latin typeface="Verdana" panose="020B0604030504040204" pitchFamily="34" charset="0"/>
              </a:rPr>
              <a:t>-</a:t>
            </a:r>
            <a:r>
              <a:rPr lang="en-US" altLang="ru-RU" sz="1800">
                <a:latin typeface="Verdana" panose="020B0604030504040204" pitchFamily="34" charset="0"/>
              </a:rPr>
              <a:t>Fi</a:t>
            </a:r>
            <a:endParaRPr lang="ru-RU" altLang="ru-RU" sz="1800">
              <a:latin typeface="Verdana" panose="020B0604030504040204" pitchFamily="34" charset="0"/>
            </a:endParaRPr>
          </a:p>
        </p:txBody>
      </p:sp>
      <p:sp>
        <p:nvSpPr>
          <p:cNvPr id="10" name="Rectangle 16"/>
          <p:cNvSpPr>
            <a:spLocks noChangeArrowheads="1"/>
          </p:cNvSpPr>
          <p:nvPr/>
        </p:nvSpPr>
        <p:spPr bwMode="auto">
          <a:xfrm>
            <a:off x="5343525" y="5020354"/>
            <a:ext cx="97155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ru-RU" sz="1800">
                <a:latin typeface="Verdana" panose="020B0604030504040204" pitchFamily="34" charset="0"/>
              </a:rPr>
              <a:t>DSL</a:t>
            </a:r>
            <a:endParaRPr lang="ru-RU" altLang="ru-RU" sz="1800">
              <a:latin typeface="Verdana" panose="020B0604030504040204" pitchFamily="34" charset="0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3343275" y="4105954"/>
            <a:ext cx="97155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ru-RU" sz="1800">
                <a:latin typeface="Verdana" panose="020B0604030504040204" pitchFamily="34" charset="0"/>
              </a:rPr>
              <a:t>IP</a:t>
            </a:r>
            <a:endParaRPr lang="ru-RU" altLang="ru-RU" sz="1800">
              <a:latin typeface="Verdana" panose="020B0604030504040204" pitchFamily="34" charset="0"/>
            </a:endParaRPr>
          </a:p>
        </p:txBody>
      </p: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3228975" y="3267754"/>
            <a:ext cx="97155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ru-RU" sz="1800">
                <a:latin typeface="Verdana" panose="020B0604030504040204" pitchFamily="34" charset="0"/>
              </a:rPr>
              <a:t>TCP</a:t>
            </a:r>
            <a:endParaRPr lang="ru-RU" altLang="ru-RU" sz="1800">
              <a:latin typeface="Verdana" panose="020B0604030504040204" pitchFamily="34" charset="0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4829175" y="3267754"/>
            <a:ext cx="97155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ru-RU" sz="1800">
                <a:latin typeface="Verdana" panose="020B0604030504040204" pitchFamily="34" charset="0"/>
              </a:rPr>
              <a:t>UDP</a:t>
            </a:r>
            <a:endParaRPr lang="ru-RU" altLang="ru-RU" sz="1800">
              <a:latin typeface="Verdana" panose="020B0604030504040204" pitchFamily="34" charset="0"/>
            </a:endParaRPr>
          </a:p>
        </p:txBody>
      </p:sp>
      <p:sp>
        <p:nvSpPr>
          <p:cNvPr id="14" name="Rectangle 20"/>
          <p:cNvSpPr>
            <a:spLocks noChangeArrowheads="1"/>
          </p:cNvSpPr>
          <p:nvPr/>
        </p:nvSpPr>
        <p:spPr bwMode="auto">
          <a:xfrm>
            <a:off x="2600325" y="2429554"/>
            <a:ext cx="8001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ru-RU" sz="1800">
                <a:latin typeface="Verdana" panose="020B0604030504040204" pitchFamily="34" charset="0"/>
              </a:rPr>
              <a:t>HTTP</a:t>
            </a:r>
            <a:endParaRPr lang="ru-RU" altLang="ru-RU" sz="1800">
              <a:latin typeface="Verdana" panose="020B0604030504040204" pitchFamily="34" charset="0"/>
            </a:endParaRPr>
          </a:p>
        </p:txBody>
      </p:sp>
      <p:sp>
        <p:nvSpPr>
          <p:cNvPr id="15" name="Rectangle 21"/>
          <p:cNvSpPr>
            <a:spLocks noChangeArrowheads="1"/>
          </p:cNvSpPr>
          <p:nvPr/>
        </p:nvSpPr>
        <p:spPr bwMode="auto">
          <a:xfrm>
            <a:off x="3514725" y="2429554"/>
            <a:ext cx="8001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Verdana" panose="020B0604030504040204" pitchFamily="34" charset="0"/>
              </a:rPr>
              <a:t>SMTP</a:t>
            </a:r>
            <a:endParaRPr lang="ru-RU" altLang="ru-RU" sz="1800" dirty="0">
              <a:latin typeface="Verdana" panose="020B0604030504040204" pitchFamily="34" charset="0"/>
            </a:endParaRPr>
          </a:p>
        </p:txBody>
      </p:sp>
      <p:sp>
        <p:nvSpPr>
          <p:cNvPr id="16" name="Rectangle 22"/>
          <p:cNvSpPr>
            <a:spLocks noChangeArrowheads="1"/>
          </p:cNvSpPr>
          <p:nvPr/>
        </p:nvSpPr>
        <p:spPr bwMode="auto">
          <a:xfrm>
            <a:off x="4429125" y="2429554"/>
            <a:ext cx="8001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ru-RU" sz="1800">
                <a:latin typeface="Verdana" panose="020B0604030504040204" pitchFamily="34" charset="0"/>
              </a:rPr>
              <a:t>DNS</a:t>
            </a:r>
            <a:endParaRPr lang="ru-RU" altLang="ru-RU" sz="1800">
              <a:latin typeface="Verdana" panose="020B0604030504040204" pitchFamily="34" charset="0"/>
            </a:endParaRPr>
          </a:p>
        </p:txBody>
      </p:sp>
      <p:sp>
        <p:nvSpPr>
          <p:cNvPr id="17" name="Rectangle 23"/>
          <p:cNvSpPr>
            <a:spLocks noChangeArrowheads="1"/>
          </p:cNvSpPr>
          <p:nvPr/>
        </p:nvSpPr>
        <p:spPr bwMode="auto">
          <a:xfrm>
            <a:off x="5343525" y="2429554"/>
            <a:ext cx="97155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ru-RU" sz="1800">
                <a:latin typeface="Verdana" panose="020B0604030504040204" pitchFamily="34" charset="0"/>
              </a:rPr>
              <a:t>FTP</a:t>
            </a:r>
            <a:endParaRPr lang="ru-RU" altLang="ru-RU" sz="1800">
              <a:latin typeface="Verdana" panose="020B0604030504040204" pitchFamily="34" charset="0"/>
            </a:endParaRPr>
          </a:p>
        </p:txBody>
      </p:sp>
      <p:sp>
        <p:nvSpPr>
          <p:cNvPr id="18" name="Rectangle 24"/>
          <p:cNvSpPr>
            <a:spLocks noChangeArrowheads="1"/>
          </p:cNvSpPr>
          <p:nvPr/>
        </p:nvSpPr>
        <p:spPr bwMode="auto">
          <a:xfrm>
            <a:off x="4543425" y="4105954"/>
            <a:ext cx="971550" cy="3810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ru-RU" sz="1800">
                <a:latin typeface="Verdana" panose="020B0604030504040204" pitchFamily="34" charset="0"/>
              </a:rPr>
              <a:t>ICMP</a:t>
            </a:r>
            <a:endParaRPr lang="ru-RU" altLang="ru-RU" sz="1800">
              <a:latin typeface="Verdana" panose="020B0604030504040204" pitchFamily="34" charset="0"/>
            </a:endParaRPr>
          </a:p>
        </p:txBody>
      </p:sp>
      <p:sp>
        <p:nvSpPr>
          <p:cNvPr id="19" name="Line 6"/>
          <p:cNvSpPr>
            <a:spLocks noChangeShapeType="1"/>
          </p:cNvSpPr>
          <p:nvPr/>
        </p:nvSpPr>
        <p:spPr bwMode="auto">
          <a:xfrm>
            <a:off x="2486025" y="3877354"/>
            <a:ext cx="3943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0" name="Line 7"/>
          <p:cNvSpPr>
            <a:spLocks noChangeShapeType="1"/>
          </p:cNvSpPr>
          <p:nvPr/>
        </p:nvSpPr>
        <p:spPr bwMode="auto">
          <a:xfrm>
            <a:off x="2486025" y="4791754"/>
            <a:ext cx="3943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2486025" y="3039154"/>
            <a:ext cx="3943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" name="Text Box 10"/>
          <p:cNvSpPr txBox="1">
            <a:spLocks noChangeArrowheads="1"/>
          </p:cNvSpPr>
          <p:nvPr/>
        </p:nvSpPr>
        <p:spPr bwMode="auto">
          <a:xfrm>
            <a:off x="524764" y="4983623"/>
            <a:ext cx="17556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Verdana" panose="020B0604030504040204" pitchFamily="34" charset="0"/>
              </a:rPr>
              <a:t>Сетевых </a:t>
            </a:r>
            <a:br>
              <a:rPr lang="ru-RU" altLang="ru-RU" sz="1800" dirty="0">
                <a:latin typeface="Verdana" panose="020B0604030504040204" pitchFamily="34" charset="0"/>
              </a:rPr>
            </a:br>
            <a:r>
              <a:rPr lang="ru-RU" altLang="ru-RU" sz="1800" dirty="0">
                <a:latin typeface="Verdana" panose="020B0604030504040204" pitchFamily="34" charset="0"/>
              </a:rPr>
              <a:t>интерфейсов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925621" y="4105954"/>
            <a:ext cx="11608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Verdana" panose="020B0604030504040204" pitchFamily="34" charset="0"/>
              </a:rPr>
              <a:t>Сетевой</a:t>
            </a:r>
          </a:p>
        </p:txBody>
      </p:sp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451027" y="3267754"/>
            <a:ext cx="190308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1800">
                <a:latin typeface="Verdana" panose="020B0604030504040204" pitchFamily="34" charset="0"/>
              </a:rPr>
              <a:t>Транспортный</a:t>
            </a:r>
          </a:p>
        </p:txBody>
      </p:sp>
      <p:sp>
        <p:nvSpPr>
          <p:cNvPr id="25" name="Text Box 13"/>
          <p:cNvSpPr txBox="1">
            <a:spLocks noChangeArrowheads="1"/>
          </p:cNvSpPr>
          <p:nvPr/>
        </p:nvSpPr>
        <p:spPr bwMode="auto">
          <a:xfrm>
            <a:off x="683568" y="2348880"/>
            <a:ext cx="16450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Verdana" panose="020B0604030504040204" pitchFamily="34" charset="0"/>
              </a:rPr>
              <a:t>Прикладной</a:t>
            </a:r>
          </a:p>
        </p:txBody>
      </p:sp>
      <p:sp>
        <p:nvSpPr>
          <p:cNvPr id="26" name="Rectangle 26"/>
          <p:cNvSpPr>
            <a:spLocks noChangeArrowheads="1"/>
          </p:cNvSpPr>
          <p:nvPr/>
        </p:nvSpPr>
        <p:spPr bwMode="auto">
          <a:xfrm>
            <a:off x="4029075" y="4639354"/>
            <a:ext cx="97155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ru-RU" sz="1800">
                <a:latin typeface="Verdana" panose="020B0604030504040204" pitchFamily="34" charset="0"/>
              </a:rPr>
              <a:t>DHCP</a:t>
            </a:r>
            <a:endParaRPr lang="ru-RU" altLang="ru-RU" sz="1800">
              <a:latin typeface="Verdana" panose="020B0604030504040204" pitchFamily="34" charset="0"/>
            </a:endParaRPr>
          </a:p>
        </p:txBody>
      </p:sp>
      <p:sp>
        <p:nvSpPr>
          <p:cNvPr id="27" name="Rectangle 25"/>
          <p:cNvSpPr>
            <a:spLocks noChangeArrowheads="1"/>
          </p:cNvSpPr>
          <p:nvPr/>
        </p:nvSpPr>
        <p:spPr bwMode="auto">
          <a:xfrm>
            <a:off x="2886075" y="4639354"/>
            <a:ext cx="97155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ru-RU" sz="1800">
                <a:latin typeface="Verdana" panose="020B0604030504040204" pitchFamily="34" charset="0"/>
              </a:rPr>
              <a:t>ARP</a:t>
            </a:r>
            <a:endParaRPr lang="ru-RU" altLang="ru-RU" sz="180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2525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47664" y="1700808"/>
            <a:ext cx="6338048" cy="2387600"/>
          </a:xfrm>
        </p:spPr>
        <p:txBody>
          <a:bodyPr>
            <a:noAutofit/>
          </a:bodyPr>
          <a:lstStyle/>
          <a:p>
            <a:pPr algn="ctr">
              <a:spcBef>
                <a:spcPts val="0"/>
              </a:spcBef>
            </a:pPr>
            <a:r>
              <a:rPr lang="ru-RU" sz="7200" dirty="0"/>
              <a:t>Физический уровень</a:t>
            </a:r>
            <a:endParaRPr lang="ru-RU" sz="7200" dirty="0">
              <a:latin typeface="Segoe UI Light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23840" y="4965623"/>
            <a:ext cx="6114208" cy="1670253"/>
          </a:xfrm>
        </p:spPr>
        <p:txBody>
          <a:bodyPr>
            <a:noAutofit/>
          </a:bodyPr>
          <a:lstStyle/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7740522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Место в модели </a:t>
            </a:r>
            <a:r>
              <a:rPr lang="en-US" dirty="0"/>
              <a:t>OSI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46350" y="1776987"/>
            <a:ext cx="3465116" cy="4351338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>
                <a:solidFill>
                  <a:prstClr val="black"/>
                </a:solidFill>
              </a:rPr>
              <a:t>Сервис: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Передача потока бит по среде передачи данных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400" dirty="0">
                <a:solidFill>
                  <a:schemeClr val="tx1"/>
                </a:solidFill>
              </a:rPr>
              <a:t>Не вникает в смысл передаваемой информации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400" dirty="0">
                <a:solidFill>
                  <a:schemeClr val="tx1"/>
                </a:solidFill>
              </a:rPr>
              <a:t>Единица передачи информации - бит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000" dirty="0">
              <a:solidFill>
                <a:schemeClr val="tx1"/>
              </a:solidFill>
            </a:endParaRPr>
          </a:p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2692129" y="6356357"/>
            <a:ext cx="3365771" cy="365125"/>
          </a:xfrm>
        </p:spPr>
        <p:txBody>
          <a:bodyPr/>
          <a:lstStyle/>
          <a:p>
            <a:r>
              <a:rPr lang="ru-RU" dirty="0"/>
              <a:t>Сети и системы телекоммуникаций. Физический уровень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78600" y="6356356"/>
            <a:ext cx="2457450" cy="365125"/>
          </a:xfrm>
        </p:spPr>
        <p:txBody>
          <a:bodyPr/>
          <a:lstStyle/>
          <a:p>
            <a:fld id="{9860EDB8-5305-433F-BE41-D7A86D811DB3}" type="slidenum">
              <a:rPr lang="ru-RU" smtClean="0"/>
              <a:t>38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75004" y="2303993"/>
            <a:ext cx="1513285" cy="4429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dirty="0">
                <a:latin typeface="+mn-lt"/>
                <a:cs typeface="+mn-cs"/>
              </a:rPr>
              <a:t>Прикладной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675004" y="2746905"/>
            <a:ext cx="1513285" cy="4429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dirty="0">
                <a:latin typeface="+mn-lt"/>
                <a:cs typeface="+mn-cs"/>
              </a:rPr>
              <a:t>Представления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75004" y="3189817"/>
            <a:ext cx="1513285" cy="4206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dirty="0">
                <a:latin typeface="+mn-lt"/>
                <a:cs typeface="+mn-cs"/>
              </a:rPr>
              <a:t>Сеансовый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675004" y="3610505"/>
            <a:ext cx="1513285" cy="4429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ru-RU" altLang="ru-RU" dirty="0">
                <a:solidFill>
                  <a:schemeClr val="tx1"/>
                </a:solidFill>
              </a:rPr>
              <a:t>Транспортный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675004" y="4053417"/>
            <a:ext cx="1513285" cy="433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ru-RU" altLang="ru-RU" dirty="0">
                <a:solidFill>
                  <a:schemeClr val="tx1"/>
                </a:solidFill>
              </a:rPr>
              <a:t>Сетевой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675004" y="4907493"/>
            <a:ext cx="1513285" cy="442913"/>
          </a:xfrm>
          <a:prstGeom prst="rect">
            <a:avLst/>
          </a:prstGeom>
          <a:solidFill>
            <a:srgbClr val="D2472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ru-RU" altLang="ru-RU" dirty="0">
                <a:solidFill>
                  <a:schemeClr val="bg1"/>
                </a:solidFill>
              </a:rPr>
              <a:t>Физический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676195" y="4486806"/>
            <a:ext cx="1512094" cy="420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ru-RU" altLang="ru-RU" dirty="0">
                <a:solidFill>
                  <a:schemeClr val="tx1"/>
                </a:solidFill>
              </a:rPr>
              <a:t>Канальный</a:t>
            </a:r>
          </a:p>
        </p:txBody>
      </p:sp>
    </p:spTree>
    <p:extLst>
      <p:ext uri="{BB962C8B-B14F-4D97-AF65-F5344CB8AC3E}">
        <p14:creationId xmlns:p14="http://schemas.microsoft.com/office/powerpoint/2010/main" val="28504336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Представление сигналов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3328" y="1776987"/>
            <a:ext cx="5558138" cy="4351338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400" dirty="0">
                <a:solidFill>
                  <a:prstClr val="black"/>
                </a:solidFill>
              </a:rPr>
              <a:t>Задача физического уровня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Как представить биты информации в виде сигналов, передаваемых по среде</a:t>
            </a:r>
          </a:p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2692129" y="6356357"/>
            <a:ext cx="3365771" cy="365125"/>
          </a:xfrm>
        </p:spPr>
        <p:txBody>
          <a:bodyPr/>
          <a:lstStyle/>
          <a:p>
            <a:r>
              <a:rPr lang="ru-RU" dirty="0"/>
              <a:t>Сети и системы телекоммуникаций. Физический уровень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21450" y="6356356"/>
            <a:ext cx="2457450" cy="365125"/>
          </a:xfrm>
        </p:spPr>
        <p:txBody>
          <a:bodyPr/>
          <a:lstStyle/>
          <a:p>
            <a:fld id="{9860EDB8-5305-433F-BE41-D7A86D811DB3}" type="slidenum">
              <a:rPr lang="ru-RU" smtClean="0"/>
              <a:t>39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61016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Представление сигналов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3328" y="1776987"/>
            <a:ext cx="5558138" cy="4351338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400" dirty="0">
                <a:solidFill>
                  <a:prstClr val="black"/>
                </a:solidFill>
              </a:rPr>
              <a:t>Задача физического уровня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Как представить биты информации в виде сигналов, передаваемых по среде</a:t>
            </a:r>
          </a:p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2692129" y="6356357"/>
            <a:ext cx="3365771" cy="365125"/>
          </a:xfrm>
        </p:spPr>
        <p:txBody>
          <a:bodyPr/>
          <a:lstStyle/>
          <a:p>
            <a:r>
              <a:rPr lang="ru-RU" dirty="0"/>
              <a:t>Сети и системы телекоммуникаций. Физический уровень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21450" y="6356356"/>
            <a:ext cx="2457450" cy="365125"/>
          </a:xfrm>
        </p:spPr>
        <p:txBody>
          <a:bodyPr/>
          <a:lstStyle/>
          <a:p>
            <a:fld id="{9860EDB8-5305-433F-BE41-D7A86D811DB3}" type="slidenum">
              <a:rPr lang="ru-RU" smtClean="0"/>
              <a:t>40</a:t>
            </a:fld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662" y="2869671"/>
            <a:ext cx="311467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9163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Представление сигналов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3328" y="1776987"/>
            <a:ext cx="5558138" cy="4351338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400" dirty="0">
                <a:solidFill>
                  <a:prstClr val="black"/>
                </a:solidFill>
              </a:rPr>
              <a:t>Задача физического уровня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Как представить биты информации в виде сигналов, передаваемых по среде</a:t>
            </a:r>
          </a:p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2692129" y="6356357"/>
            <a:ext cx="3365771" cy="365125"/>
          </a:xfrm>
        </p:spPr>
        <p:txBody>
          <a:bodyPr/>
          <a:lstStyle/>
          <a:p>
            <a:r>
              <a:rPr lang="ru-RU" dirty="0"/>
              <a:t>Сети и системы телекоммуникаций. Физический уровень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21450" y="6356356"/>
            <a:ext cx="2457450" cy="365125"/>
          </a:xfrm>
        </p:spPr>
        <p:txBody>
          <a:bodyPr/>
          <a:lstStyle/>
          <a:p>
            <a:fld id="{9860EDB8-5305-433F-BE41-D7A86D811DB3}" type="slidenum">
              <a:rPr lang="ru-RU" smtClean="0"/>
              <a:t>41</a:t>
            </a:fld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662" y="2869671"/>
            <a:ext cx="3114675" cy="115252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906" y="4250227"/>
            <a:ext cx="3050381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7672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канала связи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3328" y="3909674"/>
            <a:ext cx="5558138" cy="2178274"/>
          </a:xfrm>
        </p:spPr>
        <p:txBody>
          <a:bodyPr>
            <a:normAutofit fontScale="92500" lnSpcReduction="10000"/>
          </a:bodyPr>
          <a:lstStyle/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dirty="0">
                <a:solidFill>
                  <a:prstClr val="black"/>
                </a:solidFill>
              </a:rPr>
              <a:t>Характеристики канала связи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prstClr val="black"/>
                </a:solidFill>
              </a:rPr>
              <a:t>Пропускная способность (бит/с)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prstClr val="black"/>
                </a:solidFill>
              </a:rPr>
              <a:t>Задержка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prstClr val="black"/>
                </a:solidFill>
              </a:rPr>
              <a:t>Количество ошибок</a:t>
            </a:r>
          </a:p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400" dirty="0">
                <a:solidFill>
                  <a:prstClr val="black"/>
                </a:solidFill>
              </a:rPr>
              <a:t>Типы каналов связи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Симплексный, дуплексный, полудуплексный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2000" dirty="0">
              <a:solidFill>
                <a:prstClr val="black"/>
              </a:solidFill>
            </a:endParaRP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2000" dirty="0">
              <a:solidFill>
                <a:prstClr val="black"/>
              </a:solidFill>
            </a:endParaRPr>
          </a:p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2692129" y="6356357"/>
            <a:ext cx="3365771" cy="365125"/>
          </a:xfrm>
        </p:spPr>
        <p:txBody>
          <a:bodyPr/>
          <a:lstStyle/>
          <a:p>
            <a:r>
              <a:rPr lang="ru-RU" dirty="0"/>
              <a:t>Сети и системы телекоммуникаций. Физический уровень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21450" y="6356356"/>
            <a:ext cx="2457450" cy="365125"/>
          </a:xfrm>
        </p:spPr>
        <p:txBody>
          <a:bodyPr/>
          <a:lstStyle/>
          <a:p>
            <a:fld id="{9860EDB8-5305-433F-BE41-D7A86D811DB3}" type="slidenum">
              <a:rPr lang="ru-RU" smtClean="0"/>
              <a:t>42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267733" y="2596779"/>
            <a:ext cx="293596" cy="7200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113084" y="2596779"/>
            <a:ext cx="293596" cy="7200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трелка вправо 7"/>
          <p:cNvSpPr/>
          <p:nvPr/>
        </p:nvSpPr>
        <p:spPr>
          <a:xfrm>
            <a:off x="1690986" y="2812803"/>
            <a:ext cx="3274714" cy="28803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835814" y="3369243"/>
            <a:ext cx="1440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prstClr val="black"/>
                </a:solidFill>
              </a:rPr>
              <a:t>Отправитель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729327" y="3369243"/>
            <a:ext cx="13118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prstClr val="black"/>
                </a:solidFill>
              </a:rPr>
              <a:t>Получатель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2816545" y="3100835"/>
            <a:ext cx="13617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prstClr val="black"/>
                </a:solidFill>
              </a:rPr>
              <a:t>Канал связи</a:t>
            </a: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2792618" y="2026591"/>
            <a:ext cx="1325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prstClr val="black"/>
                </a:solidFill>
              </a:rPr>
              <a:t>Сообщение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3009816" y="2539939"/>
            <a:ext cx="637052" cy="20407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3883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Среды передачи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3328" y="1776987"/>
            <a:ext cx="5558138" cy="4351338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400" dirty="0">
                <a:solidFill>
                  <a:prstClr val="black"/>
                </a:solidFill>
              </a:rPr>
              <a:t>Кабель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Телефонный кабель (</a:t>
            </a:r>
            <a:r>
              <a:rPr lang="en-US" sz="2000" dirty="0">
                <a:solidFill>
                  <a:prstClr val="black"/>
                </a:solidFill>
              </a:rPr>
              <a:t>“</a:t>
            </a:r>
            <a:r>
              <a:rPr lang="ru-RU" sz="2000" dirty="0">
                <a:solidFill>
                  <a:prstClr val="black"/>
                </a:solidFill>
              </a:rPr>
              <a:t>лапша</a:t>
            </a:r>
            <a:r>
              <a:rPr lang="en-US" sz="2000" dirty="0">
                <a:solidFill>
                  <a:prstClr val="black"/>
                </a:solidFill>
              </a:rPr>
              <a:t>”</a:t>
            </a:r>
            <a:r>
              <a:rPr lang="ru-RU" sz="2000" dirty="0">
                <a:solidFill>
                  <a:prstClr val="black"/>
                </a:solidFill>
              </a:rPr>
              <a:t>)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Коаксиальный кабель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Витая пара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Оптический кабель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Провода электропитания 220В</a:t>
            </a:r>
          </a:p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400" dirty="0">
                <a:solidFill>
                  <a:prstClr val="black"/>
                </a:solidFill>
              </a:rPr>
              <a:t>Беспроводные технологии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Радиоволны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Инфракрасное излучение</a:t>
            </a:r>
            <a:endParaRPr lang="en-US" sz="2400" dirty="0">
              <a:solidFill>
                <a:prstClr val="black"/>
              </a:solidFill>
            </a:endParaRPr>
          </a:p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400" dirty="0">
                <a:solidFill>
                  <a:prstClr val="black"/>
                </a:solidFill>
              </a:rPr>
              <a:t>Спутниковые каналы</a:t>
            </a:r>
          </a:p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400" dirty="0">
                <a:solidFill>
                  <a:prstClr val="black"/>
                </a:solidFill>
              </a:rPr>
              <a:t>Беспроводная оптика (лазеры)</a:t>
            </a:r>
          </a:p>
          <a:p>
            <a:pPr marL="2794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000" dirty="0">
              <a:solidFill>
                <a:prstClr val="black"/>
              </a:solidFill>
            </a:endParaRPr>
          </a:p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2692129" y="6356357"/>
            <a:ext cx="3365771" cy="365125"/>
          </a:xfrm>
        </p:spPr>
        <p:txBody>
          <a:bodyPr/>
          <a:lstStyle/>
          <a:p>
            <a:r>
              <a:rPr lang="ru-RU" dirty="0"/>
              <a:t>Сети и системы телекоммуникаций. Физический уровень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21450" y="6356356"/>
            <a:ext cx="2457450" cy="365125"/>
          </a:xfrm>
        </p:spPr>
        <p:txBody>
          <a:bodyPr/>
          <a:lstStyle/>
          <a:p>
            <a:fld id="{9860EDB8-5305-433F-BE41-D7A86D811DB3}" type="slidenum">
              <a:rPr lang="ru-RU" smtClean="0"/>
              <a:t>43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65974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Витая пара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2692129" y="6356357"/>
            <a:ext cx="3365771" cy="365125"/>
          </a:xfrm>
        </p:spPr>
        <p:txBody>
          <a:bodyPr/>
          <a:lstStyle/>
          <a:p>
            <a:r>
              <a:rPr lang="ru-RU" dirty="0"/>
              <a:t>Сети и системы телекоммуникаций. Физический уровень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21450" y="6356356"/>
            <a:ext cx="2457450" cy="365125"/>
          </a:xfrm>
        </p:spPr>
        <p:txBody>
          <a:bodyPr/>
          <a:lstStyle/>
          <a:p>
            <a:fld id="{9860EDB8-5305-433F-BE41-D7A86D811DB3}" type="slidenum">
              <a:rPr lang="ru-RU" smtClean="0"/>
              <a:t>44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738" y="1758559"/>
            <a:ext cx="3979862" cy="432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7317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Оптический кабель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2692129" y="6356357"/>
            <a:ext cx="3365771" cy="365125"/>
          </a:xfrm>
        </p:spPr>
        <p:txBody>
          <a:bodyPr/>
          <a:lstStyle/>
          <a:p>
            <a:r>
              <a:rPr lang="ru-RU" dirty="0"/>
              <a:t>Сети и системы телекоммуникаций. Физический уровень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21450" y="6356356"/>
            <a:ext cx="2457450" cy="365125"/>
          </a:xfrm>
        </p:spPr>
        <p:txBody>
          <a:bodyPr/>
          <a:lstStyle/>
          <a:p>
            <a:fld id="{9860EDB8-5305-433F-BE41-D7A86D811DB3}" type="slidenum">
              <a:rPr lang="ru-RU" smtClean="0"/>
              <a:t>45</a:t>
            </a:fld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28" y="2111901"/>
            <a:ext cx="1577860" cy="317976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756" y="2022191"/>
            <a:ext cx="2519390" cy="33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5509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Радиоволны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3328" y="1776987"/>
            <a:ext cx="5558138" cy="4351338"/>
          </a:xfrm>
        </p:spPr>
        <p:txBody>
          <a:bodyPr>
            <a:normAutofit fontScale="92500" lnSpcReduction="10000"/>
          </a:bodyPr>
          <a:lstStyle/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400" dirty="0">
                <a:solidFill>
                  <a:prstClr val="black"/>
                </a:solidFill>
              </a:rPr>
              <a:t>Особенности беспроводной среды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Сигнал передается по нескольким направлениям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Может быть много приемников информации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Несколько источников сигнала искажают друг друга и требуют координации работы</a:t>
            </a:r>
          </a:p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400" dirty="0">
                <a:solidFill>
                  <a:prstClr val="black"/>
                </a:solidFill>
              </a:rPr>
              <a:t>Сотовая связь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GSM – 900 </a:t>
            </a:r>
            <a:r>
              <a:rPr lang="ru-RU" sz="2000" dirty="0">
                <a:solidFill>
                  <a:prstClr val="black"/>
                </a:solidFill>
              </a:rPr>
              <a:t>МГц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Требуется лицензирование</a:t>
            </a:r>
            <a:endParaRPr lang="en-US" sz="2400" dirty="0">
              <a:solidFill>
                <a:prstClr val="black"/>
              </a:solidFill>
            </a:endParaRPr>
          </a:p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2400" dirty="0">
                <a:solidFill>
                  <a:prstClr val="black"/>
                </a:solidFill>
              </a:rPr>
              <a:t>Wi-Fi</a:t>
            </a:r>
            <a:endParaRPr lang="ru-RU" sz="2400" dirty="0">
              <a:solidFill>
                <a:prstClr val="black"/>
              </a:solidFill>
            </a:endParaRP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2,4 </a:t>
            </a:r>
            <a:r>
              <a:rPr lang="ru-RU" sz="2000" dirty="0">
                <a:solidFill>
                  <a:prstClr val="black"/>
                </a:solidFill>
              </a:rPr>
              <a:t>ГГц и 5 ГГц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Не требуется лицензирование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Другие приборы также работают на этой частоте </a:t>
            </a:r>
            <a:endParaRPr lang="en-US" sz="2400" dirty="0">
              <a:solidFill>
                <a:prstClr val="black"/>
              </a:solidFill>
            </a:endParaRPr>
          </a:p>
          <a:p>
            <a:pPr marL="2794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000" dirty="0">
              <a:solidFill>
                <a:prstClr val="black"/>
              </a:solidFill>
            </a:endParaRPr>
          </a:p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2692129" y="6356357"/>
            <a:ext cx="3365771" cy="365125"/>
          </a:xfrm>
        </p:spPr>
        <p:txBody>
          <a:bodyPr/>
          <a:lstStyle/>
          <a:p>
            <a:r>
              <a:rPr lang="ru-RU" dirty="0"/>
              <a:t>Сети и системы телекоммуникаций. Физический уровень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21450" y="6356356"/>
            <a:ext cx="2457450" cy="365125"/>
          </a:xfrm>
        </p:spPr>
        <p:txBody>
          <a:bodyPr/>
          <a:lstStyle/>
          <a:p>
            <a:fld id="{9860EDB8-5305-433F-BE41-D7A86D811DB3}" type="slidenum">
              <a:rPr lang="ru-RU" smtClean="0"/>
              <a:t>46</a:t>
            </a:fld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113" y="3334042"/>
            <a:ext cx="1817687" cy="193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5059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Ошибки в каналах связи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2692129" y="6356357"/>
            <a:ext cx="3365771" cy="365125"/>
          </a:xfrm>
        </p:spPr>
        <p:txBody>
          <a:bodyPr/>
          <a:lstStyle/>
          <a:p>
            <a:r>
              <a:rPr lang="ru-RU" dirty="0"/>
              <a:t>Сети и системы телекоммуникаций. Физический уровень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21450" y="6356356"/>
            <a:ext cx="2457450" cy="365125"/>
          </a:xfrm>
        </p:spPr>
        <p:txBody>
          <a:bodyPr/>
          <a:lstStyle/>
          <a:p>
            <a:fld id="{9860EDB8-5305-433F-BE41-D7A86D811DB3}" type="slidenum">
              <a:rPr lang="ru-RU" smtClean="0"/>
              <a:t>47</a:t>
            </a:fld>
            <a:endParaRPr lang="ru-RU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784071"/>
              </p:ext>
            </p:extLst>
          </p:nvPr>
        </p:nvGraphicFramePr>
        <p:xfrm>
          <a:off x="273051" y="2192866"/>
          <a:ext cx="5784850" cy="292608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5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4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Среда передачи данных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Частота возникновения ошибок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Оптические кабели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Очень редко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Медные кабели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Редко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Радиоволны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Часто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89829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Представление информации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2692129" y="6356357"/>
            <a:ext cx="3365771" cy="365125"/>
          </a:xfrm>
        </p:spPr>
        <p:txBody>
          <a:bodyPr/>
          <a:lstStyle/>
          <a:p>
            <a:r>
              <a:rPr lang="ru-RU" dirty="0"/>
              <a:t>Сети и системы телекоммуникаций. Физический уровень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21450" y="6356356"/>
            <a:ext cx="2457450" cy="365125"/>
          </a:xfrm>
        </p:spPr>
        <p:txBody>
          <a:bodyPr/>
          <a:lstStyle/>
          <a:p>
            <a:fld id="{9860EDB8-5305-433F-BE41-D7A86D811DB3}" type="slidenum">
              <a:rPr lang="ru-RU" smtClean="0"/>
              <a:t>48</a:t>
            </a:fld>
            <a:endParaRPr lang="ru-RU" dirty="0"/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398463" y="1628776"/>
            <a:ext cx="2970182" cy="4970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lvl="0" algn="just" eaLnBrk="1" hangingPunct="1">
              <a:spcBef>
                <a:spcPts val="1800"/>
              </a:spcBef>
            </a:pPr>
            <a:r>
              <a:rPr lang="ru-RU" altLang="ru-RU" sz="2400" dirty="0">
                <a:solidFill>
                  <a:prstClr val="black"/>
                </a:solidFill>
                <a:latin typeface="+mn-lt"/>
                <a:cs typeface="+mn-cs"/>
              </a:rPr>
              <a:t>Прямоугольные импульсы</a:t>
            </a:r>
          </a:p>
          <a:p>
            <a:pPr lvl="0" algn="just" eaLnBrk="1" hangingPunct="1">
              <a:spcBef>
                <a:spcPts val="1800"/>
              </a:spcBef>
            </a:pPr>
            <a:endParaRPr lang="ru-RU" altLang="ru-RU" sz="2400" dirty="0">
              <a:solidFill>
                <a:prstClr val="black"/>
              </a:solidFill>
              <a:latin typeface="Verdana" panose="020B0604030504040204" pitchFamily="34" charset="0"/>
            </a:endParaRPr>
          </a:p>
          <a:p>
            <a:pPr lvl="0" algn="just" eaLnBrk="1" hangingPunct="1">
              <a:spcBef>
                <a:spcPts val="1800"/>
              </a:spcBef>
            </a:pPr>
            <a:endParaRPr lang="ru-RU" altLang="ru-RU" sz="2400" dirty="0">
              <a:solidFill>
                <a:prstClr val="black"/>
              </a:solidFill>
              <a:latin typeface="Verdana" panose="020B0604030504040204" pitchFamily="34" charset="0"/>
            </a:endParaRPr>
          </a:p>
          <a:p>
            <a:pPr lvl="0" eaLnBrk="1" hangingPunct="1">
              <a:spcBef>
                <a:spcPts val="1800"/>
              </a:spcBef>
            </a:pPr>
            <a:endParaRPr lang="ru-RU" altLang="ru-RU" sz="1200" dirty="0">
              <a:solidFill>
                <a:prstClr val="black"/>
              </a:solidFill>
              <a:latin typeface="+mn-lt"/>
              <a:cs typeface="+mn-cs"/>
            </a:endParaRPr>
          </a:p>
          <a:p>
            <a:pPr lvl="0" eaLnBrk="1" hangingPunct="1">
              <a:spcBef>
                <a:spcPts val="1800"/>
              </a:spcBef>
            </a:pPr>
            <a:r>
              <a:rPr lang="ru-RU" altLang="ru-RU" sz="2400" dirty="0">
                <a:solidFill>
                  <a:prstClr val="black"/>
                </a:solidFill>
                <a:latin typeface="+mn-lt"/>
                <a:cs typeface="+mn-cs"/>
              </a:rPr>
              <a:t>Представление информации – </a:t>
            </a:r>
            <a:r>
              <a:rPr lang="ru-RU" altLang="ru-RU" sz="2400" b="1" dirty="0">
                <a:solidFill>
                  <a:prstClr val="black"/>
                </a:solidFill>
                <a:latin typeface="+mn-lt"/>
                <a:cs typeface="+mn-cs"/>
              </a:rPr>
              <a:t>кодирование</a:t>
            </a:r>
            <a:r>
              <a:rPr lang="ru-RU" altLang="ru-RU" sz="2400" dirty="0">
                <a:solidFill>
                  <a:prstClr val="black"/>
                </a:solidFill>
                <a:latin typeface="+mn-lt"/>
                <a:cs typeface="+mn-cs"/>
              </a:rPr>
              <a:t> (</a:t>
            </a:r>
            <a:r>
              <a:rPr lang="en-US" altLang="ru-RU" sz="2400" dirty="0">
                <a:solidFill>
                  <a:prstClr val="black"/>
                </a:solidFill>
                <a:latin typeface="+mn-lt"/>
                <a:cs typeface="+mn-cs"/>
              </a:rPr>
              <a:t>baseband modulation)</a:t>
            </a:r>
          </a:p>
          <a:p>
            <a:pPr lvl="0" eaLnBrk="1" hangingPunct="1">
              <a:spcBef>
                <a:spcPts val="1800"/>
              </a:spcBef>
            </a:pPr>
            <a:r>
              <a:rPr lang="ru-RU" altLang="ru-RU" sz="2400" dirty="0">
                <a:solidFill>
                  <a:prstClr val="black"/>
                </a:solidFill>
                <a:latin typeface="+mn-lt"/>
                <a:cs typeface="+mn-cs"/>
              </a:rPr>
              <a:t>Медные провода</a:t>
            </a:r>
            <a:endParaRPr lang="en-US" altLang="ru-RU" sz="2400" dirty="0">
              <a:solidFill>
                <a:prstClr val="black"/>
              </a:solidFill>
              <a:latin typeface="+mn-lt"/>
              <a:cs typeface="+mn-cs"/>
            </a:endParaRPr>
          </a:p>
          <a:p>
            <a:pPr marL="714375" lvl="0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altLang="ru-RU" sz="2000" dirty="0">
              <a:solidFill>
                <a:prstClr val="black"/>
              </a:solidFill>
              <a:latin typeface="Verdana" panose="020B0604030504040204" pitchFamily="34" charset="0"/>
            </a:endParaRP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719764" y="3386336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 flipV="1">
            <a:off x="719764" y="2471936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2377114" y="3386337"/>
            <a:ext cx="2616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ru-RU"/>
              <a:t>t</a:t>
            </a:r>
            <a:endParaRPr lang="ru-RU" altLang="ru-RU"/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 flipV="1">
            <a:off x="948364" y="2852936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948364" y="2852936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>
            <a:off x="1176964" y="2852936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 flipV="1">
            <a:off x="1348414" y="2852936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>
            <a:off x="1348414" y="2852936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1577014" y="2852936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 flipV="1">
            <a:off x="1748464" y="2852936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1748464" y="2852936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>
            <a:off x="1977064" y="2852936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0" name="TextBox 3"/>
          <p:cNvSpPr txBox="1">
            <a:spLocks noChangeArrowheads="1"/>
          </p:cNvSpPr>
          <p:nvPr/>
        </p:nvSpPr>
        <p:spPr bwMode="auto">
          <a:xfrm>
            <a:off x="3692828" y="1628800"/>
            <a:ext cx="2970182" cy="5370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lvl="0" algn="just" eaLnBrk="1" hangingPunct="1">
              <a:spcBef>
                <a:spcPts val="1800"/>
              </a:spcBef>
            </a:pPr>
            <a:r>
              <a:rPr lang="ru-RU" altLang="ru-RU" sz="2400" dirty="0">
                <a:solidFill>
                  <a:prstClr val="black"/>
                </a:solidFill>
                <a:latin typeface="+mn-lt"/>
                <a:cs typeface="+mn-cs"/>
              </a:rPr>
              <a:t>Синусоидальные волны</a:t>
            </a:r>
          </a:p>
          <a:p>
            <a:pPr lvl="0" algn="just" eaLnBrk="1" hangingPunct="1">
              <a:spcBef>
                <a:spcPts val="1800"/>
              </a:spcBef>
            </a:pPr>
            <a:endParaRPr lang="ru-RU" altLang="ru-RU" sz="1400" dirty="0">
              <a:solidFill>
                <a:prstClr val="black"/>
              </a:solidFill>
              <a:latin typeface="+mn-lt"/>
              <a:cs typeface="+mn-cs"/>
            </a:endParaRPr>
          </a:p>
          <a:p>
            <a:pPr lvl="0" algn="just" eaLnBrk="1" hangingPunct="1">
              <a:spcBef>
                <a:spcPts val="1800"/>
              </a:spcBef>
            </a:pPr>
            <a:endParaRPr lang="ru-RU" altLang="ru-RU" sz="2400" dirty="0">
              <a:solidFill>
                <a:prstClr val="black"/>
              </a:solidFill>
              <a:latin typeface="+mn-lt"/>
              <a:cs typeface="+mn-cs"/>
            </a:endParaRPr>
          </a:p>
          <a:p>
            <a:pPr lvl="0" algn="just" eaLnBrk="1" hangingPunct="1">
              <a:spcBef>
                <a:spcPts val="1800"/>
              </a:spcBef>
            </a:pPr>
            <a:endParaRPr lang="ru-RU" altLang="ru-RU" sz="2400" dirty="0">
              <a:solidFill>
                <a:prstClr val="black"/>
              </a:solidFill>
              <a:latin typeface="Verdana" panose="020B0604030504040204" pitchFamily="34" charset="0"/>
            </a:endParaRPr>
          </a:p>
          <a:p>
            <a:pPr lvl="0" algn="just" eaLnBrk="1" hangingPunct="1">
              <a:spcBef>
                <a:spcPts val="1800"/>
              </a:spcBef>
            </a:pPr>
            <a:r>
              <a:rPr lang="ru-RU" altLang="ru-RU" sz="2400" dirty="0">
                <a:solidFill>
                  <a:prstClr val="black"/>
                </a:solidFill>
                <a:latin typeface="+mn-lt"/>
                <a:cs typeface="+mn-cs"/>
              </a:rPr>
              <a:t>Представление информации – </a:t>
            </a:r>
            <a:r>
              <a:rPr lang="ru-RU" altLang="ru-RU" sz="2400" b="1" dirty="0">
                <a:solidFill>
                  <a:prstClr val="black"/>
                </a:solidFill>
                <a:latin typeface="+mn-lt"/>
                <a:cs typeface="+mn-cs"/>
              </a:rPr>
              <a:t>модуляция</a:t>
            </a:r>
            <a:r>
              <a:rPr lang="ru-RU" altLang="ru-RU" sz="2400" dirty="0">
                <a:solidFill>
                  <a:prstClr val="black"/>
                </a:solidFill>
                <a:latin typeface="+mn-lt"/>
                <a:cs typeface="+mn-cs"/>
              </a:rPr>
              <a:t> (</a:t>
            </a:r>
            <a:r>
              <a:rPr lang="en-US" altLang="ru-RU" sz="2400" dirty="0" err="1">
                <a:solidFill>
                  <a:prstClr val="black"/>
                </a:solidFill>
                <a:latin typeface="+mn-lt"/>
                <a:cs typeface="+mn-cs"/>
              </a:rPr>
              <a:t>passband</a:t>
            </a:r>
            <a:r>
              <a:rPr lang="en-US" altLang="ru-RU" sz="2400" dirty="0">
                <a:solidFill>
                  <a:prstClr val="black"/>
                </a:solidFill>
                <a:latin typeface="+mn-lt"/>
                <a:cs typeface="+mn-cs"/>
              </a:rPr>
              <a:t> modulation)</a:t>
            </a:r>
          </a:p>
          <a:p>
            <a:pPr lvl="0" algn="just" eaLnBrk="1" hangingPunct="1">
              <a:spcBef>
                <a:spcPts val="1800"/>
              </a:spcBef>
            </a:pPr>
            <a:r>
              <a:rPr lang="ru-RU" altLang="ru-RU" sz="2400" dirty="0">
                <a:solidFill>
                  <a:prstClr val="black"/>
                </a:solidFill>
                <a:latin typeface="+mn-lt"/>
                <a:cs typeface="+mn-cs"/>
              </a:rPr>
              <a:t>Оптоволокно, беспроводная среда</a:t>
            </a:r>
            <a:endParaRPr lang="en-US" altLang="ru-RU" sz="2400" dirty="0">
              <a:solidFill>
                <a:prstClr val="black"/>
              </a:solidFill>
              <a:latin typeface="+mn-lt"/>
              <a:cs typeface="+mn-cs"/>
            </a:endParaRPr>
          </a:p>
          <a:p>
            <a:pPr marL="714375" lvl="0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altLang="ru-RU" sz="2000" dirty="0">
              <a:solidFill>
                <a:prstClr val="black"/>
              </a:solidFill>
              <a:latin typeface="Verdana" panose="020B0604030504040204" pitchFamily="34" charset="0"/>
            </a:endParaRPr>
          </a:p>
        </p:txBody>
      </p:sp>
      <p:grpSp>
        <p:nvGrpSpPr>
          <p:cNvPr id="21" name="Группа 20"/>
          <p:cNvGrpSpPr/>
          <p:nvPr/>
        </p:nvGrpSpPr>
        <p:grpSpPr>
          <a:xfrm>
            <a:off x="4266208" y="2417564"/>
            <a:ext cx="1646122" cy="1152128"/>
            <a:chOff x="5181600" y="2348880"/>
            <a:chExt cx="2604702" cy="1447800"/>
          </a:xfrm>
        </p:grpSpPr>
        <p:sp>
          <p:nvSpPr>
            <p:cNvPr id="22" name="Line 18"/>
            <p:cNvSpPr>
              <a:spLocks noChangeShapeType="1"/>
            </p:cNvSpPr>
            <p:nvPr/>
          </p:nvSpPr>
          <p:spPr bwMode="auto">
            <a:xfrm>
              <a:off x="5181600" y="3187080"/>
              <a:ext cx="2438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 flipV="1">
              <a:off x="5181600" y="2348880"/>
              <a:ext cx="0" cy="1447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4" name="Text Box 20"/>
            <p:cNvSpPr txBox="1">
              <a:spLocks noChangeArrowheads="1"/>
            </p:cNvSpPr>
            <p:nvPr/>
          </p:nvSpPr>
          <p:spPr bwMode="auto">
            <a:xfrm>
              <a:off x="7372350" y="3187079"/>
              <a:ext cx="413952" cy="4641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ru-RU"/>
                <a:t>t</a:t>
              </a:r>
              <a:endParaRPr lang="ru-RU" altLang="ru-RU"/>
            </a:p>
          </p:txBody>
        </p:sp>
        <p:sp>
          <p:nvSpPr>
            <p:cNvPr id="25" name="Arc 32"/>
            <p:cNvSpPr>
              <a:spLocks/>
            </p:cNvSpPr>
            <p:nvPr/>
          </p:nvSpPr>
          <p:spPr bwMode="auto">
            <a:xfrm rot="10800000" flipV="1">
              <a:off x="5181600" y="2653680"/>
              <a:ext cx="533400" cy="5334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6" name="Arc 33"/>
            <p:cNvSpPr>
              <a:spLocks/>
            </p:cNvSpPr>
            <p:nvPr/>
          </p:nvSpPr>
          <p:spPr bwMode="auto">
            <a:xfrm rot="10800000" flipH="1" flipV="1">
              <a:off x="5715000" y="2653680"/>
              <a:ext cx="533400" cy="5334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7" name="Arc 35"/>
            <p:cNvSpPr>
              <a:spLocks/>
            </p:cNvSpPr>
            <p:nvPr/>
          </p:nvSpPr>
          <p:spPr bwMode="auto">
            <a:xfrm flipH="1" flipV="1">
              <a:off x="6248400" y="3187080"/>
              <a:ext cx="533400" cy="5334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8" name="Arc 36"/>
            <p:cNvSpPr>
              <a:spLocks/>
            </p:cNvSpPr>
            <p:nvPr/>
          </p:nvSpPr>
          <p:spPr bwMode="auto">
            <a:xfrm flipV="1">
              <a:off x="6781800" y="3187080"/>
              <a:ext cx="533400" cy="5334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6330851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3328" y="1776987"/>
            <a:ext cx="5558138" cy="4351338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400" dirty="0">
                <a:solidFill>
                  <a:prstClr val="black"/>
                </a:solidFill>
              </a:rPr>
              <a:t>Физический уровень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Передача потока бит по среде передачи данных</a:t>
            </a:r>
          </a:p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400" dirty="0">
                <a:solidFill>
                  <a:prstClr val="black"/>
                </a:solidFill>
              </a:rPr>
              <a:t>Среда передачи данных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Медные кабели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Оптические кабели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prstClr val="black"/>
                </a:solidFill>
              </a:rPr>
              <a:t>Радиоволны</a:t>
            </a:r>
            <a:endParaRPr lang="ru-RU" sz="24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400" dirty="0">
                <a:solidFill>
                  <a:schemeClr val="tx1"/>
                </a:solidFill>
              </a:rPr>
              <a:t>Характеристики каналов связи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Пропускная способность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Задержка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Количество ошибок</a:t>
            </a: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2692129" y="6356357"/>
            <a:ext cx="3365771" cy="365125"/>
          </a:xfrm>
        </p:spPr>
        <p:txBody>
          <a:bodyPr/>
          <a:lstStyle/>
          <a:p>
            <a:r>
              <a:rPr lang="ru-RU" dirty="0"/>
              <a:t>Сети и системы телекоммуникаций. Физический уровень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21450" y="6356356"/>
            <a:ext cx="2457450" cy="365125"/>
          </a:xfrm>
        </p:spPr>
        <p:txBody>
          <a:bodyPr/>
          <a:lstStyle/>
          <a:p>
            <a:fld id="{9860EDB8-5305-433F-BE41-D7A86D811DB3}" type="slidenum">
              <a:rPr lang="ru-RU" smtClean="0"/>
              <a:t>49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86986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Box 1"/>
          <p:cNvSpPr txBox="1">
            <a:spLocks noChangeArrowheads="1"/>
          </p:cNvSpPr>
          <p:nvPr/>
        </p:nvSpPr>
        <p:spPr bwMode="auto">
          <a:xfrm>
            <a:off x="1331640" y="1124744"/>
            <a:ext cx="6858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ru-RU" altLang="ru-RU" sz="3200" b="1" dirty="0">
              <a:latin typeface="Verdana" panose="020B0604030504040204" pitchFamily="34" charset="0"/>
            </a:endParaRPr>
          </a:p>
          <a:p>
            <a:pPr algn="ctr" eaLnBrk="1" hangingPunct="1"/>
            <a:r>
              <a:rPr lang="ru-RU" altLang="ru-RU" sz="4000" b="1" dirty="0">
                <a:latin typeface="Verdana" panose="020B0604030504040204" pitchFamily="34" charset="0"/>
              </a:rPr>
              <a:t>Канальный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5614266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1187624" y="332656"/>
            <a:ext cx="615672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Место в модели </a:t>
            </a:r>
            <a:r>
              <a:rPr lang="en-US" altLang="ru-RU" sz="2800" b="1" dirty="0">
                <a:latin typeface="Verdana" panose="020B0604030504040204" pitchFamily="34" charset="0"/>
              </a:rPr>
              <a:t>OSI</a:t>
            </a:r>
            <a:endParaRPr lang="ru-RU" altLang="ru-RU" sz="2800" b="1" dirty="0">
              <a:latin typeface="Verdana" panose="020B060403050404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7435297" y="5751231"/>
            <a:ext cx="2133600" cy="365125"/>
          </a:xfrm>
        </p:spPr>
        <p:txBody>
          <a:bodyPr/>
          <a:lstStyle/>
          <a:p>
            <a:fld id="{FB572FCD-ECDD-4AD1-A933-149E1B2284F8}" type="slidenum">
              <a:rPr lang="ru-RU" altLang="ru-RU" smtClean="0"/>
              <a:pPr/>
              <a:t>51</a:t>
            </a:fld>
            <a:endParaRPr lang="ru-RU" altLang="ru-RU"/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1547664" y="4313453"/>
            <a:ext cx="1431589" cy="304800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 dirty="0"/>
              <a:t>Физический</a:t>
            </a:r>
          </a:p>
        </p:txBody>
      </p:sp>
      <p:sp>
        <p:nvSpPr>
          <p:cNvPr id="27" name="Rectangle 5"/>
          <p:cNvSpPr>
            <a:spLocks noChangeArrowheads="1"/>
          </p:cNvSpPr>
          <p:nvPr/>
        </p:nvSpPr>
        <p:spPr bwMode="auto">
          <a:xfrm>
            <a:off x="1547664" y="3780053"/>
            <a:ext cx="1431589" cy="3048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 dirty="0"/>
              <a:t>Канальный</a:t>
            </a:r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1547664" y="3246653"/>
            <a:ext cx="1431589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dirty="0"/>
              <a:t>Сетевой</a:t>
            </a: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1547664" y="2713253"/>
            <a:ext cx="1431589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dirty="0"/>
              <a:t>Транспортный</a:t>
            </a:r>
          </a:p>
        </p:txBody>
      </p:sp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1547664" y="2179853"/>
            <a:ext cx="1431589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dirty="0"/>
              <a:t>Сеансовый</a:t>
            </a:r>
          </a:p>
        </p:txBody>
      </p: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1547664" y="1646453"/>
            <a:ext cx="1431589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dirty="0"/>
              <a:t>Представления</a:t>
            </a:r>
          </a:p>
        </p:txBody>
      </p:sp>
      <p:sp>
        <p:nvSpPr>
          <p:cNvPr id="32" name="Rectangle 10"/>
          <p:cNvSpPr>
            <a:spLocks noChangeArrowheads="1"/>
          </p:cNvSpPr>
          <p:nvPr/>
        </p:nvSpPr>
        <p:spPr bwMode="auto">
          <a:xfrm>
            <a:off x="1547664" y="1113053"/>
            <a:ext cx="1431589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dirty="0"/>
              <a:t>Прикладной</a:t>
            </a:r>
          </a:p>
        </p:txBody>
      </p:sp>
      <p:sp>
        <p:nvSpPr>
          <p:cNvPr id="33" name="Line 11"/>
          <p:cNvSpPr>
            <a:spLocks noChangeShapeType="1"/>
          </p:cNvSpPr>
          <p:nvPr/>
        </p:nvSpPr>
        <p:spPr bwMode="auto">
          <a:xfrm>
            <a:off x="2293453" y="408485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34" name="Line 12"/>
          <p:cNvSpPr>
            <a:spLocks noChangeShapeType="1"/>
          </p:cNvSpPr>
          <p:nvPr/>
        </p:nvSpPr>
        <p:spPr bwMode="auto">
          <a:xfrm>
            <a:off x="2293453" y="355145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35" name="Line 13"/>
          <p:cNvSpPr>
            <a:spLocks noChangeShapeType="1"/>
          </p:cNvSpPr>
          <p:nvPr/>
        </p:nvSpPr>
        <p:spPr bwMode="auto">
          <a:xfrm>
            <a:off x="2293453" y="301805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36" name="Line 14"/>
          <p:cNvSpPr>
            <a:spLocks noChangeShapeType="1"/>
          </p:cNvSpPr>
          <p:nvPr/>
        </p:nvSpPr>
        <p:spPr bwMode="auto">
          <a:xfrm>
            <a:off x="2293453" y="248465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37" name="Line 15"/>
          <p:cNvSpPr>
            <a:spLocks noChangeShapeType="1"/>
          </p:cNvSpPr>
          <p:nvPr/>
        </p:nvSpPr>
        <p:spPr bwMode="auto">
          <a:xfrm>
            <a:off x="2293453" y="195125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38" name="Line 16"/>
          <p:cNvSpPr>
            <a:spLocks noChangeShapeType="1"/>
          </p:cNvSpPr>
          <p:nvPr/>
        </p:nvSpPr>
        <p:spPr bwMode="auto">
          <a:xfrm>
            <a:off x="2293453" y="141785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39" name="TextBox 3"/>
          <p:cNvSpPr txBox="1">
            <a:spLocks noChangeArrowheads="1"/>
          </p:cNvSpPr>
          <p:nvPr/>
        </p:nvSpPr>
        <p:spPr bwMode="auto">
          <a:xfrm>
            <a:off x="3447001" y="1109382"/>
            <a:ext cx="3996630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8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Передача </a:t>
            </a:r>
            <a:r>
              <a:rPr lang="ru-RU" altLang="ru-RU" sz="2400" b="1" i="1" dirty="0">
                <a:latin typeface="Verdana" panose="020B0604030504040204" pitchFamily="34" charset="0"/>
              </a:rPr>
              <a:t>сообщений</a:t>
            </a:r>
            <a:r>
              <a:rPr lang="ru-RU" altLang="ru-RU" sz="2400" dirty="0">
                <a:latin typeface="Verdana" panose="020B0604030504040204" pitchFamily="34" charset="0"/>
              </a:rPr>
              <a:t> по каналам связи – </a:t>
            </a:r>
            <a:r>
              <a:rPr lang="ru-RU" altLang="ru-RU" sz="2400" b="1" dirty="0">
                <a:latin typeface="Verdana" panose="020B0604030504040204" pitchFamily="34" charset="0"/>
              </a:rPr>
              <a:t>кадров </a:t>
            </a:r>
            <a:r>
              <a:rPr lang="ru-RU" altLang="ru-RU" sz="2400" dirty="0">
                <a:latin typeface="Verdana" panose="020B0604030504040204" pitchFamily="34" charset="0"/>
              </a:rPr>
              <a:t>(</a:t>
            </a:r>
            <a:r>
              <a:rPr lang="en-US" altLang="ru-RU" sz="2400" dirty="0">
                <a:latin typeface="Verdana" panose="020B0604030504040204" pitchFamily="34" charset="0"/>
              </a:rPr>
              <a:t>frame)</a:t>
            </a:r>
          </a:p>
          <a:p>
            <a:pPr marL="715963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latin typeface="Verdana" panose="020B0604030504040204" pitchFamily="34" charset="0"/>
              </a:rPr>
              <a:t>Определение начала/конца кадра в потоке бит</a:t>
            </a:r>
            <a:endParaRPr lang="en-US" altLang="ru-RU" sz="2200" dirty="0">
              <a:latin typeface="Verdana" panose="020B0604030504040204" pitchFamily="34" charset="0"/>
            </a:endParaRPr>
          </a:p>
          <a:p>
            <a:pPr algn="just" eaLnBrk="1" hangingPunct="1">
              <a:spcBef>
                <a:spcPts val="18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Обнаружение и коррекция ошибок</a:t>
            </a:r>
          </a:p>
          <a:p>
            <a:pPr algn="just" eaLnBrk="1" hangingPunct="1">
              <a:spcBef>
                <a:spcPts val="18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Множественный доступ к каналу связи:</a:t>
            </a:r>
          </a:p>
          <a:p>
            <a:pPr marL="715963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latin typeface="Verdana" panose="020B0604030504040204" pitchFamily="34" charset="0"/>
              </a:rPr>
              <a:t>Адресация</a:t>
            </a:r>
          </a:p>
          <a:p>
            <a:pPr marL="715963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latin typeface="Verdana" panose="020B0604030504040204" pitchFamily="34" charset="0"/>
              </a:rPr>
              <a:t>Согласованный доступ к каналу</a:t>
            </a:r>
            <a:endParaRPr lang="ru-RU" altLang="ru-RU" sz="1400" dirty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9997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305527" y="937775"/>
            <a:ext cx="615672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Работа с кадрами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52</a:t>
            </a:fld>
            <a:endParaRPr lang="ru-RU" altLang="ru-RU"/>
          </a:p>
        </p:txBody>
      </p:sp>
      <p:sp>
        <p:nvSpPr>
          <p:cNvPr id="20" name="TextBox 3"/>
          <p:cNvSpPr txBox="1">
            <a:spLocks noChangeArrowheads="1"/>
          </p:cNvSpPr>
          <p:nvPr/>
        </p:nvSpPr>
        <p:spPr bwMode="auto">
          <a:xfrm>
            <a:off x="404812" y="1412776"/>
            <a:ext cx="6156722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8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Физический уровень передает поток бит</a:t>
            </a:r>
          </a:p>
          <a:p>
            <a:pPr algn="just" eaLnBrk="1" hangingPunct="1">
              <a:spcBef>
                <a:spcPts val="18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Как выделить в этом потоке отдельные сообщения – кадры?</a:t>
            </a:r>
            <a:endParaRPr lang="ru-RU" altLang="ru-RU" sz="1400" dirty="0">
              <a:latin typeface="Verdana" panose="020B0604030504040204" pitchFamily="34" charset="0"/>
            </a:endParaRP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94" y="3284984"/>
            <a:ext cx="5254271" cy="2388218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3464" y="5404944"/>
            <a:ext cx="3456731" cy="4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4778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305527" y="937775"/>
            <a:ext cx="615672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Формирование кадра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53</a:t>
            </a:fld>
            <a:endParaRPr lang="ru-RU" alt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V="1">
            <a:off x="80628" y="3136600"/>
            <a:ext cx="6534726" cy="436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1484784" y="2420888"/>
            <a:ext cx="864096" cy="43204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Пакет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1484784" y="3501008"/>
            <a:ext cx="864096" cy="43204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Пакет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728700" y="3501008"/>
            <a:ext cx="76125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Заголовок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2348880" y="3501008"/>
            <a:ext cx="70207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Концевик</a:t>
            </a:r>
            <a:endParaRPr lang="ru-RU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4563126" y="3501008"/>
            <a:ext cx="864096" cy="43204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Пакет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3807042" y="3501008"/>
            <a:ext cx="76125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Заголовок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5427222" y="3501008"/>
            <a:ext cx="70207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Концевик</a:t>
            </a:r>
            <a:endParaRPr lang="ru-RU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4563126" y="2420888"/>
            <a:ext cx="864096" cy="43204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Пакет</a:t>
            </a:r>
          </a:p>
        </p:txBody>
      </p:sp>
      <p:cxnSp>
        <p:nvCxnSpPr>
          <p:cNvPr id="18" name="Прямая со стрелкой 17"/>
          <p:cNvCxnSpPr>
            <a:stCxn id="10" idx="2"/>
            <a:endCxn id="11" idx="0"/>
          </p:cNvCxnSpPr>
          <p:nvPr/>
        </p:nvCxnSpPr>
        <p:spPr>
          <a:xfrm>
            <a:off x="1916832" y="2852936"/>
            <a:ext cx="0" cy="648072"/>
          </a:xfrm>
          <a:prstGeom prst="straightConnector1">
            <a:avLst/>
          </a:prstGeom>
          <a:ln w="15875" cmpd="sng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>
            <a:off x="4995174" y="2852936"/>
            <a:ext cx="0" cy="648072"/>
          </a:xfrm>
          <a:prstGeom prst="straightConnector1">
            <a:avLst/>
          </a:prstGeom>
          <a:ln w="15875" cmpd="sng">
            <a:solidFill>
              <a:schemeClr val="tx1">
                <a:lumMod val="95000"/>
                <a:lumOff val="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489957" y="1700808"/>
            <a:ext cx="912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Хост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9120" y="1700808"/>
            <a:ext cx="912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Хост 2</a:t>
            </a:r>
          </a:p>
        </p:txBody>
      </p:sp>
      <p:cxnSp>
        <p:nvCxnSpPr>
          <p:cNvPr id="25" name="Прямая соединительная линия 24"/>
          <p:cNvCxnSpPr>
            <a:stCxn id="11" idx="2"/>
          </p:cNvCxnSpPr>
          <p:nvPr/>
        </p:nvCxnSpPr>
        <p:spPr>
          <a:xfrm>
            <a:off x="1916832" y="3933056"/>
            <a:ext cx="0" cy="1224136"/>
          </a:xfrm>
          <a:prstGeom prst="line">
            <a:avLst/>
          </a:prstGeom>
          <a:ln w="158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1916832" y="5157192"/>
            <a:ext cx="3078342" cy="0"/>
          </a:xfrm>
          <a:prstGeom prst="line">
            <a:avLst/>
          </a:prstGeom>
          <a:ln w="158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>
            <a:endCxn id="14" idx="2"/>
          </p:cNvCxnSpPr>
          <p:nvPr/>
        </p:nvCxnSpPr>
        <p:spPr>
          <a:xfrm flipV="1">
            <a:off x="4995174" y="3933056"/>
            <a:ext cx="0" cy="1224136"/>
          </a:xfrm>
          <a:prstGeom prst="straightConnector1">
            <a:avLst/>
          </a:prstGeom>
          <a:ln w="158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>
            <a:stCxn id="13" idx="3"/>
            <a:endCxn id="15" idx="1"/>
          </p:cNvCxnSpPr>
          <p:nvPr/>
        </p:nvCxnSpPr>
        <p:spPr>
          <a:xfrm>
            <a:off x="3050958" y="3717032"/>
            <a:ext cx="756084" cy="0"/>
          </a:xfrm>
          <a:prstGeom prst="straightConnector1">
            <a:avLst/>
          </a:prstGeom>
          <a:ln w="15875">
            <a:solidFill>
              <a:schemeClr val="tx1">
                <a:lumMod val="95000"/>
                <a:lumOff val="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 flipV="1">
            <a:off x="80628" y="4653136"/>
            <a:ext cx="6534726" cy="436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0628" y="2586390"/>
            <a:ext cx="9181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Сетевой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27" y="4149080"/>
            <a:ext cx="12510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Канальный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28" y="5363924"/>
            <a:ext cx="1323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Физический</a:t>
            </a:r>
          </a:p>
        </p:txBody>
      </p:sp>
    </p:spTree>
    <p:extLst>
      <p:ext uri="{BB962C8B-B14F-4D97-AF65-F5344CB8AC3E}">
        <p14:creationId xmlns:p14="http://schemas.microsoft.com/office/powerpoint/2010/main" val="8252080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305488" y="1714501"/>
            <a:ext cx="6151897" cy="216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8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Указатель количества байт</a:t>
            </a:r>
          </a:p>
          <a:p>
            <a:pPr algn="just" eaLnBrk="1" hangingPunct="1">
              <a:spcBef>
                <a:spcPts val="18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Вставка байтов (</a:t>
            </a:r>
            <a:r>
              <a:rPr lang="en-US" altLang="ru-RU" sz="2400" dirty="0">
                <a:latin typeface="Verdana" panose="020B0604030504040204" pitchFamily="34" charset="0"/>
              </a:rPr>
              <a:t>byte stuffing)</a:t>
            </a:r>
            <a:endParaRPr lang="ru-RU" altLang="ru-RU" sz="2400" dirty="0">
              <a:latin typeface="Verdana" panose="020B0604030504040204" pitchFamily="34" charset="0"/>
            </a:endParaRPr>
          </a:p>
          <a:p>
            <a:pPr algn="just" eaLnBrk="1" hangingPunct="1">
              <a:spcBef>
                <a:spcPts val="18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Вставка битов (</a:t>
            </a:r>
            <a:r>
              <a:rPr lang="en-US" altLang="ru-RU" sz="2400" dirty="0">
                <a:latin typeface="Verdana" panose="020B0604030504040204" pitchFamily="34" charset="0"/>
              </a:rPr>
              <a:t>bit stuffing)</a:t>
            </a:r>
            <a:endParaRPr lang="ru-RU" altLang="ru-RU" sz="2400" dirty="0">
              <a:latin typeface="Verdana" panose="020B0604030504040204" pitchFamily="34" charset="0"/>
            </a:endParaRPr>
          </a:p>
          <a:p>
            <a:pPr algn="just" eaLnBrk="1" hangingPunct="1">
              <a:spcBef>
                <a:spcPts val="18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Средства физического уровня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305527" y="937775"/>
            <a:ext cx="615672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Методы выделения кадров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54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896724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305488" y="1714500"/>
            <a:ext cx="6151897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8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В начале каждого кадра указывается его длина в байтах</a:t>
            </a:r>
          </a:p>
          <a:p>
            <a:pPr marL="715963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latin typeface="Verdana" panose="020B0604030504040204" pitchFamily="34" charset="0"/>
              </a:rPr>
              <a:t>Просто в реализации и удобно в использовании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305527" y="937775"/>
            <a:ext cx="615672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Указатель количества байт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55</a:t>
            </a:fld>
            <a:endParaRPr lang="ru-RU" alt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86" y="3150283"/>
            <a:ext cx="4968985" cy="1533667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9703" y="4683950"/>
            <a:ext cx="3456731" cy="4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995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305488" y="1714500"/>
            <a:ext cx="6151897" cy="4678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lvl="0" algn="just" eaLnBrk="1" hangingPunct="1">
              <a:spcBef>
                <a:spcPts val="1800"/>
              </a:spcBef>
            </a:pPr>
            <a:r>
              <a:rPr lang="ru-RU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Начало и конец каждого кадра отмечаются специальными последовательностями байтов или бит</a:t>
            </a:r>
          </a:p>
          <a:p>
            <a:pPr lvl="0" algn="just" eaLnBrk="1" hangingPunct="1">
              <a:spcBef>
                <a:spcPts val="1800"/>
              </a:spcBef>
            </a:pPr>
            <a:r>
              <a:rPr lang="ru-RU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Протокол </a:t>
            </a:r>
            <a:r>
              <a:rPr lang="en-US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HDLC</a:t>
            </a:r>
            <a:r>
              <a:rPr lang="ru-RU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 - </a:t>
            </a:r>
            <a:r>
              <a:rPr lang="en-US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ASCII </a:t>
            </a:r>
            <a:r>
              <a:rPr lang="ru-RU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символы:</a:t>
            </a:r>
          </a:p>
          <a:p>
            <a:pPr marL="715963" lvl="0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DLE STX</a:t>
            </a: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 – начало кадра</a:t>
            </a:r>
          </a:p>
          <a:p>
            <a:pPr marL="715963" lvl="0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DLE ETX – </a:t>
            </a: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конец кадра</a:t>
            </a:r>
          </a:p>
          <a:p>
            <a:pPr marL="715963" lvl="0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Escape </a:t>
            </a: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последовательность в данных – </a:t>
            </a:r>
            <a:r>
              <a:rPr lang="en-US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DLE </a:t>
            </a:r>
            <a:endParaRPr lang="ru-RU" altLang="ru-RU" sz="2200" dirty="0">
              <a:solidFill>
                <a:prstClr val="black"/>
              </a:solidFill>
              <a:latin typeface="Verdana" panose="020B0604030504040204" pitchFamily="34" charset="0"/>
            </a:endParaRPr>
          </a:p>
          <a:p>
            <a:pPr lvl="0" algn="just" eaLnBrk="1" hangingPunct="1">
              <a:spcBef>
                <a:spcPts val="1800"/>
              </a:spcBef>
            </a:pPr>
            <a:r>
              <a:rPr lang="ru-RU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Протокол </a:t>
            </a:r>
            <a:r>
              <a:rPr lang="en-US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PPP </a:t>
            </a:r>
            <a:r>
              <a:rPr lang="ru-RU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– биты:</a:t>
            </a:r>
          </a:p>
          <a:p>
            <a:pPr marL="715963" lvl="0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01111110</a:t>
            </a: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 начало и конец кадра</a:t>
            </a:r>
          </a:p>
          <a:p>
            <a:pPr marL="715963" lvl="0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В данных после пяти последовательных 1 добавлялся 0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305527" y="937775"/>
            <a:ext cx="615672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Вставка байтов и битов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56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482367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305488" y="1714500"/>
            <a:ext cx="6151897" cy="3708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8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Преамбула (классический </a:t>
            </a:r>
            <a:r>
              <a:rPr lang="en-US" altLang="ru-RU" sz="2400" dirty="0">
                <a:latin typeface="Verdana" panose="020B0604030504040204" pitchFamily="34" charset="0"/>
              </a:rPr>
              <a:t>Ethernet)</a:t>
            </a:r>
            <a:endParaRPr lang="ru-RU" altLang="ru-RU" sz="2400" dirty="0">
              <a:latin typeface="Verdana" panose="020B0604030504040204" pitchFamily="34" charset="0"/>
            </a:endParaRPr>
          </a:p>
          <a:p>
            <a:pPr marL="715963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latin typeface="Verdana" panose="020B0604030504040204" pitchFamily="34" charset="0"/>
              </a:rPr>
              <a:t>Длина 8 байт</a:t>
            </a:r>
          </a:p>
          <a:p>
            <a:pPr marL="715963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latin typeface="Verdana" panose="020B0604030504040204" pitchFamily="34" charset="0"/>
              </a:rPr>
              <a:t>Первые 7 байт: 10101010</a:t>
            </a:r>
          </a:p>
          <a:p>
            <a:pPr marL="715963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latin typeface="Verdana" panose="020B0604030504040204" pitchFamily="34" charset="0"/>
              </a:rPr>
              <a:t>Последний байт: 10101011 (ограничитель начала кадра)</a:t>
            </a:r>
          </a:p>
          <a:p>
            <a:pPr lvl="0" algn="just" eaLnBrk="1" hangingPunct="1">
              <a:spcBef>
                <a:spcPts val="1800"/>
              </a:spcBef>
            </a:pPr>
            <a:r>
              <a:rPr lang="ru-RU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Передача неиспользуемых символов избыточного кода</a:t>
            </a:r>
            <a:r>
              <a:rPr lang="en-US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 (Fast Ethernet)</a:t>
            </a:r>
            <a:endParaRPr lang="ru-RU" altLang="ru-RU" sz="2400" dirty="0">
              <a:solidFill>
                <a:prstClr val="black"/>
              </a:solidFill>
              <a:latin typeface="Verdana" panose="020B0604030504040204" pitchFamily="34" charset="0"/>
            </a:endParaRPr>
          </a:p>
          <a:p>
            <a:pPr marL="715963" lvl="0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Начало кадра – пара символы J (11000) и K</a:t>
            </a:r>
            <a:r>
              <a:rPr lang="en-US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 </a:t>
            </a: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(10001)</a:t>
            </a:r>
          </a:p>
          <a:p>
            <a:pPr marL="715963" lvl="0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Конец кадра – символ T (01101)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305527" y="937775"/>
            <a:ext cx="6156722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Средства физического уровня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57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589178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305488" y="1714500"/>
            <a:ext cx="6151897" cy="4616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lvl="0" algn="just" eaLnBrk="1" hangingPunct="1">
              <a:spcBef>
                <a:spcPts val="1800"/>
              </a:spcBef>
            </a:pPr>
            <a:r>
              <a:rPr lang="ru-RU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Обнаружение ошибок</a:t>
            </a:r>
          </a:p>
          <a:p>
            <a:pPr marL="715963" lvl="0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Контрольная сумма</a:t>
            </a:r>
          </a:p>
          <a:p>
            <a:pPr lvl="0" algn="just" eaLnBrk="1" hangingPunct="1">
              <a:spcBef>
                <a:spcPts val="1800"/>
              </a:spcBef>
            </a:pPr>
            <a:r>
              <a:rPr lang="ru-RU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Исправление ошибок</a:t>
            </a:r>
          </a:p>
          <a:p>
            <a:pPr marL="715963" lvl="0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Коды исправляющие ошибки (с избыточной информацией)</a:t>
            </a:r>
          </a:p>
          <a:p>
            <a:pPr marL="715963" lvl="0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Позволяют обнаруживать и исправлять ошибки </a:t>
            </a:r>
          </a:p>
          <a:p>
            <a:pPr lvl="0" algn="just" eaLnBrk="1" hangingPunct="1">
              <a:spcBef>
                <a:spcPts val="1800"/>
              </a:spcBef>
            </a:pPr>
            <a:r>
              <a:rPr lang="ru-RU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Повторная отправка данных</a:t>
            </a:r>
          </a:p>
          <a:p>
            <a:pPr marL="715963" lvl="0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Если в кадре обнаружена ошибка, его можно отправить заново</a:t>
            </a:r>
          </a:p>
          <a:p>
            <a:pPr marL="715963" lvl="0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Повторная отправка кадра, который не дошел до получателя</a:t>
            </a:r>
            <a:endParaRPr lang="ru-RU" altLang="ru-RU" sz="2400" dirty="0">
              <a:solidFill>
                <a:prstClr val="black"/>
              </a:solidFill>
              <a:latin typeface="Verdana" panose="020B0604030504040204" pitchFamily="34" charset="0"/>
            </a:endParaRP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305527" y="937775"/>
            <a:ext cx="6156722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Обнаружение и исправление ошибок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58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574454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305527" y="937775"/>
            <a:ext cx="615672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Повторная отправка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59</a:t>
            </a:fld>
            <a:endParaRPr lang="ru-RU" alt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160748" y="1844824"/>
            <a:ext cx="145816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chemeClr val="tx1"/>
                </a:solidFill>
              </a:rPr>
              <a:t>Отправитель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4023066" y="1844824"/>
            <a:ext cx="145816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Получатель</a:t>
            </a:r>
          </a:p>
        </p:txBody>
      </p:sp>
      <p:cxnSp>
        <p:nvCxnSpPr>
          <p:cNvPr id="9" name="Прямая соединительная линия 8"/>
          <p:cNvCxnSpPr>
            <a:stCxn id="7" idx="2"/>
          </p:cNvCxnSpPr>
          <p:nvPr/>
        </p:nvCxnSpPr>
        <p:spPr>
          <a:xfrm>
            <a:off x="1889829" y="2420888"/>
            <a:ext cx="0" cy="33843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4752147" y="2420888"/>
            <a:ext cx="0" cy="33843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>
            <a:off x="1889829" y="2636912"/>
            <a:ext cx="2862318" cy="3600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91410" y="2395633"/>
            <a:ext cx="132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Сообщение</a:t>
            </a:r>
          </a:p>
        </p:txBody>
      </p:sp>
    </p:spTree>
    <p:extLst>
      <p:ext uri="{BB962C8B-B14F-4D97-AF65-F5344CB8AC3E}">
        <p14:creationId xmlns:p14="http://schemas.microsoft.com/office/powerpoint/2010/main" val="1742024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305527" y="937775"/>
            <a:ext cx="615672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Повторная отправка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60</a:t>
            </a:fld>
            <a:endParaRPr lang="ru-RU" alt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1160748" y="1844824"/>
            <a:ext cx="145816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chemeClr val="tx1"/>
                </a:solidFill>
              </a:rPr>
              <a:t>Отправитель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4023066" y="1844824"/>
            <a:ext cx="145816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Получатель</a:t>
            </a:r>
          </a:p>
        </p:txBody>
      </p:sp>
      <p:cxnSp>
        <p:nvCxnSpPr>
          <p:cNvPr id="15" name="Прямая соединительная линия 14"/>
          <p:cNvCxnSpPr>
            <a:stCxn id="13" idx="2"/>
          </p:cNvCxnSpPr>
          <p:nvPr/>
        </p:nvCxnSpPr>
        <p:spPr>
          <a:xfrm>
            <a:off x="1889829" y="2420888"/>
            <a:ext cx="0" cy="33843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4752147" y="2420888"/>
            <a:ext cx="0" cy="33843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>
            <a:off x="1889829" y="2636912"/>
            <a:ext cx="2862318" cy="3600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691410" y="2395633"/>
            <a:ext cx="132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Сообщение</a:t>
            </a:r>
          </a:p>
        </p:txBody>
      </p:sp>
      <p:cxnSp>
        <p:nvCxnSpPr>
          <p:cNvPr id="19" name="Прямая со стрелкой 18"/>
          <p:cNvCxnSpPr/>
          <p:nvPr/>
        </p:nvCxnSpPr>
        <p:spPr>
          <a:xfrm flipH="1">
            <a:off x="1889829" y="3202230"/>
            <a:ext cx="2848109" cy="298779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524512" y="2987660"/>
            <a:ext cx="1770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Подтверждение</a:t>
            </a:r>
          </a:p>
        </p:txBody>
      </p:sp>
    </p:spTree>
    <p:extLst>
      <p:ext uri="{BB962C8B-B14F-4D97-AF65-F5344CB8AC3E}">
        <p14:creationId xmlns:p14="http://schemas.microsoft.com/office/powerpoint/2010/main" val="27050340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305527" y="937775"/>
            <a:ext cx="615672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Повторная отправка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61</a:t>
            </a:fld>
            <a:endParaRPr lang="ru-RU" alt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1160748" y="1844824"/>
            <a:ext cx="145816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chemeClr val="tx1"/>
                </a:solidFill>
              </a:rPr>
              <a:t>Отправитель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4023066" y="1844824"/>
            <a:ext cx="145816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Получатель</a:t>
            </a:r>
          </a:p>
        </p:txBody>
      </p:sp>
      <p:cxnSp>
        <p:nvCxnSpPr>
          <p:cNvPr id="23" name="Прямая соединительная линия 22"/>
          <p:cNvCxnSpPr>
            <a:stCxn id="21" idx="2"/>
          </p:cNvCxnSpPr>
          <p:nvPr/>
        </p:nvCxnSpPr>
        <p:spPr>
          <a:xfrm>
            <a:off x="1889829" y="2420888"/>
            <a:ext cx="0" cy="33843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4752147" y="2420888"/>
            <a:ext cx="0" cy="33843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>
            <a:off x="1889829" y="2636912"/>
            <a:ext cx="2862318" cy="3600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691410" y="2395633"/>
            <a:ext cx="132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Сообщение</a:t>
            </a:r>
          </a:p>
        </p:txBody>
      </p:sp>
      <p:cxnSp>
        <p:nvCxnSpPr>
          <p:cNvPr id="27" name="Прямая со стрелкой 26"/>
          <p:cNvCxnSpPr/>
          <p:nvPr/>
        </p:nvCxnSpPr>
        <p:spPr>
          <a:xfrm flipH="1">
            <a:off x="1889829" y="3202230"/>
            <a:ext cx="2848109" cy="298779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524512" y="2987660"/>
            <a:ext cx="1770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Подтверждение</a:t>
            </a:r>
          </a:p>
        </p:txBody>
      </p:sp>
      <p:cxnSp>
        <p:nvCxnSpPr>
          <p:cNvPr id="29" name="Прямая со стрелкой 28"/>
          <p:cNvCxnSpPr/>
          <p:nvPr/>
        </p:nvCxnSpPr>
        <p:spPr>
          <a:xfrm>
            <a:off x="1875620" y="3785276"/>
            <a:ext cx="2862318" cy="3600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677201" y="3543997"/>
            <a:ext cx="132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Сообщение</a:t>
            </a:r>
          </a:p>
        </p:txBody>
      </p:sp>
    </p:spTree>
    <p:extLst>
      <p:ext uri="{BB962C8B-B14F-4D97-AF65-F5344CB8AC3E}">
        <p14:creationId xmlns:p14="http://schemas.microsoft.com/office/powerpoint/2010/main" val="140126068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305527" y="937775"/>
            <a:ext cx="615672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Повторная отправка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62</a:t>
            </a:fld>
            <a:endParaRPr lang="ru-RU" alt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1160748" y="1844824"/>
            <a:ext cx="145816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chemeClr val="tx1"/>
                </a:solidFill>
              </a:rPr>
              <a:t>Отправитель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4023066" y="1844824"/>
            <a:ext cx="145816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Получатель</a:t>
            </a:r>
          </a:p>
        </p:txBody>
      </p:sp>
      <p:cxnSp>
        <p:nvCxnSpPr>
          <p:cNvPr id="23" name="Прямая соединительная линия 22"/>
          <p:cNvCxnSpPr>
            <a:stCxn id="21" idx="2"/>
          </p:cNvCxnSpPr>
          <p:nvPr/>
        </p:nvCxnSpPr>
        <p:spPr>
          <a:xfrm>
            <a:off x="1889829" y="2420888"/>
            <a:ext cx="0" cy="33843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4752147" y="2420888"/>
            <a:ext cx="0" cy="33843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>
            <a:off x="1889829" y="2636912"/>
            <a:ext cx="2862318" cy="3600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691410" y="2395633"/>
            <a:ext cx="132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Сообщение</a:t>
            </a:r>
          </a:p>
        </p:txBody>
      </p:sp>
      <p:cxnSp>
        <p:nvCxnSpPr>
          <p:cNvPr id="27" name="Прямая со стрелкой 26"/>
          <p:cNvCxnSpPr/>
          <p:nvPr/>
        </p:nvCxnSpPr>
        <p:spPr>
          <a:xfrm flipH="1">
            <a:off x="1889829" y="3202230"/>
            <a:ext cx="2848109" cy="298779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524512" y="2987660"/>
            <a:ext cx="1770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Подтверждение</a:t>
            </a:r>
          </a:p>
        </p:txBody>
      </p:sp>
      <p:cxnSp>
        <p:nvCxnSpPr>
          <p:cNvPr id="29" name="Прямая со стрелкой 28"/>
          <p:cNvCxnSpPr/>
          <p:nvPr/>
        </p:nvCxnSpPr>
        <p:spPr>
          <a:xfrm>
            <a:off x="1875620" y="3785276"/>
            <a:ext cx="2862318" cy="3600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677201" y="3543997"/>
            <a:ext cx="132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Сообщение</a:t>
            </a:r>
          </a:p>
        </p:txBody>
      </p:sp>
      <p:sp>
        <p:nvSpPr>
          <p:cNvPr id="31" name="Левая фигурная скобка 30"/>
          <p:cNvSpPr/>
          <p:nvPr/>
        </p:nvSpPr>
        <p:spPr>
          <a:xfrm>
            <a:off x="1754814" y="3785276"/>
            <a:ext cx="120806" cy="939868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574" y="4421651"/>
            <a:ext cx="455240" cy="60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5300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305527" y="937775"/>
            <a:ext cx="615672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Повторная отправка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63</a:t>
            </a:fld>
            <a:endParaRPr lang="ru-RU" alt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1160748" y="1844824"/>
            <a:ext cx="145816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chemeClr val="tx1"/>
                </a:solidFill>
              </a:rPr>
              <a:t>Отправитель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4023066" y="1844824"/>
            <a:ext cx="145816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Получатель</a:t>
            </a:r>
          </a:p>
        </p:txBody>
      </p:sp>
      <p:cxnSp>
        <p:nvCxnSpPr>
          <p:cNvPr id="20" name="Прямая соединительная линия 19"/>
          <p:cNvCxnSpPr>
            <a:stCxn id="18" idx="2"/>
          </p:cNvCxnSpPr>
          <p:nvPr/>
        </p:nvCxnSpPr>
        <p:spPr>
          <a:xfrm>
            <a:off x="1889829" y="2420888"/>
            <a:ext cx="0" cy="33843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>
            <a:off x="4752147" y="2420888"/>
            <a:ext cx="0" cy="33843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/>
          <p:nvPr/>
        </p:nvCxnSpPr>
        <p:spPr>
          <a:xfrm>
            <a:off x="1889829" y="2636912"/>
            <a:ext cx="2862318" cy="3600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691410" y="2395633"/>
            <a:ext cx="132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Сообщение</a:t>
            </a:r>
          </a:p>
        </p:txBody>
      </p:sp>
      <p:cxnSp>
        <p:nvCxnSpPr>
          <p:cNvPr id="36" name="Прямая со стрелкой 35"/>
          <p:cNvCxnSpPr/>
          <p:nvPr/>
        </p:nvCxnSpPr>
        <p:spPr>
          <a:xfrm flipH="1">
            <a:off x="1889829" y="3202230"/>
            <a:ext cx="2848109" cy="298779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524512" y="2987660"/>
            <a:ext cx="1770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Подтверждение</a:t>
            </a:r>
          </a:p>
        </p:txBody>
      </p:sp>
      <p:cxnSp>
        <p:nvCxnSpPr>
          <p:cNvPr id="38" name="Прямая со стрелкой 37"/>
          <p:cNvCxnSpPr/>
          <p:nvPr/>
        </p:nvCxnSpPr>
        <p:spPr>
          <a:xfrm>
            <a:off x="1875620" y="3785276"/>
            <a:ext cx="2862318" cy="3600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677201" y="3543997"/>
            <a:ext cx="132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Сообщение</a:t>
            </a:r>
          </a:p>
        </p:txBody>
      </p:sp>
      <p:sp>
        <p:nvSpPr>
          <p:cNvPr id="40" name="Левая фигурная скобка 39"/>
          <p:cNvSpPr/>
          <p:nvPr/>
        </p:nvSpPr>
        <p:spPr>
          <a:xfrm>
            <a:off x="1754814" y="3785276"/>
            <a:ext cx="120806" cy="939868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1" name="Рисунок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574" y="4421651"/>
            <a:ext cx="455240" cy="606986"/>
          </a:xfrm>
          <a:prstGeom prst="rect">
            <a:avLst/>
          </a:prstGeom>
        </p:spPr>
      </p:pic>
      <p:cxnSp>
        <p:nvCxnSpPr>
          <p:cNvPr id="42" name="Прямая со стрелкой 41"/>
          <p:cNvCxnSpPr/>
          <p:nvPr/>
        </p:nvCxnSpPr>
        <p:spPr>
          <a:xfrm>
            <a:off x="1891583" y="4753620"/>
            <a:ext cx="2862318" cy="3600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693164" y="4512341"/>
            <a:ext cx="132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Сообщение</a:t>
            </a:r>
          </a:p>
        </p:txBody>
      </p:sp>
    </p:spTree>
    <p:extLst>
      <p:ext uri="{BB962C8B-B14F-4D97-AF65-F5344CB8AC3E}">
        <p14:creationId xmlns:p14="http://schemas.microsoft.com/office/powerpoint/2010/main" val="17851558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305527" y="937775"/>
            <a:ext cx="615672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Повторная отправка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64</a:t>
            </a:fld>
            <a:endParaRPr lang="ru-RU" alt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1160748" y="1844824"/>
            <a:ext cx="145816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chemeClr val="tx1"/>
                </a:solidFill>
              </a:rPr>
              <a:t>Отправитель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4023066" y="1844824"/>
            <a:ext cx="145816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Получатель</a:t>
            </a:r>
          </a:p>
        </p:txBody>
      </p:sp>
      <p:cxnSp>
        <p:nvCxnSpPr>
          <p:cNvPr id="23" name="Прямая соединительная линия 22"/>
          <p:cNvCxnSpPr>
            <a:stCxn id="21" idx="2"/>
          </p:cNvCxnSpPr>
          <p:nvPr/>
        </p:nvCxnSpPr>
        <p:spPr>
          <a:xfrm>
            <a:off x="1889829" y="2420888"/>
            <a:ext cx="0" cy="33843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4752147" y="2420888"/>
            <a:ext cx="0" cy="33843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>
            <a:off x="1889829" y="2636912"/>
            <a:ext cx="2862318" cy="3600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691410" y="2395633"/>
            <a:ext cx="132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Сообщение</a:t>
            </a:r>
          </a:p>
        </p:txBody>
      </p:sp>
      <p:cxnSp>
        <p:nvCxnSpPr>
          <p:cNvPr id="27" name="Прямая со стрелкой 26"/>
          <p:cNvCxnSpPr/>
          <p:nvPr/>
        </p:nvCxnSpPr>
        <p:spPr>
          <a:xfrm flipH="1">
            <a:off x="1889829" y="3202230"/>
            <a:ext cx="2848109" cy="298779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524512" y="2987660"/>
            <a:ext cx="1770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Подтверждение</a:t>
            </a:r>
          </a:p>
        </p:txBody>
      </p:sp>
      <p:cxnSp>
        <p:nvCxnSpPr>
          <p:cNvPr id="29" name="Прямая со стрелкой 28"/>
          <p:cNvCxnSpPr/>
          <p:nvPr/>
        </p:nvCxnSpPr>
        <p:spPr>
          <a:xfrm>
            <a:off x="1875620" y="3785276"/>
            <a:ext cx="2862318" cy="3600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677201" y="3543997"/>
            <a:ext cx="132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Сообщение</a:t>
            </a:r>
          </a:p>
        </p:txBody>
      </p:sp>
      <p:sp>
        <p:nvSpPr>
          <p:cNvPr id="31" name="Левая фигурная скобка 30"/>
          <p:cNvSpPr/>
          <p:nvPr/>
        </p:nvSpPr>
        <p:spPr>
          <a:xfrm>
            <a:off x="1754814" y="3785276"/>
            <a:ext cx="120806" cy="939868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574" y="4421651"/>
            <a:ext cx="455240" cy="606986"/>
          </a:xfrm>
          <a:prstGeom prst="rect">
            <a:avLst/>
          </a:prstGeom>
        </p:spPr>
      </p:pic>
      <p:cxnSp>
        <p:nvCxnSpPr>
          <p:cNvPr id="44" name="Прямая со стрелкой 43"/>
          <p:cNvCxnSpPr/>
          <p:nvPr/>
        </p:nvCxnSpPr>
        <p:spPr>
          <a:xfrm>
            <a:off x="1891583" y="4753620"/>
            <a:ext cx="2862318" cy="3600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693164" y="4512341"/>
            <a:ext cx="132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Сообщение</a:t>
            </a:r>
          </a:p>
        </p:txBody>
      </p:sp>
      <p:cxnSp>
        <p:nvCxnSpPr>
          <p:cNvPr id="46" name="Прямая со стрелкой 45"/>
          <p:cNvCxnSpPr/>
          <p:nvPr/>
        </p:nvCxnSpPr>
        <p:spPr>
          <a:xfrm flipH="1">
            <a:off x="1904038" y="5308348"/>
            <a:ext cx="2848109" cy="298779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538722" y="5093778"/>
            <a:ext cx="1770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Подтверждение</a:t>
            </a:r>
          </a:p>
        </p:txBody>
      </p:sp>
    </p:spTree>
    <p:extLst>
      <p:ext uri="{BB962C8B-B14F-4D97-AF65-F5344CB8AC3E}">
        <p14:creationId xmlns:p14="http://schemas.microsoft.com/office/powerpoint/2010/main" val="33490944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305488" y="815532"/>
            <a:ext cx="6151897" cy="6047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lvl="0" algn="just" eaLnBrk="1" hangingPunct="1">
              <a:spcBef>
                <a:spcPts val="1800"/>
              </a:spcBef>
            </a:pPr>
            <a:r>
              <a:rPr lang="ru-RU" altLang="ru-RU" sz="2400" b="1" dirty="0">
                <a:solidFill>
                  <a:prstClr val="black"/>
                </a:solidFill>
                <a:latin typeface="Verdana" panose="020B0604030504040204" pitchFamily="34" charset="0"/>
              </a:rPr>
              <a:t>Остановка и ожидание</a:t>
            </a:r>
          </a:p>
          <a:p>
            <a:pPr marL="715963" lvl="0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Отправитель посылает кадр и останавливается</a:t>
            </a:r>
          </a:p>
          <a:p>
            <a:pPr marL="715963" lvl="0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Получатель отправляет подтверждение</a:t>
            </a:r>
          </a:p>
          <a:p>
            <a:pPr marL="715963" lvl="0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Отправитель посылает новый кадр</a:t>
            </a:r>
          </a:p>
          <a:p>
            <a:pPr lvl="0" algn="just" eaLnBrk="1" hangingPunct="1">
              <a:spcBef>
                <a:spcPts val="1800"/>
              </a:spcBef>
            </a:pPr>
            <a:r>
              <a:rPr lang="ru-RU" altLang="ru-RU" sz="2400" b="1" dirty="0">
                <a:solidFill>
                  <a:prstClr val="black"/>
                </a:solidFill>
                <a:latin typeface="Verdana" panose="020B0604030504040204" pitchFamily="34" charset="0"/>
              </a:rPr>
              <a:t>Скользящее</a:t>
            </a:r>
            <a:r>
              <a:rPr lang="ru-RU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 </a:t>
            </a:r>
            <a:r>
              <a:rPr lang="ru-RU" altLang="ru-RU" sz="2400" b="1" dirty="0">
                <a:solidFill>
                  <a:prstClr val="black"/>
                </a:solidFill>
                <a:latin typeface="Verdana" panose="020B0604030504040204" pitchFamily="34" charset="0"/>
              </a:rPr>
              <a:t>окно</a:t>
            </a:r>
          </a:p>
          <a:p>
            <a:pPr marL="715963" lvl="0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Отправитель посылает несколько кадров один за другим, не дожидаясь подтверждения</a:t>
            </a:r>
          </a:p>
          <a:p>
            <a:pPr marL="715963" lvl="0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Количество кадров, которое можно отправить, называется </a:t>
            </a:r>
            <a:r>
              <a:rPr lang="ru-RU" altLang="ru-RU" sz="2200" b="1" dirty="0">
                <a:solidFill>
                  <a:prstClr val="black"/>
                </a:solidFill>
                <a:latin typeface="Verdana" panose="020B0604030504040204" pitchFamily="34" charset="0"/>
              </a:rPr>
              <a:t>размером окна</a:t>
            </a:r>
          </a:p>
          <a:p>
            <a:pPr marL="715963" lvl="0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Получать подтверждает получение кадров</a:t>
            </a:r>
          </a:p>
          <a:p>
            <a:pPr marL="715963" lvl="0" indent="-36195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Отправитель посылает новую порцию кадров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306402" y="332656"/>
            <a:ext cx="615672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Методы повторной отправки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65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430333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305488" y="1714500"/>
            <a:ext cx="6151897" cy="4016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lvl="0" algn="just" eaLnBrk="1" hangingPunct="1">
              <a:spcBef>
                <a:spcPts val="1800"/>
              </a:spcBef>
            </a:pPr>
            <a:r>
              <a:rPr lang="ru-RU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Какой подход лучше использовать?</a:t>
            </a:r>
          </a:p>
          <a:p>
            <a:pPr marL="715963" lvl="0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Обнаружение ошибок</a:t>
            </a:r>
          </a:p>
          <a:p>
            <a:pPr marL="715963" lvl="0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Исправление ошибок</a:t>
            </a:r>
          </a:p>
          <a:p>
            <a:pPr marL="715963" lvl="0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Повторная отправка данных</a:t>
            </a:r>
          </a:p>
          <a:p>
            <a:pPr lvl="0" algn="just" eaLnBrk="1" hangingPunct="1"/>
            <a:endParaRPr lang="ru-RU" altLang="ru-RU" sz="2200" dirty="0">
              <a:solidFill>
                <a:prstClr val="black"/>
              </a:solidFill>
              <a:latin typeface="Verdana" panose="020B0604030504040204" pitchFamily="34" charset="0"/>
            </a:endParaRPr>
          </a:p>
          <a:p>
            <a:pPr lvl="0" algn="just" eaLnBrk="1" hangingPunct="1">
              <a:spcBef>
                <a:spcPts val="1800"/>
              </a:spcBef>
            </a:pPr>
            <a:r>
              <a:rPr lang="ru-RU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На каком уровне модели </a:t>
            </a:r>
            <a:r>
              <a:rPr lang="en-US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OSI?</a:t>
            </a:r>
            <a:endParaRPr lang="ru-RU" altLang="ru-RU" sz="2400" dirty="0">
              <a:solidFill>
                <a:prstClr val="black"/>
              </a:solidFill>
              <a:latin typeface="Verdana" panose="020B0604030504040204" pitchFamily="34" charset="0"/>
            </a:endParaRPr>
          </a:p>
          <a:p>
            <a:pPr marL="715963" lvl="0" indent="-342900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Каналы связи с редкими</a:t>
            </a:r>
            <a:b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</a:b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ошибками – верхние уровни</a:t>
            </a:r>
          </a:p>
          <a:p>
            <a:pPr marL="715963" lvl="0" indent="-342900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Каналы связи с частыми</a:t>
            </a:r>
            <a:b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</a:b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ошибками – канальный </a:t>
            </a:r>
            <a:b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</a:b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уровень</a:t>
            </a:r>
            <a:endParaRPr lang="ru-RU" altLang="ru-RU" sz="1400" dirty="0">
              <a:solidFill>
                <a:prstClr val="black"/>
              </a:solidFill>
              <a:latin typeface="Verdana" panose="020B0604030504040204" pitchFamily="34" charset="0"/>
            </a:endParaRP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305527" y="937775"/>
            <a:ext cx="6156722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Обнаружение и исправление ошибок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6588224" y="6381328"/>
            <a:ext cx="2133600" cy="365125"/>
          </a:xfrm>
        </p:spPr>
        <p:txBody>
          <a:bodyPr/>
          <a:lstStyle/>
          <a:p>
            <a:fld id="{FB572FCD-ECDD-4AD1-A933-149E1B2284F8}" type="slidenum">
              <a:rPr lang="ru-RU" altLang="ru-RU" smtClean="0"/>
              <a:pPr/>
              <a:t>66</a:t>
            </a:fld>
            <a:endParaRPr lang="ru-RU" altLang="ru-RU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041070" y="5629394"/>
            <a:ext cx="131445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 dirty="0"/>
              <a:t>Физический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870997" y="5095994"/>
            <a:ext cx="1484523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/>
              <a:t>Канальный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870997" y="4562594"/>
            <a:ext cx="1484523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 dirty="0"/>
              <a:t>Сетевой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5870997" y="4029194"/>
            <a:ext cx="1484523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 dirty="0"/>
              <a:t>Транспортный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870997" y="3495794"/>
            <a:ext cx="1484523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 dirty="0"/>
              <a:t>Сеансовый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5870997" y="2962394"/>
            <a:ext cx="1484523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 dirty="0"/>
              <a:t>Представления</a:t>
            </a: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5870997" y="2428994"/>
            <a:ext cx="1484523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altLang="ru-RU" dirty="0"/>
              <a:t>Прикладной</a:t>
            </a: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6669720" y="540079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6669720" y="486739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6669720" y="433399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6669720" y="380059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6669720" y="326719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6669720" y="273379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0" name="Прямоугольник 19"/>
          <p:cNvSpPr/>
          <p:nvPr/>
        </p:nvSpPr>
        <p:spPr>
          <a:xfrm>
            <a:off x="7524328" y="5104548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ru-RU" dirty="0">
                <a:solidFill>
                  <a:prstClr val="black"/>
                </a:solidFill>
                <a:latin typeface="Verdana" panose="020B0604030504040204" pitchFamily="34" charset="0"/>
              </a:rPr>
              <a:t>?</a:t>
            </a:r>
            <a:endParaRPr lang="ru-RU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7524328" y="4564379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ru-RU" dirty="0">
                <a:solidFill>
                  <a:prstClr val="black"/>
                </a:solidFill>
                <a:latin typeface="Verdana" panose="020B0604030504040204" pitchFamily="34" charset="0"/>
              </a:rPr>
              <a:t>?</a:t>
            </a:r>
            <a:endParaRPr lang="ru-RU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7524328" y="4058956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ru-RU" dirty="0">
                <a:solidFill>
                  <a:prstClr val="black"/>
                </a:solidFill>
                <a:latin typeface="Verdana" panose="020B0604030504040204" pitchFamily="34" charset="0"/>
              </a:rPr>
              <a:t>?</a:t>
            </a:r>
            <a:endParaRPr lang="ru-RU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7524328" y="3495559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ru-RU" dirty="0">
                <a:solidFill>
                  <a:prstClr val="black"/>
                </a:solidFill>
                <a:latin typeface="Verdana" panose="020B0604030504040204" pitchFamily="34" charset="0"/>
              </a:rPr>
              <a:t>?</a:t>
            </a:r>
            <a:endParaRPr lang="ru-RU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7524328" y="2962394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ru-RU" dirty="0">
                <a:solidFill>
                  <a:prstClr val="black"/>
                </a:solidFill>
                <a:latin typeface="Verdana" panose="020B0604030504040204" pitchFamily="34" charset="0"/>
              </a:rPr>
              <a:t>?</a:t>
            </a:r>
            <a:endParaRPr lang="ru-RU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7524328" y="2428994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ru-RU" dirty="0">
                <a:solidFill>
                  <a:prstClr val="black"/>
                </a:solidFill>
                <a:latin typeface="Verdana" panose="020B0604030504040204" pitchFamily="34" charset="0"/>
              </a:rPr>
              <a:t>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545983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305488" y="1714500"/>
            <a:ext cx="6151897" cy="275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lvl="0" algn="just" eaLnBrk="1" hangingPunct="1">
              <a:spcBef>
                <a:spcPts val="1800"/>
              </a:spcBef>
            </a:pPr>
            <a:r>
              <a:rPr lang="ru-RU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Модель </a:t>
            </a:r>
            <a:r>
              <a:rPr lang="en-US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OSI </a:t>
            </a:r>
            <a:r>
              <a:rPr lang="ru-RU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разрабатывалась для каналов связи точка-точка</a:t>
            </a:r>
          </a:p>
          <a:p>
            <a:pPr marL="715963" lvl="0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Последовательные линии связи для соединения больших компьютеров </a:t>
            </a:r>
          </a:p>
          <a:p>
            <a:pPr lvl="0" algn="just" eaLnBrk="1" hangingPunct="1">
              <a:spcBef>
                <a:spcPts val="1800"/>
              </a:spcBef>
            </a:pPr>
            <a:r>
              <a:rPr lang="ru-RU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Когда получили распространение разделяемые каналы связи, модель пришлось изменить 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305527" y="937775"/>
            <a:ext cx="6156722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Множественный доступ к каналам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67</a:t>
            </a:fld>
            <a:endParaRPr lang="ru-RU" altLang="ru-RU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570942" y="5078627"/>
            <a:ext cx="131445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dirty="0"/>
              <a:t>Канальный</a:t>
            </a:r>
          </a:p>
        </p:txBody>
      </p:sp>
      <p:sp>
        <p:nvSpPr>
          <p:cNvPr id="8" name="Rectangle 18"/>
          <p:cNvSpPr>
            <a:spLocks noChangeArrowheads="1"/>
          </p:cNvSpPr>
          <p:nvPr/>
        </p:nvSpPr>
        <p:spPr bwMode="auto">
          <a:xfrm>
            <a:off x="2427612" y="4469027"/>
            <a:ext cx="4880691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9" name="Line 19"/>
          <p:cNvSpPr>
            <a:spLocks noChangeShapeType="1"/>
          </p:cNvSpPr>
          <p:nvPr/>
        </p:nvSpPr>
        <p:spPr bwMode="auto">
          <a:xfrm>
            <a:off x="2456892" y="5241307"/>
            <a:ext cx="4851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0" name="Text Box 20"/>
          <p:cNvSpPr txBox="1">
            <a:spLocks noChangeArrowheads="1"/>
          </p:cNvSpPr>
          <p:nvPr/>
        </p:nvSpPr>
        <p:spPr bwMode="auto">
          <a:xfrm>
            <a:off x="2456892" y="4523757"/>
            <a:ext cx="48514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ru-RU" altLang="ru-RU" dirty="0"/>
              <a:t>Подуровень управления логическим каналом</a:t>
            </a:r>
          </a:p>
          <a:p>
            <a:pPr algn="ctr"/>
            <a:r>
              <a:rPr lang="ru-RU" altLang="ru-RU" dirty="0"/>
              <a:t>(</a:t>
            </a:r>
            <a:r>
              <a:rPr lang="ru-RU" altLang="ru-RU" dirty="0" err="1"/>
              <a:t>Logical</a:t>
            </a:r>
            <a:r>
              <a:rPr lang="ru-RU" altLang="ru-RU" dirty="0"/>
              <a:t> </a:t>
            </a:r>
            <a:r>
              <a:rPr lang="ru-RU" altLang="ru-RU" dirty="0" err="1"/>
              <a:t>Link</a:t>
            </a:r>
            <a:r>
              <a:rPr lang="ru-RU" altLang="ru-RU" dirty="0"/>
              <a:t> </a:t>
            </a:r>
            <a:r>
              <a:rPr lang="ru-RU" altLang="ru-RU" dirty="0" err="1"/>
              <a:t>Control</a:t>
            </a:r>
            <a:r>
              <a:rPr lang="ru-RU" altLang="ru-RU" dirty="0"/>
              <a:t>, </a:t>
            </a:r>
            <a:r>
              <a:rPr lang="en-US" altLang="ru-RU" dirty="0"/>
              <a:t>LLC</a:t>
            </a:r>
            <a:r>
              <a:rPr lang="ru-RU" altLang="ru-RU" dirty="0"/>
              <a:t>)</a:t>
            </a:r>
          </a:p>
        </p:txBody>
      </p:sp>
      <p:sp>
        <p:nvSpPr>
          <p:cNvPr id="11" name="Text Box 21"/>
          <p:cNvSpPr txBox="1">
            <a:spLocks noChangeArrowheads="1"/>
          </p:cNvSpPr>
          <p:nvPr/>
        </p:nvSpPr>
        <p:spPr bwMode="auto">
          <a:xfrm>
            <a:off x="2456892" y="5285757"/>
            <a:ext cx="48514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ru-RU" altLang="ru-RU" dirty="0"/>
              <a:t>Подуровень управления доступом к среде</a:t>
            </a:r>
          </a:p>
          <a:p>
            <a:pPr algn="ctr"/>
            <a:r>
              <a:rPr lang="ru-RU" altLang="ru-RU" dirty="0"/>
              <a:t>(</a:t>
            </a:r>
            <a:r>
              <a:rPr lang="ru-RU" altLang="ru-RU" dirty="0" err="1"/>
              <a:t>Media</a:t>
            </a:r>
            <a:r>
              <a:rPr lang="ru-RU" altLang="ru-RU" dirty="0"/>
              <a:t> </a:t>
            </a:r>
            <a:r>
              <a:rPr lang="ru-RU" altLang="ru-RU" dirty="0" err="1"/>
              <a:t>Access</a:t>
            </a:r>
            <a:r>
              <a:rPr lang="ru-RU" altLang="ru-RU" dirty="0"/>
              <a:t> </a:t>
            </a:r>
            <a:r>
              <a:rPr lang="ru-RU" altLang="ru-RU" dirty="0" err="1"/>
              <a:t>Control</a:t>
            </a:r>
            <a:r>
              <a:rPr lang="ru-RU" altLang="ru-RU" dirty="0"/>
              <a:t>, </a:t>
            </a:r>
            <a:r>
              <a:rPr lang="en-US" altLang="ru-RU" dirty="0"/>
              <a:t>MAC</a:t>
            </a:r>
            <a:r>
              <a:rPr lang="ru-RU" altLang="ru-RU" dirty="0"/>
              <a:t>)</a:t>
            </a:r>
          </a:p>
        </p:txBody>
      </p:sp>
      <p:sp>
        <p:nvSpPr>
          <p:cNvPr id="12" name="Line 22"/>
          <p:cNvSpPr>
            <a:spLocks noChangeShapeType="1"/>
          </p:cNvSpPr>
          <p:nvPr/>
        </p:nvSpPr>
        <p:spPr bwMode="auto">
          <a:xfrm flipV="1">
            <a:off x="1885392" y="4479307"/>
            <a:ext cx="571500" cy="5993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" name="Line 23"/>
          <p:cNvSpPr>
            <a:spLocks noChangeShapeType="1"/>
          </p:cNvSpPr>
          <p:nvPr/>
        </p:nvSpPr>
        <p:spPr bwMode="auto">
          <a:xfrm>
            <a:off x="1885392" y="5383428"/>
            <a:ext cx="571500" cy="630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342750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331894" y="1340768"/>
            <a:ext cx="6151897" cy="5093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lvl="0" algn="just" eaLnBrk="1" hangingPunct="1">
              <a:spcBef>
                <a:spcPts val="1800"/>
              </a:spcBef>
            </a:pPr>
            <a:r>
              <a:rPr lang="ru-RU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Подуровень управления логическим каналом (LLC)</a:t>
            </a:r>
          </a:p>
          <a:p>
            <a:pPr marL="715963" lvl="0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Отвечает за передачу данных (создание кадров, обработка ошибок и т.д.)</a:t>
            </a:r>
          </a:p>
          <a:p>
            <a:pPr marL="715963" lvl="0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Общий для разных технологий</a:t>
            </a:r>
          </a:p>
          <a:p>
            <a:pPr lvl="0" algn="just" eaLnBrk="1" hangingPunct="1">
              <a:spcBef>
                <a:spcPts val="1800"/>
              </a:spcBef>
            </a:pPr>
            <a:r>
              <a:rPr lang="ru-RU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Подуровень управления доступом к среде (MAC): </a:t>
            </a:r>
          </a:p>
          <a:p>
            <a:pPr marL="715963" lvl="0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Совместное использование разделяемой среды</a:t>
            </a:r>
          </a:p>
          <a:p>
            <a:pPr marL="715963" lvl="0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Адресация</a:t>
            </a:r>
          </a:p>
          <a:p>
            <a:pPr marL="715963" lvl="0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Специфичный для разных технологий</a:t>
            </a:r>
          </a:p>
          <a:p>
            <a:pPr marL="715963" lvl="0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Не является обязательным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331894" y="332656"/>
            <a:ext cx="6156722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Подуровни канального уровня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68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3492928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305488" y="1714500"/>
            <a:ext cx="6151897" cy="3093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lvl="0" algn="just" eaLnBrk="1" hangingPunct="1">
              <a:spcBef>
                <a:spcPts val="1800"/>
              </a:spcBef>
            </a:pPr>
            <a:r>
              <a:rPr lang="ru-RU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Мультиплексирование</a:t>
            </a:r>
          </a:p>
          <a:p>
            <a:pPr marL="715963" lvl="0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Передача данных разных протоколов (IP, ARP, ICMP) на уровень MAC</a:t>
            </a:r>
          </a:p>
          <a:p>
            <a:pPr lvl="0" algn="just" eaLnBrk="1" hangingPunct="1">
              <a:spcBef>
                <a:spcPts val="1800"/>
              </a:spcBef>
            </a:pPr>
            <a:r>
              <a:rPr lang="ru-RU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Управление потоком:</a:t>
            </a:r>
          </a:p>
          <a:p>
            <a:pPr marL="715963" lvl="0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Предотвращение «затопления» медленного получателя быстрым отправителем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305527" y="937775"/>
            <a:ext cx="615672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Услуги подуровня </a:t>
            </a:r>
            <a:r>
              <a:rPr lang="en-US" altLang="ru-RU" sz="2800" b="1" dirty="0">
                <a:latin typeface="Verdana" panose="020B0604030504040204" pitchFamily="34" charset="0"/>
              </a:rPr>
              <a:t>LLC</a:t>
            </a:r>
            <a:endParaRPr lang="ru-RU" altLang="ru-RU" sz="2800" b="1" dirty="0">
              <a:latin typeface="Verdana" panose="020B060403050404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69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28736227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305488" y="1714500"/>
            <a:ext cx="6151897" cy="4647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lvl="0" algn="just" eaLnBrk="1" hangingPunct="1">
              <a:spcBef>
                <a:spcPts val="1800"/>
              </a:spcBef>
            </a:pPr>
            <a:r>
              <a:rPr lang="ru-RU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Данные искажаются, если несколько компьютеров передают одновременно</a:t>
            </a:r>
          </a:p>
          <a:p>
            <a:pPr marL="715963" lvl="0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Коллизия</a:t>
            </a:r>
          </a:p>
          <a:p>
            <a:pPr lvl="0" algn="just" eaLnBrk="1" hangingPunct="1">
              <a:spcBef>
                <a:spcPts val="1800"/>
              </a:spcBef>
            </a:pPr>
            <a:r>
              <a:rPr lang="ru-RU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Управление доступом:</a:t>
            </a:r>
          </a:p>
          <a:p>
            <a:pPr marL="715963" lvl="0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Обеспечение использования канала только одним отправителем</a:t>
            </a:r>
          </a:p>
          <a:p>
            <a:pPr lvl="0" algn="just" eaLnBrk="1" hangingPunct="1">
              <a:spcBef>
                <a:spcPts val="1800"/>
              </a:spcBef>
            </a:pPr>
            <a:r>
              <a:rPr lang="ru-RU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Методы управления доступом:</a:t>
            </a:r>
          </a:p>
          <a:p>
            <a:pPr marL="715963" lvl="0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 err="1">
                <a:solidFill>
                  <a:prstClr val="black"/>
                </a:solidFill>
                <a:latin typeface="Verdana" panose="020B0604030504040204" pitchFamily="34" charset="0"/>
              </a:rPr>
              <a:t>Рандомизированный</a:t>
            </a: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 – из </a:t>
            </a:r>
            <a:r>
              <a:rPr lang="en-US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N </a:t>
            </a: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компьютеров выбирается один с вероятностью 1/</a:t>
            </a:r>
            <a:r>
              <a:rPr lang="en-US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N. </a:t>
            </a: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(</a:t>
            </a:r>
            <a:r>
              <a:rPr lang="en-US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Ethernet, Wi-Fi).</a:t>
            </a: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 </a:t>
            </a:r>
          </a:p>
          <a:p>
            <a:pPr marL="715963" lvl="0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На основе правил использования. (</a:t>
            </a:r>
            <a:r>
              <a:rPr lang="en-US" altLang="ru-RU" sz="2200" dirty="0">
                <a:solidFill>
                  <a:prstClr val="black"/>
                </a:solidFill>
                <a:latin typeface="Verdana" panose="020B0604030504040204" pitchFamily="34" charset="0"/>
              </a:rPr>
              <a:t>Token Ring).</a:t>
            </a:r>
            <a:endParaRPr lang="ru-RU" altLang="ru-RU" sz="1400" dirty="0">
              <a:solidFill>
                <a:prstClr val="black"/>
              </a:solidFill>
              <a:latin typeface="Verdana" panose="020B0604030504040204" pitchFamily="34" charset="0"/>
            </a:endParaRP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305527" y="937775"/>
            <a:ext cx="6156722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Множественный доступ к каналу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70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3250471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305488" y="1714501"/>
            <a:ext cx="6151897" cy="298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lvl="0" algn="just" eaLnBrk="1" hangingPunct="1">
              <a:spcBef>
                <a:spcPts val="1200"/>
              </a:spcBef>
            </a:pPr>
            <a:r>
              <a:rPr lang="en-US" altLang="ru-RU" sz="2400" dirty="0">
                <a:latin typeface="Verdana" panose="020B0604030504040204" pitchFamily="34" charset="0"/>
              </a:rPr>
              <a:t>Ethernet</a:t>
            </a:r>
          </a:p>
          <a:p>
            <a:pPr lvl="0" algn="just" eaLnBrk="1" hangingPunct="1">
              <a:spcBef>
                <a:spcPts val="1200"/>
              </a:spcBef>
            </a:pPr>
            <a:r>
              <a:rPr lang="en-US" altLang="ru-RU" sz="2400" dirty="0">
                <a:latin typeface="Verdana" panose="020B0604030504040204" pitchFamily="34" charset="0"/>
              </a:rPr>
              <a:t>Wi-Fi</a:t>
            </a:r>
          </a:p>
          <a:p>
            <a:pPr lvl="0" algn="just" eaLnBrk="1" hangingPunct="1">
              <a:spcBef>
                <a:spcPts val="1200"/>
              </a:spcBef>
            </a:pPr>
            <a:r>
              <a:rPr lang="en-US" altLang="ru-RU" sz="2400" dirty="0">
                <a:latin typeface="Verdana" panose="020B0604030504040204" pitchFamily="34" charset="0"/>
              </a:rPr>
              <a:t>Token Ring</a:t>
            </a:r>
          </a:p>
          <a:p>
            <a:pPr lvl="0" algn="just" eaLnBrk="1" hangingPunct="1">
              <a:spcBef>
                <a:spcPts val="1200"/>
              </a:spcBef>
            </a:pPr>
            <a:r>
              <a:rPr lang="en-US" altLang="ru-RU" sz="2400" dirty="0">
                <a:latin typeface="Verdana" panose="020B0604030504040204" pitchFamily="34" charset="0"/>
              </a:rPr>
              <a:t>FDDI</a:t>
            </a:r>
            <a:endParaRPr lang="ru-RU" altLang="ru-RU" sz="2400" dirty="0">
              <a:latin typeface="Verdana" panose="020B0604030504040204" pitchFamily="34" charset="0"/>
            </a:endParaRPr>
          </a:p>
          <a:p>
            <a:pPr lvl="0" algn="just" eaLnBrk="1" hangingPunct="1">
              <a:spcBef>
                <a:spcPts val="1200"/>
              </a:spcBef>
            </a:pPr>
            <a:r>
              <a:rPr lang="en-US" altLang="ru-RU" sz="2400" dirty="0">
                <a:latin typeface="Verdana" panose="020B0604030504040204" pitchFamily="34" charset="0"/>
              </a:rPr>
              <a:t>ATM</a:t>
            </a:r>
          </a:p>
          <a:p>
            <a:pPr lvl="0" algn="just" eaLnBrk="1" hangingPunct="1">
              <a:spcBef>
                <a:spcPts val="1200"/>
              </a:spcBef>
            </a:pPr>
            <a:r>
              <a:rPr lang="en-US" altLang="ru-RU" sz="2400" dirty="0">
                <a:latin typeface="Verdana" panose="020B0604030504040204" pitchFamily="34" charset="0"/>
              </a:rPr>
              <a:t>100VG-AnyLAN</a:t>
            </a: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1043608" y="506888"/>
            <a:ext cx="6156722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Технологии канального уровня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71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74476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305488" y="1052736"/>
            <a:ext cx="6151897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Канальный уровень – второй уровень модели </a:t>
            </a:r>
            <a:r>
              <a:rPr lang="en-US" altLang="ru-RU" sz="2400" dirty="0">
                <a:latin typeface="Verdana" panose="020B0604030504040204" pitchFamily="34" charset="0"/>
              </a:rPr>
              <a:t>OSI</a:t>
            </a:r>
            <a:endParaRPr lang="ru-RU" altLang="ru-RU" sz="2400" dirty="0">
              <a:latin typeface="Verdana" panose="020B0604030504040204" pitchFamily="34" charset="0"/>
            </a:endParaRP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Передача сообщений по каналам связи – кадров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Обнаружение и исправление ошибок </a:t>
            </a:r>
          </a:p>
          <a:p>
            <a:pPr algn="just" eaLnBrk="1" hangingPunct="1">
              <a:spcBef>
                <a:spcPts val="1200"/>
              </a:spcBef>
            </a:pPr>
            <a:r>
              <a:rPr lang="ru-RU" altLang="ru-RU" sz="2400" dirty="0">
                <a:latin typeface="Verdana" panose="020B0604030504040204" pitchFamily="34" charset="0"/>
              </a:rPr>
              <a:t>Два подуровня</a:t>
            </a:r>
          </a:p>
          <a:p>
            <a:pPr marL="801688" lvl="1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latin typeface="Verdana" panose="020B0604030504040204" pitchFamily="34" charset="0"/>
              </a:rPr>
              <a:t>Управления логическим каналом (</a:t>
            </a:r>
            <a:r>
              <a:rPr lang="en-US" altLang="ru-RU" sz="2000" dirty="0">
                <a:latin typeface="Verdana" panose="020B0604030504040204" pitchFamily="34" charset="0"/>
              </a:rPr>
              <a:t>LLC)</a:t>
            </a:r>
          </a:p>
          <a:p>
            <a:pPr marL="801688" lvl="1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altLang="ru-RU" sz="2000" dirty="0">
                <a:solidFill>
                  <a:prstClr val="black"/>
                </a:solidFill>
                <a:latin typeface="Verdana" panose="020B0604030504040204" pitchFamily="34" charset="0"/>
              </a:rPr>
              <a:t>Управления доступом к среде (MAC)</a:t>
            </a:r>
          </a:p>
          <a:p>
            <a:pPr lvl="0" algn="just" eaLnBrk="1" hangingPunct="1">
              <a:spcBef>
                <a:spcPts val="1200"/>
              </a:spcBef>
            </a:pPr>
            <a:r>
              <a:rPr lang="ru-RU" altLang="ru-RU" sz="2400" dirty="0">
                <a:solidFill>
                  <a:prstClr val="black"/>
                </a:solidFill>
                <a:latin typeface="Verdana" panose="020B0604030504040204" pitchFamily="34" charset="0"/>
              </a:rPr>
              <a:t>Технологии канального уровня:</a:t>
            </a:r>
          </a:p>
          <a:p>
            <a:pPr marL="801688" lvl="1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ru-RU" sz="2000" dirty="0">
                <a:latin typeface="Verdana" panose="020B0604030504040204" pitchFamily="34" charset="0"/>
              </a:rPr>
              <a:t>Ethernet, Wi-Fi (</a:t>
            </a:r>
            <a:r>
              <a:rPr lang="ru-RU" altLang="ru-RU" sz="2000" dirty="0">
                <a:latin typeface="Verdana" panose="020B0604030504040204" pitchFamily="34" charset="0"/>
              </a:rPr>
              <a:t>современные)</a:t>
            </a:r>
          </a:p>
          <a:p>
            <a:pPr marL="801688" lvl="1" indent="-342900"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ru-RU" sz="2000" dirty="0">
                <a:latin typeface="Verdana" panose="020B0604030504040204" pitchFamily="34" charset="0"/>
              </a:rPr>
              <a:t>Token Ring</a:t>
            </a:r>
            <a:r>
              <a:rPr lang="ru-RU" altLang="ru-RU" sz="2000" dirty="0">
                <a:latin typeface="Verdana" panose="020B0604030504040204" pitchFamily="34" charset="0"/>
              </a:rPr>
              <a:t>, </a:t>
            </a:r>
            <a:r>
              <a:rPr lang="en-US" altLang="ru-RU" sz="2000" dirty="0">
                <a:latin typeface="Verdana" panose="020B0604030504040204" pitchFamily="34" charset="0"/>
              </a:rPr>
              <a:t>FDDI</a:t>
            </a:r>
            <a:r>
              <a:rPr lang="ru-RU" altLang="ru-RU" sz="2000" dirty="0">
                <a:latin typeface="Verdana" panose="020B0604030504040204" pitchFamily="34" charset="0"/>
              </a:rPr>
              <a:t>, </a:t>
            </a:r>
            <a:r>
              <a:rPr lang="en-US" altLang="ru-RU" sz="2000" dirty="0">
                <a:latin typeface="Verdana" panose="020B0604030504040204" pitchFamily="34" charset="0"/>
              </a:rPr>
              <a:t>ATM, 100VG-AnyLAN</a:t>
            </a:r>
            <a:r>
              <a:rPr lang="ru-RU" altLang="ru-RU" sz="2000" dirty="0">
                <a:latin typeface="Verdana" panose="020B0604030504040204" pitchFamily="34" charset="0"/>
              </a:rPr>
              <a:t> (устаревшие)</a:t>
            </a:r>
            <a:endParaRPr lang="en-US" altLang="ru-RU" sz="2000" dirty="0">
              <a:latin typeface="Verdana" panose="020B0604030504040204" pitchFamily="34" charset="0"/>
            </a:endParaRPr>
          </a:p>
          <a:p>
            <a:pPr lvl="0" algn="just" eaLnBrk="1" hangingPunct="1">
              <a:spcBef>
                <a:spcPts val="1200"/>
              </a:spcBef>
            </a:pPr>
            <a:endParaRPr lang="ru-RU" altLang="ru-RU" sz="2400" dirty="0">
              <a:solidFill>
                <a:prstClr val="black"/>
              </a:solidFill>
              <a:latin typeface="Verdana" panose="020B0604030504040204" pitchFamily="34" charset="0"/>
            </a:endParaRPr>
          </a:p>
        </p:txBody>
      </p:sp>
      <p:sp>
        <p:nvSpPr>
          <p:cNvPr id="4101" name="TextBox 3"/>
          <p:cNvSpPr txBox="1">
            <a:spLocks noChangeArrowheads="1"/>
          </p:cNvSpPr>
          <p:nvPr/>
        </p:nvSpPr>
        <p:spPr bwMode="auto">
          <a:xfrm>
            <a:off x="306548" y="332656"/>
            <a:ext cx="615672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latin typeface="Verdana" panose="020B0604030504040204" pitchFamily="34" charset="0"/>
              </a:rPr>
              <a:t>Итоги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2FCD-ECDD-4AD1-A933-149E1B2284F8}" type="slidenum">
              <a:rPr lang="ru-RU" altLang="ru-RU" smtClean="0"/>
              <a:pPr/>
              <a:t>72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192219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Документы </a:t>
            </a:r>
            <a:r>
              <a:rPr lang="en-US" dirty="0"/>
              <a:t>RFC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3328" y="1776987"/>
            <a:ext cx="5558138" cy="435133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</a:rPr>
              <a:t>RFC 793 – </a:t>
            </a:r>
            <a:r>
              <a:rPr lang="ru-RU" sz="2400" dirty="0">
                <a:solidFill>
                  <a:schemeClr val="tx1"/>
                </a:solidFill>
              </a:rPr>
              <a:t>протокол </a:t>
            </a:r>
            <a:r>
              <a:rPr lang="en-US" sz="2400" dirty="0">
                <a:solidFill>
                  <a:schemeClr val="tx1"/>
                </a:solidFill>
              </a:rPr>
              <a:t>TCP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</a:rPr>
              <a:t>RFC 791 – </a:t>
            </a:r>
            <a:r>
              <a:rPr lang="ru-RU" sz="2400" dirty="0">
                <a:solidFill>
                  <a:schemeClr val="tx1"/>
                </a:solidFill>
              </a:rPr>
              <a:t>протокол </a:t>
            </a:r>
            <a:r>
              <a:rPr lang="en-US" sz="2400" dirty="0">
                <a:solidFill>
                  <a:schemeClr val="tx1"/>
                </a:solidFill>
              </a:rPr>
              <a:t>IP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</a:rPr>
              <a:t>RFC 826 – </a:t>
            </a:r>
            <a:r>
              <a:rPr lang="ru-RU" sz="2400" dirty="0">
                <a:solidFill>
                  <a:schemeClr val="tx1"/>
                </a:solidFill>
              </a:rPr>
              <a:t>протокол </a:t>
            </a:r>
            <a:r>
              <a:rPr lang="en-US" sz="2400" dirty="0">
                <a:solidFill>
                  <a:schemeClr val="tx1"/>
                </a:solidFill>
              </a:rPr>
              <a:t>ARP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</a:rPr>
              <a:t>RFC 792 – </a:t>
            </a:r>
            <a:r>
              <a:rPr lang="ru-RU" sz="2400" dirty="0">
                <a:solidFill>
                  <a:schemeClr val="tx1"/>
                </a:solidFill>
              </a:rPr>
              <a:t>протокол </a:t>
            </a:r>
            <a:r>
              <a:rPr lang="en-US" sz="2400" dirty="0">
                <a:solidFill>
                  <a:schemeClr val="tx1"/>
                </a:solidFill>
              </a:rPr>
              <a:t>ICMP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</a:rPr>
              <a:t>RFC 2131 – </a:t>
            </a:r>
            <a:r>
              <a:rPr lang="ru-RU" sz="2400" dirty="0">
                <a:solidFill>
                  <a:schemeClr val="tx1"/>
                </a:solidFill>
              </a:rPr>
              <a:t>протокол </a:t>
            </a:r>
            <a:r>
              <a:rPr lang="en-US" sz="2400" dirty="0">
                <a:solidFill>
                  <a:schemeClr val="tx1"/>
                </a:solidFill>
              </a:rPr>
              <a:t>DHCP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400" dirty="0">
                <a:solidFill>
                  <a:schemeClr val="tx1"/>
                </a:solidFill>
              </a:rPr>
              <a:t>Документы </a:t>
            </a:r>
            <a:r>
              <a:rPr lang="en-US" sz="2400" dirty="0">
                <a:solidFill>
                  <a:schemeClr val="tx1"/>
                </a:solidFill>
              </a:rPr>
              <a:t>RFC </a:t>
            </a:r>
            <a:r>
              <a:rPr lang="ru-RU" sz="2400" dirty="0">
                <a:solidFill>
                  <a:schemeClr val="tx1"/>
                </a:solidFill>
              </a:rPr>
              <a:t>доступны бесплатно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https://tools.ietf.org/rfc/index</a:t>
            </a:r>
            <a:endParaRPr lang="ru-RU" sz="2000" dirty="0">
              <a:solidFill>
                <a:schemeClr val="tx1"/>
              </a:solidFill>
            </a:endParaRPr>
          </a:p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endParaRPr lang="ru-RU" sz="2000" dirty="0">
              <a:solidFill>
                <a:prstClr val="black"/>
              </a:solidFill>
            </a:endParaRPr>
          </a:p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2692129" y="6356357"/>
            <a:ext cx="3365771" cy="365125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ru-RU" smtClean="0"/>
              <a:t>73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547323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C9E0C2-6DFB-43D8-AC83-4FB9BBD0B7E2}"/>
              </a:ext>
            </a:extLst>
          </p:cNvPr>
          <p:cNvSpPr txBox="1"/>
          <p:nvPr/>
        </p:nvSpPr>
        <p:spPr>
          <a:xfrm>
            <a:off x="1331640" y="1844824"/>
            <a:ext cx="53285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Вам нужно взять объект, систему или ошибку от 5 примеров. Нужно подставить к 1 из уровней модели </a:t>
            </a:r>
            <a:r>
              <a:rPr lang="en-US" dirty="0"/>
              <a:t>OSI</a:t>
            </a:r>
            <a:r>
              <a:rPr lang="ru-RU" dirty="0"/>
              <a:t>. В </a:t>
            </a:r>
            <a:r>
              <a:rPr lang="ru-RU" dirty="0" err="1"/>
              <a:t>дз</a:t>
            </a:r>
            <a:r>
              <a:rPr lang="ru-RU" dirty="0"/>
              <a:t> отправить ссылку на репозиторий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FB97AE-6200-4102-8128-7EB5B728AC15}"/>
              </a:ext>
            </a:extLst>
          </p:cNvPr>
          <p:cNvSpPr txBox="1"/>
          <p:nvPr/>
        </p:nvSpPr>
        <p:spPr>
          <a:xfrm>
            <a:off x="1619672" y="404664"/>
            <a:ext cx="6192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ДЗ</a:t>
            </a:r>
          </a:p>
        </p:txBody>
      </p:sp>
    </p:spTree>
    <p:extLst>
      <p:ext uri="{BB962C8B-B14F-4D97-AF65-F5344CB8AC3E}">
        <p14:creationId xmlns:p14="http://schemas.microsoft.com/office/powerpoint/2010/main" val="25082888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2493</Words>
  <Application>Microsoft Office PowerPoint</Application>
  <PresentationFormat>Экран (4:3)</PresentationFormat>
  <Paragraphs>710</Paragraphs>
  <Slides>74</Slides>
  <Notes>37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74</vt:i4>
      </vt:variant>
    </vt:vector>
  </HeadingPairs>
  <TitlesOfParts>
    <vt:vector size="80" baseType="lpstr">
      <vt:lpstr>Arial</vt:lpstr>
      <vt:lpstr>Calibri</vt:lpstr>
      <vt:lpstr>Segoe UI Light</vt:lpstr>
      <vt:lpstr>Verdana</vt:lpstr>
      <vt:lpstr>Wingdings</vt:lpstr>
      <vt:lpstr>Тема Office</vt:lpstr>
      <vt:lpstr>Введение в компьютерные сети. Модель OSI.  Стэк протоколов TCP/IP.  Уровень сетевых интерфейсов. </vt:lpstr>
      <vt:lpstr>Передача данных</vt:lpstr>
      <vt:lpstr>Виды связи. Simplex</vt:lpstr>
      <vt:lpstr>Виды связи. Half-duplex</vt:lpstr>
      <vt:lpstr>Виды связи. Full-duplex</vt:lpstr>
      <vt:lpstr>Виды связи. Unicast</vt:lpstr>
      <vt:lpstr>Виды связи. Broadcast</vt:lpstr>
      <vt:lpstr>Виды связи. Multicast</vt:lpstr>
      <vt:lpstr>Виды сетей в зависимости от географического охвата.</vt:lpstr>
      <vt:lpstr>Протяженность</vt:lpstr>
      <vt:lpstr>Виды коммутации. Коммутация каналов.</vt:lpstr>
      <vt:lpstr>Виды коммутации. Коммутация пакетов.</vt:lpstr>
      <vt:lpstr>Абстракции для описания сетевого взаимодействия</vt:lpstr>
      <vt:lpstr>Стандарты</vt:lpstr>
      <vt:lpstr> Эталонные модели организации сетей</vt:lpstr>
      <vt:lpstr>Декомпозиция: шаблон «Уровни»</vt:lpstr>
      <vt:lpstr>Базовые понятия для каждого уровня</vt:lpstr>
      <vt:lpstr>Базовые понятия для каждого уровня</vt:lpstr>
      <vt:lpstr>Инкапсуляция</vt:lpstr>
      <vt:lpstr>Инкапсуляция</vt:lpstr>
      <vt:lpstr>Инкапсуляция</vt:lpstr>
      <vt:lpstr>Инкапсуляция</vt:lpstr>
      <vt:lpstr>Инкапсуляция</vt:lpstr>
      <vt:lpstr>Инкапсуляция</vt:lpstr>
      <vt:lpstr>Модель OSI и TCP/IP</vt:lpstr>
      <vt:lpstr>Физический уровень</vt:lpstr>
      <vt:lpstr>Канальный уровень</vt:lpstr>
      <vt:lpstr>Транспортный уровень</vt:lpstr>
      <vt:lpstr>Сетевой уровень</vt:lpstr>
      <vt:lpstr>Сеансовый уровень</vt:lpstr>
      <vt:lpstr>Уровень представления</vt:lpstr>
      <vt:lpstr>Прикладной уровень</vt:lpstr>
      <vt:lpstr>Единицы передаваемых данных</vt:lpstr>
      <vt:lpstr>Сетевое оборудование</vt:lpstr>
      <vt:lpstr>Пятиуровневая модель «OSI + TCP/IP»</vt:lpstr>
      <vt:lpstr>Стек протоколов TCP/IP</vt:lpstr>
      <vt:lpstr>Физический уровень</vt:lpstr>
      <vt:lpstr>Место в модели OSI</vt:lpstr>
      <vt:lpstr>Представление сигналов</vt:lpstr>
      <vt:lpstr>Представление сигналов</vt:lpstr>
      <vt:lpstr>Представление сигналов</vt:lpstr>
      <vt:lpstr>Модель канала связи</vt:lpstr>
      <vt:lpstr>Среды передачи данных</vt:lpstr>
      <vt:lpstr>Витая пара</vt:lpstr>
      <vt:lpstr>Оптический кабель</vt:lpstr>
      <vt:lpstr>Радиоволны</vt:lpstr>
      <vt:lpstr>Ошибки в каналах связи</vt:lpstr>
      <vt:lpstr>Представление информации</vt:lpstr>
      <vt:lpstr>Итоги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Документы RFC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компьютерные сети. Модель OSI.  Стэк протоколов TCP/IP.  Физический и канальный уровни.</dc:title>
  <dc:creator>Velve</dc:creator>
  <cp:lastModifiedBy>teacher</cp:lastModifiedBy>
  <cp:revision>36</cp:revision>
  <dcterms:created xsi:type="dcterms:W3CDTF">2017-01-06T20:49:38Z</dcterms:created>
  <dcterms:modified xsi:type="dcterms:W3CDTF">2026-09-07T19:00:04Z</dcterms:modified>
</cp:coreProperties>
</file>